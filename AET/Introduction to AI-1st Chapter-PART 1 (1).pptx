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86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4" r:id="rId48"/>
    <p:sldId id="305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1" r:id="rId59"/>
    <p:sldId id="322" r:id="rId60"/>
    <p:sldId id="328" r:id="rId61"/>
    <p:sldId id="329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78" r:id="rId71"/>
    <p:sldId id="379" r:id="rId72"/>
    <p:sldId id="380" r:id="rId73"/>
    <p:sldId id="383" r:id="rId7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724" y="-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7999"/>
                </a:moveTo>
                <a:lnTo>
                  <a:pt x="12191999" y="6857999"/>
                </a:lnTo>
                <a:lnTo>
                  <a:pt x="12191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ln w="38099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976" y="-35940"/>
            <a:ext cx="11856367" cy="2540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9512" y="2905705"/>
            <a:ext cx="11067415" cy="3821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1275203"/>
            <a:ext cx="5331835" cy="436574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6735" y="1631056"/>
            <a:ext cx="500570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spc="-455" dirty="0">
                <a:solidFill>
                  <a:srgbClr val="FF0000"/>
                </a:solidFill>
                <a:latin typeface="Tahoma"/>
                <a:cs typeface="Tahoma"/>
              </a:rPr>
              <a:t>INTRODUCTION</a:t>
            </a:r>
            <a:r>
              <a:rPr sz="5400" spc="-4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5400" b="1" spc="-36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endParaRPr sz="5400">
              <a:latin typeface="Tahoma"/>
              <a:cs typeface="Tahoma"/>
            </a:endParaRPr>
          </a:p>
          <a:p>
            <a:pPr marL="12700" marR="515620">
              <a:lnSpc>
                <a:spcPct val="100000"/>
              </a:lnSpc>
              <a:spcBef>
                <a:spcPts val="5"/>
              </a:spcBef>
            </a:pPr>
            <a:r>
              <a:rPr sz="5400" b="1" spc="-560" dirty="0">
                <a:solidFill>
                  <a:srgbClr val="FF0000"/>
                </a:solidFill>
                <a:latin typeface="Tahoma"/>
                <a:cs typeface="Tahoma"/>
              </a:rPr>
              <a:t>ARTIFICIAL</a:t>
            </a:r>
            <a:r>
              <a:rPr sz="5400" spc="-5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5400" b="1" spc="-490" dirty="0">
                <a:solidFill>
                  <a:srgbClr val="FF0000"/>
                </a:solidFill>
                <a:latin typeface="Tahoma"/>
                <a:cs typeface="Tahoma"/>
              </a:rPr>
              <a:t>INTELLIGENCE</a:t>
            </a:r>
            <a:endParaRPr sz="5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75062" y="210763"/>
            <a:ext cx="11120120" cy="275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388620" marR="5080" indent="457200">
              <a:lnSpc>
                <a:spcPct val="150000"/>
              </a:lnSpc>
              <a:spcBef>
                <a:spcPts val="445"/>
              </a:spcBef>
            </a:pPr>
            <a:r>
              <a:rPr dirty="0">
                <a:latin typeface="Times New Roman"/>
                <a:cs typeface="Times New Roman"/>
              </a:rPr>
              <a:t>AI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newest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disciplines,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formally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initiated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1956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when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name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was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coined.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However,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study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of </a:t>
            </a:r>
            <a:r>
              <a:rPr dirty="0">
                <a:latin typeface="Times New Roman"/>
                <a:cs typeface="Times New Roman"/>
              </a:rPr>
              <a:t>intelligence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oldest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disciplines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being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approximately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2000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years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old.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advent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computers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made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it </a:t>
            </a:r>
            <a:r>
              <a:rPr dirty="0">
                <a:latin typeface="Times New Roman"/>
                <a:cs typeface="Times New Roman"/>
              </a:rPr>
              <a:t>possible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first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time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people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test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models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they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proposed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learning,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reasoning,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perceiving,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etc.</a:t>
            </a: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>
              <a:latin typeface="Times New Roman"/>
              <a:cs typeface="Times New Roman"/>
            </a:endParaRPr>
          </a:p>
          <a:p>
            <a:pPr marL="469900" marR="74295" indent="457200">
              <a:lnSpc>
                <a:spcPct val="150000"/>
              </a:lnSpc>
              <a:spcBef>
                <a:spcPts val="5"/>
              </a:spcBef>
            </a:pP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r>
              <a:rPr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composed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two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words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Intelligence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where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defines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"man- 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made,"</a:t>
            </a:r>
            <a:r>
              <a:rPr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defines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"thinking</a:t>
            </a:r>
            <a:r>
              <a:rPr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power"</a:t>
            </a:r>
            <a:r>
              <a:rPr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hence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AI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means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"a</a:t>
            </a:r>
            <a:r>
              <a:rPr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man-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made</a:t>
            </a:r>
            <a:r>
              <a:rPr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thinking</a:t>
            </a:r>
            <a:r>
              <a:rPr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power</a:t>
            </a: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."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800" y="3276600"/>
            <a:ext cx="10823575" cy="2065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WHAT</a:t>
            </a:r>
            <a:r>
              <a:rPr sz="20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sz="2000" b="1" spc="-1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sz="20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INTELLIGENCE?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000">
              <a:latin typeface="Times New Roman"/>
              <a:cs typeface="Times New Roman"/>
            </a:endParaRPr>
          </a:p>
          <a:p>
            <a:pPr marL="644525" marR="5080">
              <a:lnSpc>
                <a:spcPct val="150000"/>
              </a:lnSpc>
            </a:pP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Artificial</a:t>
            </a:r>
            <a:r>
              <a:rPr sz="2000" spc="-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intelligence</a:t>
            </a:r>
            <a:r>
              <a:rPr sz="2000" spc="-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simulation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human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processes</a:t>
            </a:r>
            <a:r>
              <a:rPr sz="20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by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machines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,</a:t>
            </a:r>
            <a:r>
              <a:rPr sz="2000" b="1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especially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computer</a:t>
            </a:r>
            <a:r>
              <a:rPr sz="20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systems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r>
              <a:rPr sz="2000" spc="-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Specific</a:t>
            </a:r>
            <a:r>
              <a:rPr sz="20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applications</a:t>
            </a:r>
            <a:r>
              <a:rPr sz="2000" spc="-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2000" spc="-1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AI</a:t>
            </a:r>
            <a:r>
              <a:rPr sz="20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include</a:t>
            </a:r>
            <a:r>
              <a:rPr sz="20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expert</a:t>
            </a:r>
            <a:r>
              <a:rPr sz="20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systems,</a:t>
            </a:r>
            <a:r>
              <a:rPr sz="20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natural</a:t>
            </a:r>
            <a:r>
              <a:rPr sz="20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language</a:t>
            </a:r>
            <a:r>
              <a:rPr sz="20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F2023"/>
                </a:solidFill>
                <a:latin typeface="Times New Roman"/>
                <a:cs typeface="Times New Roman"/>
              </a:rPr>
              <a:t>processing,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speech</a:t>
            </a:r>
            <a:r>
              <a:rPr sz="20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recognition</a:t>
            </a:r>
            <a:r>
              <a:rPr sz="20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machine</a:t>
            </a:r>
            <a:r>
              <a:rPr sz="20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F2023"/>
                </a:solidFill>
                <a:latin typeface="Times New Roman"/>
                <a:cs typeface="Times New Roman"/>
              </a:rPr>
              <a:t>vision.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910" y="218996"/>
            <a:ext cx="11887200" cy="6542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740" y="-14088"/>
            <a:ext cx="11676380" cy="140615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ACTING</a:t>
            </a:r>
            <a:r>
              <a:rPr sz="18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HUMANLY</a:t>
            </a:r>
            <a:endParaRPr sz="1800">
              <a:latin typeface="Times New Roman"/>
              <a:cs typeface="Times New Roman"/>
            </a:endParaRPr>
          </a:p>
          <a:p>
            <a:pPr marL="666750" marR="326390" indent="-285750">
              <a:lnSpc>
                <a:spcPct val="150000"/>
              </a:lnSpc>
              <a:spcBef>
                <a:spcPts val="484"/>
              </a:spcBef>
              <a:buFont typeface="Wingdings"/>
              <a:buChar char=""/>
              <a:tabLst>
                <a:tab pos="668020" algn="l"/>
              </a:tabLst>
            </a:pPr>
            <a:r>
              <a:rPr sz="2000" spc="-20" smtClean="0">
                <a:latin typeface="Times New Roman"/>
                <a:cs typeface="Times New Roman"/>
              </a:rPr>
              <a:t>A</a:t>
            </a:r>
            <a:r>
              <a:rPr sz="2000" spc="-114" smtClean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interrogates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terminal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simultaneously.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reasonable 	</a:t>
            </a:r>
            <a:r>
              <a:rPr sz="2000" dirty="0">
                <a:latin typeface="Times New Roman"/>
                <a:cs typeface="Times New Roman"/>
              </a:rPr>
              <a:t>period,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interrogator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passes.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0468" y="2499839"/>
            <a:ext cx="3716654" cy="940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pass</a:t>
            </a:r>
            <a:r>
              <a:rPr sz="20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this</a:t>
            </a:r>
            <a:r>
              <a:rPr sz="20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test</a:t>
            </a:r>
            <a:r>
              <a:rPr sz="20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requires: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"/>
              <a:tabLst>
                <a:tab pos="812165" algn="l"/>
              </a:tabLst>
            </a:pPr>
            <a:r>
              <a:rPr sz="2000" dirty="0">
                <a:latin typeface="Times New Roman"/>
                <a:cs typeface="Times New Roman"/>
              </a:rPr>
              <a:t>Natural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7669" y="3668646"/>
            <a:ext cx="30422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SzPct val="50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Knowledge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7669" y="4226507"/>
            <a:ext cx="25501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SzPct val="50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Automated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reasoning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7669" y="4786120"/>
            <a:ext cx="21532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SzPct val="50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learning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62083" y="2999990"/>
            <a:ext cx="56959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 avoids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contact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concentrates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8845" y="3609591"/>
            <a:ext cx="50641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"higher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level"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mental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faculties.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Turing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test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48845" y="4219192"/>
            <a:ext cx="3865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would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program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do: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5633" y="5228080"/>
            <a:ext cx="2068195" cy="89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SzPct val="50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vision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SzPct val="50000"/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Robotics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3101" y="132074"/>
            <a:ext cx="2997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THINKING</a:t>
            </a:r>
            <a:r>
              <a:rPr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HUMANLY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6423" y="699638"/>
            <a:ext cx="11442065" cy="26295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2650" indent="-28638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882650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"getting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inside"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computer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88265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programs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cognitive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science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attempts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do.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2000">
              <a:latin typeface="Times New Roman"/>
              <a:cs typeface="Times New Roman"/>
            </a:endParaRPr>
          </a:p>
          <a:p>
            <a:pPr marL="882650" indent="-286385">
              <a:lnSpc>
                <a:spcPct val="100000"/>
              </a:lnSpc>
              <a:buFont typeface="Wingdings"/>
              <a:buChar char=""/>
              <a:tabLst>
                <a:tab pos="882650" algn="l"/>
              </a:tabLst>
            </a:pP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solving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argue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one's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</a:t>
            </a:r>
            <a:r>
              <a:rPr sz="2000" spc="-10" dirty="0">
                <a:latin typeface="Times New Roman"/>
                <a:cs typeface="Times New Roman"/>
              </a:rPr>
              <a:t> about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88265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solving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similar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way.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40" y="121406"/>
            <a:ext cx="30981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THINKING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RATIONALLY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448" y="688588"/>
            <a:ext cx="11367770" cy="21371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420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Aristotle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attempt 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codify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"thinking</a:t>
            </a:r>
            <a:r>
              <a:rPr sz="2000">
                <a:solidFill>
                  <a:srgbClr val="FF0000"/>
                </a:solidFill>
                <a:latin typeface="Times New Roman"/>
                <a:cs typeface="Times New Roman"/>
              </a:rPr>
              <a:t>".</a:t>
            </a:r>
            <a:r>
              <a:rPr sz="2000" spc="-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 marR="469900">
              <a:lnSpc>
                <a:spcPct val="200000"/>
              </a:lnSpc>
              <a:spcBef>
                <a:spcPts val="1215"/>
              </a:spcBef>
            </a:pP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EXAMPLE:</a:t>
            </a:r>
            <a:r>
              <a:rPr sz="18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energy.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energy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always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heat.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Therefore,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heat.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initiate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field 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logic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nineteenth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century.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first step</a:t>
            </a:r>
            <a:r>
              <a:rPr sz="1800" spc="-10" dirty="0">
                <a:latin typeface="Times New Roman"/>
                <a:cs typeface="Times New Roman"/>
              </a:rPr>
              <a:t> toward </a:t>
            </a:r>
            <a:r>
              <a:rPr sz="1800" dirty="0">
                <a:latin typeface="Times New Roman"/>
                <a:cs typeface="Times New Roman"/>
              </a:rPr>
              <a:t>enabling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programs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reason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logically</a:t>
            </a:r>
            <a:r>
              <a:rPr sz="1800" spc="-10" smtClean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38100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740" y="40634"/>
            <a:ext cx="666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ACTING</a:t>
            </a:r>
            <a:r>
              <a:rPr sz="180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RATIONALLY</a:t>
            </a:r>
            <a:r>
              <a:rPr sz="18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415" dirty="0"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RATIONAL</a:t>
            </a:r>
            <a:r>
              <a:rPr sz="1800" b="1" spc="-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AGENT</a:t>
            </a:r>
            <a:r>
              <a:rPr sz="18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APPROACH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5002" y="488690"/>
            <a:ext cx="107810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latin typeface="Times New Roman"/>
                <a:cs typeface="Times New Roman"/>
              </a:rPr>
              <a:t>Acting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rationally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means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acting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so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as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achieve</a:t>
            </a:r>
            <a:r>
              <a:rPr sz="1900" b="1" spc="-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one's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goals,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given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one's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beliefs.</a:t>
            </a:r>
            <a:r>
              <a:rPr sz="1900" b="1" spc="-114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</a:t>
            </a:r>
            <a:r>
              <a:rPr sz="1900" b="1" spc="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agent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is</a:t>
            </a:r>
            <a:r>
              <a:rPr sz="1900" b="1" spc="-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just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something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7802" y="922980"/>
            <a:ext cx="11582400" cy="21614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latin typeface="Times New Roman"/>
                <a:cs typeface="Times New Roman"/>
              </a:rPr>
              <a:t>that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perceives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spc="-20" dirty="0">
                <a:latin typeface="Times New Roman"/>
                <a:cs typeface="Times New Roman"/>
              </a:rPr>
              <a:t>acts.</a:t>
            </a: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150100"/>
              </a:lnSpc>
              <a:spcBef>
                <a:spcPts val="790"/>
              </a:spcBef>
            </a:pP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logical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approach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to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AI,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emphasis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correct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inferences.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often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part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rational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agent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because </a:t>
            </a:r>
            <a:r>
              <a:rPr sz="1900" dirty="0">
                <a:latin typeface="Times New Roman"/>
                <a:cs typeface="Times New Roman"/>
              </a:rPr>
              <a:t>one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way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rationally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reason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logically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ones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conclusions.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But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all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rationality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because </a:t>
            </a:r>
            <a:r>
              <a:rPr sz="1900" dirty="0">
                <a:latin typeface="Times New Roman"/>
                <a:cs typeface="Times New Roman"/>
              </a:rPr>
              <a:t>agents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often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themselves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situations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where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provably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correct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do,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yet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must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do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something.</a:t>
            </a:r>
            <a:endParaRPr sz="1900">
              <a:latin typeface="Times New Roman"/>
              <a:cs typeface="Times New Roman"/>
            </a:endParaRPr>
          </a:p>
          <a:p>
            <a:pPr marL="12700" marR="2490470">
              <a:lnSpc>
                <a:spcPct val="150000"/>
              </a:lnSpc>
            </a:pPr>
            <a:r>
              <a:rPr sz="1900" dirty="0">
                <a:latin typeface="Times New Roman"/>
                <a:cs typeface="Times New Roman"/>
              </a:rPr>
              <a:t>There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also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ways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rationally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seem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involve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inference,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e.g.,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reflex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actions</a:t>
            </a:r>
            <a:r>
              <a:rPr sz="1900" spc="-10">
                <a:latin typeface="Times New Roman"/>
                <a:cs typeface="Times New Roman"/>
              </a:rPr>
              <a:t>. 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2918" y="163443"/>
            <a:ext cx="28822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FOUNDATIONS</a:t>
            </a:r>
            <a:r>
              <a:rPr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b="1" spc="-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6339" y="475863"/>
            <a:ext cx="11444605" cy="625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73025" indent="45720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history,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forced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concentrate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small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number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people,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events,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ignore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others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important.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We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organize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history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around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series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questions.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We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certainly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would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wish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give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impression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questions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disciplines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address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disciplines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been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working toward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ultimate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fruition.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PHILOSOPHY</a:t>
            </a:r>
            <a:endParaRPr sz="1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330"/>
              </a:spcBef>
              <a:buFont typeface="Wingdings"/>
              <a:buChar char=""/>
              <a:tabLst>
                <a:tab pos="812800" algn="l"/>
              </a:tabLst>
            </a:pP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 used to draw valid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conclusions?</a:t>
            </a:r>
            <a:endParaRPr sz="1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320"/>
              </a:spcBef>
              <a:buFont typeface="Wingdings"/>
              <a:buChar char=""/>
              <a:tabLst>
                <a:tab pos="812800" algn="l"/>
              </a:tabLst>
            </a:pPr>
            <a:r>
              <a:rPr sz="1800" dirty="0">
                <a:latin typeface="Times New Roman"/>
                <a:cs typeface="Times New Roman"/>
              </a:rPr>
              <a:t>How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arise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physical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brain?</a:t>
            </a:r>
            <a:endParaRPr sz="1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325"/>
              </a:spcBef>
              <a:buFont typeface="Wingdings"/>
              <a:buChar char=""/>
              <a:tabLst>
                <a:tab pos="812800" algn="l"/>
              </a:tabLst>
            </a:pP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from?</a:t>
            </a:r>
            <a:endParaRPr sz="1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325"/>
              </a:spcBef>
              <a:buFont typeface="Wingdings"/>
              <a:buChar char=""/>
              <a:tabLst>
                <a:tab pos="812800" algn="l"/>
              </a:tabLst>
            </a:pPr>
            <a:r>
              <a:rPr sz="1800" dirty="0">
                <a:latin typeface="Times New Roman"/>
                <a:cs typeface="Times New Roman"/>
              </a:rPr>
              <a:t>How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action?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Times New Roman"/>
              <a:cs typeface="Times New Roman"/>
            </a:endParaRPr>
          </a:p>
          <a:p>
            <a:pPr marL="241300" marR="71755">
              <a:lnSpc>
                <a:spcPct val="150000"/>
              </a:lnSpc>
            </a:pPr>
            <a:r>
              <a:rPr sz="1800" b="1" dirty="0">
                <a:latin typeface="Times New Roman"/>
                <a:cs typeface="Times New Roman"/>
              </a:rPr>
              <a:t>Aristotle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(384–322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B.C.),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formulate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precise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laws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governing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rational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mind.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He </a:t>
            </a:r>
            <a:r>
              <a:rPr sz="1800" dirty="0">
                <a:latin typeface="Times New Roman"/>
                <a:cs typeface="Times New Roman"/>
              </a:rPr>
              <a:t>developed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syllogisms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reasoning,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principle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allowed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conclusions mechanically,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initial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premises.</a:t>
            </a:r>
            <a:endParaRPr sz="1800">
              <a:latin typeface="Times New Roman"/>
              <a:cs typeface="Times New Roman"/>
            </a:endParaRPr>
          </a:p>
          <a:p>
            <a:pPr marL="241300" marR="5080">
              <a:lnSpc>
                <a:spcPct val="15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Much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later,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Ramon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Lull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(d. 1315)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had the idea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useful reasoning could actually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carried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 by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mechanical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artifact. </a:t>
            </a:r>
            <a:r>
              <a:rPr sz="1800" dirty="0">
                <a:latin typeface="Times New Roman"/>
                <a:cs typeface="Times New Roman"/>
              </a:rPr>
              <a:t>Thomas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Hobbes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(1588–1679)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proposed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reasoning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numerical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“we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subtract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our </a:t>
            </a:r>
            <a:r>
              <a:rPr sz="1800" dirty="0">
                <a:latin typeface="Times New Roman"/>
                <a:cs typeface="Times New Roman"/>
              </a:rPr>
              <a:t>silent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thoughts.”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4980" y="324098"/>
            <a:ext cx="2163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0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MATHEMATICS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062" y="933953"/>
            <a:ext cx="11168380" cy="25269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00" indent="-34290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1270000" algn="l"/>
              </a:tabLst>
            </a:pP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conclusions?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"/>
            </a:pPr>
            <a:endParaRPr sz="2000">
              <a:latin typeface="Times New Roman"/>
              <a:cs typeface="Times New Roman"/>
            </a:endParaRPr>
          </a:p>
          <a:p>
            <a:pPr marL="1270000" indent="-34290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1270000" algn="l"/>
              </a:tabLst>
            </a:pP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0" dirty="0">
                <a:latin typeface="Times New Roman"/>
                <a:cs typeface="Times New Roman"/>
              </a:rPr>
              <a:t>computed?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"/>
            </a:pPr>
            <a:endParaRPr sz="2000">
              <a:latin typeface="Times New Roman"/>
              <a:cs typeface="Times New Roman"/>
            </a:endParaRPr>
          </a:p>
          <a:p>
            <a:pPr marL="1270000" indent="-342900">
              <a:lnSpc>
                <a:spcPct val="100000"/>
              </a:lnSpc>
              <a:buFont typeface="Wingdings"/>
              <a:buChar char=""/>
              <a:tabLst>
                <a:tab pos="1270000" algn="l"/>
              </a:tabLst>
            </a:pPr>
            <a:r>
              <a:rPr sz="2000" dirty="0">
                <a:latin typeface="Times New Roman"/>
                <a:cs typeface="Times New Roman"/>
              </a:rPr>
              <a:t>How do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reason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uncertain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information?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7716" y="-23139"/>
            <a:ext cx="11520170" cy="648144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ECONOMICS</a:t>
            </a:r>
            <a:endParaRPr sz="18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812165" algn="l"/>
              </a:tabLst>
            </a:pPr>
            <a:r>
              <a:rPr sz="1800" dirty="0">
                <a:latin typeface="Times New Roman"/>
                <a:cs typeface="Times New Roman"/>
              </a:rPr>
              <a:t>How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make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decisions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maximize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payoff?</a:t>
            </a:r>
            <a:endParaRPr sz="18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812165" algn="l"/>
              </a:tabLst>
            </a:pPr>
            <a:r>
              <a:rPr sz="1800" dirty="0">
                <a:latin typeface="Times New Roman"/>
                <a:cs typeface="Times New Roman"/>
              </a:rPr>
              <a:t>How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along?</a:t>
            </a:r>
            <a:endParaRPr sz="18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812165" algn="l"/>
              </a:tabLst>
            </a:pPr>
            <a:r>
              <a:rPr sz="1800" dirty="0">
                <a:latin typeface="Times New Roman"/>
                <a:cs typeface="Times New Roman"/>
              </a:rPr>
              <a:t>How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payoff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future?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8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4 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NEUROSCIENCE</a:t>
            </a:r>
            <a:endParaRPr sz="2000">
              <a:latin typeface="Times New Roman"/>
              <a:cs typeface="Times New Roman"/>
            </a:endParaRPr>
          </a:p>
          <a:p>
            <a:pPr marL="432434" indent="-342900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432434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brains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information?</a:t>
            </a:r>
            <a:endParaRPr sz="2000">
              <a:latin typeface="Times New Roman"/>
              <a:cs typeface="Times New Roman"/>
            </a:endParaRPr>
          </a:p>
          <a:p>
            <a:pPr marL="432434" marR="100965" indent="-343535">
              <a:lnSpc>
                <a:spcPct val="150000"/>
              </a:lnSpc>
              <a:buFont typeface="Wingdings"/>
              <a:buChar char=""/>
              <a:tabLst>
                <a:tab pos="432434" algn="l"/>
              </a:tabLst>
            </a:pPr>
            <a:r>
              <a:rPr sz="2000" dirty="0">
                <a:latin typeface="Times New Roman"/>
                <a:cs typeface="Times New Roman"/>
              </a:rPr>
              <a:t>Neuroscience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nervous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system, particularly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brain.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Although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brain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thought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mysteries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science,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thought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been</a:t>
            </a:r>
            <a:endParaRPr sz="2000">
              <a:latin typeface="Times New Roman"/>
              <a:cs typeface="Times New Roman"/>
            </a:endParaRPr>
          </a:p>
          <a:p>
            <a:pPr marL="432434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appreciated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thousands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years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evidence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strong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mental</a:t>
            </a:r>
            <a:endParaRPr sz="2000">
              <a:latin typeface="Times New Roman"/>
              <a:cs typeface="Times New Roman"/>
            </a:endParaRPr>
          </a:p>
          <a:p>
            <a:pPr marL="432434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Times New Roman"/>
                <a:cs typeface="Times New Roman"/>
              </a:rPr>
              <a:t>incapacitation.</a:t>
            </a:r>
            <a:endParaRPr sz="2000">
              <a:latin typeface="Times New Roman"/>
              <a:cs typeface="Times New Roman"/>
            </a:endParaRPr>
          </a:p>
          <a:p>
            <a:pPr marL="432434" marR="5080" indent="-343535">
              <a:lnSpc>
                <a:spcPct val="150000"/>
              </a:lnSpc>
              <a:buFont typeface="Wingdings"/>
              <a:buChar char=""/>
              <a:tabLst>
                <a:tab pos="432434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brains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somehow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different;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335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B.C.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Aristotle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wrote,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“Of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animals,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brain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proportion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size.”5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middle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the </a:t>
            </a:r>
            <a:r>
              <a:rPr sz="2000" dirty="0">
                <a:latin typeface="Times New Roman"/>
                <a:cs typeface="Times New Roman"/>
              </a:rPr>
              <a:t>18th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century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brain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widely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recognized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consciousness.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candidate </a:t>
            </a:r>
            <a:r>
              <a:rPr sz="2000" dirty="0">
                <a:latin typeface="Times New Roman"/>
                <a:cs typeface="Times New Roman"/>
              </a:rPr>
              <a:t>locations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heart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spleen.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8502" y="149352"/>
            <a:ext cx="7997952" cy="32120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7942" y="3402302"/>
            <a:ext cx="113582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nerve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neuron.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neuron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body,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soma,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nucleus. </a:t>
            </a:r>
            <a:r>
              <a:rPr sz="2000" dirty="0">
                <a:latin typeface="Times New Roman"/>
                <a:cs typeface="Times New Roman"/>
              </a:rPr>
              <a:t>Branching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body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number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dendrites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 the </a:t>
            </a:r>
            <a:r>
              <a:rPr sz="2000" spc="-10" dirty="0">
                <a:latin typeface="Times New Roman"/>
                <a:cs typeface="Times New Roman"/>
              </a:rPr>
              <a:t>axon.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axon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stretches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long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much longer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indicates.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3797" y="4891205"/>
            <a:ext cx="10998586" cy="1870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4790" y="-30152"/>
            <a:ext cx="11278870" cy="645033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5 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PSYCHOLOGY</a:t>
            </a:r>
            <a:endParaRPr sz="200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812800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animals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think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act?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principle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characteristic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b="1" dirty="0">
                <a:latin typeface="Times New Roman"/>
                <a:cs typeface="Times New Roman"/>
              </a:rPr>
              <a:t>cognitive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psychology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brain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information.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claim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beliefs,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goals,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reasoning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theory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human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behaviour.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Times New Roman"/>
                <a:cs typeface="Times New Roman"/>
              </a:rPr>
              <a:t>knowledge-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steps: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Stimulus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translated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  <a:p>
            <a:pPr marL="12700" marR="1231900" indent="342265">
              <a:lnSpc>
                <a:spcPts val="4400"/>
              </a:lnSpc>
              <a:spcBef>
                <a:spcPts val="475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manipulated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cognitive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derive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representations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translated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actions</a:t>
            </a:r>
            <a:endParaRPr sz="20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80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COMPUTER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  <a:p>
            <a:pPr marL="847090" indent="-342900">
              <a:lnSpc>
                <a:spcPct val="100000"/>
              </a:lnSpc>
              <a:spcBef>
                <a:spcPts val="1500"/>
              </a:spcBef>
              <a:buFont typeface="Wingdings"/>
              <a:buChar char=""/>
              <a:tabLst>
                <a:tab pos="847090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efficient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computer?</a:t>
            </a:r>
            <a:endParaRPr sz="2000">
              <a:latin typeface="Times New Roman"/>
              <a:cs typeface="Times New Roman"/>
            </a:endParaRPr>
          </a:p>
          <a:p>
            <a:pPr marL="504190" marR="117475">
              <a:lnSpc>
                <a:spcPct val="150000"/>
              </a:lnSpc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artificial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intelligence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succeed,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things: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intelligence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artifact.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computer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libri"/>
                <a:cs typeface="Calibri"/>
              </a:rPr>
              <a:t>has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artifact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choice.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modern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digital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electronic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computer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was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invented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independently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libri"/>
                <a:cs typeface="Calibri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almost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simultaneously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scientists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countries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embattled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World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libri"/>
                <a:cs typeface="Calibri"/>
              </a:rPr>
              <a:t>War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libri"/>
                <a:cs typeface="Calibri"/>
              </a:rPr>
              <a:t>II.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96695" y="-125634"/>
            <a:ext cx="11603355" cy="232219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HISTORY</a:t>
            </a:r>
            <a:r>
              <a:rPr sz="20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ARTIFICIAL</a:t>
            </a:r>
            <a:r>
              <a:rPr sz="2000" b="1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INTELLIGENCE</a:t>
            </a:r>
            <a:endParaRPr sz="2000">
              <a:latin typeface="Times New Roman"/>
              <a:cs typeface="Times New Roman"/>
            </a:endParaRPr>
          </a:p>
          <a:p>
            <a:pPr marL="225425" marR="5080" indent="457200">
              <a:lnSpc>
                <a:spcPct val="150000"/>
              </a:lnSpc>
              <a:spcBef>
                <a:spcPts val="40"/>
              </a:spcBef>
            </a:pPr>
            <a:r>
              <a:rPr sz="2000" dirty="0">
                <a:latin typeface="Times New Roman"/>
                <a:cs typeface="Times New Roman"/>
              </a:rPr>
              <a:t>Artificial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Intelligence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new word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 technology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researchers.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much </a:t>
            </a:r>
            <a:r>
              <a:rPr sz="2000" dirty="0">
                <a:latin typeface="Times New Roman"/>
                <a:cs typeface="Times New Roman"/>
              </a:rPr>
              <a:t>older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would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imagine.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myths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Mechanical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Ancient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Greek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Egyptian </a:t>
            </a:r>
            <a:r>
              <a:rPr sz="2000" dirty="0">
                <a:latin typeface="Times New Roman"/>
                <a:cs typeface="Times New Roman"/>
              </a:rPr>
              <a:t>Myths.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milestones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history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journey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till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date</a:t>
            </a:r>
            <a:r>
              <a:rPr sz="2000" spc="-10" dirty="0">
                <a:latin typeface="Times New Roman"/>
                <a:cs typeface="Times New Roman"/>
              </a:rPr>
              <a:t> development.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392" y="2257719"/>
            <a:ext cx="11427073" cy="44843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1808" y="132074"/>
            <a:ext cx="11623040" cy="5917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Maturation</a:t>
            </a:r>
            <a:r>
              <a:rPr sz="22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r>
              <a:rPr sz="22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(1943-1952)</a:t>
            </a:r>
            <a:endParaRPr sz="22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2305"/>
              </a:spcBef>
              <a:buFont typeface="Wingdings"/>
              <a:buChar char=""/>
              <a:tabLst>
                <a:tab pos="812165" algn="l"/>
              </a:tabLst>
            </a:pPr>
            <a:r>
              <a:rPr sz="2200" b="1" spc="-60" dirty="0">
                <a:latin typeface="Times New Roman"/>
                <a:cs typeface="Times New Roman"/>
              </a:rPr>
              <a:t>Year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1943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recognized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done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Warren </a:t>
            </a:r>
            <a:r>
              <a:rPr sz="2200" dirty="0">
                <a:latin typeface="Times New Roman"/>
                <a:cs typeface="Times New Roman"/>
              </a:rPr>
              <a:t>McCulloch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2200" spc="-20" dirty="0">
                <a:latin typeface="Times New Roman"/>
                <a:cs typeface="Times New Roman"/>
              </a:rPr>
              <a:t>Walter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1943.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proposed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neurons.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2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buFont typeface="Wingdings"/>
              <a:buChar char=""/>
              <a:tabLst>
                <a:tab pos="812165" algn="l"/>
              </a:tabLst>
            </a:pPr>
            <a:r>
              <a:rPr sz="2200" b="1" spc="-60" dirty="0">
                <a:latin typeface="Times New Roman"/>
                <a:cs typeface="Times New Roman"/>
              </a:rPr>
              <a:t>Year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1949: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Donald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Hebb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demonstrated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updating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modifying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connection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strength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neurons.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Hebbian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learning.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2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buFont typeface="Wingdings"/>
              <a:buChar char=""/>
              <a:tabLst>
                <a:tab pos="812165" algn="l"/>
              </a:tabLst>
            </a:pPr>
            <a:r>
              <a:rPr sz="2400" b="1" spc="-65" dirty="0">
                <a:latin typeface="Times New Roman"/>
                <a:cs typeface="Times New Roman"/>
              </a:rPr>
              <a:t>Year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1950: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Alan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English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mathematician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pioneered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Machine</a:t>
            </a:r>
            <a:endParaRPr sz="2400">
              <a:latin typeface="Times New Roman"/>
              <a:cs typeface="Times New Roman"/>
            </a:endParaRPr>
          </a:p>
          <a:p>
            <a:pPr marL="812800" marR="262255">
              <a:lnSpc>
                <a:spcPts val="5760"/>
              </a:lnSpc>
              <a:spcBef>
                <a:spcPts val="475"/>
              </a:spcBef>
            </a:pP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1950.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Alan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publishes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"Computing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Machinery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Intelligence"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machine's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ability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exhibit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intelligent </a:t>
            </a:r>
            <a:r>
              <a:rPr sz="2400" dirty="0">
                <a:latin typeface="Times New Roman"/>
                <a:cs typeface="Times New Roman"/>
              </a:rPr>
              <a:t>behavior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equivalent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intelligence,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33271" y="132074"/>
            <a:ext cx="11543665" cy="5012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birth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200" b="1" spc="-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Artificial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Intelligence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(1952-1956)</a:t>
            </a:r>
            <a:endParaRPr sz="220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spcBef>
                <a:spcPts val="2305"/>
              </a:spcBef>
              <a:buFont typeface="Wingdings"/>
              <a:buChar char=""/>
              <a:tabLst>
                <a:tab pos="812800" algn="l"/>
              </a:tabLst>
            </a:pP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Year</a:t>
            </a:r>
            <a:r>
              <a:rPr sz="22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1955:</a:t>
            </a:r>
            <a:r>
              <a:rPr sz="22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Allen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Newell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Herbert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"first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intelligence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program"Which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named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"Logic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Theorist".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38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52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2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Mathematics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theorems,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elegant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proofs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theorems.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buFont typeface="Wingdings"/>
              <a:buChar char=""/>
              <a:tabLst>
                <a:tab pos="812165" algn="l"/>
              </a:tabLst>
            </a:pPr>
            <a:r>
              <a:rPr sz="22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Year</a:t>
            </a:r>
            <a:r>
              <a:rPr sz="22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1956:</a:t>
            </a:r>
            <a:r>
              <a:rPr sz="22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"Artificial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Intelligence"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adopted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by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American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scientist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John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McCarthy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Dartmouth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Conference.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time,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coined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academic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field.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buFont typeface="Wingdings"/>
              <a:buChar char=""/>
              <a:tabLst>
                <a:tab pos="812165" algn="l"/>
              </a:tabLst>
            </a:pP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high-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FORTRAN,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LISP,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COBOL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were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2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invented.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enthusiasm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1765" y="115564"/>
            <a:ext cx="11354435" cy="6396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golden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years-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Early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enthusiasm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(1956-1974)</a:t>
            </a:r>
            <a:endParaRPr sz="2200">
              <a:latin typeface="Times New Roman"/>
              <a:cs typeface="Times New Roman"/>
            </a:endParaRPr>
          </a:p>
          <a:p>
            <a:pPr marL="811530" marR="36195" indent="-342265">
              <a:lnSpc>
                <a:spcPts val="5280"/>
              </a:lnSpc>
              <a:spcBef>
                <a:spcPts val="615"/>
              </a:spcBef>
              <a:buFont typeface="Wingdings"/>
              <a:buChar char=""/>
              <a:tabLst>
                <a:tab pos="812800" algn="l"/>
              </a:tabLst>
            </a:pPr>
            <a:r>
              <a:rPr sz="2200" b="1" spc="-65" dirty="0">
                <a:latin typeface="Times New Roman"/>
                <a:cs typeface="Times New Roman"/>
              </a:rPr>
              <a:t>Year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1966:</a:t>
            </a:r>
            <a:r>
              <a:rPr sz="2200" b="1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researchers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emphasized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mathematical 	</a:t>
            </a:r>
            <a:r>
              <a:rPr sz="2200" dirty="0">
                <a:latin typeface="Times New Roman"/>
                <a:cs typeface="Times New Roman"/>
              </a:rPr>
              <a:t>problems.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Joseph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Weizenbaum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chatbot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1966,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named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ELIZA.</a:t>
            </a:r>
            <a:endParaRPr sz="2200">
              <a:latin typeface="Times New Roman"/>
              <a:cs typeface="Times New Roman"/>
            </a:endParaRPr>
          </a:p>
          <a:p>
            <a:pPr marL="811530" marR="741680" indent="-342265">
              <a:lnSpc>
                <a:spcPts val="5280"/>
              </a:lnSpc>
              <a:spcBef>
                <a:spcPts val="5"/>
              </a:spcBef>
              <a:buFont typeface="Wingdings"/>
              <a:buChar char=""/>
              <a:tabLst>
                <a:tab pos="812800" algn="l"/>
              </a:tabLst>
            </a:pPr>
            <a:r>
              <a:rPr sz="2200" b="1" spc="-65" dirty="0">
                <a:latin typeface="Times New Roman"/>
                <a:cs typeface="Times New Roman"/>
              </a:rPr>
              <a:t>Year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1972:</a:t>
            </a:r>
            <a:r>
              <a:rPr sz="2200" b="1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humanoid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Japan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named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as 	</a:t>
            </a:r>
            <a:r>
              <a:rPr sz="2200" spc="-90" dirty="0">
                <a:latin typeface="Times New Roman"/>
                <a:cs typeface="Times New Roman"/>
              </a:rPr>
              <a:t>WABOT-</a:t>
            </a:r>
            <a:r>
              <a:rPr sz="2200" spc="-25" dirty="0">
                <a:latin typeface="Times New Roman"/>
                <a:cs typeface="Times New Roman"/>
              </a:rPr>
              <a:t>1.</a:t>
            </a:r>
            <a:endParaRPr sz="220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  <a:spcBef>
                <a:spcPts val="2030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22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winter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(1974-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1980)</a:t>
            </a:r>
            <a:endParaRPr sz="2200">
              <a:latin typeface="Times New Roman"/>
              <a:cs typeface="Times New Roman"/>
            </a:endParaRPr>
          </a:p>
          <a:p>
            <a:pPr marL="937260" marR="5080" lvl="1" indent="-342900">
              <a:lnSpc>
                <a:spcPct val="200000"/>
              </a:lnSpc>
              <a:buFont typeface="Wingdings"/>
              <a:buChar char=""/>
              <a:tabLst>
                <a:tab pos="93726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duration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years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1974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1980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first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winter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duration.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winter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refers</a:t>
            </a:r>
            <a:r>
              <a:rPr sz="2200" spc="-25" dirty="0">
                <a:latin typeface="Times New Roman"/>
                <a:cs typeface="Times New Roman"/>
              </a:rPr>
              <a:t> to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period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scientist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dealt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severe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shortage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funding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from </a:t>
            </a:r>
            <a:r>
              <a:rPr sz="2200" dirty="0">
                <a:latin typeface="Times New Roman"/>
                <a:cs typeface="Times New Roman"/>
              </a:rPr>
              <a:t>government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researches.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936625" lvl="1" indent="-342265">
              <a:lnSpc>
                <a:spcPct val="100000"/>
              </a:lnSpc>
              <a:buFont typeface="Wingdings"/>
              <a:buChar char=""/>
              <a:tabLst>
                <a:tab pos="936625" algn="l"/>
              </a:tabLst>
            </a:pPr>
            <a:r>
              <a:rPr sz="2200" spc="-10" dirty="0">
                <a:latin typeface="Times New Roman"/>
                <a:cs typeface="Times New Roman"/>
              </a:rPr>
              <a:t>During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winters,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interest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publicity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decreased.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827" y="231388"/>
            <a:ext cx="30886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boom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(1980-1987)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1808" y="901949"/>
            <a:ext cx="11297920" cy="5149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3885" indent="-3422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603885" algn="l"/>
              </a:tabLst>
            </a:pPr>
            <a:r>
              <a:rPr sz="2200" b="1" spc="-65" dirty="0">
                <a:solidFill>
                  <a:srgbClr val="0000FF"/>
                </a:solidFill>
                <a:latin typeface="Times New Roman"/>
                <a:cs typeface="Times New Roman"/>
              </a:rPr>
              <a:t>Year</a:t>
            </a:r>
            <a:r>
              <a:rPr sz="22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1980:</a:t>
            </a:r>
            <a:r>
              <a:rPr sz="2200" b="1" spc="-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After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winter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duration,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came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back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"Expert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System".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Expert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were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000FF"/>
              </a:buClr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programmed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emulate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decision-</a:t>
            </a:r>
            <a:r>
              <a:rPr sz="2200" dirty="0">
                <a:latin typeface="Times New Roman"/>
                <a:cs typeface="Times New Roman"/>
              </a:rPr>
              <a:t>making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ability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expert.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200">
              <a:latin typeface="Times New Roman"/>
              <a:cs typeface="Times New Roman"/>
            </a:endParaRPr>
          </a:p>
          <a:p>
            <a:pPr marL="60388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603885" algn="l"/>
              </a:tabLst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2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0000FF"/>
                </a:solidFill>
                <a:latin typeface="Times New Roman"/>
                <a:cs typeface="Times New Roman"/>
              </a:rPr>
              <a:t>Year</a:t>
            </a:r>
            <a:r>
              <a:rPr sz="22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1980,</a:t>
            </a:r>
            <a:r>
              <a:rPr sz="22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national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conference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American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Association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of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Artificial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was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held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Stanford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University.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second</a:t>
            </a:r>
            <a:r>
              <a:rPr sz="2200" b="1" spc="-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AI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winter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(1987-1993)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duration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years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1987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1993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second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Winter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duration.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Again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Investors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government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stopped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funding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research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not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efficient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result.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expert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XCON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effective.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76778" y="370148"/>
            <a:ext cx="11080115" cy="3671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emergence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intelligent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agents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(1993-2011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355600" marR="111760" indent="-342900">
              <a:lnSpc>
                <a:spcPts val="5280"/>
              </a:lnSpc>
              <a:spcBef>
                <a:spcPts val="280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spc="-45" dirty="0">
                <a:latin typeface="Times New Roman"/>
                <a:cs typeface="Times New Roman"/>
              </a:rPr>
              <a:t>Year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1997: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year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1997,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IBM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Deep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Blue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beats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chess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champion,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Gary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Kasparov,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became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chess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champion.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30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spc="-45" dirty="0">
                <a:latin typeface="Times New Roman"/>
                <a:cs typeface="Times New Roman"/>
              </a:rPr>
              <a:t>Year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2002: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time,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entered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Roomba,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vacuum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cleaner.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2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200" spc="-45" dirty="0">
                <a:latin typeface="Times New Roman"/>
                <a:cs typeface="Times New Roman"/>
              </a:rPr>
              <a:t>Year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2006: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came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Business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till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year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2006.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Companies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Facebook,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Twitter,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Netflix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started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using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AI.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2204" y="-35940"/>
            <a:ext cx="11341100" cy="656526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Deep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learning,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big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general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(2011-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present)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Year</a:t>
            </a:r>
            <a:r>
              <a:rPr sz="22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2011: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year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2011,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IBM's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Watson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jeopardy,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quiz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show,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complex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questions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riddles.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Watson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could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understand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natural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language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tricky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questions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quickly.</a:t>
            </a:r>
            <a:endParaRPr sz="2200">
              <a:latin typeface="Times New Roman"/>
              <a:cs typeface="Times New Roman"/>
            </a:endParaRPr>
          </a:p>
          <a:p>
            <a:pPr marL="355600" marR="83693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2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Year</a:t>
            </a:r>
            <a:r>
              <a:rPr sz="22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2012: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Google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launched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Android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feature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"Google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now",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prediction.</a:t>
            </a:r>
            <a:endParaRPr sz="2200">
              <a:latin typeface="Times New Roman"/>
              <a:cs typeface="Times New Roman"/>
            </a:endParaRPr>
          </a:p>
          <a:p>
            <a:pPr marL="355600" marR="405765" indent="-3429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b="1" spc="-65" dirty="0">
                <a:solidFill>
                  <a:srgbClr val="0000FF"/>
                </a:solidFill>
                <a:latin typeface="Times New Roman"/>
                <a:cs typeface="Times New Roman"/>
              </a:rPr>
              <a:t>Year</a:t>
            </a:r>
            <a:r>
              <a:rPr sz="22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2014: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year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2014,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Chatbot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"Eugene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Goost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man"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competition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infamous "Turing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test."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Year</a:t>
            </a:r>
            <a:r>
              <a:rPr sz="22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2018:</a:t>
            </a:r>
            <a:r>
              <a:rPr sz="22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"Project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Debater"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IBM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debated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complex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topics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master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debaters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extremely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well.</a:t>
            </a:r>
            <a:endParaRPr sz="2200">
              <a:latin typeface="Times New Roman"/>
              <a:cs typeface="Times New Roman"/>
            </a:endParaRPr>
          </a:p>
          <a:p>
            <a:pPr marL="355600" marR="35433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Google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demonstrated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"Duplex"</a:t>
            </a:r>
            <a:r>
              <a:rPr sz="22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virtual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assistant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had </a:t>
            </a:r>
            <a:r>
              <a:rPr sz="2200" dirty="0">
                <a:latin typeface="Times New Roman"/>
                <a:cs typeface="Times New Roman"/>
              </a:rPr>
              <a:t>taken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hairdresser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appointment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lady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didn't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notice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talking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machine.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9400"/>
            <a:ext cx="10210800" cy="629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675" y="283326"/>
            <a:ext cx="10560679" cy="61818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6070" y="132074"/>
            <a:ext cx="11378565" cy="675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295" indent="-26860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28295" algn="l"/>
              </a:tabLst>
            </a:pP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COMPETITIVE</a:t>
            </a:r>
            <a:r>
              <a:rPr sz="22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EDGE</a:t>
            </a:r>
            <a:endParaRPr sz="2200">
              <a:latin typeface="Times New Roman"/>
              <a:cs typeface="Times New Roman"/>
            </a:endParaRPr>
          </a:p>
          <a:p>
            <a:pPr marL="59690" marR="515620">
              <a:lnSpc>
                <a:spcPct val="150000"/>
              </a:lnSpc>
              <a:spcBef>
                <a:spcPts val="1095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organizations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serious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edge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adversaries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banking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upon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AI </a:t>
            </a:r>
            <a:r>
              <a:rPr sz="2200" dirty="0">
                <a:latin typeface="Times New Roman"/>
                <a:cs typeface="Times New Roman"/>
              </a:rPr>
              <a:t>advancements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acquire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this.</a:t>
            </a:r>
            <a:endParaRPr sz="2200">
              <a:latin typeface="Times New Roman"/>
              <a:cs typeface="Times New Roman"/>
            </a:endParaRPr>
          </a:p>
          <a:p>
            <a:pPr marL="59690" marR="139065">
              <a:lnSpc>
                <a:spcPct val="150000"/>
              </a:lnSpc>
              <a:spcBef>
                <a:spcPts val="1200"/>
              </a:spcBef>
            </a:pPr>
            <a:r>
              <a:rPr sz="2200" spc="-20" dirty="0">
                <a:latin typeface="Times New Roman"/>
                <a:cs typeface="Times New Roman"/>
              </a:rPr>
              <a:t>Take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Autopilot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highlight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offered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Tesla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vehicles.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Tesla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utilizing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Deep </a:t>
            </a:r>
            <a:r>
              <a:rPr sz="2200" spc="-10" dirty="0">
                <a:latin typeface="Times New Roman"/>
                <a:cs typeface="Times New Roman"/>
              </a:rPr>
              <a:t>Learning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accomplish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Autonomous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driving.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one </a:t>
            </a:r>
            <a:r>
              <a:rPr sz="2200" dirty="0">
                <a:latin typeface="Times New Roman"/>
                <a:cs typeface="Times New Roman"/>
              </a:rPr>
              <a:t>element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many,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characterizing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brand.</a:t>
            </a:r>
            <a:endParaRPr sz="22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1864"/>
              </a:spcBef>
              <a:buAutoNum type="arabicPeriod" startAt="2"/>
              <a:tabLst>
                <a:tab pos="266065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ACCESSIBILITY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establishment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speed,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availability,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sheer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scale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enabled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bolder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computations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deal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progressively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exciting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issues.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solely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gear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faster,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expanded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specific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assortments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processors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(e.g.,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GPUs),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moreover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available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looking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cloud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organizations.</a:t>
            </a:r>
            <a:endParaRPr sz="2200">
              <a:latin typeface="Times New Roman"/>
              <a:cs typeface="Times New Roman"/>
            </a:endParaRPr>
          </a:p>
          <a:p>
            <a:pPr marL="12700" marR="353060" indent="457200">
              <a:lnSpc>
                <a:spcPct val="150000"/>
              </a:lnSpc>
            </a:pP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explicit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labs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PCs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would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now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cloud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lower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democratized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significant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hardware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stages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run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enabling </a:t>
            </a:r>
            <a:r>
              <a:rPr sz="2200" dirty="0">
                <a:latin typeface="Times New Roman"/>
                <a:cs typeface="Times New Roman"/>
              </a:rPr>
              <a:t>duplication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organizations.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0515" y="132074"/>
            <a:ext cx="11489690" cy="6118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1305" indent="-268605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281305" algn="l"/>
              </a:tabLst>
            </a:pP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FEAR</a:t>
            </a:r>
            <a:r>
              <a:rPr sz="22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MISSING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OUT</a:t>
            </a:r>
            <a:r>
              <a:rPr sz="22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(FOMO)</a:t>
            </a:r>
            <a:endParaRPr sz="2200">
              <a:latin typeface="Times New Roman"/>
              <a:cs typeface="Times New Roman"/>
            </a:endParaRPr>
          </a:p>
          <a:p>
            <a:pPr marL="12700" marR="210185" indent="457200" algn="just">
              <a:lnSpc>
                <a:spcPct val="150100"/>
              </a:lnSpc>
              <a:spcBef>
                <a:spcPts val="1090"/>
              </a:spcBef>
            </a:pP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typo,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right!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simply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organizations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additionally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dread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passing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up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major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opportunity.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competitive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tossed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market,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adjust </a:t>
            </a:r>
            <a:r>
              <a:rPr sz="2200" spc="-20" dirty="0">
                <a:latin typeface="Times New Roman"/>
                <a:cs typeface="Times New Roman"/>
              </a:rPr>
              <a:t>appropriately.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done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putting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advances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would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upset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enterprises.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20"/>
              </a:spcBef>
            </a:pPr>
            <a:r>
              <a:rPr sz="2200" spc="-20" dirty="0">
                <a:latin typeface="Times New Roman"/>
                <a:cs typeface="Times New Roman"/>
              </a:rPr>
              <a:t>Take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financial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part,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practically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banks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vigorously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chatbots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with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won’t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rush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interruption.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30"/>
              </a:spcBef>
            </a:pPr>
            <a:endParaRPr sz="2200">
              <a:latin typeface="Times New Roman"/>
              <a:cs typeface="Times New Roman"/>
            </a:endParaRPr>
          </a:p>
          <a:p>
            <a:pPr marL="358140" indent="-268605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358140" algn="l"/>
              </a:tabLst>
            </a:pPr>
            <a:r>
              <a:rPr sz="2200" b="1" spc="-85" dirty="0">
                <a:solidFill>
                  <a:srgbClr val="0000FF"/>
                </a:solidFill>
                <a:latin typeface="Times New Roman"/>
                <a:cs typeface="Times New Roman"/>
              </a:rPr>
              <a:t>COST-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EFFECTIVENESS</a:t>
            </a:r>
            <a:endParaRPr sz="2200">
              <a:latin typeface="Times New Roman"/>
              <a:cs typeface="Times New Roman"/>
            </a:endParaRPr>
          </a:p>
          <a:p>
            <a:pPr marL="89535" marR="922019" algn="just">
              <a:lnSpc>
                <a:spcPct val="150000"/>
              </a:lnSpc>
              <a:spcBef>
                <a:spcPts val="1095"/>
              </a:spcBef>
            </a:pP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technologies,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time,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becoming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affordable.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has </a:t>
            </a:r>
            <a:r>
              <a:rPr sz="2200" dirty="0">
                <a:latin typeface="Times New Roman"/>
                <a:cs typeface="Times New Roman"/>
              </a:rPr>
              <a:t>made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feasible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organizations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couldn’t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bear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use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advances.</a:t>
            </a:r>
            <a:endParaRPr sz="2200">
              <a:latin typeface="Times New Roman"/>
              <a:cs typeface="Times New Roman"/>
            </a:endParaRPr>
          </a:p>
          <a:p>
            <a:pPr marL="89535" algn="just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Times New Roman"/>
                <a:cs typeface="Times New Roman"/>
              </a:rPr>
              <a:t>Organizations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barrier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implement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AI.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6296" y="359404"/>
            <a:ext cx="10949940" cy="266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5.</a:t>
            </a:r>
            <a:r>
              <a:rPr sz="22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FUTURE</a:t>
            </a:r>
            <a:r>
              <a:rPr sz="22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PROOF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15"/>
              </a:spcBef>
            </a:pP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comprehend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future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safe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1200"/>
              </a:spcBef>
            </a:pPr>
            <a:r>
              <a:rPr sz="2200" spc="-10" dirty="0">
                <a:latin typeface="Times New Roman"/>
                <a:cs typeface="Times New Roman"/>
              </a:rPr>
              <a:t>Organizations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ought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guarantee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themselves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future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confirmation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actualizing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AI </a:t>
            </a:r>
            <a:r>
              <a:rPr sz="2200" dirty="0">
                <a:latin typeface="Times New Roman"/>
                <a:cs typeface="Times New Roman"/>
              </a:rPr>
              <a:t>advancements.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chance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going,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head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that </a:t>
            </a:r>
            <a:r>
              <a:rPr sz="2200" dirty="0">
                <a:latin typeface="Times New Roman"/>
                <a:cs typeface="Times New Roman"/>
              </a:rPr>
              <a:t>equivalent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course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versatile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change.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7861" y="242056"/>
            <a:ext cx="11433810" cy="5080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WHY</a:t>
            </a:r>
            <a:r>
              <a:rPr sz="22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INTELLIGENCE?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200">
              <a:latin typeface="Times New Roman"/>
              <a:cs typeface="Times New Roman"/>
            </a:endParaRPr>
          </a:p>
          <a:p>
            <a:pPr marL="70802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about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should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importance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AI</a:t>
            </a:r>
            <a:endParaRPr sz="220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should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</a:t>
            </a:r>
            <a:r>
              <a:rPr sz="2200" spc="-25" dirty="0">
                <a:latin typeface="Times New Roman"/>
                <a:cs typeface="Times New Roman"/>
              </a:rPr>
              <a:t> it.</a:t>
            </a:r>
            <a:endParaRPr sz="2200">
              <a:latin typeface="Times New Roman"/>
              <a:cs typeface="Times New Roman"/>
            </a:endParaRPr>
          </a:p>
          <a:p>
            <a:pPr marL="593725" marR="675005" indent="-342900">
              <a:lnSpc>
                <a:spcPct val="150000"/>
              </a:lnSpc>
              <a:buFont typeface="Wingdings"/>
              <a:buChar char=""/>
              <a:tabLst>
                <a:tab pos="593725" algn="l"/>
              </a:tabLst>
            </a:pP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real-world </a:t>
            </a:r>
            <a:r>
              <a:rPr sz="2200" dirty="0">
                <a:latin typeface="Times New Roman"/>
                <a:cs typeface="Times New Roman"/>
              </a:rPr>
              <a:t>problems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easily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accuracy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health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issues,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marketing,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traffic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issues,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593725" marR="570865" indent="-342900">
              <a:lnSpc>
                <a:spcPct val="150000"/>
              </a:lnSpc>
              <a:buFont typeface="Wingdings"/>
              <a:buChar char=""/>
              <a:tabLst>
                <a:tab pos="593725" algn="l"/>
              </a:tabLst>
            </a:pP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personal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virtual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Assistant,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Cortana,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Google </a:t>
            </a:r>
            <a:r>
              <a:rPr sz="2200" dirty="0">
                <a:latin typeface="Times New Roman"/>
                <a:cs typeface="Times New Roman"/>
              </a:rPr>
              <a:t>Assistant,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Siri,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593090" indent="-342265">
              <a:lnSpc>
                <a:spcPct val="100000"/>
              </a:lnSpc>
              <a:spcBef>
                <a:spcPts val="1325"/>
              </a:spcBef>
              <a:buFont typeface="Wingdings"/>
              <a:buChar char=""/>
              <a:tabLst>
                <a:tab pos="593090" algn="l"/>
              </a:tabLst>
            </a:pP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where</a:t>
            </a:r>
            <a:endParaRPr sz="2200">
              <a:latin typeface="Times New Roman"/>
              <a:cs typeface="Times New Roman"/>
            </a:endParaRPr>
          </a:p>
          <a:p>
            <a:pPr marL="59372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survival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risk.</a:t>
            </a:r>
            <a:endParaRPr sz="220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opens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technologies,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Opportunities.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98529" y="-100945"/>
            <a:ext cx="10764520" cy="672465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GOALS</a:t>
            </a:r>
            <a:r>
              <a:rPr sz="22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b="1" spc="-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sz="22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endParaRPr sz="2200">
              <a:latin typeface="Times New Roman"/>
              <a:cs typeface="Times New Roman"/>
            </a:endParaRPr>
          </a:p>
          <a:p>
            <a:pPr marL="822960" indent="-342265">
              <a:lnSpc>
                <a:spcPct val="100000"/>
              </a:lnSpc>
              <a:spcBef>
                <a:spcPts val="1120"/>
              </a:spcBef>
              <a:buFont typeface="Wingdings"/>
              <a:buChar char=""/>
              <a:tabLst>
                <a:tab pos="822960" algn="l"/>
              </a:tabLst>
            </a:pPr>
            <a:r>
              <a:rPr sz="2200" dirty="0">
                <a:latin typeface="Times New Roman"/>
                <a:cs typeface="Times New Roman"/>
              </a:rPr>
              <a:t>Replicate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intelligence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22960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822960" algn="l"/>
              </a:tabLst>
            </a:pP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Knowledge-</a:t>
            </a:r>
            <a:r>
              <a:rPr sz="2200" dirty="0">
                <a:latin typeface="Times New Roman"/>
                <a:cs typeface="Times New Roman"/>
              </a:rPr>
              <a:t>intensive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tasks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22960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822960" algn="l"/>
              </a:tabLst>
            </a:pP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connection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perception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22960" indent="-342265">
              <a:lnSpc>
                <a:spcPct val="100000"/>
              </a:lnSpc>
              <a:buFont typeface="Wingdings"/>
              <a:buChar char=""/>
              <a:tabLst>
                <a:tab pos="822960" algn="l"/>
              </a:tabLst>
            </a:pPr>
            <a:r>
              <a:rPr sz="2200" dirty="0">
                <a:latin typeface="Times New Roman"/>
                <a:cs typeface="Times New Roman"/>
              </a:rPr>
              <a:t>Building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as: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1224280" lvl="1" indent="-286385">
              <a:lnSpc>
                <a:spcPct val="100000"/>
              </a:lnSpc>
              <a:buFont typeface="Wingdings"/>
              <a:buChar char=""/>
              <a:tabLst>
                <a:tab pos="1224280" algn="l"/>
              </a:tabLst>
            </a:pPr>
            <a:r>
              <a:rPr sz="2200" dirty="0">
                <a:latin typeface="Times New Roman"/>
                <a:cs typeface="Times New Roman"/>
              </a:rPr>
              <a:t>Proving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theorem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4"/>
              </a:spcBef>
              <a:buFont typeface="Wingdings"/>
              <a:buChar char=""/>
            </a:pPr>
            <a:endParaRPr sz="2200">
              <a:latin typeface="Times New Roman"/>
              <a:cs typeface="Times New Roman"/>
            </a:endParaRPr>
          </a:p>
          <a:p>
            <a:pPr marL="1224280" lvl="1" indent="-286385">
              <a:lnSpc>
                <a:spcPct val="100000"/>
              </a:lnSpc>
              <a:buFont typeface="Wingdings"/>
              <a:buChar char=""/>
              <a:tabLst>
                <a:tab pos="1224280" algn="l"/>
              </a:tabLst>
            </a:pPr>
            <a:r>
              <a:rPr sz="2200" dirty="0">
                <a:latin typeface="Times New Roman"/>
                <a:cs typeface="Times New Roman"/>
              </a:rPr>
              <a:t>Playing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chess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Font typeface="Wingdings"/>
              <a:buChar char=""/>
            </a:pPr>
            <a:endParaRPr sz="2200">
              <a:latin typeface="Times New Roman"/>
              <a:cs typeface="Times New Roman"/>
            </a:endParaRPr>
          </a:p>
          <a:p>
            <a:pPr marL="1224280" lvl="1" indent="-286385">
              <a:lnSpc>
                <a:spcPct val="100000"/>
              </a:lnSpc>
              <a:buFont typeface="Wingdings"/>
              <a:buChar char=""/>
              <a:tabLst>
                <a:tab pos="1224280" algn="l"/>
              </a:tabLst>
            </a:pPr>
            <a:r>
              <a:rPr sz="2200" dirty="0">
                <a:latin typeface="Times New Roman"/>
                <a:cs typeface="Times New Roman"/>
              </a:rPr>
              <a:t>Plan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surgical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operation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Font typeface="Wingdings"/>
              <a:buChar char=""/>
            </a:pPr>
            <a:endParaRPr sz="2200">
              <a:latin typeface="Times New Roman"/>
              <a:cs typeface="Times New Roman"/>
            </a:endParaRPr>
          </a:p>
          <a:p>
            <a:pPr marL="1224280" lvl="1" indent="-286385">
              <a:lnSpc>
                <a:spcPct val="100000"/>
              </a:lnSpc>
              <a:buFont typeface="Wingdings"/>
              <a:buChar char=""/>
              <a:tabLst>
                <a:tab pos="1224280" algn="l"/>
              </a:tabLst>
            </a:pPr>
            <a:r>
              <a:rPr sz="2200" dirty="0">
                <a:latin typeface="Times New Roman"/>
                <a:cs typeface="Times New Roman"/>
              </a:rPr>
              <a:t>Driving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traffic</a:t>
            </a:r>
            <a:endParaRPr sz="2200">
              <a:latin typeface="Times New Roman"/>
              <a:cs typeface="Times New Roman"/>
            </a:endParaRPr>
          </a:p>
          <a:p>
            <a:pPr marL="822960" indent="-342265">
              <a:lnSpc>
                <a:spcPct val="100000"/>
              </a:lnSpc>
              <a:spcBef>
                <a:spcPts val="1655"/>
              </a:spcBef>
              <a:buFont typeface="Wingdings"/>
              <a:buChar char=""/>
              <a:tabLst>
                <a:tab pos="822960" algn="l"/>
              </a:tabLst>
            </a:pPr>
            <a:r>
              <a:rPr sz="2200" dirty="0">
                <a:latin typeface="Times New Roman"/>
                <a:cs typeface="Times New Roman"/>
              </a:rPr>
              <a:t>Creating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exhibit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behaviour,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things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itself,</a:t>
            </a:r>
            <a:endParaRPr sz="2200">
              <a:latin typeface="Times New Roman"/>
              <a:cs typeface="Times New Roman"/>
            </a:endParaRPr>
          </a:p>
          <a:p>
            <a:pPr marL="823594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demonstrate,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explain,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advise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6296" y="522574"/>
            <a:ext cx="11610975" cy="597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High</a:t>
            </a:r>
            <a:r>
              <a:rPr sz="2000" b="1" spc="-1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Accuracy</a:t>
            </a:r>
            <a:r>
              <a:rPr sz="20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with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less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errors:</a:t>
            </a:r>
            <a:r>
              <a:rPr sz="2000" b="1" spc="-1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 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accuracy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takes </a:t>
            </a:r>
            <a:r>
              <a:rPr sz="2000" dirty="0">
                <a:latin typeface="Times New Roman"/>
                <a:cs typeface="Times New Roman"/>
              </a:rPr>
              <a:t>decisions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pre-experience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High-Speed:</a:t>
            </a:r>
            <a:r>
              <a:rPr sz="20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high-speed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fast-</a:t>
            </a:r>
            <a:r>
              <a:rPr sz="2000" dirty="0">
                <a:latin typeface="Times New Roman"/>
                <a:cs typeface="Times New Roman"/>
              </a:rPr>
              <a:t>decision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making,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 </a:t>
            </a:r>
            <a:r>
              <a:rPr sz="2000" spc="-25" dirty="0">
                <a:latin typeface="Times New Roman"/>
                <a:cs typeface="Times New Roman"/>
              </a:rPr>
              <a:t>can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beat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champion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Chess</a:t>
            </a:r>
            <a:r>
              <a:rPr sz="2000" spc="-10" dirty="0">
                <a:latin typeface="Times New Roman"/>
                <a:cs typeface="Times New Roman"/>
              </a:rPr>
              <a:t> game.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High</a:t>
            </a:r>
            <a:r>
              <a:rPr sz="20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reliability:</a:t>
            </a:r>
            <a:r>
              <a:rPr sz="2000" b="1" spc="-1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high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Times New Roman"/>
                <a:cs typeface="Times New Roman"/>
              </a:rPr>
              <a:t>accuracy.</a:t>
            </a:r>
            <a:endParaRPr sz="2000">
              <a:latin typeface="Times New Roman"/>
              <a:cs typeface="Times New Roman"/>
            </a:endParaRPr>
          </a:p>
          <a:p>
            <a:pPr marL="355600" marR="2413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Useful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risky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areas:</a:t>
            </a:r>
            <a:r>
              <a:rPr sz="20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helpful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situations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defusing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bomb,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exploring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ocean </a:t>
            </a:r>
            <a:r>
              <a:rPr sz="2000" dirty="0">
                <a:latin typeface="Times New Roman"/>
                <a:cs typeface="Times New Roman"/>
              </a:rPr>
              <a:t>floor,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risky.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Digital</a:t>
            </a:r>
            <a:r>
              <a:rPr sz="2000" b="1" spc="-1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Assistant:</a:t>
            </a:r>
            <a:r>
              <a:rPr sz="2000" b="1" spc="-1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 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assistant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currently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E-commerce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websites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products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requirement.</a:t>
            </a:r>
            <a:endParaRPr sz="2000">
              <a:latin typeface="Times New Roman"/>
              <a:cs typeface="Times New Roman"/>
            </a:endParaRPr>
          </a:p>
          <a:p>
            <a:pPr marL="355600" marR="123189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Useful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 public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utility:</a:t>
            </a:r>
            <a:r>
              <a:rPr sz="20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 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utilities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self-driving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make </a:t>
            </a:r>
            <a:r>
              <a:rPr sz="2000" dirty="0">
                <a:latin typeface="Times New Roman"/>
                <a:cs typeface="Times New Roman"/>
              </a:rPr>
              <a:t>our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journey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hassle-free,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facial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recognition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purpose,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Natural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communicate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human-</a:t>
            </a:r>
            <a:r>
              <a:rPr sz="2000" dirty="0">
                <a:latin typeface="Times New Roman"/>
                <a:cs typeface="Times New Roman"/>
              </a:rPr>
              <a:t>language,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740" y="132074"/>
            <a:ext cx="6296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ADVANTAGES</a:t>
            </a:r>
            <a:r>
              <a:rPr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b="1" spc="-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10698" y="-30152"/>
            <a:ext cx="11630660" cy="688530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DISADVANTAGES</a:t>
            </a:r>
            <a:r>
              <a:rPr sz="20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sz="2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disadvantages,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Artificial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intelligence.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advantageous</a:t>
            </a:r>
            <a:endParaRPr sz="2000">
              <a:latin typeface="Times New Roman"/>
              <a:cs typeface="Times New Roman"/>
            </a:endParaRPr>
          </a:p>
          <a:p>
            <a:pPr marL="12700" marR="695960">
              <a:lnSpc>
                <a:spcPct val="150000"/>
              </a:lnSpc>
            </a:pPr>
            <a:r>
              <a:rPr sz="2000" dirty="0">
                <a:latin typeface="Times New Roman"/>
                <a:cs typeface="Times New Roman"/>
              </a:rPr>
              <a:t>technology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disadvantages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 need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10" dirty="0">
                <a:latin typeface="Times New Roman"/>
                <a:cs typeface="Times New Roman"/>
              </a:rPr>
              <a:t> system.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disadvantages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AI: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High</a:t>
            </a:r>
            <a:r>
              <a:rPr sz="20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Cost:</a:t>
            </a:r>
            <a:r>
              <a:rPr sz="2000" b="1" spc="-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maintenance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meet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world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requirements.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Can't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think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out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 the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box: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making smarter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box,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robot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 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trained,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programmed.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No feelings</a:t>
            </a:r>
            <a:r>
              <a:rPr sz="20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emotions:</a:t>
            </a:r>
            <a:r>
              <a:rPr sz="2000" b="1" spc="-1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an outstanding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performer,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feeling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emotional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attachment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harmful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proper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taken.</a:t>
            </a:r>
            <a:endParaRPr sz="2000">
              <a:latin typeface="Times New Roman"/>
              <a:cs typeface="Times New Roman"/>
            </a:endParaRPr>
          </a:p>
          <a:p>
            <a:pPr marL="354965" marR="110489" indent="-342900">
              <a:lnSpc>
                <a:spcPct val="15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Increase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dependency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machines:</a:t>
            </a:r>
            <a:r>
              <a:rPr sz="2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increment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technology,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people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mental</a:t>
            </a:r>
            <a:r>
              <a:rPr sz="2000" spc="-10" dirty="0">
                <a:latin typeface="Times New Roman"/>
                <a:cs typeface="Times New Roman"/>
              </a:rPr>
              <a:t> capabilities.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No</a:t>
            </a:r>
            <a:r>
              <a:rPr sz="20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Original</a:t>
            </a:r>
            <a:r>
              <a:rPr sz="20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Creativity:</a:t>
            </a:r>
            <a:r>
              <a:rPr sz="2000" b="1" spc="-1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 creative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imagine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machines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intelligence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creative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imaginative.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0080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APPLICATION</a:t>
            </a:r>
            <a:r>
              <a:rPr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b="1" spc="-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3930" y="613679"/>
            <a:ext cx="9289907" cy="607045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6070" y="-35940"/>
            <a:ext cx="11379200" cy="639254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97180" indent="-262890">
              <a:lnSpc>
                <a:spcPct val="100000"/>
              </a:lnSpc>
              <a:spcBef>
                <a:spcPts val="1415"/>
              </a:spcBef>
              <a:buAutoNum type="arabicPeriod"/>
              <a:tabLst>
                <a:tab pos="29718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Astronomy</a:t>
            </a:r>
            <a:endParaRPr sz="22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useful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complex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universe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problems.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technology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be</a:t>
            </a:r>
            <a:endParaRPr sz="22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helpful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understanding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universe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origin,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276225" indent="-263525">
              <a:lnSpc>
                <a:spcPct val="100000"/>
              </a:lnSpc>
              <a:spcBef>
                <a:spcPts val="2485"/>
              </a:spcBef>
              <a:buAutoNum type="arabicPeriod" startAt="2"/>
              <a:tabLst>
                <a:tab pos="276225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AI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Healthcare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960"/>
              </a:lnSpc>
              <a:spcBef>
                <a:spcPts val="350"/>
              </a:spcBef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last,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years,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becoming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advantageous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healthcare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significant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impact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industry.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200" dirty="0">
                <a:latin typeface="Times New Roman"/>
                <a:cs typeface="Times New Roman"/>
              </a:rPr>
              <a:t>Healthcare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Industries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applying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faster diagnosis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humans.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help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doctors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diagnoses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patients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worsening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medical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patient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hospitalization.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200">
              <a:latin typeface="Times New Roman"/>
              <a:cs typeface="Times New Roman"/>
            </a:endParaRPr>
          </a:p>
          <a:p>
            <a:pPr marL="309880" indent="-262890">
              <a:lnSpc>
                <a:spcPct val="100000"/>
              </a:lnSpc>
              <a:buAutoNum type="arabicPeriod" startAt="3"/>
              <a:tabLst>
                <a:tab pos="30988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Gaming</a:t>
            </a:r>
            <a:endParaRPr sz="2200">
              <a:latin typeface="Times New Roman"/>
              <a:cs typeface="Times New Roman"/>
            </a:endParaRPr>
          </a:p>
          <a:p>
            <a:pPr marL="46990" marR="158115">
              <a:lnSpc>
                <a:spcPct val="15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gaming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purpose.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strategic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games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chess,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machine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think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possible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places.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314" y="-35940"/>
            <a:ext cx="11335385" cy="676783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75590" indent="-262890">
              <a:lnSpc>
                <a:spcPct val="100000"/>
              </a:lnSpc>
              <a:spcBef>
                <a:spcPts val="1415"/>
              </a:spcBef>
              <a:buAutoNum type="arabicPeriod" startAt="4"/>
              <a:tabLst>
                <a:tab pos="27559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Finance</a:t>
            </a:r>
            <a:endParaRPr sz="2200">
              <a:latin typeface="Times New Roman"/>
              <a:cs typeface="Times New Roman"/>
            </a:endParaRPr>
          </a:p>
          <a:p>
            <a:pPr marL="12700" marR="246379">
              <a:lnSpc>
                <a:spcPct val="15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finance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industries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best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matches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other.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finance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implementing </a:t>
            </a:r>
            <a:r>
              <a:rPr sz="2200" dirty="0">
                <a:latin typeface="Times New Roman"/>
                <a:cs typeface="Times New Roman"/>
              </a:rPr>
              <a:t>automation,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chatbot,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adaptive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intelligence,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trading,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financial processes.</a:t>
            </a:r>
            <a:endParaRPr sz="2200">
              <a:latin typeface="Times New Roman"/>
              <a:cs typeface="Times New Roman"/>
            </a:endParaRPr>
          </a:p>
          <a:p>
            <a:pPr marL="352425" indent="-262890">
              <a:lnSpc>
                <a:spcPct val="100000"/>
              </a:lnSpc>
              <a:spcBef>
                <a:spcPts val="1490"/>
              </a:spcBef>
              <a:buAutoNum type="arabicPeriod" startAt="5"/>
              <a:tabLst>
                <a:tab pos="352425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AI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Data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Security</a:t>
            </a:r>
            <a:endParaRPr sz="2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crucial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every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company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cyber-</a:t>
            </a:r>
            <a:r>
              <a:rPr sz="2200" dirty="0">
                <a:latin typeface="Times New Roman"/>
                <a:cs typeface="Times New Roman"/>
              </a:rPr>
              <a:t>attacks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growing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rapidly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89535" marR="106680">
              <a:lnSpc>
                <a:spcPct val="15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digital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world.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safe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secure.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AEG </a:t>
            </a:r>
            <a:r>
              <a:rPr sz="2200" spc="-10" dirty="0">
                <a:latin typeface="Times New Roman"/>
                <a:cs typeface="Times New Roman"/>
              </a:rPr>
              <a:t>bot,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AI2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Platform,are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cyber-</a:t>
            </a:r>
            <a:r>
              <a:rPr sz="2200" dirty="0">
                <a:latin typeface="Times New Roman"/>
                <a:cs typeface="Times New Roman"/>
              </a:rPr>
              <a:t>attacks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way.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2200">
              <a:latin typeface="Times New Roman"/>
              <a:cs typeface="Times New Roman"/>
            </a:endParaRPr>
          </a:p>
          <a:p>
            <a:pPr marL="275590" indent="-262890">
              <a:lnSpc>
                <a:spcPct val="100000"/>
              </a:lnSpc>
              <a:buAutoNum type="arabicPeriod" startAt="6"/>
              <a:tabLst>
                <a:tab pos="27559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Social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Media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200" dirty="0">
                <a:latin typeface="Times New Roman"/>
                <a:cs typeface="Times New Roman"/>
              </a:rPr>
              <a:t>Social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Media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sites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Facebook,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Twitter,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Snapchat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contain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billions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profiles,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which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efficient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way.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organize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massive</a:t>
            </a:r>
            <a:r>
              <a:rPr sz="2200" spc="-10" dirty="0">
                <a:latin typeface="Times New Roman"/>
                <a:cs typeface="Times New Roman"/>
              </a:rPr>
              <a:t> amounts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data.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analyze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identify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latest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trends,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hashtag,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requirement 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 users.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4833" y="286024"/>
            <a:ext cx="11517630" cy="52959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275590" indent="-262890">
              <a:lnSpc>
                <a:spcPct val="100000"/>
              </a:lnSpc>
              <a:spcBef>
                <a:spcPts val="1420"/>
              </a:spcBef>
              <a:buAutoNum type="arabicPeriod" startAt="7"/>
              <a:tabLst>
                <a:tab pos="27559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Travel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22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Transport</a:t>
            </a:r>
            <a:endParaRPr sz="2200">
              <a:latin typeface="Times New Roman"/>
              <a:cs typeface="Times New Roman"/>
            </a:endParaRPr>
          </a:p>
          <a:p>
            <a:pPr marL="12700" marR="172720">
              <a:lnSpc>
                <a:spcPct val="150000"/>
              </a:lnSpc>
            </a:pP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becoming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demanding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industries.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capable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related </a:t>
            </a:r>
            <a:r>
              <a:rPr sz="2200" dirty="0">
                <a:latin typeface="Times New Roman"/>
                <a:cs typeface="Times New Roman"/>
              </a:rPr>
              <a:t>works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arrangement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suggesting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hotels,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flights,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routes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customers.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industries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using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AI-</a:t>
            </a:r>
            <a:r>
              <a:rPr sz="2200" dirty="0">
                <a:latin typeface="Times New Roman"/>
                <a:cs typeface="Times New Roman"/>
              </a:rPr>
              <a:t>powered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chatbots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human-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interaction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fast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response.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2200">
              <a:latin typeface="Times New Roman"/>
              <a:cs typeface="Times New Roman"/>
            </a:endParaRPr>
          </a:p>
          <a:p>
            <a:pPr marL="352425" indent="-262890">
              <a:lnSpc>
                <a:spcPct val="100000"/>
              </a:lnSpc>
              <a:buAutoNum type="arabicPeriod" startAt="8"/>
              <a:tabLst>
                <a:tab pos="352425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AI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200" b="1" spc="-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Automotive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Industry</a:t>
            </a:r>
            <a:endParaRPr sz="2200">
              <a:latin typeface="Times New Roman"/>
              <a:cs typeface="Times New Roman"/>
            </a:endParaRPr>
          </a:p>
          <a:p>
            <a:pPr marL="89535" marR="1276985">
              <a:lnSpc>
                <a:spcPts val="3960"/>
              </a:lnSpc>
              <a:spcBef>
                <a:spcPts val="355"/>
              </a:spcBef>
            </a:pPr>
            <a:r>
              <a:rPr sz="2200" spc="-10" dirty="0">
                <a:latin typeface="Times New Roman"/>
                <a:cs typeface="Times New Roman"/>
              </a:rPr>
              <a:t>Some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Automotive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industries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using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virtual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assistant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better </a:t>
            </a:r>
            <a:r>
              <a:rPr sz="2200" dirty="0">
                <a:latin typeface="Times New Roman"/>
                <a:cs typeface="Times New Roman"/>
              </a:rPr>
              <a:t>performance.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Tesla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introduced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TeslaBot,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virtual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assistant.</a:t>
            </a:r>
            <a:endParaRPr sz="2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969"/>
              </a:spcBef>
            </a:pPr>
            <a:r>
              <a:rPr sz="2200" spc="-30" dirty="0">
                <a:latin typeface="Times New Roman"/>
                <a:cs typeface="Times New Roman"/>
              </a:rPr>
              <a:t>Various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Industries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self-driven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journey</a:t>
            </a:r>
            <a:endParaRPr sz="2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safe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secure.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0515" y="-35940"/>
            <a:ext cx="11491595" cy="529653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75590" indent="-262890">
              <a:lnSpc>
                <a:spcPct val="100000"/>
              </a:lnSpc>
              <a:spcBef>
                <a:spcPts val="1415"/>
              </a:spcBef>
              <a:buAutoNum type="arabicPeriod" startAt="9"/>
              <a:tabLst>
                <a:tab pos="275590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AI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Robotics:</a:t>
            </a:r>
            <a:endParaRPr sz="2200">
              <a:latin typeface="Times New Roman"/>
              <a:cs typeface="Times New Roman"/>
            </a:endParaRPr>
          </a:p>
          <a:p>
            <a:pPr marL="12700" marR="31115">
              <a:lnSpc>
                <a:spcPct val="15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remarkable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Robotics.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Usually,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programmed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such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repetitive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robots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own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experiences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pre-programmed.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200" dirty="0">
                <a:latin typeface="Times New Roman"/>
                <a:cs typeface="Times New Roman"/>
              </a:rPr>
              <a:t>Humanoid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best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robotics,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recently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Humanoid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named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Erica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Sophia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talk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behave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humans.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200">
              <a:latin typeface="Times New Roman"/>
              <a:cs typeface="Times New Roman"/>
            </a:endParaRPr>
          </a:p>
          <a:p>
            <a:pPr marL="457834" indent="-402590">
              <a:lnSpc>
                <a:spcPct val="100000"/>
              </a:lnSpc>
              <a:buAutoNum type="arabicPeriod" startAt="10"/>
              <a:tabLst>
                <a:tab pos="457834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Entertainment</a:t>
            </a:r>
            <a:endParaRPr sz="2200">
              <a:latin typeface="Times New Roman"/>
              <a:cs typeface="Times New Roman"/>
            </a:endParaRPr>
          </a:p>
          <a:p>
            <a:pPr marL="55244" marR="659765">
              <a:lnSpc>
                <a:spcPct val="150000"/>
              </a:lnSpc>
              <a:spcBef>
                <a:spcPts val="5"/>
              </a:spcBef>
            </a:pPr>
            <a:r>
              <a:rPr sz="2200" spc="-55" dirty="0">
                <a:latin typeface="Times New Roman"/>
                <a:cs typeface="Times New Roman"/>
              </a:rPr>
              <a:t>We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currently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some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daily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life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entertainment </a:t>
            </a:r>
            <a:r>
              <a:rPr sz="2200" dirty="0">
                <a:latin typeface="Times New Roman"/>
                <a:cs typeface="Times New Roman"/>
              </a:rPr>
              <a:t>services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Netflix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Amazon.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ML/AI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recommendations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shows.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4917" y="-35940"/>
            <a:ext cx="11668125" cy="637984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400685" indent="-387985">
              <a:lnSpc>
                <a:spcPct val="100000"/>
              </a:lnSpc>
              <a:spcBef>
                <a:spcPts val="1415"/>
              </a:spcBef>
              <a:buAutoNum type="arabicPeriod" startAt="11"/>
              <a:tabLst>
                <a:tab pos="40068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Agriculture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Agriculture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resources,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labor,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money,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best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Now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day's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agriculture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becoming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digital,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and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emerging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field.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Agriculture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applying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agriculture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robotics,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solid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crop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monitoring,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predictive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analysis.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agriculture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helpful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farmers</a:t>
            </a:r>
            <a:endParaRPr sz="2200">
              <a:latin typeface="Times New Roman"/>
              <a:cs typeface="Times New Roman"/>
            </a:endParaRPr>
          </a:p>
          <a:p>
            <a:pPr marL="518159" indent="-402590">
              <a:lnSpc>
                <a:spcPct val="100000"/>
              </a:lnSpc>
              <a:spcBef>
                <a:spcPts val="1905"/>
              </a:spcBef>
              <a:buAutoNum type="arabicPeriod" startAt="12"/>
              <a:tabLst>
                <a:tab pos="518159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AI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E-commerce</a:t>
            </a:r>
            <a:endParaRPr sz="2200">
              <a:latin typeface="Times New Roman"/>
              <a:cs typeface="Times New Roman"/>
            </a:endParaRPr>
          </a:p>
          <a:p>
            <a:pPr marL="115570" marR="104139">
              <a:lnSpc>
                <a:spcPct val="150000"/>
              </a:lnSpc>
            </a:pP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competitive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edge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e-commerce </a:t>
            </a:r>
            <a:r>
              <a:rPr sz="2200" spc="-20" dirty="0">
                <a:latin typeface="Times New Roman"/>
                <a:cs typeface="Times New Roman"/>
              </a:rPr>
              <a:t>industry,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becoming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demanding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e-</a:t>
            </a:r>
            <a:r>
              <a:rPr sz="2200" dirty="0">
                <a:latin typeface="Times New Roman"/>
                <a:cs typeface="Times New Roman"/>
              </a:rPr>
              <a:t>commerce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business.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shoppers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discover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associated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recommended</a:t>
            </a:r>
            <a:endParaRPr sz="2200">
              <a:latin typeface="Times New Roman"/>
              <a:cs typeface="Times New Roman"/>
            </a:endParaRPr>
          </a:p>
          <a:p>
            <a:pPr marL="11557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size,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color,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brand.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200">
              <a:latin typeface="Times New Roman"/>
              <a:cs typeface="Times New Roman"/>
            </a:endParaRPr>
          </a:p>
          <a:p>
            <a:pPr marL="504825" indent="-402590">
              <a:lnSpc>
                <a:spcPct val="100000"/>
              </a:lnSpc>
              <a:spcBef>
                <a:spcPts val="5"/>
              </a:spcBef>
              <a:buAutoNum type="arabicPeriod" startAt="13"/>
              <a:tabLst>
                <a:tab pos="50482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education:</a:t>
            </a:r>
            <a:endParaRPr sz="2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grading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tutor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teach.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chatbot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communicate</a:t>
            </a:r>
            <a:endParaRPr sz="2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teaching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assistant.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897" y="280949"/>
            <a:ext cx="11367394" cy="626287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40" y="32760"/>
            <a:ext cx="52997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r>
              <a:rPr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b="1" spc="-1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1577" y="593593"/>
            <a:ext cx="11604625" cy="1524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main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aim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1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Artificial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Intelligence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aim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enable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machines to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perform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human-</a:t>
            </a:r>
            <a:r>
              <a:rPr sz="2300" dirty="0">
                <a:latin typeface="Times New Roman"/>
                <a:cs typeface="Times New Roman"/>
              </a:rPr>
              <a:t>like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function</a:t>
            </a:r>
            <a:endParaRPr sz="2300">
              <a:latin typeface="Times New Roman"/>
              <a:cs typeface="Times New Roman"/>
            </a:endParaRPr>
          </a:p>
          <a:p>
            <a:pPr marL="40005" marR="1121410" indent="457200">
              <a:lnSpc>
                <a:spcPct val="150000"/>
              </a:lnSpc>
              <a:spcBef>
                <a:spcPts val="1110"/>
              </a:spcBef>
            </a:pP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divided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mainly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main </a:t>
            </a:r>
            <a:r>
              <a:rPr sz="2200" dirty="0">
                <a:latin typeface="Times New Roman"/>
                <a:cs typeface="Times New Roman"/>
              </a:rPr>
              <a:t>categorization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based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capabilities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based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functionally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AI.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2827" y="2327065"/>
            <a:ext cx="9626742" cy="411467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966" y="140604"/>
            <a:ext cx="11556248" cy="32849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071" y="3577922"/>
            <a:ext cx="11737086" cy="310947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74442" y="386815"/>
            <a:ext cx="11642090" cy="619379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49885" indent="-278130">
              <a:lnSpc>
                <a:spcPct val="100000"/>
              </a:lnSpc>
              <a:spcBef>
                <a:spcPts val="1425"/>
              </a:spcBef>
              <a:buAutoNum type="arabicPeriod"/>
              <a:tabLst>
                <a:tab pos="34988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REACTIVE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MACHINES</a:t>
            </a:r>
            <a:endParaRPr sz="2200">
              <a:latin typeface="Times New Roman"/>
              <a:cs typeface="Times New Roman"/>
            </a:endParaRPr>
          </a:p>
          <a:p>
            <a:pPr marL="871219" lvl="1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871219" algn="l"/>
              </a:tabLst>
            </a:pPr>
            <a:r>
              <a:rPr sz="2200" dirty="0">
                <a:latin typeface="Times New Roman"/>
                <a:cs typeface="Times New Roman"/>
              </a:rPr>
              <a:t>Purely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reactive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most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basic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types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Intelligence.</a:t>
            </a:r>
            <a:endParaRPr sz="2200">
              <a:latin typeface="Times New Roman"/>
              <a:cs typeface="Times New Roman"/>
            </a:endParaRPr>
          </a:p>
          <a:p>
            <a:pPr marL="871219" lvl="1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871219" algn="l"/>
              </a:tabLst>
            </a:pPr>
            <a:r>
              <a:rPr sz="2200" spc="-10" dirty="0">
                <a:latin typeface="Times New Roman"/>
                <a:cs typeface="Times New Roman"/>
              </a:rPr>
              <a:t>Such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do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not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store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memories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past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experiences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future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actions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871219" lvl="1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871219" algn="l"/>
              </a:tabLst>
            </a:pP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only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focus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current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scenarios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react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possible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best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action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871219" lvl="1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871219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IBM's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Deep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Blue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reactive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machines.</a:t>
            </a:r>
            <a:endParaRPr sz="2200">
              <a:latin typeface="Times New Roman"/>
              <a:cs typeface="Times New Roman"/>
            </a:endParaRPr>
          </a:p>
          <a:p>
            <a:pPr marL="871219" lvl="1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871219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Google's</a:t>
            </a:r>
            <a:r>
              <a:rPr sz="22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AlphaGo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reactive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machines.</a:t>
            </a:r>
            <a:endParaRPr sz="2200">
              <a:latin typeface="Times New Roman"/>
              <a:cs typeface="Times New Roman"/>
            </a:endParaRPr>
          </a:p>
          <a:p>
            <a:pPr marL="290830" indent="-278130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290830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LIMITED</a:t>
            </a:r>
            <a:r>
              <a:rPr sz="22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MEMORY</a:t>
            </a:r>
            <a:endParaRPr sz="22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spcBef>
                <a:spcPts val="1325"/>
              </a:spcBef>
              <a:buFont typeface="Wingdings"/>
              <a:buChar char=""/>
              <a:tabLst>
                <a:tab pos="812165" algn="l"/>
              </a:tabLst>
            </a:pPr>
            <a:r>
              <a:rPr sz="2200" dirty="0">
                <a:latin typeface="Times New Roman"/>
                <a:cs typeface="Times New Roman"/>
              </a:rPr>
              <a:t>Limited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past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experiences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some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short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period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  <a:p>
            <a:pPr marL="811530" lvl="1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811530" algn="l"/>
              </a:tabLst>
            </a:pP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limited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period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only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812800" marR="5080" lvl="1" indent="-342900">
              <a:lnSpc>
                <a:spcPct val="150000"/>
              </a:lnSpc>
              <a:buFont typeface="Wingdings"/>
              <a:buChar char=""/>
              <a:tabLst>
                <a:tab pos="812800" algn="l"/>
              </a:tabLst>
            </a:pP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Self-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driving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cars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are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one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best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examples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systems.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can </a:t>
            </a:r>
            <a:r>
              <a:rPr sz="2200" dirty="0">
                <a:latin typeface="Times New Roman"/>
                <a:cs typeface="Times New Roman"/>
              </a:rPr>
              <a:t>store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nearby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distance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navigate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road.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01824" y="14726"/>
            <a:ext cx="4241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BASED</a:t>
            </a:r>
            <a:r>
              <a:rPr sz="24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FUNCTIONALITY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9824" y="86989"/>
            <a:ext cx="27832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THEORY</a:t>
            </a:r>
            <a:r>
              <a:rPr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MIND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8135" y="757804"/>
            <a:ext cx="11458575" cy="5755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4080" indent="-3422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894080" algn="l"/>
              </a:tabLst>
            </a:pPr>
            <a:r>
              <a:rPr sz="2200" dirty="0">
                <a:latin typeface="Times New Roman"/>
                <a:cs typeface="Times New Roman"/>
              </a:rPr>
              <a:t>Theory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Mind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should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understand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human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emotions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people,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beliefs,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94715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interact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socially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like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humans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894715" marR="5080" indent="-342900">
              <a:lnSpc>
                <a:spcPct val="200000"/>
              </a:lnSpc>
              <a:spcBef>
                <a:spcPts val="5"/>
              </a:spcBef>
              <a:buFont typeface="Wingdings"/>
              <a:buChar char=""/>
              <a:tabLst>
                <a:tab pos="894715" algn="l"/>
              </a:tabLst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still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developed,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researchers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efforts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improvement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machines.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200">
              <a:latin typeface="Times New Roman"/>
              <a:cs typeface="Times New Roman"/>
            </a:endParaRPr>
          </a:p>
          <a:p>
            <a:pPr marL="290830" indent="-278130">
              <a:lnSpc>
                <a:spcPct val="100000"/>
              </a:lnSpc>
              <a:buAutoNum type="arabicPeriod" startAt="4"/>
              <a:tabLst>
                <a:tab pos="290830" algn="l"/>
              </a:tabLst>
            </a:pP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SELF-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AWARENESS</a:t>
            </a:r>
            <a:endParaRPr sz="2200">
              <a:latin typeface="Times New Roman"/>
              <a:cs typeface="Times New Roman"/>
            </a:endParaRPr>
          </a:p>
          <a:p>
            <a:pPr marL="812800" marR="707390" lvl="1" indent="-342900">
              <a:lnSpc>
                <a:spcPct val="200000"/>
              </a:lnSpc>
              <a:spcBef>
                <a:spcPts val="5"/>
              </a:spcBef>
              <a:buFont typeface="Wingdings"/>
              <a:buChar char=""/>
              <a:tabLst>
                <a:tab pos="812800" algn="l"/>
              </a:tabLst>
            </a:pPr>
            <a:r>
              <a:rPr sz="2200" spc="-10" dirty="0">
                <a:latin typeface="Times New Roman"/>
                <a:cs typeface="Times New Roman"/>
              </a:rPr>
              <a:t>Self-awareness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future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Artificial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Intelligence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super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intelligent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own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consciousness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sentiments,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self-awareness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buFont typeface="Wingdings"/>
              <a:buChar char=""/>
              <a:tabLst>
                <a:tab pos="812165" algn="l"/>
              </a:tabLst>
            </a:pP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smarter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than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human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mind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buFont typeface="Wingdings"/>
              <a:buChar char=""/>
              <a:tabLst>
                <a:tab pos="812165" algn="l"/>
              </a:tabLst>
            </a:pPr>
            <a:r>
              <a:rPr sz="2200" spc="-10" dirty="0">
                <a:latin typeface="Times New Roman"/>
                <a:cs typeface="Times New Roman"/>
              </a:rPr>
              <a:t>Self-</a:t>
            </a:r>
            <a:r>
              <a:rPr sz="2200" spc="-20" dirty="0">
                <a:latin typeface="Times New Roman"/>
                <a:cs typeface="Times New Roman"/>
              </a:rPr>
              <a:t>Awareness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AI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does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not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exist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reality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still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hypothetical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concept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3553" y="524484"/>
            <a:ext cx="11319510" cy="5086649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1425"/>
              </a:spcBef>
              <a:buAutoNum type="arabicPeriod"/>
              <a:tabLst>
                <a:tab pos="285750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WEAK</a:t>
            </a:r>
            <a:r>
              <a:rPr sz="22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2200" b="1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NARROW</a:t>
            </a:r>
            <a:r>
              <a:rPr sz="22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AI:</a:t>
            </a:r>
            <a:endParaRPr sz="2200">
              <a:latin typeface="Times New Roman"/>
              <a:cs typeface="Times New Roman"/>
            </a:endParaRPr>
          </a:p>
          <a:p>
            <a:pPr marL="355600" marR="130810" lvl="1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200" spc="-10" smtClean="0">
                <a:latin typeface="Times New Roman"/>
                <a:cs typeface="Times New Roman"/>
              </a:rPr>
              <a:t>Narrow</a:t>
            </a:r>
            <a:r>
              <a:rPr sz="2200" spc="-130" smtClean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cannot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perform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beyond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its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field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limitations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trained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sz="22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one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specific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task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Hence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termed 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weak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AI.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Narrow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fail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unpredictable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ways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goes </a:t>
            </a:r>
            <a:r>
              <a:rPr sz="2200" dirty="0">
                <a:latin typeface="Times New Roman"/>
                <a:cs typeface="Times New Roman"/>
              </a:rPr>
              <a:t>beyond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limits.</a:t>
            </a:r>
            <a:endParaRPr sz="2200">
              <a:latin typeface="Times New Roman"/>
              <a:cs typeface="Times New Roman"/>
            </a:endParaRPr>
          </a:p>
          <a:p>
            <a:pPr marL="355600" marR="439420" lvl="1" indent="-3429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Apple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Siriis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good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Narrow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pre-defined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range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spc="-10" dirty="0">
                <a:latin typeface="Times New Roman"/>
                <a:cs typeface="Times New Roman"/>
              </a:rPr>
              <a:t>functions.</a:t>
            </a:r>
            <a:endParaRPr sz="2200">
              <a:latin typeface="Times New Roman"/>
              <a:cs typeface="Times New Roman"/>
            </a:endParaRPr>
          </a:p>
          <a:p>
            <a:pPr marL="355600" marR="944244" lvl="1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IBM's</a:t>
            </a:r>
            <a:r>
              <a:rPr sz="22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Watson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supercomputer</a:t>
            </a:r>
            <a:r>
              <a:rPr sz="22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Narrow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Expert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 </a:t>
            </a:r>
            <a:r>
              <a:rPr sz="2200" dirty="0">
                <a:latin typeface="Times New Roman"/>
                <a:cs typeface="Times New Roman"/>
              </a:rPr>
              <a:t>approach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combined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natural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processing.</a:t>
            </a:r>
            <a:endParaRPr sz="22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Some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Examples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Narrow</a:t>
            </a:r>
            <a:r>
              <a:rPr sz="2200" b="1" spc="-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AI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are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playing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chess,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purchasing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suggestions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on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e-commerce</a:t>
            </a:r>
            <a:r>
              <a:rPr sz="2200" b="1" spc="-10" dirty="0">
                <a:latin typeface="Times New Roman"/>
                <a:cs typeface="Times New Roman"/>
              </a:rPr>
              <a:t> site,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25"/>
              </a:spcBef>
            </a:pPr>
            <a:r>
              <a:rPr sz="2200" b="1" spc="-10" dirty="0">
                <a:latin typeface="Times New Roman"/>
                <a:cs typeface="Times New Roman"/>
              </a:rPr>
              <a:t>self-</a:t>
            </a:r>
            <a:r>
              <a:rPr sz="2200" b="1" dirty="0">
                <a:latin typeface="Times New Roman"/>
                <a:cs typeface="Times New Roman"/>
              </a:rPr>
              <a:t>driving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cars,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speech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recognition,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image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recognition.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63114" y="147263"/>
            <a:ext cx="3815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BASED</a:t>
            </a:r>
            <a:r>
              <a:rPr sz="24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CAPABILITIES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7279" y="257042"/>
            <a:ext cx="21259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2.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GENERAL</a:t>
            </a:r>
            <a:r>
              <a:rPr b="1" spc="-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AI: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4469" y="927857"/>
            <a:ext cx="11085830" cy="5726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spc="-10" dirty="0">
                <a:latin typeface="Times New Roman"/>
                <a:cs typeface="Times New Roman"/>
              </a:rPr>
              <a:t>General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could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intellectual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efficiency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human.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2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behind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general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could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smarter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think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like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human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its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own</a:t>
            </a:r>
            <a:r>
              <a:rPr sz="2200" spc="-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4330" marR="53340" indent="-342265">
              <a:lnSpc>
                <a:spcPct val="2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200" spc="-10" dirty="0">
                <a:latin typeface="Times New Roman"/>
                <a:cs typeface="Times New Roman"/>
              </a:rPr>
              <a:t>Currently,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no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such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exist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which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could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come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200" b="1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general</a:t>
            </a:r>
            <a:r>
              <a:rPr sz="22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AI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perform 	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perfect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human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worldwide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researchers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focused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General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AI.</a:t>
            </a:r>
            <a:endParaRPr sz="2200">
              <a:latin typeface="Times New Roman"/>
              <a:cs typeface="Times New Roman"/>
            </a:endParaRPr>
          </a:p>
          <a:p>
            <a:pPr marL="355600" marR="342900" indent="-342900">
              <a:lnSpc>
                <a:spcPts val="5280"/>
              </a:lnSpc>
              <a:spcBef>
                <a:spcPts val="41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general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still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research,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efforts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develop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2702" y="-35940"/>
            <a:ext cx="11324590" cy="4050029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1415"/>
              </a:spcBef>
              <a:buAutoNum type="arabicPeriod" startAt="3"/>
              <a:tabLst>
                <a:tab pos="290830" algn="l"/>
              </a:tabLst>
            </a:pP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SUPER</a:t>
            </a:r>
            <a:r>
              <a:rPr sz="2200" b="1" spc="-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AI:</a:t>
            </a:r>
            <a:endParaRPr sz="2200">
              <a:latin typeface="Times New Roman"/>
              <a:cs typeface="Times New Roman"/>
            </a:endParaRPr>
          </a:p>
          <a:p>
            <a:pPr marL="812800" marR="389890" lvl="1" indent="-3429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812800" algn="l"/>
              </a:tabLst>
            </a:pPr>
            <a:r>
              <a:rPr sz="2200" spc="-10" dirty="0">
                <a:latin typeface="Times New Roman"/>
                <a:cs typeface="Times New Roman"/>
              </a:rPr>
              <a:t>Super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could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surpass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human </a:t>
            </a:r>
            <a:r>
              <a:rPr sz="2200" dirty="0">
                <a:latin typeface="Times New Roman"/>
                <a:cs typeface="Times New Roman"/>
              </a:rPr>
              <a:t>intelligence,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cognitive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properties.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 </a:t>
            </a:r>
            <a:r>
              <a:rPr sz="2200" dirty="0">
                <a:latin typeface="Times New Roman"/>
                <a:cs typeface="Times New Roman"/>
              </a:rPr>
              <a:t>outcome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general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AI.</a:t>
            </a:r>
            <a:endParaRPr sz="2200">
              <a:latin typeface="Times New Roman"/>
              <a:cs typeface="Times New Roman"/>
            </a:endParaRPr>
          </a:p>
          <a:p>
            <a:pPr marL="812800" marR="5080" lvl="1" indent="-342900">
              <a:lnSpc>
                <a:spcPct val="150000"/>
              </a:lnSpc>
              <a:buFont typeface="Wingdings"/>
              <a:buChar char=""/>
              <a:tabLst>
                <a:tab pos="812800" algn="l"/>
              </a:tabLst>
            </a:pPr>
            <a:r>
              <a:rPr sz="2200" dirty="0">
                <a:latin typeface="Times New Roman"/>
                <a:cs typeface="Times New Roman"/>
              </a:rPr>
              <a:t>Some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characteristics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strong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capability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ability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think,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reason, </a:t>
            </a: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puzzle,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judgments,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plan,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communicate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own.</a:t>
            </a:r>
            <a:endParaRPr sz="2200">
              <a:latin typeface="Times New Roman"/>
              <a:cs typeface="Times New Roman"/>
            </a:endParaRPr>
          </a:p>
          <a:p>
            <a:pPr marL="812800" marR="877569" lvl="1" indent="-3429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812800" algn="l"/>
              </a:tabLst>
            </a:pPr>
            <a:r>
              <a:rPr sz="2200" spc="-10" dirty="0">
                <a:latin typeface="Times New Roman"/>
                <a:cs typeface="Times New Roman"/>
              </a:rPr>
              <a:t>Super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still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hypothetical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concept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Development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such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still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changing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task.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474" y="4148908"/>
            <a:ext cx="10765779" cy="259308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3140" y="208909"/>
            <a:ext cx="103301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BENEFITS</a:t>
            </a:r>
            <a:r>
              <a:rPr sz="4000" b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4000" b="1" spc="-4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ARTIFICIAL</a:t>
            </a:r>
            <a:r>
              <a:rPr sz="4000" b="1" spc="-2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INTELLIGENCE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073" y="1064509"/>
            <a:ext cx="11539209" cy="551371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40" y="16885"/>
            <a:ext cx="6145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BENEFITS</a:t>
            </a:r>
            <a:r>
              <a:rPr sz="24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3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ARTIFICIAL</a:t>
            </a:r>
            <a:r>
              <a:rPr sz="2400" b="1" spc="-1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INTELLIGENCE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858" y="632581"/>
            <a:ext cx="11758295" cy="6084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8835" indent="-47561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378835" algn="l"/>
              </a:tabLst>
            </a:pP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INCREASED</a:t>
            </a:r>
            <a:r>
              <a:rPr sz="22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EFFICIENCY</a:t>
            </a:r>
            <a:endParaRPr sz="2200">
              <a:latin typeface="Times New Roman"/>
              <a:cs typeface="Times New Roman"/>
            </a:endParaRPr>
          </a:p>
          <a:p>
            <a:pPr marL="3360420" indent="-457200">
              <a:lnSpc>
                <a:spcPct val="100000"/>
              </a:lnSpc>
              <a:spcBef>
                <a:spcPts val="1714"/>
              </a:spcBef>
              <a:buAutoNum type="arabicPeriod"/>
              <a:tabLst>
                <a:tab pos="3360420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REDUCING</a:t>
            </a:r>
            <a:r>
              <a:rPr sz="2200" b="1" spc="-1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HUMAN</a:t>
            </a:r>
            <a:r>
              <a:rPr sz="2200" b="1" spc="-1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RISK</a:t>
            </a:r>
            <a:endParaRPr sz="2200">
              <a:latin typeface="Times New Roman"/>
              <a:cs typeface="Times New Roman"/>
            </a:endParaRPr>
          </a:p>
          <a:p>
            <a:pPr marL="3360420" indent="-457200">
              <a:lnSpc>
                <a:spcPct val="100000"/>
              </a:lnSpc>
              <a:spcBef>
                <a:spcPts val="1714"/>
              </a:spcBef>
              <a:buAutoNum type="arabicPeriod"/>
              <a:tabLst>
                <a:tab pos="336042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AID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DECISION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MAKING</a:t>
            </a:r>
            <a:endParaRPr sz="2200">
              <a:latin typeface="Times New Roman"/>
              <a:cs typeface="Times New Roman"/>
            </a:endParaRPr>
          </a:p>
          <a:p>
            <a:pPr marL="3360420" indent="-457200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3360420" algn="l"/>
              </a:tabLst>
            </a:pP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AVAILABILITY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1.</a:t>
            </a:r>
            <a:r>
              <a:rPr sz="22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INCREASED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EFFICIENCY</a:t>
            </a:r>
            <a:endParaRPr sz="2200">
              <a:latin typeface="Times New Roman"/>
              <a:cs typeface="Times New Roman"/>
            </a:endParaRPr>
          </a:p>
          <a:p>
            <a:pPr marL="12700" marR="80645" indent="457200">
              <a:lnSpc>
                <a:spcPct val="15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efficient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contrast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workforce.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because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complete </a:t>
            </a:r>
            <a:r>
              <a:rPr sz="2200" dirty="0">
                <a:latin typeface="Times New Roman"/>
                <a:cs typeface="Times New Roman"/>
              </a:rPr>
              <a:t>monotonous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effectively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break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irrespective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conditions.</a:t>
            </a:r>
            <a:endParaRPr sz="2200">
              <a:latin typeface="Times New Roman"/>
              <a:cs typeface="Times New Roman"/>
            </a:endParaRPr>
          </a:p>
          <a:p>
            <a:pPr marL="12700" marR="811530">
              <a:lnSpc>
                <a:spcPct val="150000"/>
              </a:lnSpc>
            </a:pPr>
            <a:r>
              <a:rPr sz="2200" spc="-20" dirty="0">
                <a:latin typeface="Times New Roman"/>
                <a:cs typeface="Times New Roman"/>
              </a:rPr>
              <a:t>Take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Power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Earlier,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spent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sifting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isolating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utilizing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MS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Excel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2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BI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utilizes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entirety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significantly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more) autonomously.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expands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effectiveness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framework 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spares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significant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investigator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utilize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somewhere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else.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6131" y="59582"/>
            <a:ext cx="11597640" cy="594931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281305" indent="-268605">
              <a:lnSpc>
                <a:spcPct val="100000"/>
              </a:lnSpc>
              <a:spcBef>
                <a:spcPts val="1420"/>
              </a:spcBef>
              <a:buAutoNum type="arabicPeriod" startAt="2"/>
              <a:tabLst>
                <a:tab pos="281305" algn="l"/>
              </a:tabLst>
            </a:pP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REDUCING</a:t>
            </a:r>
            <a:r>
              <a:rPr sz="22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HUMAN</a:t>
            </a:r>
            <a:r>
              <a:rPr sz="22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RISK</a:t>
            </a:r>
            <a:endParaRPr sz="220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1320"/>
              </a:spcBef>
            </a:pP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places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hazardous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person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truly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present.</a:t>
            </a:r>
            <a:endParaRPr sz="2200">
              <a:latin typeface="Times New Roman"/>
              <a:cs typeface="Times New Roman"/>
            </a:endParaRPr>
          </a:p>
          <a:p>
            <a:pPr marL="12700" marR="381000" algn="just">
              <a:lnSpc>
                <a:spcPct val="150000"/>
              </a:lnSpc>
            </a:pPr>
            <a:r>
              <a:rPr sz="2200" spc="-5" dirty="0">
                <a:latin typeface="Times New Roman"/>
                <a:cs typeface="Times New Roman"/>
              </a:rPr>
              <a:t>Man-</a:t>
            </a:r>
            <a:r>
              <a:rPr sz="2200" spc="-10" dirty="0">
                <a:latin typeface="Times New Roman"/>
                <a:cs typeface="Times New Roman"/>
              </a:rPr>
              <a:t>made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brainpower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 be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useful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s</a:t>
            </a:r>
            <a:r>
              <a:rPr sz="2200" dirty="0">
                <a:latin typeface="Times New Roman"/>
                <a:cs typeface="Times New Roman"/>
              </a:rPr>
              <a:t>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since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would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empower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machines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 option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settle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choices</a:t>
            </a:r>
            <a:r>
              <a:rPr sz="2200" spc="-20" dirty="0">
                <a:latin typeface="Times New Roman"/>
                <a:cs typeface="Times New Roman"/>
              </a:rPr>
              <a:t> continuously.</a:t>
            </a:r>
            <a:r>
              <a:rPr sz="2200" spc="-1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</a:t>
            </a:r>
            <a:r>
              <a:rPr sz="2200" spc="-10" dirty="0">
                <a:latin typeface="Times New Roman"/>
                <a:cs typeface="Times New Roman"/>
              </a:rPr>
              <a:t> of</a:t>
            </a:r>
            <a:r>
              <a:rPr sz="2200" spc="-5" dirty="0">
                <a:latin typeface="Times New Roman"/>
                <a:cs typeface="Times New Roman"/>
              </a:rPr>
              <a:t> this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remote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ocean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boring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bed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where</a:t>
            </a:r>
            <a:r>
              <a:rPr sz="2200" spc="-10" dirty="0">
                <a:latin typeface="Times New Roman"/>
                <a:cs typeface="Times New Roman"/>
              </a:rPr>
              <a:t> there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high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danger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human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life.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200">
              <a:latin typeface="Times New Roman"/>
              <a:cs typeface="Times New Roman"/>
            </a:endParaRPr>
          </a:p>
          <a:p>
            <a:pPr marL="320040" indent="-253365">
              <a:lnSpc>
                <a:spcPct val="100000"/>
              </a:lnSpc>
              <a:buAutoNum type="arabicPeriod" startAt="3"/>
              <a:tabLst>
                <a:tab pos="320040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AID</a:t>
            </a:r>
            <a:r>
              <a:rPr sz="22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DECISION</a:t>
            </a:r>
            <a:r>
              <a:rPr sz="22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MAKING</a:t>
            </a:r>
            <a:endParaRPr sz="2200">
              <a:latin typeface="Times New Roman"/>
              <a:cs typeface="Times New Roman"/>
            </a:endParaRPr>
          </a:p>
          <a:p>
            <a:pPr marL="66675" marR="5080" indent="457200">
              <a:lnSpc>
                <a:spcPct val="150000"/>
              </a:lnSpc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domain</a:t>
            </a:r>
            <a:r>
              <a:rPr sz="2200" spc="-10" dirty="0">
                <a:latin typeface="Times New Roman"/>
                <a:cs typeface="Times New Roman"/>
              </a:rPr>
              <a:t> where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successfully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paid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dividends.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capacity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analyze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great </a:t>
            </a:r>
            <a:r>
              <a:rPr sz="2200" dirty="0">
                <a:latin typeface="Times New Roman"/>
                <a:cs typeface="Times New Roman"/>
              </a:rPr>
              <a:t>deal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brief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people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decision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making.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Take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case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investor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conclude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credit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not.</a:t>
            </a:r>
            <a:endParaRPr sz="2200">
              <a:latin typeface="Times New Roman"/>
              <a:cs typeface="Times New Roman"/>
            </a:endParaRPr>
          </a:p>
          <a:p>
            <a:pPr marL="66675" marR="101600">
              <a:lnSpc>
                <a:spcPct val="15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highly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effective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verticals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portfolio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management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would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astute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quicker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dynamic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investor.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4688" y="257042"/>
            <a:ext cx="22479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4.</a:t>
            </a:r>
            <a:r>
              <a:rPr b="1" spc="-1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AVAILABILITY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4688" y="927857"/>
            <a:ext cx="10917555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Machines,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contrast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people,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don’t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rests.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nonstop.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5280"/>
              </a:lnSpc>
              <a:spcBef>
                <a:spcPts val="415"/>
              </a:spcBef>
            </a:pPr>
            <a:r>
              <a:rPr sz="2200" spc="-25" dirty="0">
                <a:latin typeface="Times New Roman"/>
                <a:cs typeface="Times New Roman"/>
              </a:rPr>
              <a:t>Now,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depend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keeping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manufacturing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running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their </a:t>
            </a:r>
            <a:r>
              <a:rPr sz="2200" dirty="0">
                <a:latin typeface="Times New Roman"/>
                <a:cs typeface="Times New Roman"/>
              </a:rPr>
              <a:t>judgment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would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prompt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24×7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units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complete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mechanization.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6522" y="2998198"/>
            <a:ext cx="7138934" cy="373696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5252" y="116859"/>
            <a:ext cx="1147826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ROBOTIC</a:t>
            </a:r>
            <a:r>
              <a:rPr sz="22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VEHICLES:</a:t>
            </a:r>
            <a:r>
              <a:rPr sz="22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driverless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robotic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named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STANLEY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rough</a:t>
            </a:r>
            <a:r>
              <a:rPr sz="2200" spc="550" dirty="0">
                <a:latin typeface="Times New Roman"/>
                <a:cs typeface="Times New Roman"/>
              </a:rPr>
              <a:t> 	</a:t>
            </a:r>
            <a:r>
              <a:rPr sz="2200" dirty="0">
                <a:latin typeface="Times New Roman"/>
                <a:cs typeface="Times New Roman"/>
              </a:rPr>
              <a:t>terrain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Mojave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Desert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mph,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finishing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132-</a:t>
            </a:r>
            <a:r>
              <a:rPr sz="2200" dirty="0">
                <a:latin typeface="Times New Roman"/>
                <a:cs typeface="Times New Roman"/>
              </a:rPr>
              <a:t>mile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course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2005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DARPA 	</a:t>
            </a:r>
            <a:r>
              <a:rPr sz="2200" dirty="0">
                <a:latin typeface="Times New Roman"/>
                <a:cs typeface="Times New Roman"/>
              </a:rPr>
              <a:t>Grand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Challenge.</a:t>
            </a:r>
            <a:endParaRPr sz="2200">
              <a:latin typeface="Times New Roman"/>
              <a:cs typeface="Times New Roman"/>
            </a:endParaRPr>
          </a:p>
          <a:p>
            <a:pPr marL="12700" marR="53975" indent="457200">
              <a:lnSpc>
                <a:spcPct val="150000"/>
              </a:lnSpc>
            </a:pPr>
            <a:r>
              <a:rPr sz="2200" spc="-30" dirty="0">
                <a:latin typeface="Times New Roman"/>
                <a:cs typeface="Times New Roman"/>
              </a:rPr>
              <a:t>STANLEY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Volkswagen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Touareg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outfitted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cameras,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radar,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laser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rangefinders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sense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onboard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steering,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braking,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acceleration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(Thrun,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Times New Roman"/>
                <a:cs typeface="Times New Roman"/>
              </a:rPr>
              <a:t>2006).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year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CMU’s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Urban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Challenge,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safely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traffic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streets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closed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Force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obeying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traffic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rules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avoiding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pedestrians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vehicles.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210" y="4539526"/>
            <a:ext cx="2857500" cy="21069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31676" y="4517376"/>
            <a:ext cx="3042285" cy="21249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29128" y="4553266"/>
            <a:ext cx="3657843" cy="204838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4419" y="420999"/>
            <a:ext cx="1149032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SPEECH</a:t>
            </a:r>
            <a:r>
              <a:rPr sz="22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RECOGNITION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2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traveller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United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Airlines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flight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entire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conversation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guided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speech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recognition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dialog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management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211" y="1733220"/>
            <a:ext cx="9972934" cy="481087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1745" rIns="0" bIns="0" rtlCol="0">
            <a:spAutoFit/>
          </a:bodyPr>
          <a:lstStyle/>
          <a:p>
            <a:pPr marL="4394835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AGENTS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4875" y="2716780"/>
            <a:ext cx="50730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endParaRPr sz="4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4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ENVIRONMENTS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4503" y="132074"/>
            <a:ext cx="11459845" cy="6185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AGENTS</a:t>
            </a:r>
            <a:r>
              <a:rPr sz="2200" b="1" spc="-1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ENVIRONMENTS</a:t>
            </a:r>
            <a:endParaRPr sz="2200">
              <a:latin typeface="Times New Roman"/>
              <a:cs typeface="Times New Roman"/>
            </a:endParaRPr>
          </a:p>
          <a:p>
            <a:pPr marL="833119" marR="390525" indent="-342900">
              <a:lnSpc>
                <a:spcPct val="150000"/>
              </a:lnSpc>
              <a:spcBef>
                <a:spcPts val="2295"/>
              </a:spcBef>
              <a:buFont typeface="Wingdings"/>
              <a:buChar char=""/>
              <a:tabLst>
                <a:tab pos="833119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Agents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associated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concepts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technologies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work </a:t>
            </a:r>
            <a:r>
              <a:rPr sz="2200" spc="-10" dirty="0">
                <a:latin typeface="Times New Roman"/>
                <a:cs typeface="Times New Roman"/>
              </a:rPr>
              <a:t>upon.</a:t>
            </a:r>
            <a:endParaRPr sz="2200">
              <a:latin typeface="Times New Roman"/>
              <a:cs typeface="Times New Roman"/>
            </a:endParaRPr>
          </a:p>
          <a:p>
            <a:pPr marL="832485" indent="-342265">
              <a:lnSpc>
                <a:spcPct val="100000"/>
              </a:lnSpc>
              <a:spcBef>
                <a:spcPts val="1325"/>
              </a:spcBef>
              <a:buFont typeface="Wingdings"/>
              <a:buChar char=""/>
              <a:tabLst>
                <a:tab pos="83248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AI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2200" b="1" spc="-1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AI-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enabled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devices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sensors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generally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captures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from</a:t>
            </a:r>
            <a:endParaRPr sz="2200">
              <a:latin typeface="Times New Roman"/>
              <a:cs typeface="Times New Roman"/>
            </a:endParaRPr>
          </a:p>
          <a:p>
            <a:pPr marL="833119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environment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setup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process</a:t>
            </a: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2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further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actions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832485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832485" algn="l"/>
              </a:tabLst>
            </a:pP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mainly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ways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perception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833119">
              <a:lnSpc>
                <a:spcPct val="100000"/>
              </a:lnSpc>
              <a:spcBef>
                <a:spcPts val="1320"/>
              </a:spcBef>
            </a:pP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action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833119" marR="802005" indent="-342900" algn="just">
              <a:lnSpc>
                <a:spcPct val="150000"/>
              </a:lnSpc>
              <a:buFont typeface="Wingdings"/>
              <a:buChar char=""/>
              <a:tabLst>
                <a:tab pos="833119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person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passive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capturing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information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changing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actual environment</a:t>
            </a:r>
            <a:r>
              <a:rPr sz="2200" spc="-10" dirty="0">
                <a:latin typeface="Times New Roman"/>
                <a:cs typeface="Times New Roman"/>
              </a:rPr>
              <a:t>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action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active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interaction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changing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actual environment.</a:t>
            </a:r>
            <a:endParaRPr sz="2200">
              <a:latin typeface="Times New Roman"/>
              <a:cs typeface="Times New Roman"/>
            </a:endParaRPr>
          </a:p>
          <a:p>
            <a:pPr marL="832485" indent="-342265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832485" algn="l"/>
              </a:tabLst>
            </a:pPr>
            <a:r>
              <a:rPr sz="2200" dirty="0">
                <a:latin typeface="Times New Roman"/>
                <a:cs typeface="Times New Roman"/>
              </a:rPr>
              <a:t>AI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technologies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virtual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assistance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catboats</a:t>
            </a:r>
            <a:r>
              <a:rPr sz="2200" spc="-10" dirty="0">
                <a:latin typeface="Times New Roman"/>
                <a:cs typeface="Times New Roman"/>
              </a:rPr>
              <a:t>,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AI-</a:t>
            </a:r>
            <a:r>
              <a:rPr sz="2200" dirty="0">
                <a:latin typeface="Times New Roman"/>
                <a:cs typeface="Times New Roman"/>
              </a:rPr>
              <a:t>enabled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833119">
              <a:lnSpc>
                <a:spcPct val="100000"/>
              </a:lnSpc>
              <a:spcBef>
                <a:spcPts val="1325"/>
              </a:spcBef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previous</a:t>
            </a:r>
            <a:r>
              <a:rPr sz="22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persecution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data</a:t>
            </a:r>
            <a:r>
              <a:rPr sz="22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processing</a:t>
            </a:r>
            <a:r>
              <a:rPr sz="22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sz="2200" b="1" spc="-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learning</a:t>
            </a:r>
            <a:r>
              <a:rPr sz="22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sz="22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actions.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6987" y="132074"/>
            <a:ext cx="11669395" cy="5462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WHAT</a:t>
            </a:r>
            <a:r>
              <a:rPr sz="22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sz="2200" b="1" spc="-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AN</a:t>
            </a:r>
            <a:r>
              <a:rPr sz="22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AGENT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endParaRPr sz="22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705"/>
              </a:spcBef>
            </a:pPr>
            <a:r>
              <a:rPr sz="2200" spc="-10" dirty="0">
                <a:latin typeface="Times New Roman"/>
                <a:cs typeface="Times New Roman"/>
              </a:rPr>
              <a:t>An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anything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according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gains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2200">
              <a:latin typeface="Times New Roman"/>
              <a:cs typeface="Times New Roman"/>
            </a:endParaRPr>
          </a:p>
          <a:p>
            <a:pPr marL="568960" indent="-342900">
              <a:lnSpc>
                <a:spcPct val="100000"/>
              </a:lnSpc>
              <a:buSzPct val="45454"/>
              <a:buFont typeface="Wingdings"/>
              <a:buChar char=""/>
              <a:tabLst>
                <a:tab pos="568960" algn="l"/>
              </a:tabLst>
            </a:pP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HUMAN-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AGENT:</a:t>
            </a:r>
            <a:r>
              <a:rPr sz="2200" b="1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eyes,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ears,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organs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sensors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56896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hand,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legs,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vocal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tract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actuators.</a:t>
            </a:r>
            <a:endParaRPr sz="2200">
              <a:latin typeface="Times New Roman"/>
              <a:cs typeface="Times New Roman"/>
            </a:endParaRPr>
          </a:p>
          <a:p>
            <a:pPr marL="568960" marR="110489" indent="-342900">
              <a:lnSpc>
                <a:spcPct val="200100"/>
              </a:lnSpc>
              <a:spcBef>
                <a:spcPts val="1100"/>
              </a:spcBef>
              <a:buSzPct val="45454"/>
              <a:buFont typeface="Wingdings"/>
              <a:buChar char=""/>
              <a:tabLst>
                <a:tab pos="568960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ROBOTIC</a:t>
            </a:r>
            <a:r>
              <a:rPr sz="2200" b="1" spc="1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AGENT:</a:t>
            </a:r>
            <a:r>
              <a:rPr sz="2200" b="1" spc="1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robotic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cameras,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infrared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range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finder,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NLP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sensors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motors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actuators.</a:t>
            </a:r>
            <a:endParaRPr sz="2200">
              <a:latin typeface="Times New Roman"/>
              <a:cs typeface="Times New Roman"/>
            </a:endParaRPr>
          </a:p>
          <a:p>
            <a:pPr marL="568960" marR="109855" indent="-342900">
              <a:lnSpc>
                <a:spcPct val="200100"/>
              </a:lnSpc>
              <a:spcBef>
                <a:spcPts val="1090"/>
              </a:spcBef>
              <a:buSzPct val="45454"/>
              <a:buFont typeface="Wingdings"/>
              <a:buChar char=""/>
              <a:tabLst>
                <a:tab pos="568960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200" b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AGENT:</a:t>
            </a:r>
            <a:r>
              <a:rPr sz="2200" b="1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keystrokes,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contents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sensory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input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act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those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inputs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display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output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screen.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4113" y="1196483"/>
            <a:ext cx="8749802" cy="4718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988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28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sz="2800" b="1" spc="-1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AGENT</a:t>
            </a:r>
            <a:r>
              <a:rPr sz="2800" b="1" spc="-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sz="28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ENVIRONMENTS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6149" y="139694"/>
            <a:ext cx="9466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HOW</a:t>
            </a:r>
            <a:r>
              <a:rPr sz="2400" b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DOES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AGENT</a:t>
            </a:r>
            <a:r>
              <a:rPr sz="24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INTERACT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WITH</a:t>
            </a:r>
            <a:r>
              <a:rPr sz="24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ENVIRONMENT?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409" y="532759"/>
            <a:ext cx="11384915" cy="532765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418465">
              <a:lnSpc>
                <a:spcPct val="100000"/>
              </a:lnSpc>
              <a:spcBef>
                <a:spcPts val="148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environment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 </a:t>
            </a:r>
            <a:r>
              <a:rPr sz="2400" spc="-10" dirty="0">
                <a:latin typeface="Times New Roman"/>
                <a:cs typeface="Times New Roman"/>
              </a:rPr>
              <a:t>ways: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385"/>
              </a:spcBef>
              <a:buAutoNum type="arabicPeriod"/>
              <a:tabLst>
                <a:tab pos="317500" algn="l"/>
              </a:tabLst>
            </a:pP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PERCEPTION</a:t>
            </a:r>
            <a:endParaRPr sz="2400">
              <a:latin typeface="Times New Roman"/>
              <a:cs typeface="Times New Roman"/>
            </a:endParaRPr>
          </a:p>
          <a:p>
            <a:pPr marL="12700" marR="1055370" indent="914400">
              <a:lnSpc>
                <a:spcPct val="150000"/>
              </a:lnSpc>
              <a:spcBef>
                <a:spcPts val="60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Perception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passive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interaction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agent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gains</a:t>
            </a:r>
            <a:r>
              <a:rPr sz="22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information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environment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without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changing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environment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sensors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robot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help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gain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information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surroundings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affecting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surrounding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Hence,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gaining </a:t>
            </a:r>
            <a:r>
              <a:rPr sz="2200" b="1" dirty="0">
                <a:latin typeface="Times New Roman"/>
                <a:cs typeface="Times New Roman"/>
              </a:rPr>
              <a:t>information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through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sensors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called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perception.</a:t>
            </a:r>
            <a:endParaRPr sz="220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spcBef>
                <a:spcPts val="1920"/>
              </a:spcBef>
              <a:buAutoNum type="arabicPeriod" startAt="2"/>
              <a:tabLst>
                <a:tab pos="347345" algn="l"/>
              </a:tabLst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ACTION</a:t>
            </a:r>
            <a:endParaRPr sz="2800">
              <a:latin typeface="Times New Roman"/>
              <a:cs typeface="Times New Roman"/>
            </a:endParaRPr>
          </a:p>
          <a:p>
            <a:pPr marL="12700" marR="5080" indent="914400">
              <a:lnSpc>
                <a:spcPct val="150000"/>
              </a:lnSpc>
              <a:spcBef>
                <a:spcPts val="155"/>
              </a:spcBef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Action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active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interaction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environment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sz="22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changed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robot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moves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obstacle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arm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action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environment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changed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arm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robot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“Effector”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6522" y="86237"/>
            <a:ext cx="8844930" cy="299821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7861" y="3044085"/>
            <a:ext cx="11596370" cy="354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SENSOR:</a:t>
            </a:r>
            <a:r>
              <a:rPr sz="22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Sensor</a:t>
            </a:r>
            <a:r>
              <a:rPr sz="2200" spc="75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is</a:t>
            </a:r>
            <a:r>
              <a:rPr sz="2200" spc="75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</a:t>
            </a:r>
            <a:r>
              <a:rPr sz="2200" spc="7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device</a:t>
            </a:r>
            <a:r>
              <a:rPr sz="2200" spc="75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which</a:t>
            </a:r>
            <a:r>
              <a:rPr sz="2200" spc="85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detects</a:t>
            </a:r>
            <a:r>
              <a:rPr sz="2200" spc="7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the</a:t>
            </a:r>
            <a:r>
              <a:rPr sz="2200" spc="8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change</a:t>
            </a:r>
            <a:r>
              <a:rPr sz="2200" spc="75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in</a:t>
            </a:r>
            <a:r>
              <a:rPr sz="2200" spc="8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the</a:t>
            </a:r>
            <a:r>
              <a:rPr sz="2200" spc="7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environment</a:t>
            </a:r>
            <a:r>
              <a:rPr sz="2200" spc="80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and</a:t>
            </a:r>
            <a:r>
              <a:rPr sz="2200" spc="75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sends</a:t>
            </a:r>
            <a:r>
              <a:rPr sz="2200" spc="75" dirty="0">
                <a:solidFill>
                  <a:srgbClr val="323232"/>
                </a:solidFill>
                <a:latin typeface="Times New Roman"/>
                <a:cs typeface="Times New Roman"/>
              </a:rPr>
              <a:t>  </a:t>
            </a:r>
            <a:r>
              <a:rPr sz="2200" spc="-25" dirty="0">
                <a:solidFill>
                  <a:srgbClr val="323232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information</a:t>
            </a:r>
            <a:r>
              <a:rPr sz="2200" spc="-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to</a:t>
            </a:r>
            <a:r>
              <a:rPr sz="2200" spc="-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other</a:t>
            </a:r>
            <a:r>
              <a:rPr sz="2200" spc="-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electronic</a:t>
            </a:r>
            <a:r>
              <a:rPr sz="2200" spc="-3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23232"/>
                </a:solidFill>
                <a:latin typeface="Times New Roman"/>
                <a:cs typeface="Times New Roman"/>
              </a:rPr>
              <a:t>devices.</a:t>
            </a:r>
            <a:r>
              <a:rPr sz="2200" spc="-13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An</a:t>
            </a:r>
            <a:r>
              <a:rPr sz="2200" spc="-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agent</a:t>
            </a:r>
            <a:r>
              <a:rPr sz="2200" spc="-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observes</a:t>
            </a:r>
            <a:r>
              <a:rPr sz="2200" spc="-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its</a:t>
            </a:r>
            <a:r>
              <a:rPr sz="2200" spc="-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environment</a:t>
            </a:r>
            <a:r>
              <a:rPr sz="2200" spc="-3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through</a:t>
            </a:r>
            <a:r>
              <a:rPr sz="2200" spc="-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23232"/>
                </a:solidFill>
                <a:latin typeface="Times New Roman"/>
                <a:cs typeface="Times New Roman"/>
              </a:rPr>
              <a:t>sensors.</a:t>
            </a:r>
            <a:endParaRPr sz="220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5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ACTUATORS:</a:t>
            </a:r>
            <a:r>
              <a:rPr sz="2200" b="1" spc="1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Actuators</a:t>
            </a:r>
            <a:r>
              <a:rPr sz="22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are</a:t>
            </a:r>
            <a:r>
              <a:rPr sz="2200" spc="19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the</a:t>
            </a:r>
            <a:r>
              <a:rPr sz="22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component</a:t>
            </a:r>
            <a:r>
              <a:rPr sz="22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of</a:t>
            </a:r>
            <a:r>
              <a:rPr sz="22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machines</a:t>
            </a:r>
            <a:r>
              <a:rPr sz="22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that</a:t>
            </a:r>
            <a:r>
              <a:rPr sz="22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converts</a:t>
            </a:r>
            <a:r>
              <a:rPr sz="2200" spc="20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energy</a:t>
            </a:r>
            <a:r>
              <a:rPr sz="2200" spc="2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into</a:t>
            </a:r>
            <a:r>
              <a:rPr sz="2200" spc="19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motion.</a:t>
            </a:r>
            <a:r>
              <a:rPr sz="2200" spc="2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323232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actuators</a:t>
            </a:r>
            <a:r>
              <a:rPr sz="2200" spc="1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are</a:t>
            </a:r>
            <a:r>
              <a:rPr sz="2200" spc="11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only</a:t>
            </a:r>
            <a:r>
              <a:rPr sz="2200" spc="1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responsible</a:t>
            </a:r>
            <a:r>
              <a:rPr sz="2200" spc="11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for</a:t>
            </a:r>
            <a:r>
              <a:rPr sz="2200" spc="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moving</a:t>
            </a:r>
            <a:r>
              <a:rPr sz="2200" spc="1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and</a:t>
            </a:r>
            <a:r>
              <a:rPr sz="2200" spc="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controlling</a:t>
            </a:r>
            <a:r>
              <a:rPr sz="2200" spc="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</a:t>
            </a:r>
            <a:r>
              <a:rPr sz="2200" spc="1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system.</a:t>
            </a:r>
            <a:r>
              <a:rPr sz="2200" spc="1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An</a:t>
            </a:r>
            <a:r>
              <a:rPr sz="2200" spc="11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actuator</a:t>
            </a:r>
            <a:r>
              <a:rPr sz="2200" spc="1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can</a:t>
            </a:r>
            <a:r>
              <a:rPr sz="2200" spc="11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be</a:t>
            </a:r>
            <a:r>
              <a:rPr sz="2200" spc="10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an</a:t>
            </a:r>
            <a:r>
              <a:rPr sz="2200" spc="11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23232"/>
                </a:solidFill>
                <a:latin typeface="Times New Roman"/>
                <a:cs typeface="Times New Roman"/>
              </a:rPr>
              <a:t>electric motor,</a:t>
            </a:r>
            <a:r>
              <a:rPr sz="2200" spc="-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gears,</a:t>
            </a:r>
            <a:r>
              <a:rPr sz="2200" spc="-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rails,</a:t>
            </a:r>
            <a:r>
              <a:rPr sz="2200" spc="-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323232"/>
                </a:solidFill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354965" marR="6985" indent="-342900" algn="just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EFFECTORS:</a:t>
            </a:r>
            <a:r>
              <a:rPr sz="2200" b="1" spc="4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Effectors</a:t>
            </a:r>
            <a:r>
              <a:rPr sz="2200" spc="4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are</a:t>
            </a:r>
            <a:r>
              <a:rPr sz="2200" spc="4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the</a:t>
            </a:r>
            <a:r>
              <a:rPr sz="2200" spc="4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devices</a:t>
            </a:r>
            <a:r>
              <a:rPr sz="2200" spc="4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which</a:t>
            </a:r>
            <a:r>
              <a:rPr sz="2200" spc="43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affect</a:t>
            </a:r>
            <a:r>
              <a:rPr sz="2200" spc="4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the</a:t>
            </a:r>
            <a:r>
              <a:rPr sz="2200" spc="43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environment.</a:t>
            </a:r>
            <a:r>
              <a:rPr sz="2200" spc="43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Effectors</a:t>
            </a:r>
            <a:r>
              <a:rPr sz="2200" spc="43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can</a:t>
            </a:r>
            <a:r>
              <a:rPr sz="2200" spc="43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be</a:t>
            </a:r>
            <a:r>
              <a:rPr sz="2200" spc="4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23232"/>
                </a:solidFill>
                <a:latin typeface="Times New Roman"/>
                <a:cs typeface="Times New Roman"/>
              </a:rPr>
              <a:t>legs,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wheels,</a:t>
            </a:r>
            <a:r>
              <a:rPr sz="2200" spc="-4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arms,</a:t>
            </a:r>
            <a:r>
              <a:rPr sz="2200" spc="-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fingers,</a:t>
            </a:r>
            <a:r>
              <a:rPr sz="2200" spc="-4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wings,</a:t>
            </a:r>
            <a:r>
              <a:rPr sz="2200" spc="-5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fins,</a:t>
            </a:r>
            <a:r>
              <a:rPr sz="22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and</a:t>
            </a:r>
            <a:r>
              <a:rPr sz="22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23232"/>
                </a:solidFill>
                <a:latin typeface="Times New Roman"/>
                <a:cs typeface="Times New Roman"/>
              </a:rPr>
              <a:t>display</a:t>
            </a:r>
            <a:r>
              <a:rPr sz="22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23232"/>
                </a:solidFill>
                <a:latin typeface="Times New Roman"/>
                <a:cs typeface="Times New Roman"/>
              </a:rPr>
              <a:t>screen.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008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CONSIDER</a:t>
            </a:r>
            <a:r>
              <a:rPr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VACUUM</a:t>
            </a:r>
            <a:r>
              <a:rPr b="1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CLEANER</a:t>
            </a:r>
            <a:r>
              <a:rPr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WORLD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4327" y="788654"/>
            <a:ext cx="6773936" cy="278701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0090" y="3905501"/>
            <a:ext cx="10546080" cy="189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627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Imagine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intelligent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agent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vacuum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cleaner.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200" dirty="0">
                <a:latin typeface="Times New Roman"/>
                <a:cs typeface="Times New Roman"/>
              </a:rPr>
              <a:t>Let's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suppose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just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rooms.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either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can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zero,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rooms.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982" y="423147"/>
            <a:ext cx="10549768" cy="603223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72084" y="288270"/>
            <a:ext cx="11809095" cy="6194425"/>
            <a:chOff x="172084" y="288270"/>
            <a:chExt cx="11809095" cy="61944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084" y="288270"/>
              <a:ext cx="8862700" cy="61944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75816" y="431292"/>
              <a:ext cx="2905253" cy="59695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371" y="209162"/>
            <a:ext cx="11185397" cy="22064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1802" y="2719580"/>
            <a:ext cx="10664825" cy="3546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MEASURING</a:t>
            </a:r>
            <a:r>
              <a:rPr sz="22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PERFORMANCE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(good)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solution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forever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interesting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quantities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therefore,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SEARCH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COST</a:t>
            </a:r>
            <a:r>
              <a:rPr sz="2200" spc="-20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2200" spc="-10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solution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problem,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12700" marR="3075940">
              <a:lnSpc>
                <a:spcPct val="15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PATH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COST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expensive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solution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are.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total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solution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sum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quantities.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19865" y="121152"/>
            <a:ext cx="11481435" cy="422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HOW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SHOULD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AGENTS</a:t>
            </a:r>
            <a:r>
              <a:rPr sz="2200" b="1" spc="-1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ACT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ARTIFICIAL</a:t>
            </a:r>
            <a:r>
              <a:rPr sz="22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INTELLIGENCE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2200">
              <a:latin typeface="Times New Roman"/>
              <a:cs typeface="Times New Roman"/>
            </a:endParaRPr>
          </a:p>
          <a:p>
            <a:pPr marL="555625" indent="-342900">
              <a:lnSpc>
                <a:spcPct val="100000"/>
              </a:lnSpc>
              <a:spcBef>
                <a:spcPts val="1620"/>
              </a:spcBef>
              <a:buSzPct val="45454"/>
              <a:buFont typeface="Wingdings"/>
              <a:buChar char=""/>
              <a:tabLst>
                <a:tab pos="555625" algn="l"/>
              </a:tabLst>
            </a:pP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rational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right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thing.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right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causes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55562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most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successful.</a:t>
            </a:r>
            <a:endParaRPr sz="2200">
              <a:latin typeface="Times New Roman"/>
              <a:cs typeface="Times New Roman"/>
            </a:endParaRPr>
          </a:p>
          <a:p>
            <a:pPr marL="555625" marR="5080" indent="-342900">
              <a:lnSpc>
                <a:spcPct val="150100"/>
              </a:lnSpc>
              <a:spcBef>
                <a:spcPts val="790"/>
              </a:spcBef>
              <a:buSzPct val="45454"/>
              <a:buFont typeface="Wingdings"/>
              <a:buChar char=""/>
              <a:tabLst>
                <a:tab pos="555625" algn="l"/>
              </a:tabLst>
            </a:pP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omniscient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impact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accordingly,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not </a:t>
            </a:r>
            <a:r>
              <a:rPr sz="2200" dirty="0">
                <a:latin typeface="Times New Roman"/>
                <a:cs typeface="Times New Roman"/>
              </a:rPr>
              <a:t>possible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reality.</a:t>
            </a:r>
            <a:endParaRPr sz="2200">
              <a:latin typeface="Times New Roman"/>
              <a:cs typeface="Times New Roman"/>
            </a:endParaRPr>
          </a:p>
          <a:p>
            <a:pPr marL="555625" indent="-342900">
              <a:lnSpc>
                <a:spcPct val="100000"/>
              </a:lnSpc>
              <a:spcBef>
                <a:spcPts val="2125"/>
              </a:spcBef>
              <a:buSzPct val="45454"/>
              <a:buFont typeface="Wingdings"/>
              <a:buChar char=""/>
              <a:tabLst>
                <a:tab pos="55562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degree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success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performance</a:t>
            </a:r>
            <a:r>
              <a:rPr sz="2200" spc="-10" dirty="0">
                <a:latin typeface="Times New Roman"/>
                <a:cs typeface="Times New Roman"/>
              </a:rPr>
              <a:t> measure</a:t>
            </a:r>
            <a:endParaRPr sz="2200">
              <a:latin typeface="Times New Roman"/>
              <a:cs typeface="Times New Roman"/>
            </a:endParaRPr>
          </a:p>
          <a:p>
            <a:pPr marL="555625" indent="-342900">
              <a:lnSpc>
                <a:spcPct val="100000"/>
              </a:lnSpc>
              <a:spcBef>
                <a:spcPts val="2125"/>
              </a:spcBef>
              <a:buSzPct val="45454"/>
              <a:buFont typeface="Wingdings"/>
              <a:buChar char=""/>
              <a:tabLst>
                <a:tab pos="55562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percept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sequence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entire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sequence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perceptions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until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present</a:t>
            </a:r>
            <a:endParaRPr sz="2200">
              <a:latin typeface="Times New Roman"/>
              <a:cs typeface="Times New Roman"/>
            </a:endParaRPr>
          </a:p>
          <a:p>
            <a:pPr marL="555625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Times New Roman"/>
                <a:cs typeface="Times New Roman"/>
              </a:rPr>
              <a:t>moment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80245" y="4489961"/>
          <a:ext cx="11436349" cy="2162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1470"/>
                <a:gridCol w="2458720"/>
                <a:gridCol w="2458719"/>
                <a:gridCol w="2458720"/>
                <a:gridCol w="2458720"/>
              </a:tblGrid>
              <a:tr h="578485"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200" b="1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Agent</a:t>
                      </a:r>
                      <a:r>
                        <a:rPr sz="2200" b="1" spc="-9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2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136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2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Percepts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2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2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Goals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2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Environment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4325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Car</a:t>
                      </a:r>
                      <a:r>
                        <a:rPr sz="2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Driver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243204">
                        <a:lnSpc>
                          <a:spcPts val="3960"/>
                        </a:lnSpc>
                        <a:spcBef>
                          <a:spcPts val="114"/>
                        </a:spcBef>
                      </a:pP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Speedometer,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GPS,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Microphone, Cameras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462280">
                        <a:lnSpc>
                          <a:spcPts val="3960"/>
                        </a:lnSpc>
                        <a:spcBef>
                          <a:spcPts val="114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Steering</a:t>
                      </a:r>
                      <a:r>
                        <a:rPr sz="2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control,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accelerate,</a:t>
                      </a:r>
                      <a:r>
                        <a:rPr sz="2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brake,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talk</a:t>
                      </a: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passenger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Safe,</a:t>
                      </a:r>
                      <a:r>
                        <a:rPr sz="2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legal,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873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comfortable</a:t>
                      </a:r>
                      <a:r>
                        <a:rPr sz="22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journey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Road,</a:t>
                      </a:r>
                      <a:r>
                        <a:rPr sz="2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Traffic,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Pedestrian</a:t>
                      </a:r>
                      <a:r>
                        <a:rPr sz="22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etc.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9174" y="209493"/>
            <a:ext cx="75006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PEAS:</a:t>
            </a:r>
            <a:r>
              <a:rPr sz="24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SPECIFYING</a:t>
            </a:r>
            <a:r>
              <a:rPr sz="2400" b="1" spc="-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AN</a:t>
            </a:r>
            <a:r>
              <a:rPr sz="2400" b="1" spc="-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AUTOMATED</a:t>
            </a:r>
            <a:r>
              <a:rPr sz="24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TAXI</a:t>
            </a:r>
            <a:r>
              <a:rPr sz="24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DRIVER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5765" y="1026801"/>
            <a:ext cx="3901196" cy="32858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2661" y="840176"/>
            <a:ext cx="5586095" cy="5815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8445" marR="15951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Performance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measure: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? </a:t>
            </a:r>
            <a:r>
              <a:rPr sz="2800" b="1" spc="-10" dirty="0">
                <a:latin typeface="Times New Roman"/>
                <a:cs typeface="Times New Roman"/>
              </a:rPr>
              <a:t>Environment: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  <a:p>
            <a:pPr marL="258445" marR="3432175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Actuators: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? </a:t>
            </a:r>
            <a:r>
              <a:rPr sz="2800" b="1" dirty="0">
                <a:latin typeface="Times New Roman"/>
                <a:cs typeface="Times New Roman"/>
              </a:rPr>
              <a:t>Sensors: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0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Performance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measure: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safe,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fast,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legal,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comfortable,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maximize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profits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Environment: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roads,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traffic,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pedestrians,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customers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Actuators: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steering,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accelerator,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brake,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signal,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horn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Sensors: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cameras,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sonar,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speedometer,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GPS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3647" y="154883"/>
            <a:ext cx="55581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PEAS: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MEDICAL</a:t>
            </a:r>
            <a:r>
              <a:rPr sz="2400" b="1" spc="-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DIAGNOSIS</a:t>
            </a:r>
            <a:r>
              <a:rPr sz="24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3610" y="1340861"/>
            <a:ext cx="8872855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PERFORMANCE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MEASURE: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Healthy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patient,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minimize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costs,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lawsuits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ENVIRONMENT: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Patient,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hospital,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staff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2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ACTUATORS: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Screen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display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(form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including: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questions,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tests,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diagnoses, </a:t>
            </a:r>
            <a:r>
              <a:rPr sz="2200" dirty="0">
                <a:latin typeface="Times New Roman"/>
                <a:cs typeface="Times New Roman"/>
              </a:rPr>
              <a:t>treatments,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referrals)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SENSORS: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Keyboard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(entry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symptoms,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findings,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patient's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answers)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149602" y="1022045"/>
            <a:ext cx="507301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5070" marR="1340485" algn="ctr">
              <a:lnSpc>
                <a:spcPct val="150000"/>
              </a:lnSpc>
              <a:spcBef>
                <a:spcPts val="105"/>
              </a:spcBef>
            </a:pPr>
            <a:r>
              <a:rPr sz="48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THE </a:t>
            </a:r>
            <a:r>
              <a:rPr sz="4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NATURE </a:t>
            </a:r>
            <a:r>
              <a:rPr sz="48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endParaRPr sz="4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880"/>
              </a:spcBef>
            </a:pPr>
            <a:r>
              <a:rPr sz="4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ENVIRONMENTS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40" y="132074"/>
            <a:ext cx="4668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NATURE</a:t>
            </a:r>
            <a:r>
              <a:rPr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ENVIRONMENTS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2947" y="918205"/>
            <a:ext cx="11009630" cy="5090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artificial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intelligence is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surrounding</a:t>
            </a:r>
            <a:r>
              <a:rPr sz="220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200" b="1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agent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agent</a:t>
            </a:r>
            <a:r>
              <a:rPr sz="22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takes</a:t>
            </a:r>
            <a:endParaRPr sz="2200">
              <a:latin typeface="Times New Roman"/>
              <a:cs typeface="Times New Roman"/>
            </a:endParaRPr>
          </a:p>
          <a:p>
            <a:pPr marL="355600" marR="146050">
              <a:lnSpc>
                <a:spcPct val="20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environment through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sensors</a:t>
            </a:r>
            <a:r>
              <a:rPr sz="22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delivers the</a:t>
            </a:r>
            <a:r>
              <a:rPr sz="22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output</a:t>
            </a:r>
            <a:r>
              <a:rPr sz="2200" b="1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to the</a:t>
            </a:r>
            <a:r>
              <a:rPr sz="220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environment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through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actuators.</a:t>
            </a:r>
            <a:endParaRPr sz="220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2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everything</a:t>
            </a:r>
            <a:r>
              <a:rPr sz="22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which</a:t>
            </a:r>
            <a:r>
              <a:rPr sz="2200" b="1" spc="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surrounds</a:t>
            </a:r>
            <a:r>
              <a:rPr sz="2200" b="1" spc="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200" b="1" spc="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agent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agent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itself</a:t>
            </a:r>
            <a:r>
              <a:rPr sz="2200" spc="-10">
                <a:latin typeface="Times New Roman"/>
                <a:cs typeface="Times New Roman"/>
              </a:rPr>
              <a:t>.</a:t>
            </a:r>
            <a:r>
              <a:rPr sz="2200" spc="-130">
                <a:latin typeface="Times New Roman"/>
                <a:cs typeface="Times New Roman"/>
              </a:rPr>
              <a:t> </a:t>
            </a:r>
            <a:endParaRPr lang="en-US" sz="2200" spc="-130" dirty="0" smtClean="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2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smtClean="0">
                <a:latin typeface="Times New Roman"/>
                <a:cs typeface="Times New Roman"/>
              </a:rPr>
              <a:t>An</a:t>
            </a:r>
            <a:r>
              <a:rPr sz="2200" spc="-30" smtClean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described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situation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present.</a:t>
            </a:r>
            <a:endParaRPr sz="22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2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lives,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something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sense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>
                <a:latin typeface="Times New Roman"/>
                <a:cs typeface="Times New Roman"/>
              </a:rPr>
              <a:t>.</a:t>
            </a:r>
            <a:r>
              <a:rPr sz="2200" spc="-35">
                <a:latin typeface="Times New Roman"/>
                <a:cs typeface="Times New Roman"/>
              </a:rPr>
              <a:t> </a:t>
            </a:r>
            <a:endParaRPr lang="en-US" sz="2200" spc="-35" dirty="0" smtClean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4206" y="-50779"/>
            <a:ext cx="11544300" cy="6630670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FEATURES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200" b="1" spc="-1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ENVIRONMENT</a:t>
            </a:r>
            <a:endParaRPr sz="2200">
              <a:latin typeface="Times New Roman"/>
              <a:cs typeface="Times New Roman"/>
            </a:endParaRPr>
          </a:p>
          <a:p>
            <a:pPr marL="567055" marR="5080" indent="-635">
              <a:lnSpc>
                <a:spcPct val="150000"/>
              </a:lnSpc>
              <a:spcBef>
                <a:spcPts val="225"/>
              </a:spcBef>
            </a:pP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Russell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Norvig,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features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point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view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agent:</a:t>
            </a:r>
            <a:endParaRPr sz="2200">
              <a:latin typeface="Times New Roman"/>
              <a:cs typeface="Times New Roman"/>
            </a:endParaRPr>
          </a:p>
          <a:p>
            <a:pPr marL="1367155" indent="-342900">
              <a:lnSpc>
                <a:spcPct val="100000"/>
              </a:lnSpc>
              <a:spcBef>
                <a:spcPts val="1625"/>
              </a:spcBef>
              <a:buAutoNum type="arabicPeriod"/>
              <a:tabLst>
                <a:tab pos="1367155" algn="l"/>
              </a:tabLst>
            </a:pPr>
            <a:r>
              <a:rPr sz="2200" dirty="0">
                <a:latin typeface="Times New Roman"/>
                <a:cs typeface="Times New Roman"/>
              </a:rPr>
              <a:t>Fully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observable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Partially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Observable</a:t>
            </a:r>
            <a:endParaRPr sz="2200">
              <a:latin typeface="Times New Roman"/>
              <a:cs typeface="Times New Roman"/>
            </a:endParaRPr>
          </a:p>
          <a:p>
            <a:pPr marL="1367155" indent="-342900">
              <a:lnSpc>
                <a:spcPct val="100000"/>
              </a:lnSpc>
              <a:spcBef>
                <a:spcPts val="2410"/>
              </a:spcBef>
              <a:buAutoNum type="arabicPeriod"/>
              <a:tabLst>
                <a:tab pos="1367155" algn="l"/>
              </a:tabLst>
            </a:pPr>
            <a:r>
              <a:rPr sz="2200" dirty="0">
                <a:latin typeface="Times New Roman"/>
                <a:cs typeface="Times New Roman"/>
              </a:rPr>
              <a:t>Static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Dynamic</a:t>
            </a:r>
            <a:endParaRPr sz="2200">
              <a:latin typeface="Times New Roman"/>
              <a:cs typeface="Times New Roman"/>
            </a:endParaRPr>
          </a:p>
          <a:p>
            <a:pPr marL="1367155" indent="-342900">
              <a:lnSpc>
                <a:spcPct val="100000"/>
              </a:lnSpc>
              <a:spcBef>
                <a:spcPts val="2425"/>
              </a:spcBef>
              <a:buAutoNum type="arabicPeriod"/>
              <a:tabLst>
                <a:tab pos="1367155" algn="l"/>
              </a:tabLst>
            </a:pPr>
            <a:r>
              <a:rPr sz="2200" dirty="0">
                <a:latin typeface="Times New Roman"/>
                <a:cs typeface="Times New Roman"/>
              </a:rPr>
              <a:t>Discrete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Continuous</a:t>
            </a:r>
            <a:endParaRPr sz="2200">
              <a:latin typeface="Times New Roman"/>
              <a:cs typeface="Times New Roman"/>
            </a:endParaRPr>
          </a:p>
          <a:p>
            <a:pPr marL="1367155" indent="-342900">
              <a:lnSpc>
                <a:spcPct val="100000"/>
              </a:lnSpc>
              <a:spcBef>
                <a:spcPts val="2425"/>
              </a:spcBef>
              <a:buAutoNum type="arabicPeriod"/>
              <a:tabLst>
                <a:tab pos="1367155" algn="l"/>
              </a:tabLst>
            </a:pPr>
            <a:r>
              <a:rPr sz="2200" dirty="0">
                <a:latin typeface="Times New Roman"/>
                <a:cs typeface="Times New Roman"/>
              </a:rPr>
              <a:t>Deterministic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Stochastic</a:t>
            </a:r>
            <a:endParaRPr sz="2200">
              <a:latin typeface="Times New Roman"/>
              <a:cs typeface="Times New Roman"/>
            </a:endParaRPr>
          </a:p>
          <a:p>
            <a:pPr marL="1367155" indent="-342900">
              <a:lnSpc>
                <a:spcPct val="100000"/>
              </a:lnSpc>
              <a:spcBef>
                <a:spcPts val="2415"/>
              </a:spcBef>
              <a:buAutoNum type="arabicPeriod"/>
              <a:tabLst>
                <a:tab pos="1367155" algn="l"/>
              </a:tabLst>
            </a:pPr>
            <a:r>
              <a:rPr sz="2200" spc="-10" dirty="0">
                <a:latin typeface="Times New Roman"/>
                <a:cs typeface="Times New Roman"/>
              </a:rPr>
              <a:t>Single-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Multi-agent</a:t>
            </a:r>
            <a:endParaRPr sz="2200">
              <a:latin typeface="Times New Roman"/>
              <a:cs typeface="Times New Roman"/>
            </a:endParaRPr>
          </a:p>
          <a:p>
            <a:pPr marL="1367155" indent="-342900">
              <a:lnSpc>
                <a:spcPct val="100000"/>
              </a:lnSpc>
              <a:spcBef>
                <a:spcPts val="2425"/>
              </a:spcBef>
              <a:buAutoNum type="arabicPeriod"/>
              <a:tabLst>
                <a:tab pos="1367155" algn="l"/>
              </a:tabLst>
            </a:pPr>
            <a:r>
              <a:rPr sz="2200" dirty="0">
                <a:latin typeface="Times New Roman"/>
                <a:cs typeface="Times New Roman"/>
              </a:rPr>
              <a:t>Episodic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sequential</a:t>
            </a:r>
            <a:endParaRPr sz="2200">
              <a:latin typeface="Times New Roman"/>
              <a:cs typeface="Times New Roman"/>
            </a:endParaRPr>
          </a:p>
          <a:p>
            <a:pPr marL="1367155" indent="-342900">
              <a:lnSpc>
                <a:spcPct val="100000"/>
              </a:lnSpc>
              <a:spcBef>
                <a:spcPts val="2425"/>
              </a:spcBef>
              <a:buAutoNum type="arabicPeriod"/>
              <a:tabLst>
                <a:tab pos="1367155" algn="l"/>
              </a:tabLst>
            </a:pPr>
            <a:r>
              <a:rPr sz="2200" dirty="0">
                <a:latin typeface="Times New Roman"/>
                <a:cs typeface="Times New Roman"/>
              </a:rPr>
              <a:t>Known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Unknown</a:t>
            </a:r>
            <a:endParaRPr sz="2200">
              <a:latin typeface="Times New Roman"/>
              <a:cs typeface="Times New Roman"/>
            </a:endParaRPr>
          </a:p>
          <a:p>
            <a:pPr marL="1367155" indent="-342900">
              <a:lnSpc>
                <a:spcPct val="100000"/>
              </a:lnSpc>
              <a:spcBef>
                <a:spcPts val="2410"/>
              </a:spcBef>
              <a:buAutoNum type="arabicPeriod"/>
              <a:tabLst>
                <a:tab pos="1367155" algn="l"/>
              </a:tabLst>
            </a:pPr>
            <a:r>
              <a:rPr sz="2200" dirty="0">
                <a:latin typeface="Times New Roman"/>
                <a:cs typeface="Times New Roman"/>
              </a:rPr>
              <a:t>Accessible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Inaccessible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15270" y="132074"/>
            <a:ext cx="11464925" cy="6380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90830" algn="l"/>
              </a:tabLst>
            </a:pP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FULLY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OBSERVABLE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VS</a:t>
            </a:r>
            <a:r>
              <a:rPr sz="22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PARTIALLY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OBSERVABLE:</a:t>
            </a:r>
            <a:endParaRPr sz="22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620"/>
              </a:spcBef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sensor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complete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point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fully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observable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else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partially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observable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5600" marR="17780" lvl="1" indent="-343535">
              <a:lnSpc>
                <a:spcPct val="150000"/>
              </a:lnSpc>
              <a:spcBef>
                <a:spcPts val="1095"/>
              </a:spcBef>
              <a:buSzPct val="45454"/>
              <a:buFont typeface="Wingdings"/>
              <a:buChar char="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fully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observable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easy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maintain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internal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keep </a:t>
            </a:r>
            <a:r>
              <a:rPr sz="2200" dirty="0">
                <a:latin typeface="Times New Roman"/>
                <a:cs typeface="Times New Roman"/>
              </a:rPr>
              <a:t>track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history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world.</a:t>
            </a:r>
            <a:endParaRPr sz="22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425"/>
              </a:spcBef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sensors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unobservable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2200">
              <a:latin typeface="Times New Roman"/>
              <a:cs typeface="Times New Roman"/>
            </a:endParaRPr>
          </a:p>
          <a:p>
            <a:pPr marL="331470" indent="-278130">
              <a:lnSpc>
                <a:spcPct val="100000"/>
              </a:lnSpc>
              <a:buAutoNum type="arabicPeriod" startAt="2"/>
              <a:tabLst>
                <a:tab pos="331470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DETERMINISTIC</a:t>
            </a:r>
            <a:r>
              <a:rPr sz="22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VS</a:t>
            </a:r>
            <a:r>
              <a:rPr sz="22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STOCHASTIC:</a:t>
            </a:r>
            <a:endParaRPr sz="2200">
              <a:latin typeface="Times New Roman"/>
              <a:cs typeface="Times New Roman"/>
            </a:endParaRPr>
          </a:p>
          <a:p>
            <a:pPr marL="396240" marR="5080" lvl="1" indent="-343535">
              <a:lnSpc>
                <a:spcPct val="150100"/>
              </a:lnSpc>
              <a:spcBef>
                <a:spcPts val="295"/>
              </a:spcBef>
              <a:buSzPct val="45454"/>
              <a:buFont typeface="Wingdings"/>
              <a:buChar char=""/>
              <a:tabLst>
                <a:tab pos="396240" algn="l"/>
                <a:tab pos="1099185" algn="l"/>
                <a:tab pos="1990725" algn="l"/>
                <a:tab pos="2908300" algn="l"/>
                <a:tab pos="3547110" algn="l"/>
                <a:tab pos="4077335" algn="l"/>
                <a:tab pos="5910580" algn="l"/>
                <a:tab pos="6424930" algn="l"/>
                <a:tab pos="7793355" algn="l"/>
                <a:tab pos="9505315" algn="l"/>
              </a:tabLst>
            </a:pP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agent's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current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selected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completely</a:t>
            </a:r>
            <a:r>
              <a:rPr sz="2200" dirty="0">
                <a:latin typeface="Times New Roman"/>
                <a:cs typeface="Times New Roman"/>
              </a:rPr>
              <a:t>	determine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next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deterministic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environment.</a:t>
            </a:r>
            <a:endParaRPr sz="2200">
              <a:latin typeface="Times New Roman"/>
              <a:cs typeface="Times New Roman"/>
            </a:endParaRPr>
          </a:p>
          <a:p>
            <a:pPr marL="396240" lvl="1" indent="-342900">
              <a:lnSpc>
                <a:spcPct val="100000"/>
              </a:lnSpc>
              <a:spcBef>
                <a:spcPts val="2415"/>
              </a:spcBef>
              <a:buSzPct val="45454"/>
              <a:buFont typeface="Wingdings"/>
              <a:buChar char=""/>
              <a:tabLst>
                <a:tab pos="39624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stochastic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random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nature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cannot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completely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agent.</a:t>
            </a:r>
            <a:endParaRPr sz="2200">
              <a:latin typeface="Times New Roman"/>
              <a:cs typeface="Times New Roman"/>
            </a:endParaRPr>
          </a:p>
          <a:p>
            <a:pPr marL="396240" lvl="1" indent="-342900">
              <a:lnSpc>
                <a:spcPct val="100000"/>
              </a:lnSpc>
              <a:spcBef>
                <a:spcPts val="2425"/>
              </a:spcBef>
              <a:buSzPct val="45454"/>
              <a:buFont typeface="Wingdings"/>
              <a:buChar char=""/>
              <a:tabLst>
                <a:tab pos="39624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deterministic,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fully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observable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uncertainty.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79242" y="132074"/>
            <a:ext cx="11468735" cy="2549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290830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EPISODIC</a:t>
            </a:r>
            <a:r>
              <a:rPr sz="2200" b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VS</a:t>
            </a:r>
            <a:r>
              <a:rPr sz="22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SEQUENTIAL:</a:t>
            </a:r>
            <a:endParaRPr sz="22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620"/>
              </a:spcBef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episodic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series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one-</a:t>
            </a:r>
            <a:r>
              <a:rPr sz="2200" dirty="0">
                <a:latin typeface="Times New Roman"/>
                <a:cs typeface="Times New Roman"/>
              </a:rPr>
              <a:t>shot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actions,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percept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required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action.</a:t>
            </a:r>
            <a:endParaRPr sz="2200">
              <a:latin typeface="Times New Roman"/>
              <a:cs typeface="Times New Roman"/>
            </a:endParaRPr>
          </a:p>
          <a:p>
            <a:pPr marL="354965" marR="5080" lvl="1" indent="-342900">
              <a:lnSpc>
                <a:spcPct val="150000"/>
              </a:lnSpc>
              <a:spcBef>
                <a:spcPts val="1095"/>
              </a:spcBef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However,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Sequential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requires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past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actions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determine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4318" y="3404994"/>
            <a:ext cx="45866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4200" algn="l"/>
                <a:tab pos="1807845" algn="l"/>
                <a:tab pos="2256155" algn="l"/>
                <a:tab pos="2980055" algn="l"/>
                <a:tab pos="3629660" algn="l"/>
                <a:tab pos="4310380" algn="l"/>
              </a:tabLst>
            </a:pP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operating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itself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then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such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824" y="2863973"/>
            <a:ext cx="6530975" cy="1404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291465" algn="l"/>
              </a:tabLst>
            </a:pP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SINGLE-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AGENT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VS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MULTI-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AGENT</a:t>
            </a:r>
            <a:endParaRPr sz="2200">
              <a:latin typeface="Times New Roman"/>
              <a:cs typeface="Times New Roman"/>
            </a:endParaRPr>
          </a:p>
          <a:p>
            <a:pPr marL="355600" marR="5080" lvl="1" indent="-343535">
              <a:lnSpc>
                <a:spcPct val="150100"/>
              </a:lnSpc>
              <a:spcBef>
                <a:spcPts val="295"/>
              </a:spcBef>
              <a:buSzPct val="45454"/>
              <a:buFont typeface="Wingdings"/>
              <a:buChar char=""/>
              <a:tabLst>
                <a:tab pos="355600" algn="l"/>
                <a:tab pos="709295" algn="l"/>
                <a:tab pos="1376680" algn="l"/>
                <a:tab pos="1946275" algn="l"/>
                <a:tab pos="2719705" algn="l"/>
                <a:tab pos="3073400" algn="l"/>
                <a:tab pos="4220845" algn="l"/>
                <a:tab pos="4606290" algn="l"/>
                <a:tab pos="5036185" algn="l"/>
              </a:tabLst>
            </a:pPr>
            <a:r>
              <a:rPr sz="2200" spc="-25" dirty="0">
                <a:latin typeface="Times New Roman"/>
                <a:cs typeface="Times New Roman"/>
              </a:rPr>
              <a:t>If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only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one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agent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involved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environment,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single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815" y="4381884"/>
            <a:ext cx="11262995" cy="217805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15"/>
              </a:spcBef>
              <a:buSzPct val="45454"/>
              <a:buFont typeface="Wingdings"/>
              <a:buChar char="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However,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operating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called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multi-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100"/>
              </a:lnSpc>
              <a:spcBef>
                <a:spcPts val="1100"/>
              </a:spcBef>
              <a:buSzPct val="45454"/>
              <a:buFont typeface="Wingdings"/>
              <a:buChar char=""/>
              <a:tabLst>
                <a:tab pos="355600" algn="l"/>
                <a:tab pos="932815" algn="l"/>
                <a:tab pos="1681480" algn="l"/>
                <a:tab pos="2552065" algn="l"/>
                <a:tab pos="3734435" algn="l"/>
                <a:tab pos="4094479" algn="l"/>
                <a:tab pos="4578985" algn="l"/>
                <a:tab pos="6008370" algn="l"/>
                <a:tab pos="7563484" algn="l"/>
                <a:tab pos="8046720" algn="l"/>
                <a:tab pos="9147175" algn="l"/>
                <a:tab pos="9834245" algn="l"/>
                <a:tab pos="10643870" algn="l"/>
              </a:tabLst>
            </a:pP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agent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design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problems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multi-agent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environment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from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single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agent environment.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9009" y="132074"/>
            <a:ext cx="11145520" cy="4338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290830" algn="l"/>
              </a:tabLst>
            </a:pP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STATIC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VS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DYNAMIC:</a:t>
            </a:r>
            <a:endParaRPr sz="22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620"/>
              </a:spcBef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change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itself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deliberating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dynamic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else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static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environment.</a:t>
            </a:r>
            <a:endParaRPr sz="2200">
              <a:latin typeface="Times New Roman"/>
              <a:cs typeface="Times New Roman"/>
            </a:endParaRPr>
          </a:p>
          <a:p>
            <a:pPr marL="355600" marR="5715" lvl="1" indent="-342900">
              <a:lnSpc>
                <a:spcPct val="150000"/>
              </a:lnSpc>
              <a:spcBef>
                <a:spcPts val="1095"/>
              </a:spcBef>
              <a:buSzPct val="45454"/>
              <a:buFont typeface="Wingdings"/>
              <a:buChar char="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Static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environments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easy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deal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because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does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continue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looking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deciding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action.</a:t>
            </a:r>
            <a:endParaRPr sz="22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425"/>
              </a:spcBef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However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dynamic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keep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looking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action.</a:t>
            </a:r>
            <a:endParaRPr sz="2200">
              <a:latin typeface="Times New Roman"/>
              <a:cs typeface="Times New Roman"/>
            </a:endParaRPr>
          </a:p>
          <a:p>
            <a:pPr marL="355600" marR="5080" lvl="1" indent="-342900">
              <a:lnSpc>
                <a:spcPct val="150000"/>
              </a:lnSpc>
              <a:spcBef>
                <a:spcPts val="1105"/>
              </a:spcBef>
              <a:buSzPct val="45454"/>
              <a:buFont typeface="Wingdings"/>
              <a:buChar char=""/>
              <a:tabLst>
                <a:tab pos="355600" algn="l"/>
                <a:tab pos="984885" algn="l"/>
                <a:tab pos="1931670" algn="l"/>
                <a:tab pos="2254250" algn="l"/>
                <a:tab pos="2655570" algn="l"/>
                <a:tab pos="3737610" algn="l"/>
                <a:tab pos="4107815" algn="l"/>
                <a:tab pos="4368800" algn="l"/>
                <a:tab pos="5466080" algn="l"/>
                <a:tab pos="7017384" algn="l"/>
                <a:tab pos="8070850" algn="l"/>
                <a:tab pos="9416415" algn="l"/>
                <a:tab pos="10390505" algn="l"/>
                <a:tab pos="10869295" algn="l"/>
              </a:tabLst>
            </a:pPr>
            <a:r>
              <a:rPr sz="2200" spc="-20" dirty="0">
                <a:latin typeface="Times New Roman"/>
                <a:cs typeface="Times New Roman"/>
              </a:rPr>
              <a:t>Taxi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driving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example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dynamic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environment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whereas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Crossword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puzzles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 </a:t>
            </a: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static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6131" y="132074"/>
            <a:ext cx="11539855" cy="6510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95"/>
              </a:spcBef>
              <a:buAutoNum type="arabicPeriod" startAt="6"/>
              <a:tabLst>
                <a:tab pos="290830" algn="l"/>
              </a:tabLst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DISCRETE</a:t>
            </a:r>
            <a:r>
              <a:rPr sz="22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VS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CONTINUOUS:</a:t>
            </a:r>
            <a:endParaRPr sz="2200">
              <a:latin typeface="Times New Roman"/>
              <a:cs typeface="Times New Roman"/>
            </a:endParaRPr>
          </a:p>
          <a:p>
            <a:pPr marL="355600" marR="59690" lvl="1" indent="-342900" algn="just">
              <a:lnSpc>
                <a:spcPct val="150000"/>
              </a:lnSpc>
              <a:spcBef>
                <a:spcPts val="300"/>
              </a:spcBef>
              <a:buSzPct val="45454"/>
              <a:buFont typeface="Wingdings"/>
              <a:buChar char="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If in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finite number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percepts 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within </a:t>
            </a:r>
            <a:r>
              <a:rPr sz="2200" dirty="0">
                <a:latin typeface="Times New Roman"/>
                <a:cs typeface="Times New Roman"/>
              </a:rPr>
              <a:t>it,</a:t>
            </a:r>
            <a:r>
              <a:rPr sz="2200" spc="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discrete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else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continuous environment.</a:t>
            </a:r>
            <a:endParaRPr sz="2200">
              <a:latin typeface="Times New Roman"/>
              <a:cs typeface="Times New Roman"/>
            </a:endParaRPr>
          </a:p>
          <a:p>
            <a:pPr marL="355600" marR="59055" lvl="1" indent="-342900" algn="just">
              <a:lnSpc>
                <a:spcPct val="150000"/>
              </a:lnSpc>
              <a:spcBef>
                <a:spcPts val="1095"/>
              </a:spcBef>
              <a:buSzPct val="45454"/>
              <a:buFont typeface="Wingdings"/>
              <a:buChar char="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 chess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game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comes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discrete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finite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moves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be </a:t>
            </a:r>
            <a:r>
              <a:rPr sz="2200" spc="-10" dirty="0">
                <a:latin typeface="Times New Roman"/>
                <a:cs typeface="Times New Roman"/>
              </a:rPr>
              <a:t>performed.</a:t>
            </a:r>
            <a:endParaRPr sz="22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430"/>
              </a:spcBef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self-</a:t>
            </a:r>
            <a:r>
              <a:rPr sz="2200" dirty="0">
                <a:latin typeface="Times New Roman"/>
                <a:cs typeface="Times New Roman"/>
              </a:rPr>
              <a:t>driving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continuous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environment.</a:t>
            </a:r>
            <a:endParaRPr sz="2200">
              <a:latin typeface="Times New Roman"/>
              <a:cs typeface="Times New Roman"/>
            </a:endParaRPr>
          </a:p>
          <a:p>
            <a:pPr marL="194310">
              <a:lnSpc>
                <a:spcPct val="100000"/>
              </a:lnSpc>
              <a:spcBef>
                <a:spcPts val="2290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7.</a:t>
            </a:r>
            <a:r>
              <a:rPr sz="22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ACCESSIBLE</a:t>
            </a:r>
            <a:r>
              <a:rPr sz="2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VS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INACCESSIBLE</a:t>
            </a:r>
            <a:endParaRPr sz="2200">
              <a:latin typeface="Times New Roman"/>
              <a:cs typeface="Times New Roman"/>
            </a:endParaRPr>
          </a:p>
          <a:p>
            <a:pPr marL="537210" lvl="2" indent="-342900">
              <a:lnSpc>
                <a:spcPct val="100000"/>
              </a:lnSpc>
              <a:spcBef>
                <a:spcPts val="1620"/>
              </a:spcBef>
              <a:buSzPct val="45454"/>
              <a:buFont typeface="Wingdings"/>
              <a:buChar char=""/>
              <a:tabLst>
                <a:tab pos="537210" algn="l"/>
              </a:tabLst>
            </a:pPr>
            <a:r>
              <a:rPr sz="2200" dirty="0">
                <a:latin typeface="Times New Roman"/>
                <a:cs typeface="Times New Roman"/>
              </a:rPr>
              <a:t>If an agent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obtain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complete 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accurate information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state's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such</a:t>
            </a:r>
            <a:endParaRPr sz="2200">
              <a:latin typeface="Times New Roman"/>
              <a:cs typeface="Times New Roman"/>
            </a:endParaRPr>
          </a:p>
          <a:p>
            <a:pPr marL="53721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Accessible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inaccessible.</a:t>
            </a:r>
            <a:endParaRPr sz="2200">
              <a:latin typeface="Times New Roman"/>
              <a:cs typeface="Times New Roman"/>
            </a:endParaRPr>
          </a:p>
          <a:p>
            <a:pPr marL="537210" marR="5080" lvl="2" indent="-342900">
              <a:lnSpc>
                <a:spcPct val="150100"/>
              </a:lnSpc>
              <a:spcBef>
                <a:spcPts val="1090"/>
              </a:spcBef>
              <a:buSzPct val="45454"/>
              <a:buFont typeface="Wingdings"/>
              <a:buChar char=""/>
              <a:tabLst>
                <a:tab pos="537210" algn="l"/>
              </a:tabLst>
            </a:pP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empty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room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whose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temperature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accessible environment.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9"/>
            <a:ext cx="12230100" cy="6896100"/>
            <a:chOff x="-19050" y="-19049"/>
            <a:chExt cx="12230100" cy="689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40" y="0"/>
              <a:ext cx="4754879" cy="651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7999"/>
                  </a:moveTo>
                  <a:lnTo>
                    <a:pt x="12191999" y="68579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ln w="380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2702" y="453892"/>
            <a:ext cx="34315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8.</a:t>
            </a:r>
            <a:r>
              <a:rPr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KNOWN</a:t>
            </a:r>
            <a:r>
              <a:rPr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VS</a:t>
            </a:r>
            <a:r>
              <a:rPr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UNKNOWN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693" y="1162934"/>
            <a:ext cx="11454765" cy="3992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Known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unknown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actually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feature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agent's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"/>
            </a:pP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knowledge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45454"/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known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results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actions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known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agent.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unknown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"/>
            </a:pP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action.</a:t>
            </a:r>
            <a:endParaRPr sz="2200">
              <a:latin typeface="Times New Roman"/>
              <a:cs typeface="Times New Roman"/>
            </a:endParaRPr>
          </a:p>
          <a:p>
            <a:pPr marL="355600" marR="9525" indent="-342900">
              <a:lnSpc>
                <a:spcPct val="200000"/>
              </a:lnSpc>
              <a:spcBef>
                <a:spcPts val="1095"/>
              </a:spcBef>
              <a:buSzPct val="45454"/>
              <a:buFont typeface="Wingdings"/>
              <a:buChar char=""/>
              <a:tabLst>
                <a:tab pos="355600" algn="l"/>
                <a:tab pos="680085" algn="l"/>
                <a:tab pos="1019810" algn="l"/>
                <a:tab pos="1731645" algn="l"/>
                <a:tab pos="2800350" algn="l"/>
                <a:tab pos="3369945" algn="l"/>
                <a:tab pos="3647440" algn="l"/>
                <a:tab pos="4561840" algn="l"/>
                <a:tab pos="6125845" algn="l"/>
                <a:tab pos="6497955" algn="l"/>
                <a:tab pos="6915784" algn="l"/>
                <a:tab pos="7999095" algn="l"/>
                <a:tab pos="9361805" algn="l"/>
                <a:tab pos="9919335" algn="l"/>
                <a:tab pos="10335895" algn="l"/>
              </a:tabLst>
            </a:pPr>
            <a:r>
              <a:rPr sz="2200" spc="-25" dirty="0">
                <a:latin typeface="Times New Roman"/>
                <a:cs typeface="Times New Roman"/>
              </a:rPr>
              <a:t>It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quite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possible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known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environment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partially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observable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Unknown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fully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observable.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634" y="145536"/>
            <a:ext cx="11327130" cy="140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SEARCH</a:t>
            </a:r>
            <a:r>
              <a:rPr sz="2200" b="1" spc="-1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ALGORITHMS</a:t>
            </a:r>
            <a:endParaRPr sz="22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  <a:spcBef>
                <a:spcPts val="1660"/>
              </a:spcBef>
            </a:pP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problems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classify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uninformed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(Blind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search)</a:t>
            </a:r>
            <a:endParaRPr sz="22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(Heuristic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search)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algorithms.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7458" y="1810939"/>
            <a:ext cx="8693414" cy="495400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40" y="26562"/>
            <a:ext cx="11904980" cy="655828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UNINFORMED/BLIND</a:t>
            </a:r>
            <a:r>
              <a:rPr sz="22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SEARCH:</a:t>
            </a:r>
            <a:endParaRPr sz="2200">
              <a:latin typeface="Times New Roman"/>
              <a:cs typeface="Times New Roman"/>
            </a:endParaRPr>
          </a:p>
          <a:p>
            <a:pPr marR="5715" algn="r">
              <a:lnSpc>
                <a:spcPct val="100000"/>
              </a:lnSpc>
              <a:spcBef>
                <a:spcPts val="825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uninformed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does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contain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domain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knowledge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closeness,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location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R="6985" algn="r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goal.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operates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brute-</a:t>
            </a:r>
            <a:r>
              <a:rPr sz="2200" dirty="0">
                <a:latin typeface="Times New Roman"/>
                <a:cs typeface="Times New Roman"/>
              </a:rPr>
              <a:t>force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way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traverse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tree</a:t>
            </a:r>
            <a:endParaRPr sz="2200">
              <a:latin typeface="Times New Roman"/>
              <a:cs typeface="Times New Roman"/>
            </a:endParaRPr>
          </a:p>
          <a:p>
            <a:pPr marL="370205" algn="just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identify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nodes.</a:t>
            </a:r>
            <a:endParaRPr sz="2200">
              <a:latin typeface="Times New Roman"/>
              <a:cs typeface="Times New Roman"/>
            </a:endParaRPr>
          </a:p>
          <a:p>
            <a:pPr marL="370205" marR="5080" indent="457200" algn="just">
              <a:lnSpc>
                <a:spcPct val="150000"/>
              </a:lnSpc>
              <a:spcBef>
                <a:spcPts val="395"/>
              </a:spcBef>
            </a:pPr>
            <a:r>
              <a:rPr sz="2200" dirty="0">
                <a:latin typeface="Times New Roman"/>
                <a:cs typeface="Times New Roman"/>
              </a:rPr>
              <a:t>Uninformed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applies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way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searched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about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space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initial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operators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test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goal,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blind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search.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 </a:t>
            </a:r>
            <a:r>
              <a:rPr sz="2200" dirty="0">
                <a:latin typeface="Times New Roman"/>
                <a:cs typeface="Times New Roman"/>
              </a:rPr>
              <a:t>examines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until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achieves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node.</a:t>
            </a:r>
            <a:endParaRPr sz="2200">
              <a:latin typeface="Times New Roman"/>
              <a:cs typeface="Times New Roman"/>
            </a:endParaRPr>
          </a:p>
          <a:p>
            <a:pPr marL="1419225" algn="just">
              <a:lnSpc>
                <a:spcPct val="100000"/>
              </a:lnSpc>
              <a:spcBef>
                <a:spcPts val="1860"/>
              </a:spcBef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It</a:t>
            </a:r>
            <a:r>
              <a:rPr sz="2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can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be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divided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into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five</a:t>
            </a: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main</a:t>
            </a:r>
            <a:r>
              <a:rPr sz="2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types:</a:t>
            </a:r>
            <a:endParaRPr sz="2200">
              <a:latin typeface="Times New Roman"/>
              <a:cs typeface="Times New Roman"/>
            </a:endParaRPr>
          </a:p>
          <a:p>
            <a:pPr marL="2675890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2675890" algn="l"/>
              </a:tabLst>
            </a:pPr>
            <a:r>
              <a:rPr sz="2200" spc="-10" dirty="0">
                <a:latin typeface="Times New Roman"/>
                <a:cs typeface="Times New Roman"/>
              </a:rPr>
              <a:t>Breadth-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search</a:t>
            </a:r>
            <a:endParaRPr sz="2200">
              <a:latin typeface="Times New Roman"/>
              <a:cs typeface="Times New Roman"/>
            </a:endParaRPr>
          </a:p>
          <a:p>
            <a:pPr marL="2675890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2675890" algn="l"/>
              </a:tabLst>
            </a:pPr>
            <a:r>
              <a:rPr sz="2200" dirty="0">
                <a:latin typeface="Times New Roman"/>
                <a:cs typeface="Times New Roman"/>
              </a:rPr>
              <a:t>Uniform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search</a:t>
            </a:r>
            <a:endParaRPr sz="2200">
              <a:latin typeface="Times New Roman"/>
              <a:cs typeface="Times New Roman"/>
            </a:endParaRPr>
          </a:p>
          <a:p>
            <a:pPr marL="2675890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2675890" algn="l"/>
              </a:tabLst>
            </a:pPr>
            <a:r>
              <a:rPr sz="2200" spc="-10" dirty="0">
                <a:latin typeface="Times New Roman"/>
                <a:cs typeface="Times New Roman"/>
              </a:rPr>
              <a:t>Depth-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search</a:t>
            </a:r>
            <a:endParaRPr sz="2200">
              <a:latin typeface="Times New Roman"/>
              <a:cs typeface="Times New Roman"/>
            </a:endParaRPr>
          </a:p>
          <a:p>
            <a:pPr marL="2675890" indent="-342265">
              <a:lnSpc>
                <a:spcPct val="100000"/>
              </a:lnSpc>
              <a:spcBef>
                <a:spcPts val="1325"/>
              </a:spcBef>
              <a:buFont typeface="Wingdings"/>
              <a:buChar char=""/>
              <a:tabLst>
                <a:tab pos="2675890" algn="l"/>
              </a:tabLst>
            </a:pPr>
            <a:r>
              <a:rPr sz="2200" dirty="0">
                <a:latin typeface="Times New Roman"/>
                <a:cs typeface="Times New Roman"/>
              </a:rPr>
              <a:t>Iterative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deepening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depth-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search</a:t>
            </a:r>
            <a:endParaRPr sz="2200">
              <a:latin typeface="Times New Roman"/>
              <a:cs typeface="Times New Roman"/>
            </a:endParaRPr>
          </a:p>
          <a:p>
            <a:pPr marL="2675890" indent="-34226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2675890" algn="l"/>
              </a:tabLst>
            </a:pPr>
            <a:r>
              <a:rPr sz="2200" dirty="0">
                <a:latin typeface="Times New Roman"/>
                <a:cs typeface="Times New Roman"/>
              </a:rPr>
              <a:t>Bidirectional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Search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32" y="118993"/>
            <a:ext cx="11730990" cy="61035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90830" algn="l"/>
              </a:tabLst>
            </a:pPr>
            <a:r>
              <a:rPr sz="22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BREADTH-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SEARCH:-</a:t>
            </a:r>
            <a:endParaRPr sz="2200">
              <a:latin typeface="Times New Roman"/>
              <a:cs typeface="Times New Roman"/>
            </a:endParaRPr>
          </a:p>
          <a:p>
            <a:pPr marL="899160" lvl="1" indent="-342900">
              <a:lnSpc>
                <a:spcPct val="100000"/>
              </a:lnSpc>
              <a:spcBef>
                <a:spcPts val="1810"/>
              </a:spcBef>
              <a:buSzPct val="45454"/>
              <a:buFont typeface="Wingdings"/>
              <a:buChar char=""/>
              <a:tabLst>
                <a:tab pos="899160" algn="l"/>
              </a:tabLst>
            </a:pPr>
            <a:r>
              <a:rPr sz="2200" spc="-10" dirty="0">
                <a:latin typeface="Times New Roman"/>
                <a:cs typeface="Times New Roman"/>
              </a:rPr>
              <a:t>Breadth-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strategy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traversing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graph.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899160" lvl="1" indent="-342900">
              <a:lnSpc>
                <a:spcPct val="100000"/>
              </a:lnSpc>
              <a:buSzPct val="45454"/>
              <a:buFont typeface="Wingdings"/>
              <a:buChar char=""/>
              <a:tabLst>
                <a:tab pos="899160" algn="l"/>
              </a:tabLst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breadthwise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graph,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breadth-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search.</a:t>
            </a:r>
            <a:endParaRPr sz="2200">
              <a:latin typeface="Times New Roman"/>
              <a:cs typeface="Times New Roman"/>
            </a:endParaRPr>
          </a:p>
          <a:p>
            <a:pPr marL="899160" marR="5080" lvl="1" indent="-343535">
              <a:lnSpc>
                <a:spcPct val="200000"/>
              </a:lnSpc>
              <a:buSzPct val="45454"/>
              <a:buFont typeface="Wingdings"/>
              <a:buChar char=""/>
              <a:tabLst>
                <a:tab pos="899160" algn="l"/>
              </a:tabLst>
            </a:pPr>
            <a:r>
              <a:rPr sz="2200" dirty="0">
                <a:latin typeface="Times New Roman"/>
                <a:cs typeface="Times New Roman"/>
              </a:rPr>
              <a:t>BFS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starts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searching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root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expands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successor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at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moving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level.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4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899160" lvl="1" indent="-342900">
              <a:lnSpc>
                <a:spcPct val="100000"/>
              </a:lnSpc>
              <a:buSzPct val="45454"/>
              <a:buFont typeface="Wingdings"/>
              <a:buChar char=""/>
              <a:tabLst>
                <a:tab pos="899160" algn="l"/>
              </a:tabLst>
            </a:pPr>
            <a:r>
              <a:rPr sz="2200" spc="-10" dirty="0">
                <a:latin typeface="Times New Roman"/>
                <a:cs typeface="Times New Roman"/>
              </a:rPr>
              <a:t>Breadth-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implemented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FIFO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structure.</a:t>
            </a:r>
            <a:endParaRPr sz="220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  <a:spcBef>
                <a:spcPts val="1880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ADVANTAGES:</a:t>
            </a:r>
            <a:endParaRPr sz="2200">
              <a:latin typeface="Times New Roman"/>
              <a:cs typeface="Times New Roman"/>
            </a:endParaRPr>
          </a:p>
          <a:p>
            <a:pPr marL="514984" indent="-342900">
              <a:lnSpc>
                <a:spcPct val="100000"/>
              </a:lnSpc>
              <a:spcBef>
                <a:spcPts val="1320"/>
              </a:spcBef>
              <a:buSzPct val="45454"/>
              <a:buFont typeface="Wingdings"/>
              <a:buChar char=""/>
              <a:tabLst>
                <a:tab pos="514984" algn="l"/>
              </a:tabLst>
            </a:pPr>
            <a:r>
              <a:rPr sz="2200" dirty="0">
                <a:latin typeface="Times New Roman"/>
                <a:cs typeface="Times New Roman"/>
              </a:rPr>
              <a:t>BFS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solution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solution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exists.</a:t>
            </a:r>
            <a:endParaRPr sz="2200">
              <a:latin typeface="Times New Roman"/>
              <a:cs typeface="Times New Roman"/>
            </a:endParaRPr>
          </a:p>
          <a:p>
            <a:pPr marL="514984" indent="-342900">
              <a:lnSpc>
                <a:spcPct val="100000"/>
              </a:lnSpc>
              <a:spcBef>
                <a:spcPts val="1325"/>
              </a:spcBef>
              <a:buSzPct val="45454"/>
              <a:buFont typeface="Wingdings"/>
              <a:buChar char=""/>
              <a:tabLst>
                <a:tab pos="514984" algn="l"/>
              </a:tabLst>
            </a:pP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solution for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problem,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BFS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minimal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solution</a:t>
            </a:r>
            <a:endParaRPr sz="220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steps.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40" y="78988"/>
            <a:ext cx="34099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2.</a:t>
            </a:r>
            <a:r>
              <a:rPr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DEPTH-</a:t>
            </a:r>
            <a:r>
              <a:rPr b="1" dirty="0">
                <a:solidFill>
                  <a:srgbClr val="0000FF"/>
                </a:solidFill>
                <a:latin typeface="Times New Roman"/>
                <a:cs typeface="Times New Roman"/>
              </a:rPr>
              <a:t>FIRST</a:t>
            </a:r>
            <a:r>
              <a:rPr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1328" y="335915"/>
            <a:ext cx="11769090" cy="639762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553720" indent="-342900">
              <a:lnSpc>
                <a:spcPct val="100000"/>
              </a:lnSpc>
              <a:spcBef>
                <a:spcPts val="1415"/>
              </a:spcBef>
              <a:buSzPct val="45454"/>
              <a:buFont typeface="Wingdings"/>
              <a:buChar char=""/>
              <a:tabLst>
                <a:tab pos="553720" algn="l"/>
              </a:tabLst>
            </a:pPr>
            <a:r>
              <a:rPr sz="2200" spc="-10" dirty="0">
                <a:latin typeface="Times New Roman"/>
                <a:cs typeface="Times New Roman"/>
              </a:rPr>
              <a:t>Depth-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recursive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traversing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graph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structure.</a:t>
            </a:r>
            <a:endParaRPr sz="2200">
              <a:latin typeface="Times New Roman"/>
              <a:cs typeface="Times New Roman"/>
            </a:endParaRPr>
          </a:p>
          <a:p>
            <a:pPr marL="553720" indent="-342900">
              <a:lnSpc>
                <a:spcPct val="100000"/>
              </a:lnSpc>
              <a:spcBef>
                <a:spcPts val="1325"/>
              </a:spcBef>
              <a:buSzPct val="45454"/>
              <a:buFont typeface="Wingdings"/>
              <a:buChar char=""/>
              <a:tabLst>
                <a:tab pos="553720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depth-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because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starts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root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follows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path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its</a:t>
            </a:r>
            <a:endParaRPr sz="2200">
              <a:latin typeface="Times New Roman"/>
              <a:cs typeface="Times New Roman"/>
            </a:endParaRPr>
          </a:p>
          <a:p>
            <a:pPr marL="55372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greatest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depth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moving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path.</a:t>
            </a:r>
            <a:endParaRPr sz="2200">
              <a:latin typeface="Times New Roman"/>
              <a:cs typeface="Times New Roman"/>
            </a:endParaRPr>
          </a:p>
          <a:p>
            <a:pPr marL="553720" indent="-342900">
              <a:lnSpc>
                <a:spcPct val="100000"/>
              </a:lnSpc>
              <a:spcBef>
                <a:spcPts val="1320"/>
              </a:spcBef>
              <a:buSzPct val="45454"/>
              <a:buFont typeface="Wingdings"/>
              <a:buChar char=""/>
              <a:tabLst>
                <a:tab pos="553720" algn="l"/>
              </a:tabLst>
            </a:pPr>
            <a:r>
              <a:rPr sz="2200" dirty="0">
                <a:latin typeface="Times New Roman"/>
                <a:cs typeface="Times New Roman"/>
              </a:rPr>
              <a:t>DFS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stack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structure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implementation.</a:t>
            </a:r>
            <a:endParaRPr sz="2200">
              <a:latin typeface="Times New Roman"/>
              <a:cs typeface="Times New Roman"/>
            </a:endParaRPr>
          </a:p>
          <a:p>
            <a:pPr marL="553720" indent="-342900">
              <a:lnSpc>
                <a:spcPct val="100000"/>
              </a:lnSpc>
              <a:spcBef>
                <a:spcPts val="1320"/>
              </a:spcBef>
              <a:buSzPct val="45454"/>
              <a:buFont typeface="Wingdings"/>
              <a:buChar char=""/>
              <a:tabLst>
                <a:tab pos="55372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DFS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similar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BFS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algorithm.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21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ADVANTAGE:</a:t>
            </a:r>
            <a:endParaRPr sz="2100">
              <a:latin typeface="Times New Roman"/>
              <a:cs typeface="Times New Roman"/>
            </a:endParaRPr>
          </a:p>
          <a:p>
            <a:pPr marL="812800" marR="67945" lvl="1" indent="-343535">
              <a:lnSpc>
                <a:spcPts val="3779"/>
              </a:lnSpc>
              <a:spcBef>
                <a:spcPts val="335"/>
              </a:spcBef>
              <a:buSzPct val="47619"/>
              <a:buFont typeface="Wingdings"/>
              <a:buChar char=""/>
              <a:tabLst>
                <a:tab pos="812800" algn="l"/>
              </a:tabLst>
            </a:pPr>
            <a:r>
              <a:rPr sz="2100" dirty="0">
                <a:latin typeface="Times New Roman"/>
                <a:cs typeface="Times New Roman"/>
              </a:rPr>
              <a:t>DFS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requires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very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less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memory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as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only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needs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store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stack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nodes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path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from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root </a:t>
            </a:r>
            <a:r>
              <a:rPr sz="2100" dirty="0">
                <a:latin typeface="Times New Roman"/>
                <a:cs typeface="Times New Roman"/>
              </a:rPr>
              <a:t>node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current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node.</a:t>
            </a:r>
            <a:endParaRPr sz="21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spcBef>
                <a:spcPts val="925"/>
              </a:spcBef>
              <a:buSzPct val="47619"/>
              <a:buFont typeface="Wingdings"/>
              <a:buChar char=""/>
              <a:tabLst>
                <a:tab pos="812165" algn="l"/>
              </a:tabLst>
            </a:pP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takes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less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time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reach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goal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node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BFS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algorithm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(if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traverses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right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path).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1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DISADVANTAGE:</a:t>
            </a:r>
            <a:endParaRPr sz="2100">
              <a:latin typeface="Times New Roman"/>
              <a:cs typeface="Times New Roman"/>
            </a:endParaRPr>
          </a:p>
          <a:p>
            <a:pPr marL="812800" marR="69850" lvl="1" indent="-342900">
              <a:lnSpc>
                <a:spcPct val="150000"/>
              </a:lnSpc>
              <a:spcBef>
                <a:spcPts val="5"/>
              </a:spcBef>
              <a:buSzPct val="47619"/>
              <a:buFont typeface="Wingdings"/>
              <a:buChar char=""/>
              <a:tabLst>
                <a:tab pos="812800" algn="l"/>
              </a:tabLst>
            </a:pPr>
            <a:r>
              <a:rPr sz="2100" dirty="0">
                <a:latin typeface="Times New Roman"/>
                <a:cs typeface="Times New Roman"/>
              </a:rPr>
              <a:t>There</a:t>
            </a:r>
            <a:r>
              <a:rPr sz="2100" spc="1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possibility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many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states</a:t>
            </a:r>
            <a:r>
              <a:rPr sz="2100" spc="1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keep</a:t>
            </a:r>
            <a:r>
              <a:rPr sz="2100" spc="15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re-</a:t>
            </a:r>
            <a:r>
              <a:rPr sz="2100" dirty="0">
                <a:latin typeface="Times New Roman"/>
                <a:cs typeface="Times New Roman"/>
              </a:rPr>
              <a:t>occurring,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1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there</a:t>
            </a:r>
            <a:r>
              <a:rPr sz="2100" spc="1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guarantee</a:t>
            </a:r>
            <a:r>
              <a:rPr sz="2100" spc="1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finding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the </a:t>
            </a:r>
            <a:r>
              <a:rPr sz="2100" spc="-10" dirty="0">
                <a:latin typeface="Times New Roman"/>
                <a:cs typeface="Times New Roman"/>
              </a:rPr>
              <a:t>solution.</a:t>
            </a:r>
            <a:endParaRPr sz="21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spcBef>
                <a:spcPts val="1260"/>
              </a:spcBef>
              <a:buSzPct val="47619"/>
              <a:buFont typeface="Wingdings"/>
              <a:buChar char=""/>
              <a:tabLst>
                <a:tab pos="812165" algn="l"/>
              </a:tabLst>
            </a:pPr>
            <a:r>
              <a:rPr sz="2100" dirty="0">
                <a:latin typeface="Times New Roman"/>
                <a:cs typeface="Times New Roman"/>
              </a:rPr>
              <a:t>DFS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algorithm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goes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deep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down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searching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sometime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may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go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infinite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loop.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6171</Words>
  <Application>Microsoft Office PowerPoint</Application>
  <PresentationFormat>Custom</PresentationFormat>
  <Paragraphs>502</Paragraphs>
  <Slides>73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 Theme</vt:lpstr>
      <vt:lpstr>Slide 1</vt:lpstr>
      <vt:lpstr>Slide 2</vt:lpstr>
      <vt:lpstr>Slide 3</vt:lpstr>
      <vt:lpstr>Slide 4</vt:lpstr>
      <vt:lpstr>THINKING HUMANLY</vt:lpstr>
      <vt:lpstr>THINKING RATIONALLY</vt:lpstr>
      <vt:lpstr>Acting rationally means acting so as to achieve one's goals, given one's beliefs. An agent is just something</vt:lpstr>
      <vt:lpstr>FOUNDATIONS OF AI</vt:lpstr>
      <vt:lpstr>2 MATHEMATICS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A boom of AI (1980-1987)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ADVANTAGES OF ARTIFICIAL INTELLIGENCE</vt:lpstr>
      <vt:lpstr>Slide 28</vt:lpstr>
      <vt:lpstr>APPLICATION OF AI</vt:lpstr>
      <vt:lpstr>Slide 30</vt:lpstr>
      <vt:lpstr>Slide 31</vt:lpstr>
      <vt:lpstr>Slide 32</vt:lpstr>
      <vt:lpstr>Slide 33</vt:lpstr>
      <vt:lpstr>Slide 34</vt:lpstr>
      <vt:lpstr>Slide 35</vt:lpstr>
      <vt:lpstr>TYPES OF ARTIFICIAL INTELLIGENCE</vt:lpstr>
      <vt:lpstr>Slide 37</vt:lpstr>
      <vt:lpstr>BASED ON FUNCTIONALITY</vt:lpstr>
      <vt:lpstr>3. THEORY OF MIND</vt:lpstr>
      <vt:lpstr>BASED ON CAPABILITIES</vt:lpstr>
      <vt:lpstr>2. GENERAL AI:</vt:lpstr>
      <vt:lpstr>Slide 42</vt:lpstr>
      <vt:lpstr>BENEFITS OF ARTIFICIAL INTELLIGENCE</vt:lpstr>
      <vt:lpstr>BENEFITS OF ARTIFICIAL INTELLIGENCE</vt:lpstr>
      <vt:lpstr>Slide 45</vt:lpstr>
      <vt:lpstr>4. AVAILABILITY</vt:lpstr>
      <vt:lpstr>Slide 47</vt:lpstr>
      <vt:lpstr>Slide 48</vt:lpstr>
      <vt:lpstr>AGENTS</vt:lpstr>
      <vt:lpstr>Slide 50</vt:lpstr>
      <vt:lpstr>Slide 51</vt:lpstr>
      <vt:lpstr>EXAMPLE FOR AGENT AND ENVIRONMENTS?</vt:lpstr>
      <vt:lpstr>HOW DOES THE AGENT INTERACT WITH THE ENVIRONMENT?</vt:lpstr>
      <vt:lpstr>Slide 54</vt:lpstr>
      <vt:lpstr>CONSIDER A VACUUM CLEANER WORLD</vt:lpstr>
      <vt:lpstr>Slide 56</vt:lpstr>
      <vt:lpstr>Slide 57</vt:lpstr>
      <vt:lpstr>Slide 58</vt:lpstr>
      <vt:lpstr>Slide 59</vt:lpstr>
      <vt:lpstr>PEAS: SPECIFYING AN AUTOMATED TAXI DRIVER</vt:lpstr>
      <vt:lpstr>PEAS: MEDICAL DIAGNOSIS SYSTEM</vt:lpstr>
      <vt:lpstr>Slide 62</vt:lpstr>
      <vt:lpstr>THE NATURE OF ENVIRONMENTS</vt:lpstr>
      <vt:lpstr>Slide 64</vt:lpstr>
      <vt:lpstr>Slide 65</vt:lpstr>
      <vt:lpstr>Slide 66</vt:lpstr>
      <vt:lpstr>Slide 67</vt:lpstr>
      <vt:lpstr>Slide 68</vt:lpstr>
      <vt:lpstr>8. KNOWN VS UNKNOWN</vt:lpstr>
      <vt:lpstr>Slide 70</vt:lpstr>
      <vt:lpstr>Slide 71</vt:lpstr>
      <vt:lpstr>Slide 72</vt:lpstr>
      <vt:lpstr>2. DEPTH-FIRST SEARCH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Amit</dc:creator>
  <cp:lastModifiedBy>Amit</cp:lastModifiedBy>
  <cp:revision>8</cp:revision>
  <dcterms:created xsi:type="dcterms:W3CDTF">2026-01-12T04:09:03Z</dcterms:created>
  <dcterms:modified xsi:type="dcterms:W3CDTF">2026-01-28T06:47:27Z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2022-12-22T00:00:00Z</vt:filetime>
  </property>
  <property fmtid="{D5CDD505-2E9C-101B-9397-08002B2CF9AE}" pid="3" name="Creator">
    <vt:lpwstr>Online2PDF.com</vt:lpwstr>
  </property>
  <property fmtid="{D5CDD505-2E9C-101B-9397-08002B2CF9AE}" pid="4" name="Producer">
    <vt:lpwstr>Online2PDF.com</vt:lpwstr>
  </property>
  <property fmtid="{D5CDD505-2E9C-101B-9397-08002B2CF9AE}" pid="5" name="LastSaved">
    <vt:filetime>2022-12-22T00:00:00Z</vt:filetime>
  </property>
</Properties>
</file>