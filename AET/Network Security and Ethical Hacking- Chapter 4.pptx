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3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383" r:id="rId16"/>
    <p:sldId id="384" r:id="rId17"/>
    <p:sldId id="385" r:id="rId18"/>
    <p:sldId id="386" r:id="rId19"/>
    <p:sldId id="387" r:id="rId20"/>
    <p:sldId id="388" r:id="rId21"/>
    <p:sldId id="389" r:id="rId22"/>
    <p:sldId id="390" r:id="rId23"/>
    <p:sldId id="391" r:id="rId24"/>
    <p:sldId id="392" r:id="rId25"/>
    <p:sldId id="393" r:id="rId26"/>
    <p:sldId id="394" r:id="rId27"/>
    <p:sldId id="467" r:id="rId28"/>
    <p:sldId id="395" r:id="rId29"/>
    <p:sldId id="396" r:id="rId30"/>
    <p:sldId id="397" r:id="rId31"/>
    <p:sldId id="398" r:id="rId32"/>
    <p:sldId id="399" r:id="rId33"/>
    <p:sldId id="468" r:id="rId34"/>
    <p:sldId id="400" r:id="rId35"/>
    <p:sldId id="401" r:id="rId36"/>
    <p:sldId id="469" r:id="rId37"/>
    <p:sldId id="470" r:id="rId38"/>
    <p:sldId id="471" r:id="rId39"/>
    <p:sldId id="472" r:id="rId40"/>
    <p:sldId id="473" r:id="rId41"/>
    <p:sldId id="474" r:id="rId42"/>
    <p:sldId id="475" r:id="rId43"/>
    <p:sldId id="476" r:id="rId44"/>
    <p:sldId id="477" r:id="rId45"/>
    <p:sldId id="478" r:id="rId46"/>
    <p:sldId id="479" r:id="rId47"/>
    <p:sldId id="480" r:id="rId48"/>
    <p:sldId id="481" r:id="rId49"/>
    <p:sldId id="482" r:id="rId50"/>
    <p:sldId id="483" r:id="rId51"/>
    <p:sldId id="484" r:id="rId52"/>
    <p:sldId id="485" r:id="rId53"/>
    <p:sldId id="486" r:id="rId54"/>
    <p:sldId id="487" r:id="rId55"/>
    <p:sldId id="488" r:id="rId56"/>
    <p:sldId id="489" r:id="rId57"/>
    <p:sldId id="490" r:id="rId58"/>
    <p:sldId id="402" r:id="rId59"/>
    <p:sldId id="403" r:id="rId60"/>
    <p:sldId id="404" r:id="rId61"/>
    <p:sldId id="405" r:id="rId62"/>
    <p:sldId id="406" r:id="rId63"/>
    <p:sldId id="407" r:id="rId64"/>
    <p:sldId id="408" r:id="rId65"/>
    <p:sldId id="409" r:id="rId66"/>
    <p:sldId id="410" r:id="rId67"/>
    <p:sldId id="411" r:id="rId68"/>
    <p:sldId id="412" r:id="rId69"/>
    <p:sldId id="413" r:id="rId70"/>
    <p:sldId id="414" r:id="rId71"/>
    <p:sldId id="415" r:id="rId72"/>
    <p:sldId id="416" r:id="rId73"/>
    <p:sldId id="417" r:id="rId74"/>
    <p:sldId id="418" r:id="rId75"/>
    <p:sldId id="419" r:id="rId76"/>
    <p:sldId id="420" r:id="rId77"/>
    <p:sldId id="421" r:id="rId78"/>
    <p:sldId id="422" r:id="rId79"/>
    <p:sldId id="423" r:id="rId80"/>
    <p:sldId id="424" r:id="rId81"/>
    <p:sldId id="425" r:id="rId82"/>
    <p:sldId id="426" r:id="rId83"/>
    <p:sldId id="427" r:id="rId84"/>
    <p:sldId id="428" r:id="rId85"/>
    <p:sldId id="429" r:id="rId86"/>
    <p:sldId id="430" r:id="rId87"/>
    <p:sldId id="431" r:id="rId88"/>
    <p:sldId id="432" r:id="rId89"/>
    <p:sldId id="433" r:id="rId90"/>
    <p:sldId id="434" r:id="rId91"/>
    <p:sldId id="435" r:id="rId92"/>
    <p:sldId id="436" r:id="rId93"/>
    <p:sldId id="437" r:id="rId94"/>
    <p:sldId id="438" r:id="rId95"/>
    <p:sldId id="439" r:id="rId96"/>
    <p:sldId id="440" r:id="rId97"/>
    <p:sldId id="441" r:id="rId98"/>
    <p:sldId id="442" r:id="rId99"/>
    <p:sldId id="443" r:id="rId100"/>
    <p:sldId id="444" r:id="rId101"/>
    <p:sldId id="445" r:id="rId102"/>
    <p:sldId id="446" r:id="rId103"/>
    <p:sldId id="447" r:id="rId104"/>
    <p:sldId id="448" r:id="rId105"/>
    <p:sldId id="449" r:id="rId106"/>
    <p:sldId id="450" r:id="rId107"/>
    <p:sldId id="451" r:id="rId108"/>
    <p:sldId id="452" r:id="rId109"/>
    <p:sldId id="453" r:id="rId110"/>
    <p:sldId id="454" r:id="rId111"/>
    <p:sldId id="455" r:id="rId112"/>
    <p:sldId id="456" r:id="rId113"/>
    <p:sldId id="457" r:id="rId114"/>
    <p:sldId id="458" r:id="rId115"/>
    <p:sldId id="459" r:id="rId116"/>
    <p:sldId id="460" r:id="rId117"/>
    <p:sldId id="461" r:id="rId118"/>
    <p:sldId id="462" r:id="rId119"/>
    <p:sldId id="463" r:id="rId120"/>
    <p:sldId id="464" r:id="rId121"/>
    <p:sldId id="465" r:id="rId122"/>
    <p:sldId id="466" r:id="rId123"/>
    <p:sldId id="273" r:id="rId124"/>
    <p:sldId id="274" r:id="rId125"/>
    <p:sldId id="275" r:id="rId126"/>
    <p:sldId id="276" r:id="rId127"/>
    <p:sldId id="277" r:id="rId128"/>
    <p:sldId id="278" r:id="rId129"/>
    <p:sldId id="279" r:id="rId130"/>
    <p:sldId id="280" r:id="rId131"/>
    <p:sldId id="281" r:id="rId132"/>
    <p:sldId id="282" r:id="rId133"/>
    <p:sldId id="284" r:id="rId134"/>
    <p:sldId id="285" r:id="rId135"/>
    <p:sldId id="286" r:id="rId136"/>
    <p:sldId id="287" r:id="rId137"/>
    <p:sldId id="288" r:id="rId138"/>
    <p:sldId id="289" r:id="rId139"/>
    <p:sldId id="290" r:id="rId140"/>
    <p:sldId id="291" r:id="rId141"/>
    <p:sldId id="292" r:id="rId142"/>
    <p:sldId id="293" r:id="rId143"/>
    <p:sldId id="382" r:id="rId1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08"/>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CA3B6BC-4C09-4600-8F11-717A1910CF85}"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A3B6BC-4C09-4600-8F11-717A1910CF85}"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A3B6BC-4C09-4600-8F11-717A1910CF85}"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CA3B6BC-4C09-4600-8F11-717A1910CF85}"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CA3B6BC-4C09-4600-8F11-717A1910CF85}"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CA3B6BC-4C09-4600-8F11-717A1910CF85}"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A3B6BC-4C09-4600-8F11-717A1910CF85}"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A3B6BC-4C09-4600-8F11-717A1910CF85}"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A3B6BC-4C09-4600-8F11-717A1910CF85}"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A3B6BC-4C09-4600-8F11-717A1910CF85}"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A3B6BC-4C09-4600-8F11-717A1910CF85}"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E167E-4A11-4F26-89F5-F29A6925006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3B6BC-4C09-4600-8F11-717A1910CF85}" type="datetimeFigureOut">
              <a:rPr lang="en-US" smtClean="0"/>
              <a:pPr/>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E167E-4A11-4F26-89F5-F29A6925006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oogle.com/search?q=Wi-Fi+Protected+Access+3&amp;rlz=1C1CFYW_en-GBIN1180IN1180&amp;oq=WPA3&amp;gs_lcrp=EgZjaHJvbWUyBggAEEUYOdIBCDE3ODRqMGo3qAIIsAIB&amp;sourceid=chrome&amp;ie=UTF-8&amp;ved=2ahUKEwi0na6I17eTAxVJTGwGHVTiH10QgK4QegYIAQgAEAU"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ethical-hacking/cyber-criminals-and-its-types/" TargetMode="External"/><Relationship Id="rId2" Type="http://schemas.openxmlformats.org/officeDocument/2006/relationships/hyperlink" Target="https://www.geeksforgeeks.org/ethical-hacking/cyber-crim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ethical-hacking/what-is-cross-site-scripting-xss/" TargetMode="External"/><Relationship Id="rId2" Type="http://schemas.openxmlformats.org/officeDocument/2006/relationships/hyperlink" Target="https://www.geeksforgeeks.org/sql/sql-injection/"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www.geeksforgeeks.org/ethical-hacking/social-engineering-the-art-of-virtual-exploitation/"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geeksforgeeks.org/dbms/what-is-database/" TargetMode="External"/><Relationship Id="rId2" Type="http://schemas.openxmlformats.org/officeDocument/2006/relationships/hyperlink" Target="https://www.geeksforgeeks.org/blogs/what-is-a-website/"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geeksforgeeks.org/computer-networks/vishing-voice-phishing/" TargetMode="External"/><Relationship Id="rId2" Type="http://schemas.openxmlformats.org/officeDocument/2006/relationships/hyperlink" Target="https://www.geeksforgeeks.org/blogs/10-tips-to-identify-phishing-emails/" TargetMode="External"/><Relationship Id="rId1" Type="http://schemas.openxmlformats.org/officeDocument/2006/relationships/slideLayout" Target="../slideLayouts/slideLayout2.xml"/><Relationship Id="rId4" Type="http://schemas.openxmlformats.org/officeDocument/2006/relationships/hyperlink" Target="https://www.geeksforgeeks.org/general-knowledge/what-is-smishing/"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www.geeksforgeeks.org/ethical-hacking/malware-and-its-types/" TargetMode="External"/><Relationship Id="rId2" Type="http://schemas.openxmlformats.org/officeDocument/2006/relationships/hyperlink" Target="https://www.geeksforgeeks.org/computer-networks/how-to-fix-a-401-unauthorized-error/"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www.geeksforgeeks.org/computer-networks/difference-between-encryption-and-decryption/" TargetMode="External"/><Relationship Id="rId2" Type="http://schemas.openxmlformats.org/officeDocument/2006/relationships/hyperlink" Target="https://www.geeksforgeeks.org/computer-networks/ransomware-explained-how-it-works-and-how-to-prevent-it/"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geeksforgeeks.org/blogs/data-breach/" TargetMode="External"/><Relationship Id="rId2" Type="http://schemas.openxmlformats.org/officeDocument/2006/relationships/hyperlink" Target="https://www.geeksforgeeks.org/computer-networks/what-is-data-encryption/"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s://www.geeksforgeeks.org/computer-science-fundamentals/what-is-phishing/"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www.geeksforgeeks.org/computer-networks/multifactor-authentication/"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www.geeksforgeeks.org/ethical-hacking/http-flood-attack/" TargetMode="External"/><Relationship Id="rId2" Type="http://schemas.openxmlformats.org/officeDocument/2006/relationships/hyperlink" Target="https://www.geeksforgeeks.org/computer-networks/open-systems-interconnection-model-osi/" TargetMode="External"/><Relationship Id="rId1" Type="http://schemas.openxmlformats.org/officeDocument/2006/relationships/slideLayout" Target="../slideLayouts/slideLayout2.xml"/><Relationship Id="rId4" Type="http://schemas.openxmlformats.org/officeDocument/2006/relationships/hyperlink" Target="https://www.geeksforgeeks.org/computer-networks/introduction-of-firewall-in-computer-network/" TargetMode="External"/></Relationships>
</file>

<file path=ppt/slides/_rels/slide95.xml.rels><?xml version="1.0" encoding="UTF-8" standalone="yes"?>
<Relationships xmlns="http://schemas.openxmlformats.org/package/2006/relationships"><Relationship Id="rId2" Type="http://schemas.openxmlformats.org/officeDocument/2006/relationships/hyperlink" Target="https://www.geeksforgeeks.org/computer-networks/what-is-a-dns-amplification-attack/"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www.tcpdump.org/" TargetMode="External"/><Relationship Id="rId2" Type="http://schemas.openxmlformats.org/officeDocument/2006/relationships/hyperlink" Target="https://www.wireshark.org/"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hyperlink" Target="https://www.avast.com/c-hacker"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www.avast.com/c-sql-injection" TargetMode="External"/><Relationship Id="rId2" Type="http://schemas.openxmlformats.org/officeDocument/2006/relationships/hyperlink" Target="https://www.avast.com/c-spoofing" TargetMode="External"/><Relationship Id="rId1" Type="http://schemas.openxmlformats.org/officeDocument/2006/relationships/slideLayout" Target="../slideLayouts/slideLayout2.xml"/><Relationship Id="rId4" Type="http://schemas.openxmlformats.org/officeDocument/2006/relationships/hyperlink" Target="https://www.avast.com/c-malware" TargetMode="External"/></Relationships>
</file>

<file path=ppt/slides/_rels/slide107.xml.rels><?xml version="1.0" encoding="UTF-8" standalone="yes"?>
<Relationships xmlns="http://schemas.openxmlformats.org/package/2006/relationships"><Relationship Id="rId2" Type="http://schemas.openxmlformats.org/officeDocument/2006/relationships/hyperlink" Target="https://www.google.com/search?q=Promiscuous+Mode+Activation&amp;sca_esv=d6eb6bac57f34326&amp;rlz=1C1CFYW_en-GBIN1180IN1180&amp;sxsrf=ANbL-n7duJ9f9ESHhRL6z1Rfsb9284y77A:1771310963435&amp;ei=cw-UaZumGpuhseMP18DQyQo&amp;biw=1280&amp;bih=551&amp;ved=2ahUKEwix99T4-t-SAxXRSGcHHQs7MFQQgK4QegQIAxAC&amp;uact=5&amp;oq=how+packet+sniffing+works+parcatcially&amp;gs_lp=Egxnd3Mtd2l6LXNlcnAiJmhvdyBwYWNrZXQgc25pZmZpbmcgd29ya3MgcGFyY2F0Y2lhbGx5MgoQABiwAxjWBBhHMgoQABiwAxjWBBhHMgoQABiwAxjWBBhHMgoQABiwAxjWBBhHMgoQABiwAxjWBBhHMgoQABiwAxjWBBhHMgoQABiwAxjWBBhHMgoQABiwAxjWBBhHSIwHUABYAHABeAGQAQCYAQCgAQCqAQC4AQPIAQCYAgGgAg-YAwDiAwUSATEgQIgGAZAGCJIHATGgBwCyBwC4BwDCBwMzLTHIBw6ACAA&amp;sclient=gws-wiz-serp&amp;mstk=AUtExfDqzZJw9mDTYVaI5u5nFcfDpl9qMfCIFlmCZ5cImXSdXfDBe87Sk5I_YjmV80EjAifxCLHSaVGOQeSkGTm5EoK_aG04Mp3BJkxEC6V0OLzYnx5aqXm6GJBE84bO1r07HysOyocmI0kYw4dsqBKgXPRM5VrGMfqefJXOE23dZlVdacJXk65QzVkt0zRXjc_wXUMP3YZDAPO9eFcRqVSMovKKGI6yrpARKFjp7sJ2nH_GRyWef9hS7Xq20DXytc8ZzGzy-TL4cKsqvHcTm27ph80B&amp;csui=3"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www.google.com/search?q=promiscuous+mode&amp;sca_esv=d6eb6bac57f34326&amp;rlz=1C1CFYW_en-GBIN1180IN1180&amp;sxsrf=ANbL-n7duJ9f9ESHhRL6z1Rfsb9284y77A:1771310963435&amp;ei=cw-UaZumGpuhseMP18DQyQo&amp;biw=1280&amp;bih=551&amp;ved=2ahUKEwix99T4-t-SAxXRSGcHHQs7MFQQgK4QegQIARAE&amp;uact=5&amp;oq=how+packet+sniffing+works+parcatcially&amp;gs_lp=Egxnd3Mtd2l6LXNlcnAiJmhvdyBwYWNrZXQgc25pZmZpbmcgd29ya3MgcGFyY2F0Y2lhbGx5MgoQABiwAxjWBBhHMgoQABiwAxjWBBhHMgoQABiwAxjWBBhHMgoQABiwAxjWBBhHMgoQABiwAxjWBBhHMgoQABiwAxjWBBhHMgoQABiwAxjWBBhHMgoQABiwAxjWBBhHSIwHUABYAHABeAGQAQCYAQCgAQCqAQC4AQPIAQCYAgGgAg-YAwDiAwUSATEgQIgGAZAGCJIHATGgBwCyBwC4BwDCBwMzLTHIBw6ACAA&amp;sclient=gws-wiz-serp&amp;mstk=AUtExfDqzZJw9mDTYVaI5u5nFcfDpl9qMfCIFlmCZ5cImXSdXfDBe87Sk5I_YjmV80EjAifxCLHSaVGOQeSkGTm5EoK_aG04Mp3BJkxEC6V0OLzYnx5aqXm6GJBE84bO1r07HysOyocmI0kYw4dsqBKgXPRM5VrGMfqefJXOE23dZlVdacJXk65QzVkt0zRXjc_wXUMP3YZDAPO9eFcRqVSMovKKGI6yrpARKFjp7sJ2nH_GRyWef9hS7Xq20DXytc8ZzGzy-TL4cKsqvHcTm27ph80B&amp;csui=3" TargetMode="External"/><Relationship Id="rId2" Type="http://schemas.openxmlformats.org/officeDocument/2006/relationships/hyperlink" Target="https://www.infosectrain.com/blog/packet-sniffing-with-snort-a-practical-guide"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Network Security and Ethical Hacking</a:t>
            </a:r>
            <a:endParaRPr lang="en-US" dirty="0"/>
          </a:p>
        </p:txBody>
      </p:sp>
      <p:sp>
        <p:nvSpPr>
          <p:cNvPr id="3" name="Subtitle 2"/>
          <p:cNvSpPr>
            <a:spLocks noGrp="1"/>
          </p:cNvSpPr>
          <p:nvPr>
            <p:ph type="subTitle" idx="1"/>
          </p:nvPr>
        </p:nvSpPr>
        <p:spPr/>
        <p:txBody>
          <a:bodyPr/>
          <a:lstStyle/>
          <a:p>
            <a:r>
              <a:rPr lang="en-US" b="1" dirty="0" smtClean="0">
                <a:solidFill>
                  <a:srgbClr val="FF0000"/>
                </a:solidFill>
              </a:rPr>
              <a:t>Chapter 4</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Does Network Security Work?</a:t>
            </a:r>
            <a:br>
              <a:rPr lang="en-US" b="1" dirty="0"/>
            </a:br>
            <a:endParaRPr lang="en-US" dirty="0"/>
          </a:p>
        </p:txBody>
      </p:sp>
      <p:sp>
        <p:nvSpPr>
          <p:cNvPr id="3" name="Content Placeholder 2"/>
          <p:cNvSpPr>
            <a:spLocks noGrp="1"/>
          </p:cNvSpPr>
          <p:nvPr>
            <p:ph idx="1"/>
          </p:nvPr>
        </p:nvSpPr>
        <p:spPr>
          <a:xfrm>
            <a:off x="214282" y="1142984"/>
            <a:ext cx="8472518" cy="5429288"/>
          </a:xfrm>
        </p:spPr>
        <p:txBody>
          <a:bodyPr>
            <a:normAutofit/>
          </a:bodyPr>
          <a:lstStyle/>
          <a:p>
            <a:pPr algn="just">
              <a:buNone/>
            </a:pPr>
            <a:r>
              <a:rPr lang="en-US" dirty="0"/>
              <a:t>Network security works through </a:t>
            </a:r>
            <a:endParaRPr lang="en-US" dirty="0" smtClean="0"/>
          </a:p>
          <a:p>
            <a:pPr algn="just"/>
            <a:r>
              <a:rPr lang="en-US" dirty="0" smtClean="0"/>
              <a:t>multiple </a:t>
            </a:r>
            <a:r>
              <a:rPr lang="en-US" dirty="0"/>
              <a:t>protective layers that control access at both the network edge and inside the environment</a:t>
            </a:r>
            <a:r>
              <a:rPr lang="en-US" dirty="0" smtClean="0"/>
              <a:t>.</a:t>
            </a:r>
          </a:p>
          <a:p>
            <a:pPr algn="just"/>
            <a:r>
              <a:rPr lang="en-US" dirty="0" smtClean="0"/>
              <a:t>Each </a:t>
            </a:r>
            <a:r>
              <a:rPr lang="en-US" dirty="0"/>
              <a:t>layer ensures only authorized users can access resources while blocking threats</a:t>
            </a:r>
            <a:r>
              <a:rPr lang="en-US" dirty="0" smtClean="0"/>
              <a:t>.</a:t>
            </a:r>
          </a:p>
          <a:p>
            <a:pPr algn="just"/>
            <a:r>
              <a:rPr lang="en-US" dirty="0" smtClean="0"/>
              <a:t>Core </a:t>
            </a:r>
            <a:r>
              <a:rPr lang="en-US" dirty="0"/>
              <a:t>idea is to protect large amounts of data using layered defenses that enforce rules before any action is allowed</a:t>
            </a:r>
            <a:r>
              <a:rPr lang="en-US" dirty="0" smtClean="0"/>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14282" y="0"/>
            <a:ext cx="8715436" cy="66437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fontScale="90000"/>
          </a:bodyPr>
          <a:lstStyle/>
          <a:p>
            <a:r>
              <a:rPr lang="en-US" b="1" dirty="0" smtClean="0"/>
              <a:t/>
            </a:r>
            <a:br>
              <a:rPr lang="en-US" b="1" dirty="0" smtClean="0"/>
            </a:br>
            <a:r>
              <a:rPr lang="en-US" b="1" dirty="0" smtClean="0"/>
              <a:t>Physical Network Security</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pPr algn="just" fontAlgn="base"/>
            <a:r>
              <a:rPr lang="en-US" dirty="0" smtClean="0"/>
              <a:t>Physical security prevents unauthorized individuals from physically accessing network hardware, servers, or devices.</a:t>
            </a:r>
          </a:p>
          <a:p>
            <a:pPr marL="571500" indent="-571500" algn="just" fontAlgn="base">
              <a:buFont typeface="+mj-lt"/>
              <a:buAutoNum type="romanUcPeriod"/>
            </a:pPr>
            <a:r>
              <a:rPr lang="en-US" b="1" dirty="0" smtClean="0">
                <a:solidFill>
                  <a:srgbClr val="FF0000"/>
                </a:solidFill>
              </a:rPr>
              <a:t>Uses access cards, biometrics, CCTV, and locked server rooms</a:t>
            </a:r>
          </a:p>
          <a:p>
            <a:pPr marL="571500" indent="-571500" algn="just" fontAlgn="base">
              <a:buFont typeface="+mj-lt"/>
              <a:buAutoNum type="romanUcPeriod"/>
            </a:pPr>
            <a:r>
              <a:rPr lang="en-US" b="1" dirty="0" smtClean="0">
                <a:solidFill>
                  <a:srgbClr val="FF0000"/>
                </a:solidFill>
              </a:rPr>
              <a:t>Protects routers, switches, cables, and data centers</a:t>
            </a:r>
          </a:p>
          <a:p>
            <a:pPr marL="571500" indent="-571500" algn="just" fontAlgn="base">
              <a:buFont typeface="+mj-lt"/>
              <a:buAutoNum type="romanUcPeriod"/>
            </a:pPr>
            <a:r>
              <a:rPr lang="en-US" dirty="0" smtClean="0"/>
              <a:t>Prevents tampering, device theft, and hardware-level attacks</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Technical Network Security</a:t>
            </a:r>
            <a:br>
              <a:rPr lang="en-US" b="1" dirty="0" smtClean="0"/>
            </a:br>
            <a:endParaRPr lang="en-US" dirty="0"/>
          </a:p>
        </p:txBody>
      </p:sp>
      <p:sp>
        <p:nvSpPr>
          <p:cNvPr id="3" name="Content Placeholder 2"/>
          <p:cNvSpPr>
            <a:spLocks noGrp="1"/>
          </p:cNvSpPr>
          <p:nvPr>
            <p:ph idx="1"/>
          </p:nvPr>
        </p:nvSpPr>
        <p:spPr>
          <a:xfrm>
            <a:off x="214282" y="1600200"/>
            <a:ext cx="8715436" cy="4525963"/>
          </a:xfrm>
        </p:spPr>
        <p:txBody>
          <a:bodyPr>
            <a:normAutofit/>
          </a:bodyPr>
          <a:lstStyle/>
          <a:p>
            <a:pPr fontAlgn="base"/>
            <a:r>
              <a:rPr lang="en-US" dirty="0" smtClean="0"/>
              <a:t>Technical </a:t>
            </a:r>
            <a:r>
              <a:rPr lang="en-US" dirty="0"/>
              <a:t>security protects data as it is stored, processed, and transmitted across the network using software-based controls.</a:t>
            </a:r>
          </a:p>
          <a:p>
            <a:pPr marL="571500" indent="-571500" fontAlgn="base">
              <a:buFont typeface="+mj-lt"/>
              <a:buAutoNum type="romanUcPeriod"/>
            </a:pPr>
            <a:r>
              <a:rPr lang="en-US" b="1" dirty="0">
                <a:solidFill>
                  <a:srgbClr val="FF0000"/>
                </a:solidFill>
              </a:rPr>
              <a:t>Secures data in motion and at rest</a:t>
            </a:r>
          </a:p>
          <a:p>
            <a:pPr marL="571500" indent="-571500" fontAlgn="base">
              <a:buFont typeface="+mj-lt"/>
              <a:buAutoNum type="romanUcPeriod"/>
            </a:pPr>
            <a:r>
              <a:rPr lang="en-US" b="1" dirty="0">
                <a:solidFill>
                  <a:srgbClr val="FF0000"/>
                </a:solidFill>
              </a:rPr>
              <a:t>Blocks unauthorized access and malicious activities</a:t>
            </a:r>
          </a:p>
          <a:p>
            <a:pPr marL="571500" indent="-571500" fontAlgn="base">
              <a:buFont typeface="+mj-lt"/>
              <a:buAutoNum type="romanUcPeriod"/>
            </a:pPr>
            <a:r>
              <a:rPr lang="en-US" dirty="0"/>
              <a:t>Includes firewalls, encryption, antivirus, and intrusion detection</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Administrative Network Security</a:t>
            </a:r>
            <a:br>
              <a:rPr lang="en-US" b="1" dirty="0" smtClean="0"/>
            </a:br>
            <a:endParaRPr lang="en-US" dirty="0"/>
          </a:p>
        </p:txBody>
      </p:sp>
      <p:sp>
        <p:nvSpPr>
          <p:cNvPr id="3" name="Content Placeholder 2"/>
          <p:cNvSpPr>
            <a:spLocks noGrp="1"/>
          </p:cNvSpPr>
          <p:nvPr>
            <p:ph idx="1"/>
          </p:nvPr>
        </p:nvSpPr>
        <p:spPr>
          <a:xfrm>
            <a:off x="214282" y="1600200"/>
            <a:ext cx="8786874" cy="4525963"/>
          </a:xfrm>
        </p:spPr>
        <p:txBody>
          <a:bodyPr>
            <a:normAutofit lnSpcReduction="10000"/>
          </a:bodyPr>
          <a:lstStyle/>
          <a:p>
            <a:pPr fontAlgn="base">
              <a:buNone/>
            </a:pPr>
            <a:r>
              <a:rPr lang="en-US" dirty="0" smtClean="0"/>
              <a:t>Administrative </a:t>
            </a:r>
            <a:r>
              <a:rPr lang="en-US" dirty="0"/>
              <a:t>security </a:t>
            </a:r>
            <a:endParaRPr lang="en-US" dirty="0" smtClean="0"/>
          </a:p>
          <a:p>
            <a:pPr marL="571500" indent="-571500" algn="just" fontAlgn="base">
              <a:buFont typeface="+mj-lt"/>
              <a:buAutoNum type="romanUcPeriod"/>
            </a:pPr>
            <a:r>
              <a:rPr lang="en-US" dirty="0" smtClean="0"/>
              <a:t>Defines </a:t>
            </a:r>
            <a:r>
              <a:rPr lang="en-US" dirty="0"/>
              <a:t>policies, user permissions, and procedures that control how the network is accessed and managed.</a:t>
            </a:r>
          </a:p>
          <a:p>
            <a:pPr marL="571500" indent="-571500" algn="just" fontAlgn="base">
              <a:buFont typeface="+mj-lt"/>
              <a:buAutoNum type="romanUcPeriod"/>
            </a:pPr>
            <a:r>
              <a:rPr lang="en-US" b="1" dirty="0">
                <a:solidFill>
                  <a:srgbClr val="FF0000"/>
                </a:solidFill>
              </a:rPr>
              <a:t>Manages authentication, authorization, and user roles</a:t>
            </a:r>
          </a:p>
          <a:p>
            <a:pPr marL="571500" indent="-571500" algn="just" fontAlgn="base">
              <a:buFont typeface="+mj-lt"/>
              <a:buAutoNum type="romanUcPeriod"/>
            </a:pPr>
            <a:r>
              <a:rPr lang="en-US" b="1" dirty="0">
                <a:solidFill>
                  <a:srgbClr val="FF0000"/>
                </a:solidFill>
              </a:rPr>
              <a:t>Enforces security policies and access controls</a:t>
            </a:r>
          </a:p>
          <a:p>
            <a:pPr marL="571500" indent="-571500" algn="just" fontAlgn="base">
              <a:buFont typeface="+mj-lt"/>
              <a:buAutoNum type="romanUcPeriod"/>
            </a:pPr>
            <a:r>
              <a:rPr lang="en-US" dirty="0"/>
              <a:t>Ensures proper configuration, monitoring, and compliance</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Network Security</a:t>
            </a:r>
            <a:br>
              <a:rPr lang="en-US" b="1" dirty="0"/>
            </a:br>
            <a:endParaRPr lang="en-US" dirty="0"/>
          </a:p>
        </p:txBody>
      </p:sp>
      <p:sp>
        <p:nvSpPr>
          <p:cNvPr id="3" name="Content Placeholder 2"/>
          <p:cNvSpPr>
            <a:spLocks noGrp="1"/>
          </p:cNvSpPr>
          <p:nvPr>
            <p:ph idx="1"/>
          </p:nvPr>
        </p:nvSpPr>
        <p:spPr>
          <a:xfrm>
            <a:off x="214282" y="1142984"/>
            <a:ext cx="8472518" cy="5357850"/>
          </a:xfrm>
        </p:spPr>
        <p:txBody>
          <a:bodyPr>
            <a:normAutofit lnSpcReduction="10000"/>
          </a:bodyPr>
          <a:lstStyle/>
          <a:p>
            <a:pPr fontAlgn="base">
              <a:buNone/>
            </a:pPr>
            <a:r>
              <a:rPr lang="en-US" b="1" dirty="0">
                <a:solidFill>
                  <a:srgbClr val="FF0000"/>
                </a:solidFill>
              </a:rPr>
              <a:t>Email Security</a:t>
            </a:r>
          </a:p>
          <a:p>
            <a:pPr marL="571500" indent="-571500" algn="just" fontAlgn="base">
              <a:buFont typeface="+mj-lt"/>
              <a:buAutoNum type="romanUcPeriod"/>
            </a:pPr>
            <a:r>
              <a:rPr lang="en-US" dirty="0"/>
              <a:t>Email security protects email accounts from phishing, malware, fraud, data theft, and unauthorized access.</a:t>
            </a:r>
          </a:p>
          <a:p>
            <a:pPr marL="571500" indent="-571500" algn="just" fontAlgn="base">
              <a:buFont typeface="+mj-lt"/>
              <a:buAutoNum type="romanUcPeriod"/>
            </a:pPr>
            <a:r>
              <a:rPr lang="en-US" dirty="0"/>
              <a:t>Filters spam, malicious links, and phishing emails</a:t>
            </a:r>
          </a:p>
          <a:p>
            <a:pPr marL="571500" indent="-571500" algn="just" fontAlgn="base">
              <a:buFont typeface="+mj-lt"/>
              <a:buAutoNum type="romanUcPeriod"/>
            </a:pPr>
            <a:r>
              <a:rPr lang="en-US" dirty="0"/>
              <a:t>Blocks risky attachments and outbound data leaks</a:t>
            </a:r>
          </a:p>
          <a:p>
            <a:pPr marL="571500" indent="-571500" algn="just" fontAlgn="base">
              <a:buFont typeface="+mj-lt"/>
              <a:buAutoNum type="romanUcPeriod"/>
            </a:pPr>
            <a:r>
              <a:rPr lang="en-US" dirty="0"/>
              <a:t>Protects one of the most commonly exploited attack </a:t>
            </a:r>
            <a:r>
              <a:rPr lang="en-US" dirty="0" smtClean="0"/>
              <a:t>vectors.</a:t>
            </a:r>
            <a:endParaRPr lang="en-US" dirty="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fontAlgn="base">
              <a:buNone/>
            </a:pPr>
            <a:r>
              <a:rPr lang="en-US" b="1" dirty="0"/>
              <a:t>Network Segmentation</a:t>
            </a:r>
          </a:p>
          <a:p>
            <a:pPr algn="just" fontAlgn="base"/>
            <a:r>
              <a:rPr lang="en-US" dirty="0"/>
              <a:t>Network segmentation divides a network into isolated segments to reduce attack spread and enforce security policies.</a:t>
            </a:r>
          </a:p>
          <a:p>
            <a:pPr algn="just" fontAlgn="base"/>
            <a:r>
              <a:rPr lang="en-US" dirty="0"/>
              <a:t>Separates sensitive systems from general access</a:t>
            </a:r>
          </a:p>
          <a:p>
            <a:pPr algn="just" fontAlgn="base"/>
            <a:r>
              <a:rPr lang="en-US" dirty="0"/>
              <a:t>Limits lateral movement during attacks</a:t>
            </a:r>
          </a:p>
          <a:p>
            <a:pPr algn="just" fontAlgn="base"/>
            <a:r>
              <a:rPr lang="en-US" dirty="0"/>
              <a:t>Access granted based on identity, role, and device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lstStyle/>
          <a:p>
            <a:pPr fontAlgn="base">
              <a:buNone/>
            </a:pPr>
            <a:r>
              <a:rPr lang="en-US" b="1" dirty="0"/>
              <a:t>Access Control (NAC)</a:t>
            </a:r>
          </a:p>
          <a:p>
            <a:pPr fontAlgn="base"/>
            <a:r>
              <a:rPr lang="en-US" dirty="0"/>
              <a:t>Access control ensures only authorized users and compliant devices can connect to the network.</a:t>
            </a:r>
          </a:p>
          <a:p>
            <a:pPr marL="571500" indent="-571500" fontAlgn="base">
              <a:buFont typeface="+mj-lt"/>
              <a:buAutoNum type="romanUcPeriod"/>
            </a:pPr>
            <a:r>
              <a:rPr lang="en-US" dirty="0"/>
              <a:t>Identifies devices before granting access</a:t>
            </a:r>
          </a:p>
          <a:p>
            <a:pPr marL="571500" indent="-571500" fontAlgn="base">
              <a:buFont typeface="+mj-lt"/>
              <a:buAutoNum type="romanUcPeriod"/>
            </a:pPr>
            <a:r>
              <a:rPr lang="en-US" dirty="0"/>
              <a:t>Restricts or blocks non-compliant endpoints</a:t>
            </a:r>
          </a:p>
          <a:p>
            <a:pPr marL="571500" indent="-571500" fontAlgn="base">
              <a:buFont typeface="+mj-lt"/>
              <a:buAutoNum type="romanUcPeriod"/>
            </a:pPr>
            <a:r>
              <a:rPr lang="en-US" dirty="0"/>
              <a:t>Enforces authentication and authorization policies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a:bodyPr>
          <a:lstStyle/>
          <a:p>
            <a:pPr fontAlgn="base">
              <a:buNone/>
            </a:pPr>
            <a:r>
              <a:rPr lang="en-US" b="1" dirty="0"/>
              <a:t>Web Security</a:t>
            </a:r>
          </a:p>
          <a:p>
            <a:pPr marL="571500" indent="-571500" algn="just" fontAlgn="base">
              <a:buFont typeface="+mj-lt"/>
              <a:buAutoNum type="romanUcPeriod"/>
            </a:pPr>
            <a:r>
              <a:rPr lang="en-US" dirty="0" smtClean="0"/>
              <a:t>Protects </a:t>
            </a:r>
            <a:r>
              <a:rPr lang="en-US" dirty="0"/>
              <a:t>users, browsers, and websites from malicious sites, downloads, and online threats.</a:t>
            </a:r>
          </a:p>
          <a:p>
            <a:pPr marL="571500" indent="-571500" algn="just" fontAlgn="base">
              <a:buFont typeface="+mj-lt"/>
              <a:buAutoNum type="romanUcPeriod"/>
            </a:pPr>
            <a:r>
              <a:rPr lang="en-US" dirty="0"/>
              <a:t>Blocks harmful URLs and web-based attacks</a:t>
            </a:r>
          </a:p>
          <a:p>
            <a:pPr marL="571500" indent="-571500" algn="just" fontAlgn="base">
              <a:buFont typeface="+mj-lt"/>
              <a:buAutoNum type="romanUcPeriod"/>
            </a:pPr>
            <a:r>
              <a:rPr lang="en-US" dirty="0"/>
              <a:t>Secures web gateways </a:t>
            </a:r>
            <a:r>
              <a:rPr lang="en-US" dirty="0" smtClean="0"/>
              <a:t>on </a:t>
            </a:r>
            <a:r>
              <a:rPr lang="en-US" dirty="0"/>
              <a:t>and in the cloud</a:t>
            </a:r>
          </a:p>
          <a:p>
            <a:pPr marL="571500" indent="-571500" algn="just" fontAlgn="base">
              <a:buFont typeface="+mj-lt"/>
              <a:buAutoNum type="romanUcPeriod"/>
            </a:pPr>
            <a:r>
              <a:rPr lang="en-US" dirty="0"/>
              <a:t>Protects organizational websites from vulnerabilities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472518" cy="5983311"/>
          </a:xfrm>
        </p:spPr>
        <p:txBody>
          <a:bodyPr>
            <a:normAutofit/>
          </a:bodyPr>
          <a:lstStyle/>
          <a:p>
            <a:pPr fontAlgn="base">
              <a:buNone/>
            </a:pPr>
            <a:r>
              <a:rPr lang="en-US" b="1" dirty="0"/>
              <a:t>Firewall Security</a:t>
            </a:r>
          </a:p>
          <a:p>
            <a:pPr algn="just" fontAlgn="base"/>
            <a:r>
              <a:rPr lang="en-US" dirty="0"/>
              <a:t>Firewalls filter network traffic based on rules to block unauthorized access while allowing legitimate communication.</a:t>
            </a:r>
          </a:p>
          <a:p>
            <a:pPr marL="571500" indent="-571500" algn="just" fontAlgn="base">
              <a:buFont typeface="+mj-lt"/>
              <a:buAutoNum type="romanUcPeriod"/>
            </a:pPr>
            <a:r>
              <a:rPr lang="en-US" dirty="0"/>
              <a:t>Acts as a barrier between trusted and </a:t>
            </a:r>
            <a:r>
              <a:rPr lang="en-US" dirty="0" err="1"/>
              <a:t>untrusted</a:t>
            </a:r>
            <a:r>
              <a:rPr lang="en-US" dirty="0"/>
              <a:t> networks</a:t>
            </a:r>
          </a:p>
          <a:p>
            <a:pPr marL="571500" indent="-571500" algn="just" fontAlgn="base">
              <a:buFont typeface="+mj-lt"/>
              <a:buAutoNum type="romanUcPeriod"/>
            </a:pPr>
            <a:r>
              <a:rPr lang="en-US" dirty="0"/>
              <a:t>Controls inbound and outbound traffic</a:t>
            </a:r>
          </a:p>
          <a:p>
            <a:pPr marL="571500" indent="-571500" algn="just" fontAlgn="base">
              <a:buFont typeface="+mj-lt"/>
              <a:buAutoNum type="romanUcPeriod"/>
            </a:pPr>
            <a:r>
              <a:rPr lang="en-US" dirty="0"/>
              <a:t>Prevents intrusions and unauthorized connections</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1.png"/>
          <p:cNvPicPr>
            <a:picLocks noGrp="1" noChangeAspect="1"/>
          </p:cNvPicPr>
          <p:nvPr>
            <p:ph idx="1"/>
          </p:nvPr>
        </p:nvPicPr>
        <p:blipFill>
          <a:blip r:embed="rId2"/>
          <a:stretch>
            <a:fillRect/>
          </a:stretch>
        </p:blipFill>
        <p:spPr>
          <a:xfrm>
            <a:off x="500034" y="214290"/>
            <a:ext cx="8429684" cy="6286543"/>
          </a:xfr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a:bodyPr>
          <a:lstStyle/>
          <a:p>
            <a:pPr fontAlgn="base">
              <a:buNone/>
            </a:pPr>
            <a:r>
              <a:rPr lang="en-US" b="1" dirty="0"/>
              <a:t>Wireless Security</a:t>
            </a:r>
          </a:p>
          <a:p>
            <a:pPr fontAlgn="base"/>
            <a:r>
              <a:rPr lang="en-US" dirty="0"/>
              <a:t>Wireless security safeguards Wi-Fi networks from unauthorized access and wireless-specific attacks.</a:t>
            </a:r>
          </a:p>
          <a:p>
            <a:pPr fontAlgn="base"/>
            <a:r>
              <a:rPr lang="en-US" dirty="0"/>
              <a:t>Prevents rogue access points and Wi-Fi cracking</a:t>
            </a:r>
          </a:p>
          <a:p>
            <a:pPr fontAlgn="base"/>
            <a:r>
              <a:rPr lang="en-US" dirty="0"/>
              <a:t>Uses protocols like </a:t>
            </a:r>
            <a:r>
              <a:rPr lang="en-US" dirty="0" smtClean="0"/>
              <a:t>WPA3 (</a:t>
            </a:r>
            <a:r>
              <a:rPr lang="en-US" dirty="0" smtClean="0">
                <a:hlinkClick r:id="rId2"/>
              </a:rPr>
              <a:t>Wi-Fi Protected Access 3</a:t>
            </a:r>
            <a:r>
              <a:rPr lang="en-US" dirty="0" smtClean="0"/>
              <a:t>)</a:t>
            </a:r>
            <a:endParaRPr lang="en-US" dirty="0"/>
          </a:p>
          <a:p>
            <a:pPr fontAlgn="base"/>
            <a:r>
              <a:rPr lang="en-US" dirty="0"/>
              <a:t>Protects communication beyond physical boundaries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643998" cy="6215106"/>
          </a:xfrm>
        </p:spPr>
        <p:txBody>
          <a:bodyPr>
            <a:normAutofit fontScale="92500"/>
          </a:bodyPr>
          <a:lstStyle/>
          <a:p>
            <a:pPr fontAlgn="base">
              <a:buNone/>
            </a:pPr>
            <a:r>
              <a:rPr lang="en-US" b="1" dirty="0"/>
              <a:t>Mobile Device Security</a:t>
            </a:r>
          </a:p>
          <a:p>
            <a:pPr algn="just" fontAlgn="base"/>
            <a:r>
              <a:rPr lang="en-US" dirty="0"/>
              <a:t>Mobile security protects </a:t>
            </a:r>
            <a:r>
              <a:rPr lang="en-US" dirty="0" err="1"/>
              <a:t>smartphones</a:t>
            </a:r>
            <a:r>
              <a:rPr lang="en-US" dirty="0"/>
              <a:t>, tablets, and </a:t>
            </a:r>
            <a:r>
              <a:rPr lang="en-US" dirty="0" smtClean="0"/>
              <a:t>BYOD devices from threats and unauthorized access.</a:t>
            </a:r>
          </a:p>
          <a:p>
            <a:pPr algn="just" fontAlgn="base"/>
            <a:r>
              <a:rPr lang="en-US" dirty="0" smtClean="0"/>
              <a:t>Bring Your Own Device (BYOD) is an IT policy allowing employees to use personal devices—</a:t>
            </a:r>
            <a:r>
              <a:rPr lang="en-US" dirty="0" err="1" smtClean="0"/>
              <a:t>smartphones</a:t>
            </a:r>
            <a:r>
              <a:rPr lang="en-US" dirty="0" smtClean="0"/>
              <a:t>, laptops, and tablets—for work purposes.</a:t>
            </a:r>
            <a:endParaRPr lang="en-US" dirty="0"/>
          </a:p>
          <a:p>
            <a:pPr algn="just" fontAlgn="base"/>
            <a:r>
              <a:rPr lang="en-US" dirty="0"/>
              <a:t>Controls which devices can connect to the network</a:t>
            </a:r>
          </a:p>
          <a:p>
            <a:pPr algn="just" fontAlgn="base"/>
            <a:r>
              <a:rPr lang="en-US" dirty="0"/>
              <a:t>Enforces encryption and secure connection policies</a:t>
            </a:r>
          </a:p>
          <a:p>
            <a:pPr algn="just" fontAlgn="base"/>
            <a:r>
              <a:rPr lang="en-US" dirty="0"/>
              <a:t>Monitors mobile traffic for suspicious activity</a:t>
            </a:r>
          </a:p>
          <a:p>
            <a:pPr algn="just"/>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a:t>
            </a:r>
            <a:r>
              <a:rPr lang="en-US" b="1" dirty="0" err="1" smtClean="0"/>
              <a:t>Hacktivism</a:t>
            </a:r>
            <a:r>
              <a:rPr lang="en-US" b="1" dirty="0" smtClean="0"/>
              <a:t> ?</a:t>
            </a:r>
            <a:br>
              <a:rPr lang="en-US" b="1" dirty="0" smtClean="0"/>
            </a:br>
            <a:endParaRPr lang="en-US" dirty="0"/>
          </a:p>
        </p:txBody>
      </p:sp>
      <p:sp>
        <p:nvSpPr>
          <p:cNvPr id="3" name="Content Placeholder 2"/>
          <p:cNvSpPr>
            <a:spLocks noGrp="1"/>
          </p:cNvSpPr>
          <p:nvPr>
            <p:ph idx="1"/>
          </p:nvPr>
        </p:nvSpPr>
        <p:spPr>
          <a:xfrm>
            <a:off x="285720" y="1071546"/>
            <a:ext cx="8401080" cy="5500726"/>
          </a:xfrm>
        </p:spPr>
        <p:txBody>
          <a:bodyPr>
            <a:normAutofit fontScale="85000" lnSpcReduction="10000"/>
          </a:bodyPr>
          <a:lstStyle/>
          <a:p>
            <a:pPr fontAlgn="base"/>
            <a:r>
              <a:rPr lang="en-US" dirty="0" smtClean="0"/>
              <a:t>Now people use social media to protest and raise their voices about political or social issues instead of marching on the street. </a:t>
            </a:r>
          </a:p>
          <a:p>
            <a:pPr fontAlgn="base"/>
            <a:r>
              <a:rPr lang="en-US" dirty="0" err="1" smtClean="0"/>
              <a:t>Hacktivism</a:t>
            </a:r>
            <a:r>
              <a:rPr lang="en-US" dirty="0" smtClean="0"/>
              <a:t> combines ‘hacking’ with ‘activism’, where a person or organization uses hacking to fulfill a political or social agenda. </a:t>
            </a:r>
          </a:p>
          <a:p>
            <a:pPr fontAlgn="base"/>
            <a:r>
              <a:rPr lang="en-US" dirty="0" err="1" smtClean="0"/>
              <a:t>Hacktivism</a:t>
            </a:r>
            <a:r>
              <a:rPr lang="en-US" dirty="0" smtClean="0"/>
              <a:t> is often associated with the term </a:t>
            </a:r>
            <a:r>
              <a:rPr lang="en-US" dirty="0" err="1" smtClean="0"/>
              <a:t>Cyberwar</a:t>
            </a:r>
            <a:r>
              <a:rPr lang="en-US" dirty="0" smtClean="0"/>
              <a:t>, and is sometimes associated with "Cyber Terror". </a:t>
            </a:r>
          </a:p>
          <a:p>
            <a:pPr fontAlgn="base"/>
            <a:r>
              <a:rPr lang="en-US" dirty="0" smtClean="0"/>
              <a:t>So </a:t>
            </a:r>
            <a:r>
              <a:rPr lang="en-US" dirty="0" err="1" smtClean="0"/>
              <a:t>Hacktivism</a:t>
            </a:r>
            <a:r>
              <a:rPr lang="en-US" dirty="0" smtClean="0"/>
              <a:t> basically means an act of hacking or breaking into a computer system for some purpose be it political or social. </a:t>
            </a:r>
            <a:endParaRPr lang="en-US" smtClean="0"/>
          </a:p>
          <a:p>
            <a:pPr fontAlgn="base"/>
            <a:r>
              <a:rPr lang="en-US" smtClean="0"/>
              <a:t>The </a:t>
            </a:r>
            <a:r>
              <a:rPr lang="en-US" dirty="0" smtClean="0"/>
              <a:t>person who performs this is called a </a:t>
            </a:r>
            <a:r>
              <a:rPr lang="en-US" dirty="0" err="1" smtClean="0"/>
              <a:t>hacktivist</a:t>
            </a:r>
            <a:r>
              <a:rPr lang="en-US" dirty="0" smtClean="0"/>
              <a:t>.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929718" cy="5983311"/>
          </a:xfrm>
        </p:spPr>
        <p:txBody>
          <a:bodyPr>
            <a:normAutofit/>
          </a:bodyPr>
          <a:lstStyle/>
          <a:p>
            <a:pPr fontAlgn="base"/>
            <a:r>
              <a:rPr lang="en-US" sz="2400" dirty="0" err="1" smtClean="0"/>
              <a:t>Hacktivism</a:t>
            </a:r>
            <a:r>
              <a:rPr lang="en-US" sz="2400" dirty="0" smtClean="0"/>
              <a:t> is different from regular </a:t>
            </a:r>
            <a:r>
              <a:rPr lang="en-US" sz="2400" u="sng" dirty="0" smtClean="0">
                <a:hlinkClick r:id="rId2"/>
              </a:rPr>
              <a:t>cybercrime</a:t>
            </a:r>
            <a:r>
              <a:rPr lang="en-US" sz="2400" dirty="0" smtClean="0"/>
              <a:t> because in this </a:t>
            </a:r>
            <a:r>
              <a:rPr lang="en-US" sz="2400" u="sng" dirty="0" smtClean="0">
                <a:hlinkClick r:id="rId3"/>
              </a:rPr>
              <a:t>cybercriminals</a:t>
            </a:r>
            <a:r>
              <a:rPr lang="en-US" sz="2400" dirty="0" smtClean="0"/>
              <a:t> doing hacking for the personal gain, like making money</a:t>
            </a:r>
            <a:r>
              <a:rPr lang="en-US" dirty="0" smtClean="0"/>
              <a:t>. </a:t>
            </a:r>
          </a:p>
          <a:p>
            <a:pPr fontAlgn="base"/>
            <a:r>
              <a:rPr lang="en-US" dirty="0" smtClean="0"/>
              <a:t>On the other side </a:t>
            </a:r>
            <a:r>
              <a:rPr lang="en-US" dirty="0" err="1" smtClean="0"/>
              <a:t>Hacktivists</a:t>
            </a:r>
            <a:r>
              <a:rPr lang="en-US" dirty="0" smtClean="0"/>
              <a:t> have a purpose behind their actions or doing hacking, such as raising awareness or fighting for the cause. </a:t>
            </a:r>
          </a:p>
          <a:p>
            <a:pPr fontAlgn="base"/>
            <a:r>
              <a:rPr lang="en-US" dirty="0" smtClean="0"/>
              <a:t>This can vary from violence, censorship, human rights, voyeurism, and countless other motives.</a:t>
            </a:r>
          </a:p>
          <a:p>
            <a:pPr fontAlgn="base"/>
            <a:r>
              <a:rPr lang="en-US" dirty="0" smtClean="0"/>
              <a:t>Some people think </a:t>
            </a:r>
            <a:r>
              <a:rPr lang="en-US" dirty="0" err="1" smtClean="0"/>
              <a:t>hacktivism</a:t>
            </a:r>
            <a:r>
              <a:rPr lang="en-US" dirty="0" smtClean="0"/>
              <a:t> is just a digital way of protesting, while others believe it's completely wrong and against the law.</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a:t>
            </a:r>
            <a:r>
              <a:rPr lang="en-US" dirty="0"/>
              <a:t>hacking</a:t>
            </a:r>
          </a:p>
        </p:txBody>
      </p:sp>
      <p:sp>
        <p:nvSpPr>
          <p:cNvPr id="3" name="Content Placeholder 2"/>
          <p:cNvSpPr>
            <a:spLocks noGrp="1"/>
          </p:cNvSpPr>
          <p:nvPr>
            <p:ph idx="1"/>
          </p:nvPr>
        </p:nvSpPr>
        <p:spPr>
          <a:xfrm>
            <a:off x="214282" y="1600200"/>
            <a:ext cx="8472518" cy="4972072"/>
          </a:xfrm>
        </p:spPr>
        <p:txBody>
          <a:bodyPr>
            <a:normAutofit/>
          </a:bodyPr>
          <a:lstStyle/>
          <a:p>
            <a:pPr algn="just" fontAlgn="base"/>
            <a:r>
              <a:rPr lang="en-US" dirty="0"/>
              <a:t>Ethical hacking is the authorized practice of testing systems, networks, and applications to identify and fix security weaknesses before malicious attackers exploit them. </a:t>
            </a:r>
            <a:endParaRPr lang="en-US" dirty="0" smtClean="0"/>
          </a:p>
          <a:p>
            <a:pPr algn="just" fontAlgn="base"/>
            <a:r>
              <a:rPr lang="en-US" dirty="0" smtClean="0"/>
              <a:t>Ethical </a:t>
            </a:r>
            <a:r>
              <a:rPr lang="en-US" dirty="0"/>
              <a:t>hackers use real hacking techniques with permission to strengthen </a:t>
            </a:r>
            <a:r>
              <a:rPr lang="en-US" dirty="0" err="1"/>
              <a:t>cybersecurity</a:t>
            </a:r>
            <a:r>
              <a:rPr lang="en-US" dirty="0"/>
              <a:t> and protect digital assets.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a:bodyPr>
          <a:lstStyle/>
          <a:p>
            <a:pPr fontAlgn="base"/>
            <a:r>
              <a:rPr lang="en-US" dirty="0" smtClean="0"/>
              <a:t>Legal and professional security testing</a:t>
            </a:r>
          </a:p>
          <a:p>
            <a:pPr fontAlgn="base"/>
            <a:r>
              <a:rPr lang="en-US" dirty="0" smtClean="0"/>
              <a:t>Ethical hackers simulate real-world </a:t>
            </a:r>
            <a:r>
              <a:rPr lang="en-US" dirty="0" err="1" smtClean="0"/>
              <a:t>cyberattacks</a:t>
            </a:r>
            <a:endParaRPr lang="en-US" dirty="0" smtClean="0"/>
          </a:p>
          <a:p>
            <a:pPr fontAlgn="base"/>
            <a:r>
              <a:rPr lang="en-US" dirty="0" smtClean="0"/>
              <a:t>Helps identify vulnerabilities and weak points</a:t>
            </a:r>
          </a:p>
          <a:p>
            <a:pPr fontAlgn="base"/>
            <a:r>
              <a:rPr lang="en-US" dirty="0" smtClean="0"/>
              <a:t>Strengthens an organization’s overall security posture</a:t>
            </a:r>
          </a:p>
          <a:p>
            <a:pPr fontAlgn="base"/>
            <a:r>
              <a:rPr lang="en-US" dirty="0" smtClean="0"/>
              <a:t>Supports compliance with </a:t>
            </a:r>
            <a:r>
              <a:rPr lang="en-US" dirty="0" err="1" smtClean="0"/>
              <a:t>cybersecurity</a:t>
            </a:r>
            <a:r>
              <a:rPr lang="en-US" dirty="0" smtClean="0"/>
              <a:t> standards</a:t>
            </a:r>
          </a:p>
          <a:p>
            <a:pPr fontAlgn="base"/>
            <a:r>
              <a:rPr lang="en-US" dirty="0" smtClean="0"/>
              <a:t>Builds resilience against modern cyber threats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0" y="142852"/>
            <a:ext cx="9144000" cy="6715148"/>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Key aspects of Ethical Hacking</a:t>
            </a:r>
            <a:br>
              <a:rPr lang="en-US" b="1" dirty="0"/>
            </a:b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14282" y="1000108"/>
            <a:ext cx="8715435" cy="571504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10000"/>
          </a:bodyPr>
          <a:lstStyle/>
          <a:p>
            <a:pPr algn="just" fontAlgn="base"/>
            <a:r>
              <a:rPr lang="en-US" b="1" dirty="0"/>
              <a:t>Reporting</a:t>
            </a:r>
            <a:r>
              <a:rPr lang="en-US" dirty="0"/>
              <a:t>: Ethical hackers report back to the organization with the results of the tests.</a:t>
            </a:r>
          </a:p>
          <a:p>
            <a:pPr algn="just" fontAlgn="base"/>
            <a:r>
              <a:rPr lang="en-US" b="1" dirty="0"/>
              <a:t>Permission-Based</a:t>
            </a:r>
            <a:r>
              <a:rPr lang="en-US" dirty="0"/>
              <a:t>: This permission becomes necessary to differentiate their job from criminal hacking jobs</a:t>
            </a:r>
          </a:p>
          <a:p>
            <a:pPr algn="just" fontAlgn="base"/>
            <a:r>
              <a:rPr lang="en-US" b="1" dirty="0"/>
              <a:t>Objective</a:t>
            </a:r>
            <a:r>
              <a:rPr lang="en-US" dirty="0"/>
              <a:t>: The main goal is to find the holes before hostile attackers can penetrate them. This includes discovering system, application, and network vulnerabilities that an attacker could exploit.</a:t>
            </a:r>
          </a:p>
          <a:p>
            <a:pPr algn="just" fontAlgn="base"/>
            <a:r>
              <a:rPr lang="en-US" b="1" dirty="0"/>
              <a:t>Methodology</a:t>
            </a:r>
            <a:r>
              <a:rPr lang="en-US" dirty="0"/>
              <a:t>: Ethical hackers perform these steps using a variety of tools and techniques, similar to criminal hackers.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472518" cy="5911873"/>
          </a:xfrm>
        </p:spPr>
        <p:txBody>
          <a:bodyPr>
            <a:normAutofit fontScale="85000" lnSpcReduction="10000"/>
          </a:bodyPr>
          <a:lstStyle/>
          <a:p>
            <a:pPr algn="just" fontAlgn="base"/>
            <a:r>
              <a:rPr lang="en-US" b="1" dirty="0"/>
              <a:t>Importance of Ethical Hacking</a:t>
            </a:r>
          </a:p>
          <a:p>
            <a:pPr algn="just" fontAlgn="base"/>
            <a:r>
              <a:rPr lang="en-US" dirty="0"/>
              <a:t>Ethical hacking contributes significantly to contemporary </a:t>
            </a:r>
            <a:r>
              <a:rPr lang="en-US" dirty="0" err="1"/>
              <a:t>cybersecurity</a:t>
            </a:r>
            <a:r>
              <a:rPr lang="en-US" dirty="0"/>
              <a:t>, ethical hackers are able to identify and address vulnerabilities before they are exploited by simulating the strategies and tactics utilized by cybercriminals. This proactive methodology serves to:</a:t>
            </a:r>
          </a:p>
          <a:p>
            <a:pPr algn="just" fontAlgn="base"/>
            <a:r>
              <a:rPr lang="en-US" b="1" dirty="0"/>
              <a:t>Enhance Security:</a:t>
            </a:r>
            <a:r>
              <a:rPr lang="en-US" dirty="0"/>
              <a:t> Identify and address flaws to stop data breaches and </a:t>
            </a:r>
            <a:r>
              <a:rPr lang="en-US" dirty="0" err="1"/>
              <a:t>cyberattacks</a:t>
            </a:r>
            <a:r>
              <a:rPr lang="en-US" dirty="0"/>
              <a:t>.</a:t>
            </a:r>
          </a:p>
          <a:p>
            <a:pPr algn="just" fontAlgn="base"/>
            <a:r>
              <a:rPr lang="en-US" b="1" dirty="0"/>
              <a:t>Compliance</a:t>
            </a:r>
            <a:r>
              <a:rPr lang="en-US" dirty="0"/>
              <a:t>: Meet security standards set by the industry and regulatory requirements.</a:t>
            </a:r>
          </a:p>
          <a:p>
            <a:pPr algn="just" fontAlgn="base"/>
            <a:r>
              <a:rPr lang="en-US" b="1" dirty="0"/>
              <a:t>Management of risk:</a:t>
            </a:r>
            <a:r>
              <a:rPr lang="en-US" dirty="0"/>
              <a:t> Assess and reduce potential threats to the assets of the organization</a:t>
            </a:r>
          </a:p>
          <a:p>
            <a:pPr algn="just" fontAlgn="base"/>
            <a:r>
              <a:rPr lang="en-US" b="1" dirty="0"/>
              <a:t>Occurrence Reaction:</a:t>
            </a:r>
            <a:r>
              <a:rPr lang="en-US" dirty="0"/>
              <a:t> Enhance the company's capacity to respond to security incidents and recover from them.</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Ethical Hacking</a:t>
            </a:r>
            <a:br>
              <a:rPr lang="en-US" b="1" dirty="0"/>
            </a:b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214282" y="1071547"/>
            <a:ext cx="8786874" cy="5786454"/>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333"/>
            <a:ext cx="8229600" cy="5983311"/>
          </a:xfrm>
        </p:spPr>
        <p:txBody>
          <a:bodyPr>
            <a:normAutofit fontScale="77500" lnSpcReduction="20000"/>
          </a:bodyPr>
          <a:lstStyle/>
          <a:p>
            <a:pPr fontAlgn="base"/>
            <a:r>
              <a:rPr lang="en-US" b="1" dirty="0"/>
              <a:t>Hacking the network:</a:t>
            </a:r>
            <a:r>
              <a:rPr lang="en-US" dirty="0"/>
              <a:t> involves testing the infrastructure of the network in order to find flaws in the protocols, configurations, and devices of the network</a:t>
            </a:r>
          </a:p>
          <a:p>
            <a:pPr fontAlgn="base"/>
            <a:r>
              <a:rPr lang="en-US" b="1" dirty="0"/>
              <a:t>Hacking Web Applications:</a:t>
            </a:r>
            <a:r>
              <a:rPr lang="en-US" dirty="0"/>
              <a:t> Centers around distinguishing shortcomings in web applications, for example, </a:t>
            </a:r>
            <a:r>
              <a:rPr lang="en-US" u="sng" dirty="0">
                <a:hlinkClick r:id="rId2"/>
              </a:rPr>
              <a:t>SQL injection</a:t>
            </a:r>
            <a:r>
              <a:rPr lang="en-US" dirty="0"/>
              <a:t> or cross-website prearranging (</a:t>
            </a:r>
            <a:r>
              <a:rPr lang="en-US" u="sng" dirty="0">
                <a:hlinkClick r:id="rId3"/>
              </a:rPr>
              <a:t>XSS</a:t>
            </a:r>
            <a:r>
              <a:rPr lang="en-US" dirty="0"/>
              <a:t>) weaknesses</a:t>
            </a:r>
          </a:p>
          <a:p>
            <a:pPr fontAlgn="base"/>
            <a:r>
              <a:rPr lang="en-US" b="1" dirty="0"/>
              <a:t>Hacking the system:</a:t>
            </a:r>
            <a:r>
              <a:rPr lang="en-US" dirty="0"/>
              <a:t> Targets working frameworks and programming to find security defects that could be taken advantage of.</a:t>
            </a:r>
          </a:p>
          <a:p>
            <a:pPr fontAlgn="base"/>
            <a:r>
              <a:rPr lang="en-US" b="1" dirty="0"/>
              <a:t>Social Designing:</a:t>
            </a:r>
            <a:r>
              <a:rPr lang="en-US" dirty="0"/>
              <a:t> attempts to manipulate individuals into revealing confidential information or performing actions that could compromise security, putting the human element to the test.</a:t>
            </a:r>
          </a:p>
          <a:p>
            <a:pPr fontAlgn="base"/>
            <a:r>
              <a:rPr lang="en-US" b="1" dirty="0"/>
              <a:t>Hacking into wireless networks</a:t>
            </a:r>
            <a:r>
              <a:rPr lang="en-US" dirty="0"/>
              <a:t>: involves identifying potential dangers in wireless communications and evaluating the security of wireless networks.</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Ethical Hackers</a:t>
            </a:r>
            <a:br>
              <a:rPr lang="en-US" b="1" dirty="0" smtClean="0"/>
            </a:br>
            <a:endParaRPr lang="en-US" dirty="0"/>
          </a:p>
        </p:txBody>
      </p:sp>
      <p:sp>
        <p:nvSpPr>
          <p:cNvPr id="3" name="Content Placeholder 2"/>
          <p:cNvSpPr>
            <a:spLocks noGrp="1"/>
          </p:cNvSpPr>
          <p:nvPr>
            <p:ph idx="1"/>
          </p:nvPr>
        </p:nvSpPr>
        <p:spPr/>
        <p:txBody>
          <a:bodyPr/>
          <a:lstStyle/>
          <a:p>
            <a:pPr fontAlgn="base"/>
            <a:r>
              <a:rPr lang="en-US" dirty="0" smtClean="0"/>
              <a:t>Ethical </a:t>
            </a:r>
            <a:r>
              <a:rPr lang="en-US" dirty="0"/>
              <a:t>hacking is to scan vulnerabilities and to find potential threats on a computer or network. </a:t>
            </a:r>
            <a:endParaRPr lang="en-US" dirty="0" smtClean="0"/>
          </a:p>
          <a:p>
            <a:pPr fontAlgn="base"/>
            <a:r>
              <a:rPr lang="en-US" dirty="0" smtClean="0"/>
              <a:t>An </a:t>
            </a:r>
            <a:r>
              <a:rPr lang="en-US" dirty="0"/>
              <a:t>ethical hacker finds the weak points or loopholes in a computer, web application or network and reports them to the organization.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472518" cy="6500858"/>
          </a:xfrm>
        </p:spPr>
        <p:txBody>
          <a:bodyPr>
            <a:normAutofit fontScale="92500"/>
          </a:bodyPr>
          <a:lstStyle/>
          <a:p>
            <a:pPr fontAlgn="base">
              <a:buNone/>
            </a:pPr>
            <a:r>
              <a:rPr lang="en-US" b="1" dirty="0" smtClean="0"/>
              <a:t>White </a:t>
            </a:r>
            <a:r>
              <a:rPr lang="en-US" b="1" dirty="0"/>
              <a:t>Hat Hackers</a:t>
            </a:r>
          </a:p>
          <a:p>
            <a:pPr algn="just" fontAlgn="base"/>
            <a:r>
              <a:rPr lang="en-US" sz="3600" b="1" dirty="0">
                <a:solidFill>
                  <a:srgbClr val="FF0000"/>
                </a:solidFill>
              </a:rPr>
              <a:t>The white hat hackers are the ethical security professionals authorized to test systems for vulnerabilities. </a:t>
            </a:r>
            <a:endParaRPr lang="en-US" sz="3600" b="1" dirty="0" smtClean="0">
              <a:solidFill>
                <a:srgbClr val="FF0000"/>
              </a:solidFill>
            </a:endParaRPr>
          </a:p>
          <a:p>
            <a:pPr algn="just" fontAlgn="base"/>
            <a:r>
              <a:rPr lang="en-US" sz="3600" dirty="0" smtClean="0"/>
              <a:t>They work </a:t>
            </a:r>
            <a:r>
              <a:rPr lang="en-US" sz="3600" dirty="0"/>
              <a:t>under legal agreements with the organization.</a:t>
            </a:r>
          </a:p>
          <a:p>
            <a:pPr algn="just" fontAlgn="base"/>
            <a:r>
              <a:rPr lang="en-US" sz="3600" dirty="0"/>
              <a:t>White hat hackers receive target information from the organization, </a:t>
            </a:r>
            <a:endParaRPr lang="en-US" sz="3600" dirty="0" smtClean="0"/>
          </a:p>
          <a:p>
            <a:pPr algn="just" fontAlgn="base"/>
            <a:r>
              <a:rPr lang="en-US" sz="3600" dirty="0" smtClean="0"/>
              <a:t>Perform </a:t>
            </a:r>
            <a:r>
              <a:rPr lang="en-US" sz="3600" dirty="0"/>
              <a:t>penetration testing, vulnerability scanning, and security assessments, and then report their findings to help strengthen defenses before malicious attacks occur.</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None/>
            </a:pPr>
            <a:r>
              <a:rPr lang="en-US" dirty="0" smtClean="0"/>
              <a:t>A white hat hacker typically holds a </a:t>
            </a:r>
          </a:p>
          <a:p>
            <a:pPr algn="just"/>
            <a:r>
              <a:rPr lang="en-US" dirty="0" smtClean="0"/>
              <a:t>bachelor’s degree in Computer Science, Information Technology, or </a:t>
            </a:r>
            <a:r>
              <a:rPr lang="en-US" dirty="0" err="1" smtClean="0"/>
              <a:t>Cybersecurity</a:t>
            </a:r>
            <a:r>
              <a:rPr lang="en-US" dirty="0" smtClean="0"/>
              <a:t>, </a:t>
            </a:r>
          </a:p>
          <a:p>
            <a:pPr algn="just"/>
            <a:r>
              <a:rPr lang="en-US" dirty="0" smtClean="0"/>
              <a:t>possesses knowledge of networking, operating systems, programming, and security tools, </a:t>
            </a:r>
          </a:p>
          <a:p>
            <a:pPr algn="just"/>
            <a:r>
              <a:rPr lang="en-US" dirty="0" smtClean="0"/>
              <a:t>and often earns certifications such as CEH, CISSP, or OSCP.</a:t>
            </a:r>
          </a:p>
          <a:p>
            <a:pPr algn="just"/>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472518" cy="6357982"/>
          </a:xfrm>
        </p:spPr>
        <p:txBody>
          <a:bodyPr>
            <a:normAutofit fontScale="92500" lnSpcReduction="10000"/>
          </a:bodyPr>
          <a:lstStyle/>
          <a:p>
            <a:pPr fontAlgn="base">
              <a:buNone/>
            </a:pPr>
            <a:r>
              <a:rPr lang="en-US" b="1" dirty="0"/>
              <a:t>Black Hat Hackers</a:t>
            </a:r>
          </a:p>
          <a:p>
            <a:pPr algn="just" fontAlgn="base"/>
            <a:r>
              <a:rPr lang="en-US" b="1" dirty="0">
                <a:solidFill>
                  <a:srgbClr val="FF0000"/>
                </a:solidFill>
              </a:rPr>
              <a:t>They act without the organization’s permission, making their activities illegal.</a:t>
            </a:r>
          </a:p>
          <a:p>
            <a:pPr algn="just" fontAlgn="base"/>
            <a:r>
              <a:rPr lang="en-US" b="1" dirty="0">
                <a:solidFill>
                  <a:srgbClr val="FF0000"/>
                </a:solidFill>
              </a:rPr>
              <a:t>Black hat hackers illegally break into websites, systems, or admin panels by exploiting security vulnerabilities.</a:t>
            </a:r>
          </a:p>
          <a:p>
            <a:pPr algn="just" fontAlgn="base"/>
            <a:r>
              <a:rPr lang="en-US" dirty="0"/>
              <a:t>They aim to gain personal financial benefits or power, with no regard for the harm caused.</a:t>
            </a:r>
          </a:p>
          <a:p>
            <a:pPr algn="just" fontAlgn="base"/>
            <a:r>
              <a:rPr lang="en-US" dirty="0"/>
              <a:t>They can alter system functions, delete data, or disrupt services, causing significant financial and operational losses.</a:t>
            </a:r>
          </a:p>
          <a:p>
            <a:pPr algn="just" fontAlgn="base"/>
            <a:r>
              <a:rPr lang="en-US" dirty="0"/>
              <a:t>Such actions are criminal offenses, punishable by fines, imprisonment, and permanent reputational damage.</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lstStyle/>
          <a:p>
            <a:pPr algn="just" fontAlgn="base"/>
            <a:r>
              <a:rPr lang="en-US" b="1" dirty="0"/>
              <a:t>Example: </a:t>
            </a:r>
            <a:r>
              <a:rPr lang="en-US" dirty="0"/>
              <a:t>A hacker secretly breaks into an e-commerce site’s database.</a:t>
            </a:r>
          </a:p>
          <a:p>
            <a:pPr algn="just" fontAlgn="base"/>
            <a:r>
              <a:rPr lang="en-US" dirty="0"/>
              <a:t>Steals customer credit card numbers and personal details.</a:t>
            </a:r>
          </a:p>
          <a:p>
            <a:pPr algn="just" fontAlgn="base"/>
            <a:r>
              <a:rPr lang="en-US" dirty="0"/>
              <a:t>Sells this data on the dark web for profit.</a:t>
            </a:r>
          </a:p>
          <a:p>
            <a:pPr algn="just" fontAlgn="base"/>
            <a:r>
              <a:rPr lang="en-US" dirty="0"/>
              <a:t>Causes financial loss and damages the company’s reputation.</a:t>
            </a:r>
          </a:p>
          <a:p>
            <a:pPr algn="just"/>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fontScale="92500" lnSpcReduction="20000"/>
          </a:bodyPr>
          <a:lstStyle/>
          <a:p>
            <a:pPr fontAlgn="base">
              <a:buNone/>
            </a:pPr>
            <a:r>
              <a:rPr lang="en-US" b="1" dirty="0"/>
              <a:t>Grey Hat Hackers</a:t>
            </a:r>
          </a:p>
          <a:p>
            <a:pPr algn="just" fontAlgn="base"/>
            <a:r>
              <a:rPr lang="en-US" dirty="0"/>
              <a:t>Sometimes access data and violate laws without permission.</a:t>
            </a:r>
          </a:p>
          <a:p>
            <a:pPr algn="just" fontAlgn="base"/>
            <a:r>
              <a:rPr lang="en-US" b="1" dirty="0">
                <a:solidFill>
                  <a:srgbClr val="FF0000"/>
                </a:solidFill>
              </a:rPr>
              <a:t>Do not have the same malicious intent as Black Hat hackers; often act for the common good.</a:t>
            </a:r>
          </a:p>
          <a:p>
            <a:pPr algn="just" fontAlgn="base"/>
            <a:r>
              <a:rPr lang="en-US" b="1" dirty="0">
                <a:solidFill>
                  <a:srgbClr val="FF0000"/>
                </a:solidFill>
              </a:rPr>
              <a:t>Grey hat hackers are trying to help by finding security flaws, their unauthorized actions can still cause problems — such as disrupting services, exposing sensitive data, or</a:t>
            </a:r>
            <a:r>
              <a:rPr lang="en-US" dirty="0"/>
              <a:t> creating vulnerabilities that others might exploit.</a:t>
            </a:r>
          </a:p>
          <a:p>
            <a:pPr algn="just" fontAlgn="base"/>
            <a:r>
              <a:rPr lang="en-US" dirty="0"/>
              <a:t>Unauthorized access can disrupt operations and cause financial losses.</a:t>
            </a:r>
          </a:p>
          <a:p>
            <a:pPr algn="just" fontAlgn="base"/>
            <a:r>
              <a:rPr lang="en-US" dirty="0"/>
              <a:t>Risk of accidentally causing damage while identifying vulnerabilities.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00634"/>
          </a:xfrm>
        </p:spPr>
        <p:txBody>
          <a:bodyPr/>
          <a:lstStyle/>
          <a:p>
            <a:pPr algn="just"/>
            <a:r>
              <a:rPr lang="en-US" b="1" dirty="0"/>
              <a:t>Example: </a:t>
            </a:r>
            <a:r>
              <a:rPr lang="en-US" dirty="0"/>
              <a:t>Imagine a college student finds a flaw in the university’s online portal. </a:t>
            </a:r>
            <a:endParaRPr lang="en-US" dirty="0" smtClean="0"/>
          </a:p>
          <a:p>
            <a:pPr algn="just"/>
            <a:r>
              <a:rPr lang="en-US" b="1" dirty="0" smtClean="0">
                <a:solidFill>
                  <a:srgbClr val="FF0000"/>
                </a:solidFill>
              </a:rPr>
              <a:t>Instead </a:t>
            </a:r>
            <a:r>
              <a:rPr lang="en-US" b="1" dirty="0">
                <a:solidFill>
                  <a:srgbClr val="FF0000"/>
                </a:solidFill>
              </a:rPr>
              <a:t>of reporting it privately to the IT department, they post the flaw on social media to prove their skills. </a:t>
            </a:r>
            <a:endParaRPr lang="en-US" b="1" dirty="0" smtClean="0">
              <a:solidFill>
                <a:srgbClr val="FF0000"/>
              </a:solidFill>
            </a:endParaRPr>
          </a:p>
          <a:p>
            <a:pPr algn="just"/>
            <a:r>
              <a:rPr lang="en-US" b="1" dirty="0" smtClean="0">
                <a:solidFill>
                  <a:srgbClr val="FF0000"/>
                </a:solidFill>
              </a:rPr>
              <a:t>They </a:t>
            </a:r>
            <a:r>
              <a:rPr lang="en-US" b="1" dirty="0">
                <a:solidFill>
                  <a:srgbClr val="FF0000"/>
                </a:solidFill>
              </a:rPr>
              <a:t>did not steal grades or data, but their public disclosure could let malicious hackers exploit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6286544"/>
          </a:xfrm>
        </p:spPr>
        <p:txBody>
          <a:bodyPr>
            <a:normAutofit/>
          </a:bodyPr>
          <a:lstStyle/>
          <a:p>
            <a:pPr fontAlgn="base">
              <a:buNone/>
            </a:pPr>
            <a:r>
              <a:rPr lang="en-US" b="1" dirty="0"/>
              <a:t>Blue Hat hackers</a:t>
            </a:r>
          </a:p>
          <a:p>
            <a:pPr fontAlgn="base"/>
            <a:r>
              <a:rPr lang="en-US" dirty="0"/>
              <a:t>They are called beginner hackers with limited skills, often using pre-made tools.</a:t>
            </a:r>
          </a:p>
          <a:p>
            <a:pPr fontAlgn="base"/>
            <a:r>
              <a:rPr lang="en-US" dirty="0"/>
              <a:t>They motivated mainly by revenge against someone who angered or challenged them.</a:t>
            </a:r>
          </a:p>
          <a:p>
            <a:pPr fontAlgn="base"/>
            <a:r>
              <a:rPr lang="en-US" dirty="0"/>
              <a:t>Blue hat </a:t>
            </a:r>
            <a:r>
              <a:rPr lang="en-US" dirty="0" err="1"/>
              <a:t>hakcers</a:t>
            </a:r>
            <a:r>
              <a:rPr lang="en-US" dirty="0"/>
              <a:t> mainly focus on personal payback rather than learning or professional growth</a:t>
            </a:r>
            <a:r>
              <a:rPr lang="en-US" dirty="0" smtClean="0"/>
              <a: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Example:</a:t>
            </a:r>
            <a:r>
              <a:rPr lang="en-US" dirty="0" smtClean="0"/>
              <a:t> A gamer loses an online match and feels embarrassed because the opponent teased them in the game chat. </a:t>
            </a:r>
          </a:p>
          <a:p>
            <a:pPr fontAlgn="base"/>
            <a:r>
              <a:rPr lang="en-US" dirty="0" smtClean="0"/>
              <a:t>Out of anger, they download a simple </a:t>
            </a:r>
            <a:r>
              <a:rPr lang="en-US" dirty="0" err="1" smtClean="0"/>
              <a:t>DDoS</a:t>
            </a:r>
            <a:r>
              <a:rPr lang="en-US" dirty="0" smtClean="0"/>
              <a:t> (Distributed Denial of Service) tool from the internet and use it to temporarily crash the opponent’s game server or internet connection.</a:t>
            </a:r>
          </a:p>
          <a:p>
            <a:endParaRPr lang="en-US" dirty="0" smtClean="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10000"/>
          </a:bodyPr>
          <a:lstStyle/>
          <a:p>
            <a:pPr fontAlgn="base">
              <a:buNone/>
            </a:pPr>
            <a:r>
              <a:rPr lang="en-US" b="1" dirty="0"/>
              <a:t>Green Hat hackers</a:t>
            </a:r>
          </a:p>
          <a:p>
            <a:pPr fontAlgn="base"/>
            <a:r>
              <a:rPr lang="en-US" dirty="0"/>
              <a:t>They care about hacking and Beginner hackers who are still learning but are passionate about improving their skills.</a:t>
            </a:r>
          </a:p>
          <a:p>
            <a:pPr fontAlgn="base"/>
            <a:r>
              <a:rPr lang="en-US" dirty="0"/>
              <a:t>Eager to learn from experienced hackers, often asking questions and studying techniques.</a:t>
            </a:r>
          </a:p>
          <a:p>
            <a:pPr fontAlgn="base"/>
            <a:r>
              <a:rPr lang="en-US" dirty="0"/>
              <a:t>Motivated by curiosity and growth, aiming to become skilled, professional hackers in the future.</a:t>
            </a:r>
          </a:p>
          <a:p>
            <a:pPr fontAlgn="base"/>
            <a:r>
              <a:rPr lang="en-US" b="1" dirty="0"/>
              <a:t>Example: </a:t>
            </a:r>
            <a:r>
              <a:rPr lang="en-US" dirty="0"/>
              <a:t>A beginner joins an online hacking community, asks questions about penetration testing, and practices legally on test websites to improve their skills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6500858"/>
          </a:xfrm>
        </p:spPr>
        <p:txBody>
          <a:bodyPr>
            <a:normAutofit/>
          </a:bodyPr>
          <a:lstStyle/>
          <a:p>
            <a:pPr fontAlgn="base">
              <a:buNone/>
            </a:pPr>
            <a:r>
              <a:rPr lang="en-US" b="1" dirty="0"/>
              <a:t>Red Hat Hackers</a:t>
            </a:r>
          </a:p>
          <a:p>
            <a:pPr fontAlgn="base"/>
            <a:r>
              <a:rPr lang="en-US" dirty="0"/>
              <a:t>They Known as “eagle-eyed hackers,” they aim to stop black hat hackers, similar to white hats.</a:t>
            </a:r>
          </a:p>
          <a:p>
            <a:pPr fontAlgn="base"/>
            <a:r>
              <a:rPr lang="en-US" dirty="0"/>
              <a:t>Use aggressive tactics against malicious hackers, often going beyond standard ethical hacking methods.</a:t>
            </a:r>
          </a:p>
          <a:p>
            <a:pPr fontAlgn="base"/>
            <a:r>
              <a:rPr lang="en-US" dirty="0"/>
              <a:t>Attack black hat systems so severely that the hacker may need to replace their entire setup</a:t>
            </a:r>
            <a:r>
              <a:rPr lang="en-US" dirty="0" smtClean="0"/>
              <a:t>.</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a:bodyPr>
          <a:lstStyle/>
          <a:p>
            <a:pPr fontAlgn="base"/>
            <a:r>
              <a:rPr lang="en-US" b="1" dirty="0" smtClean="0"/>
              <a:t>Example: </a:t>
            </a:r>
            <a:r>
              <a:rPr lang="en-US" dirty="0" smtClean="0"/>
              <a:t>A black hat hacker tries to hack into a company’s database to steal customer details.</a:t>
            </a:r>
            <a:br>
              <a:rPr lang="en-US" dirty="0" smtClean="0"/>
            </a:br>
            <a:r>
              <a:rPr lang="en-US" dirty="0" smtClean="0"/>
              <a:t>A red hat hacker detects the attack, hacks back into the black hat’s computer, and floods it with malware that destroys their files and operating system. </a:t>
            </a:r>
          </a:p>
          <a:p>
            <a:pPr algn="just" fontAlgn="base"/>
            <a:r>
              <a:rPr lang="en-US" dirty="0" smtClean="0"/>
              <a:t>This forces the attacker to buy a new computer before they can attempt hacking again.</a:t>
            </a:r>
          </a:p>
          <a:p>
            <a:endParaRPr lang="en-US" dirty="0" smtClean="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0070C0"/>
                </a:solidFill>
              </a:rPr>
              <a:t>How Cyber Crimes start ?</a:t>
            </a:r>
            <a:endParaRPr lang="en-US" b="1" dirty="0">
              <a:solidFill>
                <a:srgbClr val="0070C0"/>
              </a:solidFill>
            </a:endParaRPr>
          </a:p>
        </p:txBody>
      </p:sp>
      <p:sp>
        <p:nvSpPr>
          <p:cNvPr id="3" name="Content Placeholder 2"/>
          <p:cNvSpPr>
            <a:spLocks noGrp="1"/>
          </p:cNvSpPr>
          <p:nvPr>
            <p:ph idx="1"/>
          </p:nvPr>
        </p:nvSpPr>
        <p:spPr>
          <a:xfrm>
            <a:off x="214282" y="1600200"/>
            <a:ext cx="8643998" cy="5043510"/>
          </a:xfrm>
        </p:spPr>
        <p:txBody>
          <a:bodyPr>
            <a:normAutofit fontScale="92500"/>
          </a:bodyPr>
          <a:lstStyle/>
          <a:p>
            <a:pPr algn="just">
              <a:buNone/>
            </a:pPr>
            <a:r>
              <a:rPr lang="en-US" dirty="0" smtClean="0"/>
              <a:t>1. Most Common factor : addiction in Online Gaming</a:t>
            </a:r>
          </a:p>
          <a:p>
            <a:pPr algn="just"/>
            <a:r>
              <a:rPr lang="en-US" dirty="0" smtClean="0"/>
              <a:t>Game age should be appropriate.</a:t>
            </a:r>
          </a:p>
          <a:p>
            <a:pPr algn="just"/>
            <a:r>
              <a:rPr lang="en-US" dirty="0" smtClean="0"/>
              <a:t>Parental control should be their if is some accessory to be purchased in games.</a:t>
            </a:r>
          </a:p>
          <a:p>
            <a:pPr algn="just"/>
            <a:r>
              <a:rPr lang="en-US" dirty="0" smtClean="0"/>
              <a:t>Cases have been reported when child was playing game from father mobile.</a:t>
            </a:r>
          </a:p>
          <a:p>
            <a:pPr algn="just"/>
            <a:r>
              <a:rPr lang="en-US" b="1" dirty="0" smtClean="0">
                <a:solidFill>
                  <a:srgbClr val="FF0000"/>
                </a:solidFill>
              </a:rPr>
              <a:t>He was so addicted that to take game to next level, he did some financial transaction form his father mobile app to buy game pass, diamonds etc. </a:t>
            </a:r>
          </a:p>
          <a:p>
            <a:pPr algn="just">
              <a:buNone/>
            </a:pPr>
            <a:endParaRPr lang="en-US" dirty="0" smtClean="0"/>
          </a:p>
          <a:p>
            <a:endParaRPr lang="en-US"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643998" cy="6572296"/>
          </a:xfrm>
        </p:spPr>
        <p:txBody>
          <a:bodyPr>
            <a:normAutofit fontScale="77500" lnSpcReduction="20000"/>
          </a:bodyPr>
          <a:lstStyle/>
          <a:p>
            <a:pPr>
              <a:buNone/>
            </a:pPr>
            <a:r>
              <a:rPr lang="en-US" b="1" dirty="0" smtClean="0"/>
              <a:t>2. Influence of Online Content and Communities 🌐</a:t>
            </a:r>
          </a:p>
          <a:p>
            <a:r>
              <a:rPr lang="en-US" dirty="0" smtClean="0"/>
              <a:t>Videos, forums, and social media sometimes glorify hacking or digital fraud. Some youths follow tutorials or join groups where cybercrime techniques are discussed, which normalizes such behavior.</a:t>
            </a:r>
          </a:p>
          <a:p>
            <a:pPr>
              <a:buNone/>
            </a:pPr>
            <a:r>
              <a:rPr lang="en-US" b="1" dirty="0" smtClean="0"/>
              <a:t>3. Desire for Quick Money 💰</a:t>
            </a:r>
          </a:p>
          <a:p>
            <a:r>
              <a:rPr lang="en-US" dirty="0" smtClean="0"/>
              <a:t>Cybercrime such as </a:t>
            </a:r>
            <a:r>
              <a:rPr lang="en-US" b="1" dirty="0" smtClean="0"/>
              <a:t>online scams, phishing, fake job offers, or mule accounts</a:t>
            </a:r>
            <a:r>
              <a:rPr lang="en-US" dirty="0" smtClean="0"/>
              <a:t> may appear to be an easy way to earn money without much effort. </a:t>
            </a:r>
          </a:p>
          <a:p>
            <a:pPr>
              <a:buNone/>
            </a:pPr>
            <a:r>
              <a:rPr lang="en-US" b="1" dirty="0" smtClean="0"/>
              <a:t>4. Peer Pressure 👥</a:t>
            </a:r>
          </a:p>
          <a:p>
            <a:r>
              <a:rPr lang="en-US" dirty="0" smtClean="0"/>
              <a:t>Friends or online contacts may encourage someone to try hacking or fraud. When a group is involved, the individual may feel it is </a:t>
            </a:r>
            <a:r>
              <a:rPr lang="en-US" b="1" dirty="0" smtClean="0"/>
              <a:t>“normal” or harmless</a:t>
            </a:r>
            <a:r>
              <a:rPr lang="en-US" dirty="0" smtClean="0"/>
              <a:t>.</a:t>
            </a:r>
          </a:p>
          <a:p>
            <a:pPr>
              <a:buNone/>
            </a:pPr>
            <a:r>
              <a:rPr lang="en-US" b="1" dirty="0" smtClean="0"/>
              <a:t>5. Lack of Awareness of Legal Consequences ⚖️</a:t>
            </a:r>
          </a:p>
          <a:p>
            <a:r>
              <a:rPr lang="en-US" dirty="0" smtClean="0"/>
              <a:t>Many youngsters believe cyber activities are anonymous and that </a:t>
            </a:r>
            <a:r>
              <a:rPr lang="en-US" b="1" dirty="0" smtClean="0"/>
              <a:t>they will not get caught</a:t>
            </a:r>
            <a:r>
              <a:rPr lang="en-US" dirty="0" smtClean="0"/>
              <a:t>. They may not know about strict laws like the </a:t>
            </a:r>
            <a:r>
              <a:rPr lang="en-US" b="1" dirty="0" smtClean="0"/>
              <a:t>Information Technology Act, 2000</a:t>
            </a:r>
            <a:r>
              <a:rPr lang="en-US" dirty="0" smtClean="0"/>
              <a:t>, which includes serious penalties for cyber offenses.</a:t>
            </a:r>
          </a:p>
          <a:p>
            <a:endParaRPr lang="en-US" dirty="0" smtClean="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solidFill>
                  <a:srgbClr val="FF0000"/>
                </a:solidFill>
              </a:rPr>
              <a:t>Digital Citizenship</a:t>
            </a:r>
            <a:endParaRPr lang="en-US" b="1" dirty="0">
              <a:solidFill>
                <a:srgbClr val="FF0000"/>
              </a:solidFill>
            </a:endParaRPr>
          </a:p>
        </p:txBody>
      </p:sp>
      <p:sp>
        <p:nvSpPr>
          <p:cNvPr id="3" name="Content Placeholder 2"/>
          <p:cNvSpPr>
            <a:spLocks noGrp="1"/>
          </p:cNvSpPr>
          <p:nvPr>
            <p:ph idx="1"/>
          </p:nvPr>
        </p:nvSpPr>
        <p:spPr>
          <a:xfrm>
            <a:off x="198783" y="1142984"/>
            <a:ext cx="8802373" cy="5500726"/>
          </a:xfrm>
        </p:spPr>
        <p:txBody>
          <a:bodyPr>
            <a:normAutofit fontScale="92500" lnSpcReduction="10000"/>
          </a:bodyPr>
          <a:lstStyle/>
          <a:p>
            <a:pPr algn="just"/>
            <a:r>
              <a:rPr lang="en-US" dirty="0" smtClean="0"/>
              <a:t>Another problem seen is of social media where child makes friendship with unknown people, getting attracted towards them.</a:t>
            </a:r>
          </a:p>
          <a:p>
            <a:pPr algn="just"/>
            <a:r>
              <a:rPr lang="en-US" dirty="0" smtClean="0"/>
              <a:t>They start liking unknown people.</a:t>
            </a:r>
          </a:p>
          <a:p>
            <a:pPr algn="just"/>
            <a:r>
              <a:rPr lang="en-US" dirty="0" smtClean="0"/>
              <a:t>One cannot determine who is sitting behind that ID.</a:t>
            </a:r>
          </a:p>
          <a:p>
            <a:pPr algn="just"/>
            <a:r>
              <a:rPr lang="en-US" dirty="0" smtClean="0"/>
              <a:t>Person does good chatting and sometimes emotionally child give their personal information, videos, pictures to them.</a:t>
            </a:r>
          </a:p>
          <a:p>
            <a:pPr algn="just"/>
            <a:r>
              <a:rPr lang="en-US" dirty="0" smtClean="0"/>
              <a:t>Then they are being blackmailed.</a:t>
            </a:r>
          </a:p>
          <a:p>
            <a:pPr algn="just"/>
            <a:r>
              <a:rPr lang="en-US" b="1" dirty="0" smtClean="0">
                <a:solidFill>
                  <a:srgbClr val="FF0000"/>
                </a:solidFill>
              </a:rPr>
              <a:t>Therefore guiding children about Digital Citizenship is very essential now.</a:t>
            </a:r>
          </a:p>
          <a:p>
            <a:endParaRPr lang="en-US"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654032"/>
          </a:xfrm>
        </p:spPr>
        <p:txBody>
          <a:bodyPr>
            <a:normAutofit fontScale="90000"/>
          </a:bodyPr>
          <a:lstStyle/>
          <a:p>
            <a:r>
              <a:rPr lang="en-US" b="1" dirty="0" smtClean="0">
                <a:solidFill>
                  <a:srgbClr val="FF0000"/>
                </a:solidFill>
              </a:rPr>
              <a:t>Balanced Digital Diet</a:t>
            </a:r>
            <a:endParaRPr lang="en-US" b="1" dirty="0">
              <a:solidFill>
                <a:srgbClr val="FF0000"/>
              </a:solidFill>
            </a:endParaRPr>
          </a:p>
        </p:txBody>
      </p:sp>
      <p:sp>
        <p:nvSpPr>
          <p:cNvPr id="3" name="Content Placeholder 2"/>
          <p:cNvSpPr>
            <a:spLocks noGrp="1"/>
          </p:cNvSpPr>
          <p:nvPr>
            <p:ph idx="1"/>
          </p:nvPr>
        </p:nvSpPr>
        <p:spPr>
          <a:xfrm>
            <a:off x="214282" y="857232"/>
            <a:ext cx="8472518" cy="5268931"/>
          </a:xfrm>
        </p:spPr>
        <p:txBody>
          <a:bodyPr>
            <a:noAutofit/>
          </a:bodyPr>
          <a:lstStyle/>
          <a:p>
            <a:pPr algn="just"/>
            <a:r>
              <a:rPr lang="en-US" dirty="0" smtClean="0"/>
              <a:t>We take balanced diet for our body, so we need a digital diet for our well being too.</a:t>
            </a:r>
          </a:p>
          <a:p>
            <a:pPr algn="just"/>
            <a:r>
              <a:rPr lang="en-US" dirty="0" smtClean="0"/>
              <a:t>During consumption of Digital diet, if a wrong content is consumed.</a:t>
            </a:r>
          </a:p>
          <a:p>
            <a:pPr algn="just"/>
            <a:r>
              <a:rPr lang="en-US" b="1" dirty="0" smtClean="0">
                <a:solidFill>
                  <a:srgbClr val="FF0000"/>
                </a:solidFill>
              </a:rPr>
              <a:t>Then child need some detox, some guidance.</a:t>
            </a:r>
          </a:p>
          <a:p>
            <a:pPr algn="just"/>
            <a:r>
              <a:rPr lang="en-US" b="1" dirty="0" smtClean="0">
                <a:solidFill>
                  <a:srgbClr val="0070C0"/>
                </a:solidFill>
              </a:rPr>
              <a:t>Technology is making our child sharper while through negative content their mindset can be lured fro cyber crimes too.</a:t>
            </a:r>
          </a:p>
          <a:p>
            <a:pPr algn="just"/>
            <a:r>
              <a:rPr lang="en-US" dirty="0" smtClean="0"/>
              <a:t>Therefore all stakeholder need to give balanced digital diet to our children and tell them the best use of technology.</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dirty="0" smtClean="0"/>
              <a:t>Definitions of DC and DD</a:t>
            </a:r>
            <a:endParaRPr lang="en-US" dirty="0"/>
          </a:p>
        </p:txBody>
      </p:sp>
      <p:sp>
        <p:nvSpPr>
          <p:cNvPr id="3" name="Content Placeholder 2"/>
          <p:cNvSpPr>
            <a:spLocks noGrp="1"/>
          </p:cNvSpPr>
          <p:nvPr>
            <p:ph idx="1"/>
          </p:nvPr>
        </p:nvSpPr>
        <p:spPr>
          <a:xfrm>
            <a:off x="214282" y="1071546"/>
            <a:ext cx="8472518" cy="5643602"/>
          </a:xfrm>
        </p:spPr>
        <p:txBody>
          <a:bodyPr>
            <a:normAutofit fontScale="92500" lnSpcReduction="10000"/>
          </a:bodyPr>
          <a:lstStyle/>
          <a:p>
            <a:r>
              <a:rPr lang="en-US" sz="3500" b="1" dirty="0" smtClean="0">
                <a:solidFill>
                  <a:srgbClr val="0070C0"/>
                </a:solidFill>
              </a:rPr>
              <a:t>Digital citizenship refers to the</a:t>
            </a:r>
          </a:p>
          <a:p>
            <a:pPr>
              <a:buFont typeface="Wingdings" pitchFamily="2" charset="2"/>
              <a:buChar char="Ø"/>
            </a:pPr>
            <a:r>
              <a:rPr lang="en-US" dirty="0" smtClean="0"/>
              <a:t>responsible and respectful use of technology and online behavior</a:t>
            </a:r>
          </a:p>
          <a:p>
            <a:pPr>
              <a:buFont typeface="Wingdings" pitchFamily="2" charset="2"/>
              <a:buChar char="Ø"/>
            </a:pPr>
            <a:r>
              <a:rPr lang="en-US" dirty="0" smtClean="0"/>
              <a:t>encompassing skills like online safety, privacy, and ethical communication within digital communities. </a:t>
            </a:r>
          </a:p>
          <a:p>
            <a:r>
              <a:rPr lang="en-US" sz="3500" b="1" dirty="0" smtClean="0">
                <a:solidFill>
                  <a:srgbClr val="0070C0"/>
                </a:solidFill>
              </a:rPr>
              <a:t>Digital diet refers to </a:t>
            </a:r>
          </a:p>
          <a:p>
            <a:pPr>
              <a:buFont typeface="Wingdings" pitchFamily="2" charset="2"/>
              <a:buChar char="Ø"/>
            </a:pPr>
            <a:r>
              <a:rPr lang="en-US" dirty="0" smtClean="0"/>
              <a:t>strategies for mindful and balanced digital consumption, </a:t>
            </a:r>
          </a:p>
          <a:p>
            <a:pPr>
              <a:buFont typeface="Wingdings" pitchFamily="2" charset="2"/>
              <a:buChar char="Ø"/>
            </a:pPr>
            <a:r>
              <a:rPr lang="en-US" dirty="0" smtClean="0"/>
              <a:t>aiming to improve mental well-being, focus, and  overall quality of life by reducing excessive screen time and negative online habits.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solidFill>
                  <a:srgbClr val="FF0000"/>
                </a:solidFill>
              </a:rPr>
              <a:t>Have you ever heard about DQ ?</a:t>
            </a:r>
            <a:endParaRPr lang="en-US" b="1" dirty="0">
              <a:solidFill>
                <a:srgbClr val="FF0000"/>
              </a:solidFill>
            </a:endParaRPr>
          </a:p>
        </p:txBody>
      </p:sp>
      <p:sp>
        <p:nvSpPr>
          <p:cNvPr id="3" name="Content Placeholder 2"/>
          <p:cNvSpPr>
            <a:spLocks noGrp="1"/>
          </p:cNvSpPr>
          <p:nvPr>
            <p:ph idx="1"/>
          </p:nvPr>
        </p:nvSpPr>
        <p:spPr>
          <a:xfrm>
            <a:off x="0" y="1142984"/>
            <a:ext cx="8929718" cy="5500726"/>
          </a:xfrm>
        </p:spPr>
        <p:txBody>
          <a:bodyPr>
            <a:normAutofit fontScale="92500" lnSpcReduction="10000"/>
          </a:bodyPr>
          <a:lstStyle/>
          <a:p>
            <a:r>
              <a:rPr lang="en-US" dirty="0" smtClean="0"/>
              <a:t>All of you have good IQ</a:t>
            </a:r>
          </a:p>
          <a:p>
            <a:r>
              <a:rPr lang="en-US" dirty="0" smtClean="0"/>
              <a:t>But here I want to talk about </a:t>
            </a:r>
            <a:r>
              <a:rPr lang="en-US" b="1" dirty="0" smtClean="0"/>
              <a:t>Digital Quotient.</a:t>
            </a:r>
          </a:p>
          <a:p>
            <a:r>
              <a:rPr lang="en-US" b="1" dirty="0" smtClean="0">
                <a:solidFill>
                  <a:srgbClr val="FF0000"/>
                </a:solidFill>
              </a:rPr>
              <a:t>DQ refers to an individual's or organization's ability to understand, adopt, and leverage digital technologies effectively.</a:t>
            </a:r>
          </a:p>
          <a:p>
            <a:r>
              <a:rPr lang="en-US" b="1" dirty="0" smtClean="0">
                <a:solidFill>
                  <a:srgbClr val="002060"/>
                </a:solidFill>
              </a:rPr>
              <a:t>I asked my one student in class that from where you can make passport.</a:t>
            </a:r>
          </a:p>
          <a:p>
            <a:r>
              <a:rPr lang="en-US" dirty="0" smtClean="0"/>
              <a:t>He said there are many passport </a:t>
            </a:r>
            <a:r>
              <a:rPr lang="en-US" dirty="0" err="1" smtClean="0"/>
              <a:t>sewa</a:t>
            </a:r>
            <a:r>
              <a:rPr lang="en-US" dirty="0" smtClean="0"/>
              <a:t> </a:t>
            </a:r>
            <a:r>
              <a:rPr lang="en-US" dirty="0" err="1" smtClean="0"/>
              <a:t>kender</a:t>
            </a:r>
            <a:r>
              <a:rPr lang="en-US" dirty="0" smtClean="0"/>
              <a:t> on Google.</a:t>
            </a:r>
          </a:p>
          <a:p>
            <a:r>
              <a:rPr lang="en-US" dirty="0" smtClean="0"/>
              <a:t>But Govt. of India has put a advisory on their website about fake passport domains, still many fall to its prey.</a:t>
            </a:r>
          </a:p>
          <a:p>
            <a:pPr>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472518" cy="5983311"/>
          </a:xfrm>
        </p:spPr>
        <p:txBody>
          <a:bodyPr>
            <a:normAutofit fontScale="92500" lnSpcReduction="10000"/>
          </a:bodyPr>
          <a:lstStyle/>
          <a:p>
            <a:pPr algn="just"/>
            <a:r>
              <a:rPr lang="en-US" b="1" dirty="0" smtClean="0">
                <a:solidFill>
                  <a:srgbClr val="FF0000"/>
                </a:solidFill>
              </a:rPr>
              <a:t>I want DQ to be smart in addition to IQ.</a:t>
            </a:r>
          </a:p>
          <a:p>
            <a:pPr algn="just"/>
            <a:r>
              <a:rPr lang="en-US" dirty="0" smtClean="0"/>
              <a:t>My bank domain name is hdfcbank.com, I should not open hdfc.org or </a:t>
            </a:r>
            <a:r>
              <a:rPr lang="en-US" dirty="0" err="1" smtClean="0"/>
              <a:t>hdfcbank.in</a:t>
            </a:r>
            <a:endParaRPr lang="en-US" dirty="0" smtClean="0"/>
          </a:p>
          <a:p>
            <a:pPr algn="just"/>
            <a:r>
              <a:rPr lang="en-US" dirty="0" smtClean="0"/>
              <a:t>Hacking any influencer account with fake vote program is popular nowadays</a:t>
            </a:r>
          </a:p>
          <a:p>
            <a:pPr algn="just"/>
            <a:r>
              <a:rPr lang="en-US" dirty="0" smtClean="0"/>
              <a:t>Once you click on vote button, account is hacked and same hacker will post now stories on that account with some lucrative post</a:t>
            </a:r>
          </a:p>
          <a:p>
            <a:pPr algn="just"/>
            <a:r>
              <a:rPr lang="en-US" dirty="0" smtClean="0"/>
              <a:t>So Crypto scammers and other are hacking big influencers onwards</a:t>
            </a:r>
          </a:p>
          <a:p>
            <a:pPr algn="just"/>
            <a:r>
              <a:rPr lang="en-US" dirty="0" smtClean="0"/>
              <a:t>So every time you have double lock on your passwords.</a:t>
            </a:r>
          </a:p>
          <a:p>
            <a:endParaRPr lang="en-US" dirty="0" smtClean="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
            </a:r>
            <a:br>
              <a:rPr lang="en-US" b="1" dirty="0" smtClean="0"/>
            </a:br>
            <a:r>
              <a:rPr lang="en-US" b="1" dirty="0" smtClean="0"/>
              <a:t>Fraud via APK (Android Package Kit): A Growing Cyber Threat</a:t>
            </a:r>
            <a:br>
              <a:rPr lang="en-US" b="1" dirty="0" smtClean="0"/>
            </a:br>
            <a:endParaRPr lang="en-US" dirty="0"/>
          </a:p>
        </p:txBody>
      </p:sp>
      <p:sp>
        <p:nvSpPr>
          <p:cNvPr id="3" name="Subtitle 2"/>
          <p:cNvSpPr>
            <a:spLocks noGrp="1"/>
          </p:cNvSpPr>
          <p:nvPr>
            <p:ph type="subTitle" idx="1"/>
          </p:nvPr>
        </p:nvSpPr>
        <p:spPr/>
        <p:txBody>
          <a:bodyPr/>
          <a:lstStyle/>
          <a:p>
            <a:r>
              <a:rPr lang="en-US" b="1" dirty="0" smtClean="0">
                <a:solidFill>
                  <a:srgbClr val="FF0000"/>
                </a:solidFill>
              </a:rPr>
              <a:t>Any Possible Solution</a:t>
            </a:r>
            <a:endParaRPr lang="en-US" b="1"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an APK File?</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An APK contains:</a:t>
            </a:r>
          </a:p>
          <a:p>
            <a:r>
              <a:rPr lang="en-US" b="1" dirty="0" smtClean="0"/>
              <a:t>Code</a:t>
            </a:r>
            <a:r>
              <a:rPr lang="en-US" dirty="0" smtClean="0"/>
              <a:t> (java)</a:t>
            </a:r>
          </a:p>
          <a:p>
            <a:r>
              <a:rPr lang="en-US" b="1" dirty="0" smtClean="0"/>
              <a:t>Resources</a:t>
            </a:r>
            <a:r>
              <a:rPr lang="en-US" dirty="0" smtClean="0"/>
              <a:t> (images, layouts)</a:t>
            </a:r>
          </a:p>
          <a:p>
            <a:r>
              <a:rPr lang="en-US" b="1" dirty="0" smtClean="0"/>
              <a:t>Manifest file</a:t>
            </a:r>
            <a:r>
              <a:rPr lang="en-US" dirty="0" smtClean="0"/>
              <a:t> (permissions, app components)</a:t>
            </a:r>
          </a:p>
          <a:p>
            <a:r>
              <a:rPr lang="en-US" b="1" dirty="0" smtClean="0"/>
              <a:t>Certificates</a:t>
            </a:r>
            <a:r>
              <a:rPr lang="en-US" dirty="0" smtClean="0"/>
              <a:t> (for signing the app)</a:t>
            </a:r>
          </a:p>
          <a:p>
            <a:r>
              <a:rPr lang="en-US" dirty="0" smtClean="0"/>
              <a:t>Attackers manipulate these components to insert malicious code.</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malicious APKs are typically created </a:t>
            </a:r>
            <a:endParaRPr lang="en-US" dirty="0"/>
          </a:p>
        </p:txBody>
      </p:sp>
      <p:sp>
        <p:nvSpPr>
          <p:cNvPr id="3" name="Content Placeholder 2"/>
          <p:cNvSpPr>
            <a:spLocks noGrp="1"/>
          </p:cNvSpPr>
          <p:nvPr>
            <p:ph idx="1"/>
          </p:nvPr>
        </p:nvSpPr>
        <p:spPr/>
        <p:txBody>
          <a:bodyPr/>
          <a:lstStyle/>
          <a:p>
            <a:r>
              <a:rPr lang="en-US" dirty="0" smtClean="0"/>
              <a:t>Attackers take a real app, modify it, and redistribute it:</a:t>
            </a:r>
          </a:p>
          <a:p>
            <a:r>
              <a:rPr lang="en-US" dirty="0" smtClean="0"/>
              <a:t>Extract APK using tools (reverse engineering) </a:t>
            </a:r>
          </a:p>
          <a:p>
            <a:r>
              <a:rPr lang="en-US" dirty="0" smtClean="0"/>
              <a:t>Insert malicious code (e.g., data stealing logic) </a:t>
            </a:r>
          </a:p>
          <a:p>
            <a:r>
              <a:rPr lang="en-US" dirty="0" smtClean="0"/>
              <a:t>Rebuild and sign the APK </a:t>
            </a:r>
          </a:p>
          <a:p>
            <a:r>
              <a:rPr lang="en-US" dirty="0" smtClean="0"/>
              <a:t>Share via unofficial app stores or links </a:t>
            </a:r>
          </a:p>
          <a:p>
            <a:r>
              <a:rPr lang="en-US" b="1" dirty="0" smtClean="0">
                <a:solidFill>
                  <a:srgbClr val="FF0000"/>
                </a:solidFill>
              </a:rPr>
              <a:t>This is why downloading outside Google Play Store can be risky.</a:t>
            </a:r>
            <a:endParaRPr lang="en-US" b="1"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472518" cy="6429420"/>
          </a:xfrm>
        </p:spPr>
        <p:txBody>
          <a:bodyPr>
            <a:normAutofit/>
          </a:bodyPr>
          <a:lstStyle/>
          <a:p>
            <a:pPr algn="just"/>
            <a:r>
              <a:rPr lang="en-US" dirty="0" smtClean="0"/>
              <a:t>APK are </a:t>
            </a:r>
            <a:r>
              <a:rPr lang="en-US" b="1" dirty="0" smtClean="0">
                <a:solidFill>
                  <a:srgbClr val="FF0000"/>
                </a:solidFill>
              </a:rPr>
              <a:t>raw file which have all sorts of permission added through coding and can be given name </a:t>
            </a:r>
            <a:r>
              <a:rPr lang="en-US" b="1" dirty="0" err="1" smtClean="0">
                <a:solidFill>
                  <a:srgbClr val="FF0000"/>
                </a:solidFill>
              </a:rPr>
              <a:t>lik</a:t>
            </a:r>
            <a:r>
              <a:rPr lang="en-US" b="1" dirty="0" smtClean="0">
                <a:solidFill>
                  <a:srgbClr val="FF0000"/>
                </a:solidFill>
              </a:rPr>
              <a:t> wedding.apk</a:t>
            </a:r>
          </a:p>
          <a:p>
            <a:pPr algn="just"/>
            <a:r>
              <a:rPr lang="en-US" b="1" dirty="0" smtClean="0">
                <a:solidFill>
                  <a:srgbClr val="0070C0"/>
                </a:solidFill>
              </a:rPr>
              <a:t>You might be confused with E Greetings, it will ask something in English which we mostly ignore and does </a:t>
            </a:r>
            <a:r>
              <a:rPr lang="en-US" b="1" dirty="0" smtClean="0">
                <a:solidFill>
                  <a:srgbClr val="FF0000"/>
                </a:solidFill>
              </a:rPr>
              <a:t>OK </a:t>
            </a:r>
            <a:r>
              <a:rPr lang="en-US" b="1" dirty="0" err="1" smtClean="0">
                <a:solidFill>
                  <a:srgbClr val="FF0000"/>
                </a:solidFill>
              </a:rPr>
              <a:t>OK</a:t>
            </a:r>
            <a:r>
              <a:rPr lang="en-US" b="1" dirty="0" smtClean="0">
                <a:solidFill>
                  <a:srgbClr val="FF0000"/>
                </a:solidFill>
              </a:rPr>
              <a:t>, ALLOW ALLOW.</a:t>
            </a:r>
          </a:p>
          <a:p>
            <a:pPr algn="just"/>
            <a:r>
              <a:rPr lang="en-US" dirty="0" smtClean="0"/>
              <a:t>It’s a malware.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a:bodyPr>
          <a:lstStyle/>
          <a:p>
            <a:pPr algn="just"/>
            <a:endParaRPr lang="en-US" b="1" dirty="0" smtClean="0">
              <a:solidFill>
                <a:srgbClr val="0070C0"/>
              </a:solidFill>
            </a:endParaRPr>
          </a:p>
          <a:p>
            <a:pPr algn="just"/>
            <a:r>
              <a:rPr lang="en-US" b="1" dirty="0" smtClean="0">
                <a:solidFill>
                  <a:srgbClr val="0070C0"/>
                </a:solidFill>
              </a:rPr>
              <a:t>Unknown to the users, these permissions enabled the app to perform actions that compromised their personal and financial security.</a:t>
            </a:r>
          </a:p>
          <a:p>
            <a:pPr algn="just"/>
            <a:r>
              <a:rPr lang="en-US" dirty="0" smtClean="0"/>
              <a:t>App appeared legitimate and offered a smooth user experience, </a:t>
            </a:r>
            <a:r>
              <a:rPr lang="en-US" b="1" dirty="0" smtClean="0">
                <a:solidFill>
                  <a:srgbClr val="FF0000"/>
                </a:solidFill>
              </a:rPr>
              <a:t>which led many to trust it without questioning the extensive permissions it requested during installation.</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these permission are created ?</a:t>
            </a:r>
            <a:endParaRPr lang="en-US" b="1" dirty="0"/>
          </a:p>
        </p:txBody>
      </p:sp>
      <p:sp>
        <p:nvSpPr>
          <p:cNvPr id="3" name="Content Placeholder 2"/>
          <p:cNvSpPr>
            <a:spLocks noGrp="1"/>
          </p:cNvSpPr>
          <p:nvPr>
            <p:ph idx="1"/>
          </p:nvPr>
        </p:nvSpPr>
        <p:spPr>
          <a:xfrm>
            <a:off x="214282" y="1357298"/>
            <a:ext cx="8472518" cy="5286412"/>
          </a:xfrm>
        </p:spPr>
        <p:txBody>
          <a:bodyPr>
            <a:normAutofit/>
          </a:bodyPr>
          <a:lstStyle/>
          <a:p>
            <a:pPr algn="just"/>
            <a:r>
              <a:rPr lang="en-US" dirty="0" smtClean="0"/>
              <a:t>Once installed, the app requested permissions that allowed it to access sensitive areas of the user’s phone. </a:t>
            </a:r>
          </a:p>
          <a:p>
            <a:pPr algn="just"/>
            <a:r>
              <a:rPr lang="en-US" b="1" dirty="0" smtClean="0"/>
              <a:t>JavaScript is one programming languages for hacking web applications. </a:t>
            </a:r>
          </a:p>
          <a:p>
            <a:pPr algn="just"/>
            <a:r>
              <a:rPr lang="en-US" b="1" dirty="0" smtClean="0">
                <a:solidFill>
                  <a:srgbClr val="0070C0"/>
                </a:solidFill>
              </a:rPr>
              <a:t>Understanding JavaScript allows hackers to discover vulnerabilities and carry out web exploitation since most web applications use JavaScript or its libraries.</a:t>
            </a:r>
            <a:endParaRPr lang="en-US" b="1" dirty="0">
              <a:solidFill>
                <a:srgbClr val="0070C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Permissions exploited by the APP</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57158" y="1357298"/>
            <a:ext cx="8501122" cy="52149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85728"/>
            <a:ext cx="8472518" cy="6357982"/>
          </a:xfrm>
        </p:spPr>
        <p:txBody>
          <a:bodyPr>
            <a:normAutofit lnSpcReduction="10000"/>
          </a:bodyPr>
          <a:lstStyle/>
          <a:p>
            <a:pPr algn="just"/>
            <a:r>
              <a:rPr lang="en-US" dirty="0" smtClean="0"/>
              <a:t>Cybercriminals often disguise these </a:t>
            </a:r>
            <a:r>
              <a:rPr lang="en-US" b="1" dirty="0" smtClean="0">
                <a:solidFill>
                  <a:srgbClr val="FF0000"/>
                </a:solidFill>
              </a:rPr>
              <a:t>APK files as popular apps, tricking users into believing they are downloading legitimate software.</a:t>
            </a:r>
          </a:p>
          <a:p>
            <a:pPr algn="just"/>
            <a:r>
              <a:rPr lang="en-US" dirty="0" smtClean="0"/>
              <a:t> </a:t>
            </a:r>
            <a:r>
              <a:rPr lang="en-US" b="1" dirty="0" smtClean="0">
                <a:solidFill>
                  <a:srgbClr val="7030A0"/>
                </a:solidFill>
              </a:rPr>
              <a:t>Malicious software can operate in the background without the user’s knowledge, silently harvesting data or even taking control of certain device functions.</a:t>
            </a:r>
          </a:p>
          <a:p>
            <a:r>
              <a:rPr lang="en-US" dirty="0" smtClean="0"/>
              <a:t>Attackers create </a:t>
            </a:r>
            <a:r>
              <a:rPr lang="en-US" b="1" dirty="0" smtClean="0"/>
              <a:t>look-alike apps</a:t>
            </a:r>
            <a:r>
              <a:rPr lang="en-US" dirty="0" smtClean="0"/>
              <a:t> of popular services like:</a:t>
            </a:r>
          </a:p>
          <a:p>
            <a:pPr>
              <a:buFont typeface="Wingdings" pitchFamily="2" charset="2"/>
              <a:buChar char="Ø"/>
            </a:pPr>
            <a:r>
              <a:rPr lang="en-US" dirty="0" smtClean="0"/>
              <a:t>Banking apps</a:t>
            </a:r>
          </a:p>
          <a:p>
            <a:pPr>
              <a:buFont typeface="Wingdings" pitchFamily="2" charset="2"/>
              <a:buChar char="Ø"/>
            </a:pPr>
            <a:r>
              <a:rPr lang="en-US" dirty="0" smtClean="0"/>
              <a:t>Gaming apps</a:t>
            </a:r>
          </a:p>
          <a:p>
            <a:pPr>
              <a:buFont typeface="Wingdings" pitchFamily="2" charset="2"/>
              <a:buChar char="Ø"/>
            </a:pPr>
            <a:r>
              <a:rPr lang="en-US" dirty="0" smtClean="0"/>
              <a:t>Social media apps</a:t>
            </a:r>
          </a:p>
          <a:p>
            <a:pPr algn="just"/>
            <a:endParaRPr lang="en-US" b="1" dirty="0">
              <a:solidFill>
                <a:srgbClr val="7030A0"/>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Steps typically used by attackers:</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457200" y="1214422"/>
            <a:ext cx="8229600" cy="4911741"/>
          </a:xfrm>
        </p:spPr>
        <p:txBody>
          <a:bodyPr>
            <a:normAutofit lnSpcReduction="10000"/>
          </a:bodyPr>
          <a:lstStyle/>
          <a:p>
            <a:pPr algn="just"/>
            <a:r>
              <a:rPr lang="en-US" sz="4000" dirty="0" smtClean="0"/>
              <a:t>Download legitimate APK.</a:t>
            </a:r>
          </a:p>
          <a:p>
            <a:pPr algn="just"/>
            <a:r>
              <a:rPr lang="en-US" sz="4000" dirty="0" smtClean="0"/>
              <a:t>Decompile it.</a:t>
            </a:r>
          </a:p>
          <a:p>
            <a:pPr algn="just"/>
            <a:r>
              <a:rPr lang="en-US" sz="4000" dirty="0" smtClean="0"/>
              <a:t>Insert malicious code.</a:t>
            </a:r>
          </a:p>
          <a:p>
            <a:pPr algn="just"/>
            <a:r>
              <a:rPr lang="en-US" sz="4000" dirty="0" smtClean="0"/>
              <a:t>Rebuild APK.</a:t>
            </a:r>
          </a:p>
          <a:p>
            <a:pPr algn="just"/>
            <a:r>
              <a:rPr lang="en-US" sz="4000" dirty="0" smtClean="0"/>
              <a:t>Sign with new certificate.</a:t>
            </a:r>
          </a:p>
          <a:p>
            <a:pPr algn="just"/>
            <a:r>
              <a:rPr lang="en-US" sz="4000" dirty="0" smtClean="0"/>
              <a:t>Distribute through fake websites or messaging apps.</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Distribution Methods Used by Cybercriminals</a:t>
            </a:r>
            <a:endParaRPr lang="en-US" dirty="0"/>
          </a:p>
        </p:txBody>
      </p:sp>
      <p:sp>
        <p:nvSpPr>
          <p:cNvPr id="3" name="Content Placeholder 2"/>
          <p:cNvSpPr>
            <a:spLocks noGrp="1"/>
          </p:cNvSpPr>
          <p:nvPr>
            <p:ph idx="1"/>
          </p:nvPr>
        </p:nvSpPr>
        <p:spPr>
          <a:xfrm>
            <a:off x="214282" y="1600200"/>
            <a:ext cx="8472518" cy="4972072"/>
          </a:xfrm>
        </p:spPr>
        <p:txBody>
          <a:bodyPr>
            <a:normAutofit fontScale="85000" lnSpcReduction="20000"/>
          </a:bodyPr>
          <a:lstStyle/>
          <a:p>
            <a:r>
              <a:rPr lang="en-US" dirty="0" smtClean="0"/>
              <a:t>Malicious APKs are spread through:</a:t>
            </a:r>
          </a:p>
          <a:p>
            <a:pPr>
              <a:buFont typeface="Wingdings" pitchFamily="2" charset="2"/>
              <a:buChar char="Ø"/>
            </a:pPr>
            <a:r>
              <a:rPr lang="en-US" dirty="0" err="1" smtClean="0"/>
              <a:t>WhatsApp</a:t>
            </a:r>
            <a:r>
              <a:rPr lang="en-US" dirty="0" smtClean="0"/>
              <a:t> / Telegram links</a:t>
            </a:r>
          </a:p>
          <a:p>
            <a:pPr>
              <a:buFont typeface="Wingdings" pitchFamily="2" charset="2"/>
              <a:buChar char="Ø"/>
            </a:pPr>
            <a:r>
              <a:rPr lang="en-US" dirty="0" smtClean="0"/>
              <a:t>Fake updates</a:t>
            </a:r>
          </a:p>
          <a:p>
            <a:pPr>
              <a:buFont typeface="Wingdings" pitchFamily="2" charset="2"/>
              <a:buChar char="Ø"/>
            </a:pPr>
            <a:r>
              <a:rPr lang="en-US" dirty="0" smtClean="0"/>
              <a:t>Third-party app stores</a:t>
            </a:r>
          </a:p>
          <a:p>
            <a:pPr>
              <a:buFont typeface="Wingdings" pitchFamily="2" charset="2"/>
              <a:buChar char="Ø"/>
            </a:pPr>
            <a:r>
              <a:rPr lang="en-US" dirty="0" smtClean="0"/>
              <a:t>Phishing websites</a:t>
            </a:r>
          </a:p>
          <a:p>
            <a:pPr>
              <a:buFont typeface="Wingdings" pitchFamily="2" charset="2"/>
              <a:buChar char="Ø"/>
            </a:pPr>
            <a:r>
              <a:rPr lang="en-US" dirty="0" smtClean="0"/>
              <a:t>Social engineering messages</a:t>
            </a:r>
          </a:p>
          <a:p>
            <a:pPr>
              <a:buNone/>
            </a:pPr>
            <a:endParaRPr lang="en-US" dirty="0" smtClean="0"/>
          </a:p>
          <a:p>
            <a:r>
              <a:rPr lang="en-US" dirty="0" smtClean="0"/>
              <a:t>Many </a:t>
            </a:r>
            <a:r>
              <a:rPr lang="en-US" b="1" dirty="0" smtClean="0"/>
              <a:t>Indian cyber fraud cases</a:t>
            </a:r>
            <a:r>
              <a:rPr lang="en-US" dirty="0" smtClean="0"/>
              <a:t> involve fake APKs pretending to be:</a:t>
            </a:r>
          </a:p>
          <a:p>
            <a:pPr>
              <a:buFont typeface="Wingdings" pitchFamily="2" charset="2"/>
              <a:buChar char="Ø"/>
            </a:pPr>
            <a:r>
              <a:rPr lang="en-US" dirty="0" smtClean="0"/>
              <a:t>KYC update apps</a:t>
            </a:r>
          </a:p>
          <a:p>
            <a:pPr>
              <a:buFont typeface="Wingdings" pitchFamily="2" charset="2"/>
              <a:buChar char="Ø"/>
            </a:pPr>
            <a:r>
              <a:rPr lang="en-US" dirty="0" smtClean="0"/>
              <a:t>Electricity bill apps</a:t>
            </a:r>
          </a:p>
          <a:p>
            <a:pPr>
              <a:buFont typeface="Wingdings" pitchFamily="2" charset="2"/>
              <a:buChar char="Ø"/>
            </a:pPr>
            <a:r>
              <a:rPr lang="en-US" dirty="0" smtClean="0"/>
              <a:t>Government service apps</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14290"/>
            <a:ext cx="8229600" cy="1143000"/>
          </a:xfrm>
        </p:spPr>
        <p:txBody>
          <a:bodyPr>
            <a:normAutofit fontScale="90000"/>
          </a:bodyPr>
          <a:lstStyle/>
          <a:p>
            <a:r>
              <a:rPr lang="en-US" b="1" dirty="0" smtClean="0"/>
              <a:t>Common types of malicious code inserted in legitimate APKs</a:t>
            </a:r>
            <a:endParaRPr lang="en-US" dirty="0"/>
          </a:p>
        </p:txBody>
      </p:sp>
      <p:sp>
        <p:nvSpPr>
          <p:cNvPr id="3" name="Content Placeholder 2"/>
          <p:cNvSpPr>
            <a:spLocks noGrp="1"/>
          </p:cNvSpPr>
          <p:nvPr>
            <p:ph idx="1"/>
          </p:nvPr>
        </p:nvSpPr>
        <p:spPr>
          <a:xfrm>
            <a:off x="214282" y="1600200"/>
            <a:ext cx="8472518" cy="5043510"/>
          </a:xfrm>
        </p:spPr>
        <p:txBody>
          <a:bodyPr>
            <a:normAutofit fontScale="92500" lnSpcReduction="10000"/>
          </a:bodyPr>
          <a:lstStyle/>
          <a:p>
            <a:pPr>
              <a:buNone/>
            </a:pPr>
            <a:r>
              <a:rPr lang="en-US" b="1" dirty="0" smtClean="0"/>
              <a:t>Trojan Code</a:t>
            </a:r>
          </a:p>
          <a:p>
            <a:r>
              <a:rPr lang="en-US" dirty="0" smtClean="0"/>
              <a:t>Hidden malicious functionality inside a normal-looking app.</a:t>
            </a:r>
          </a:p>
          <a:p>
            <a:r>
              <a:rPr lang="en-US" dirty="0" smtClean="0"/>
              <a:t>Example: A flashlight app secretly sends SMS or steals contacts.</a:t>
            </a:r>
          </a:p>
          <a:p>
            <a:pPr>
              <a:buNone/>
            </a:pPr>
            <a:r>
              <a:rPr lang="en-US" b="1" dirty="0" err="1" smtClean="0"/>
              <a:t>Keylogger</a:t>
            </a:r>
            <a:endParaRPr lang="en-US" b="1" dirty="0" smtClean="0"/>
          </a:p>
          <a:p>
            <a:r>
              <a:rPr lang="en-US" dirty="0" smtClean="0"/>
              <a:t>Records every keystroke typed by the user.</a:t>
            </a:r>
          </a:p>
          <a:p>
            <a:pPr>
              <a:buNone/>
            </a:pPr>
            <a:r>
              <a:rPr lang="en-US" b="1" dirty="0" smtClean="0"/>
              <a:t>Spyware Code</a:t>
            </a:r>
          </a:p>
          <a:p>
            <a:r>
              <a:rPr lang="en-US" dirty="0" smtClean="0"/>
              <a:t>Code that secretly monitors user activity like Pegasus spyware and </a:t>
            </a:r>
            <a:r>
              <a:rPr lang="en-US" dirty="0" err="1" smtClean="0"/>
              <a:t>FlexiSpy</a:t>
            </a:r>
            <a:endParaRPr lang="en-US" dirty="0" smtClean="0"/>
          </a:p>
          <a:p>
            <a:endParaRPr lang="en-US" dirty="0" smtClean="0"/>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Indicators of a Malicious APK</a:t>
            </a:r>
            <a:br>
              <a:rPr lang="en-US" b="1" dirty="0" smtClean="0"/>
            </a:br>
            <a:endParaRPr lang="en-US" dirty="0"/>
          </a:p>
        </p:txBody>
      </p:sp>
      <p:sp>
        <p:nvSpPr>
          <p:cNvPr id="3" name="Subtitle 2"/>
          <p:cNvSpPr>
            <a:spLocks noGrp="1"/>
          </p:cNvSpPr>
          <p:nvPr>
            <p:ph type="subTitle" idx="1"/>
          </p:nvPr>
        </p:nvSpPr>
        <p:spPr/>
        <p:txBody>
          <a:bodyPr/>
          <a:lstStyle/>
          <a:p>
            <a:r>
              <a:rPr lang="en-US" b="1" dirty="0" smtClean="0">
                <a:solidFill>
                  <a:srgbClr val="FF0000"/>
                </a:solidFill>
              </a:rPr>
              <a:t>Any Guess</a:t>
            </a:r>
            <a:endParaRPr lang="en-US" b="1"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Indicators of a Malicious APK</a:t>
            </a:r>
            <a:br>
              <a:rPr lang="en-US" b="1" dirty="0" smtClean="0"/>
            </a:b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sz="4000" dirty="0" smtClean="0"/>
              <a:t>Requests </a:t>
            </a:r>
            <a:r>
              <a:rPr lang="en-US" sz="4000" b="1" dirty="0" smtClean="0"/>
              <a:t>too many permissions</a:t>
            </a:r>
            <a:endParaRPr lang="en-US" sz="4000" dirty="0" smtClean="0"/>
          </a:p>
          <a:p>
            <a:pPr>
              <a:buFont typeface="Wingdings" pitchFamily="2" charset="2"/>
              <a:buChar char="Ø"/>
            </a:pPr>
            <a:r>
              <a:rPr lang="en-US" sz="4000" dirty="0" smtClean="0"/>
              <a:t>Installed from </a:t>
            </a:r>
            <a:r>
              <a:rPr lang="en-US" sz="4000" b="1" dirty="0" smtClean="0"/>
              <a:t>unknown sources</a:t>
            </a:r>
            <a:endParaRPr lang="en-US" sz="4000" dirty="0" smtClean="0"/>
          </a:p>
          <a:p>
            <a:pPr>
              <a:buFont typeface="Wingdings" pitchFamily="2" charset="2"/>
              <a:buChar char="Ø"/>
            </a:pPr>
            <a:r>
              <a:rPr lang="en-US" sz="4000" dirty="0" smtClean="0"/>
              <a:t>App size unusually small or large</a:t>
            </a:r>
          </a:p>
          <a:p>
            <a:pPr>
              <a:buFont typeface="Wingdings" pitchFamily="2" charset="2"/>
              <a:buChar char="Ø"/>
            </a:pPr>
            <a:r>
              <a:rPr lang="en-US" sz="4000" dirty="0" smtClean="0"/>
              <a:t>Hidden icon after installation</a:t>
            </a:r>
          </a:p>
          <a:p>
            <a:pPr>
              <a:buFont typeface="Wingdings" pitchFamily="2" charset="2"/>
              <a:buChar char="Ø"/>
            </a:pPr>
            <a:r>
              <a:rPr lang="en-US" sz="4000" dirty="0" smtClean="0"/>
              <a:t>Antivirus warnings</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Phases of System Hacking</a:t>
            </a:r>
          </a:p>
          <a:p>
            <a:pPr fontAlgn="base"/>
            <a:r>
              <a:rPr lang="en-US" dirty="0"/>
              <a:t>System hacking usually occurs in an organized fashion, normally following the lifecycle of an ethical hacker. The most important phases are:</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01080" cy="5840435"/>
          </a:xfrm>
        </p:spPr>
        <p:txBody>
          <a:bodyPr>
            <a:normAutofit fontScale="92500" lnSpcReduction="10000"/>
          </a:bodyPr>
          <a:lstStyle/>
          <a:p>
            <a:pPr fontAlgn="base">
              <a:buNone/>
            </a:pPr>
            <a:r>
              <a:rPr lang="en-US" b="1" dirty="0"/>
              <a:t>1. Reconnaissance</a:t>
            </a:r>
            <a:endParaRPr lang="en-US" dirty="0"/>
          </a:p>
          <a:p>
            <a:pPr fontAlgn="base"/>
            <a:r>
              <a:rPr lang="en-US" dirty="0"/>
              <a:t>Gathering information on the target system (e.g., IP addresses, operating systems, open ports).</a:t>
            </a:r>
          </a:p>
          <a:p>
            <a:pPr fontAlgn="base"/>
            <a:r>
              <a:rPr lang="en-US" b="1" dirty="0"/>
              <a:t>Tools</a:t>
            </a:r>
            <a:r>
              <a:rPr lang="en-US" dirty="0"/>
              <a:t>: </a:t>
            </a:r>
            <a:r>
              <a:rPr lang="en-US" dirty="0" err="1"/>
              <a:t>Nmap</a:t>
            </a:r>
            <a:r>
              <a:rPr lang="en-US" dirty="0"/>
              <a:t>, </a:t>
            </a:r>
            <a:r>
              <a:rPr lang="en-US" dirty="0" err="1"/>
              <a:t>Whois</a:t>
            </a:r>
            <a:r>
              <a:rPr lang="en-US" dirty="0"/>
              <a:t>, Google Dorks.</a:t>
            </a:r>
          </a:p>
          <a:p>
            <a:pPr fontAlgn="base">
              <a:buNone/>
            </a:pPr>
            <a:r>
              <a:rPr lang="en-US" b="1" dirty="0"/>
              <a:t>2. Scanning</a:t>
            </a:r>
            <a:endParaRPr lang="en-US" dirty="0"/>
          </a:p>
          <a:p>
            <a:pPr fontAlgn="base"/>
            <a:r>
              <a:rPr lang="en-US" dirty="0"/>
              <a:t>Vulnerability identification in the target system (e.g., open ports, services, </a:t>
            </a:r>
            <a:r>
              <a:rPr lang="en-US" dirty="0" err="1"/>
              <a:t>misconfigurations</a:t>
            </a:r>
            <a:r>
              <a:rPr lang="en-US" dirty="0"/>
              <a:t>).</a:t>
            </a:r>
          </a:p>
          <a:p>
            <a:pPr fontAlgn="base"/>
            <a:r>
              <a:rPr lang="en-US" b="1" dirty="0"/>
              <a:t>Tools</a:t>
            </a:r>
            <a:r>
              <a:rPr lang="en-US" dirty="0"/>
              <a:t>: </a:t>
            </a:r>
            <a:r>
              <a:rPr lang="en-US" dirty="0" err="1"/>
              <a:t>Nessus</a:t>
            </a:r>
            <a:r>
              <a:rPr lang="en-US" dirty="0"/>
              <a:t>, </a:t>
            </a:r>
            <a:r>
              <a:rPr lang="en-US" dirty="0" err="1"/>
              <a:t>OpenVAS</a:t>
            </a:r>
            <a:r>
              <a:rPr lang="en-US" dirty="0"/>
              <a:t>, </a:t>
            </a:r>
            <a:r>
              <a:rPr lang="en-US" dirty="0" err="1"/>
              <a:t>Nikto</a:t>
            </a:r>
            <a:r>
              <a:rPr lang="en-US" dirty="0"/>
              <a:t>.</a:t>
            </a:r>
          </a:p>
          <a:p>
            <a:pPr fontAlgn="base">
              <a:buNone/>
            </a:pPr>
            <a:r>
              <a:rPr lang="en-US" b="1" dirty="0"/>
              <a:t>3. Gaining Access</a:t>
            </a:r>
            <a:endParaRPr lang="en-US" dirty="0"/>
          </a:p>
          <a:p>
            <a:pPr fontAlgn="base"/>
            <a:r>
              <a:rPr lang="en-US" dirty="0"/>
              <a:t>Illicit access to the system using vulnerabilities.</a:t>
            </a:r>
          </a:p>
          <a:p>
            <a:pPr fontAlgn="base"/>
            <a:r>
              <a:rPr lang="en-US" b="1" dirty="0"/>
              <a:t>Techniques</a:t>
            </a:r>
            <a:r>
              <a:rPr lang="en-US" dirty="0"/>
              <a:t>: Password cracking, exploiting software vulnerabilities, social engineering.</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buNone/>
            </a:pPr>
            <a:r>
              <a:rPr lang="en-US" b="1" dirty="0"/>
              <a:t>4. Maintaining Access</a:t>
            </a:r>
            <a:endParaRPr lang="en-US" dirty="0"/>
          </a:p>
          <a:p>
            <a:pPr fontAlgn="base"/>
            <a:r>
              <a:rPr lang="en-US" dirty="0"/>
              <a:t>Guaranteed ongoing access to the system (e.g., installing backdoors, </a:t>
            </a:r>
            <a:r>
              <a:rPr lang="en-US" dirty="0" err="1"/>
              <a:t>rootkits</a:t>
            </a:r>
            <a:r>
              <a:rPr lang="en-US" dirty="0"/>
              <a:t>).</a:t>
            </a:r>
          </a:p>
          <a:p>
            <a:pPr fontAlgn="base"/>
            <a:r>
              <a:rPr lang="en-US" b="1" dirty="0"/>
              <a:t>Tools</a:t>
            </a:r>
            <a:r>
              <a:rPr lang="en-US" dirty="0"/>
              <a:t>: </a:t>
            </a:r>
            <a:r>
              <a:rPr lang="en-US" dirty="0" err="1"/>
              <a:t>Metasploit</a:t>
            </a:r>
            <a:r>
              <a:rPr lang="en-US" dirty="0"/>
              <a:t>, </a:t>
            </a:r>
            <a:r>
              <a:rPr lang="en-US" dirty="0" err="1"/>
              <a:t>Netcat</a:t>
            </a:r>
            <a:r>
              <a:rPr lang="en-US" dirty="0"/>
              <a:t>.</a:t>
            </a:r>
          </a:p>
          <a:p>
            <a:pPr fontAlgn="base">
              <a:buNone/>
            </a:pPr>
            <a:r>
              <a:rPr lang="en-US" b="1" dirty="0"/>
              <a:t>5. Clearing Tracks</a:t>
            </a:r>
            <a:endParaRPr lang="en-US" dirty="0"/>
          </a:p>
          <a:p>
            <a:pPr fontAlgn="base"/>
            <a:r>
              <a:rPr lang="en-US" dirty="0"/>
              <a:t>Erasure of attack traces to avoid detection.</a:t>
            </a:r>
          </a:p>
          <a:p>
            <a:pPr fontAlgn="base"/>
            <a:r>
              <a:rPr lang="en-US" b="1" dirty="0"/>
              <a:t>Techniques</a:t>
            </a:r>
            <a:r>
              <a:rPr lang="en-US" dirty="0"/>
              <a:t>: Log deletion, timestamp manipulation.</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Information Gathering (Reconnaissance)</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Information Gathering</a:t>
            </a:r>
            <a:r>
              <a:rPr lang="en-US" dirty="0" smtClean="0"/>
              <a:t> is the process of collecting </a:t>
            </a:r>
            <a:r>
              <a:rPr lang="en-US" b="1" dirty="0" smtClean="0"/>
              <a:t>publicly available information</a:t>
            </a:r>
            <a:r>
              <a:rPr lang="en-US" dirty="0" smtClean="0"/>
              <a:t> about a target (organization, website, network, or system) </a:t>
            </a:r>
            <a:r>
              <a:rPr lang="en-US" b="1" dirty="0" smtClean="0"/>
              <a:t>before any attack or security assessment</a:t>
            </a:r>
            <a:r>
              <a:rPr lang="en-US" dirty="0" smtClean="0"/>
              <a:t>.</a:t>
            </a:r>
          </a:p>
          <a:p>
            <a:r>
              <a:rPr lang="en-US" dirty="0" smtClean="0"/>
              <a:t>It is widely used in:</a:t>
            </a:r>
          </a:p>
          <a:p>
            <a:r>
              <a:rPr lang="en-US" dirty="0" smtClean="0"/>
              <a:t>Ethical hacking</a:t>
            </a:r>
          </a:p>
          <a:p>
            <a:r>
              <a:rPr lang="en-US" dirty="0" err="1" smtClean="0"/>
              <a:t>Cybersecurity</a:t>
            </a:r>
            <a:r>
              <a:rPr lang="en-US" dirty="0" smtClean="0"/>
              <a:t> auditing</a:t>
            </a:r>
          </a:p>
          <a:p>
            <a:r>
              <a:rPr lang="en-US" dirty="0" smtClean="0"/>
              <a:t>OSINT (Open Source Intelligence)</a:t>
            </a:r>
          </a:p>
          <a:p>
            <a:r>
              <a:rPr lang="en-US" dirty="0" smtClean="0"/>
              <a:t>Digital forensics</a:t>
            </a:r>
          </a:p>
          <a:p>
            <a:r>
              <a:rPr lang="en-US" dirty="0" smtClean="0"/>
              <a:t>Academic &amp; technical research</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Information Gathering</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Passive Information Gathering</a:t>
            </a:r>
            <a:endParaRPr lang="en-US" dirty="0" smtClean="0"/>
          </a:p>
          <a:p>
            <a:r>
              <a:rPr lang="en-US" dirty="0" smtClean="0"/>
              <a:t>No direct interaction with the target</a:t>
            </a:r>
          </a:p>
          <a:p>
            <a:r>
              <a:rPr lang="en-US" dirty="0" smtClean="0"/>
              <a:t>Low risk of detection</a:t>
            </a:r>
          </a:p>
          <a:p>
            <a:r>
              <a:rPr lang="en-US" dirty="0" smtClean="0"/>
              <a:t>Example: Google search, archive.org, WHOIS</a:t>
            </a:r>
          </a:p>
          <a:p>
            <a:pPr>
              <a:buNone/>
            </a:pPr>
            <a:r>
              <a:rPr lang="en-US" b="1" dirty="0" smtClean="0"/>
              <a:t>Active Information Gathering</a:t>
            </a:r>
            <a:endParaRPr lang="en-US" dirty="0" smtClean="0"/>
          </a:p>
          <a:p>
            <a:r>
              <a:rPr lang="en-US" dirty="0" smtClean="0"/>
              <a:t>Direct interaction with servers</a:t>
            </a:r>
          </a:p>
          <a:p>
            <a:r>
              <a:rPr lang="en-US" dirty="0" smtClean="0"/>
              <a:t>May be logged by the target</a:t>
            </a:r>
          </a:p>
          <a:p>
            <a:r>
              <a:rPr lang="en-US" dirty="0" smtClean="0"/>
              <a:t>Example: DNS queries, dig, </a:t>
            </a:r>
            <a:r>
              <a:rPr lang="en-US" dirty="0" err="1" smtClean="0"/>
              <a:t>dnsenum</a:t>
            </a:r>
            <a:endParaRPr lang="en-US" dirty="0" smtClean="0"/>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654032"/>
          </a:xfrm>
        </p:spPr>
        <p:txBody>
          <a:bodyPr>
            <a:normAutofit fontScale="90000"/>
          </a:bodyPr>
          <a:lstStyle/>
          <a:p>
            <a:r>
              <a:rPr lang="en-US" sz="4000" dirty="0" smtClean="0"/>
              <a:t>Advanced Google Search (Google Dorking)</a:t>
            </a:r>
            <a:endParaRPr lang="en-US" sz="4000" dirty="0"/>
          </a:p>
        </p:txBody>
      </p:sp>
      <p:sp>
        <p:nvSpPr>
          <p:cNvPr id="3" name="Content Placeholder 2"/>
          <p:cNvSpPr>
            <a:spLocks noGrp="1"/>
          </p:cNvSpPr>
          <p:nvPr>
            <p:ph idx="1"/>
          </p:nvPr>
        </p:nvSpPr>
        <p:spPr>
          <a:xfrm>
            <a:off x="285720" y="1071546"/>
            <a:ext cx="8401080" cy="5572164"/>
          </a:xfrm>
        </p:spPr>
        <p:txBody>
          <a:bodyPr>
            <a:normAutofit fontScale="77500" lnSpcReduction="20000"/>
          </a:bodyPr>
          <a:lstStyle/>
          <a:p>
            <a:pPr algn="just" fontAlgn="base"/>
            <a:r>
              <a:rPr lang="en-US" dirty="0" smtClean="0"/>
              <a:t>Google Dorking, also known as Google Hacking, is a technique that uses advanced Google search operators to uncover sensitive files, login pages, databases, and other hidden information that is publicly accessible but not intended to be easily discovered.</a:t>
            </a:r>
          </a:p>
          <a:p>
            <a:pPr algn="just" fontAlgn="base"/>
            <a:r>
              <a:rPr lang="en-US" dirty="0" smtClean="0"/>
              <a:t>Ethical hackers, </a:t>
            </a:r>
            <a:r>
              <a:rPr lang="en-US" dirty="0" err="1" smtClean="0"/>
              <a:t>cybersecurity</a:t>
            </a:r>
            <a:r>
              <a:rPr lang="en-US" dirty="0" smtClean="0"/>
              <a:t> professionals, and researchers apply these methods to test website security and gather insights, while attackers may misuse them to expose passwords, personal data, or confidential files. For example</a:t>
            </a:r>
          </a:p>
          <a:p>
            <a:pPr algn="just" fontAlgn="base"/>
            <a:r>
              <a:rPr lang="en-US" dirty="0" smtClean="0"/>
              <a:t>Find login portals exposed online</a:t>
            </a:r>
          </a:p>
          <a:p>
            <a:pPr algn="just" fontAlgn="base"/>
            <a:r>
              <a:rPr lang="en-US" dirty="0" smtClean="0"/>
              <a:t>Locate unsecured databases</a:t>
            </a:r>
          </a:p>
          <a:p>
            <a:pPr algn="just" fontAlgn="base"/>
            <a:r>
              <a:rPr lang="en-US" dirty="0" smtClean="0"/>
              <a:t>Access confidential documents or files</a:t>
            </a:r>
          </a:p>
          <a:p>
            <a:pPr algn="just" fontAlgn="base"/>
            <a:r>
              <a:rPr lang="en-US" dirty="0" smtClean="0"/>
              <a:t>Browse open file directories</a:t>
            </a:r>
          </a:p>
          <a:p>
            <a:pPr algn="just" fontAlgn="base"/>
            <a:r>
              <a:rPr lang="en-US" dirty="0" smtClean="0"/>
              <a:t>Identify security vulnerabilities accidentally indexed by Google</a:t>
            </a:r>
          </a:p>
          <a:p>
            <a:pPr algn="just"/>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Does Google Dorking Work?</a:t>
            </a:r>
            <a:br>
              <a:rPr lang="en-US" b="1" dirty="0" smtClean="0"/>
            </a:br>
            <a:endParaRPr lang="en-US" dirty="0"/>
          </a:p>
        </p:txBody>
      </p:sp>
      <p:sp>
        <p:nvSpPr>
          <p:cNvPr id="3" name="Content Placeholder 2"/>
          <p:cNvSpPr>
            <a:spLocks noGrp="1"/>
          </p:cNvSpPr>
          <p:nvPr>
            <p:ph idx="1"/>
          </p:nvPr>
        </p:nvSpPr>
        <p:spPr/>
        <p:txBody>
          <a:bodyPr/>
          <a:lstStyle/>
          <a:p>
            <a:r>
              <a:rPr lang="en-US" dirty="0" smtClean="0"/>
              <a:t>Google Dorking is the practice of using advanced search operators to filter search results that reveal </a:t>
            </a:r>
            <a:r>
              <a:rPr lang="en-US" b="1" dirty="0" smtClean="0"/>
              <a:t>hidden, confidential, or mistakenly indexed data</a:t>
            </a:r>
            <a:r>
              <a:rPr lang="en-US" dirty="0" smtClean="0"/>
              <a:t>. </a:t>
            </a:r>
          </a:p>
          <a:p>
            <a:r>
              <a:rPr lang="en-US" dirty="0" smtClean="0"/>
              <a:t>This method relies on Google's indexing and crawling system, which scans through websites and stores sensitive documents in a cache.</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428596" y="0"/>
            <a:ext cx="8286808" cy="6500833"/>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smtClean="0"/>
              <a:t>Search filters for Google Dorking</a:t>
            </a:r>
          </a:p>
          <a:p>
            <a:pPr fontAlgn="base"/>
            <a:r>
              <a:rPr lang="en-US" dirty="0" smtClean="0"/>
              <a:t>Google </a:t>
            </a:r>
            <a:r>
              <a:rPr lang="en-US" b="1" dirty="0" smtClean="0"/>
              <a:t>Dorking</a:t>
            </a:r>
            <a:r>
              <a:rPr lang="en-US" dirty="0" smtClean="0"/>
              <a:t> involves using advanced search operations in Google to search for specific keywords, file types, or website parameters. </a:t>
            </a:r>
          </a:p>
          <a:p>
            <a:pPr fontAlgn="base"/>
            <a:r>
              <a:rPr lang="en-US" dirty="0" smtClean="0"/>
              <a:t>These operators can be combined to create more powerful search queries that can reveal information that would not be easily accessible otherwise.</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20000"/>
          </a:bodyPr>
          <a:lstStyle/>
          <a:p>
            <a:r>
              <a:rPr lang="en-US" b="1" dirty="0" smtClean="0"/>
              <a:t>Information Collected</a:t>
            </a:r>
          </a:p>
          <a:p>
            <a:r>
              <a:rPr lang="en-US" dirty="0" err="1" smtClean="0"/>
              <a:t>Subdomains</a:t>
            </a:r>
            <a:endParaRPr lang="en-US" dirty="0" smtClean="0"/>
          </a:p>
          <a:p>
            <a:r>
              <a:rPr lang="en-US" dirty="0" smtClean="0"/>
              <a:t>Login pages</a:t>
            </a:r>
          </a:p>
          <a:p>
            <a:r>
              <a:rPr lang="en-US" dirty="0" smtClean="0"/>
              <a:t>Configuration files</a:t>
            </a:r>
          </a:p>
          <a:p>
            <a:r>
              <a:rPr lang="en-US" dirty="0" smtClean="0"/>
              <a:t>PDFs, PPTs, DOCs</a:t>
            </a:r>
          </a:p>
          <a:p>
            <a:r>
              <a:rPr lang="en-US" dirty="0" smtClean="0"/>
              <a:t>Exposed directories</a:t>
            </a:r>
          </a:p>
          <a:p>
            <a:pPr>
              <a:buNone/>
            </a:pPr>
            <a:endParaRPr lang="en-US" dirty="0" smtClean="0"/>
          </a:p>
          <a:p>
            <a:r>
              <a:rPr lang="en-US" b="1" dirty="0" smtClean="0"/>
              <a:t>Common Operators</a:t>
            </a:r>
          </a:p>
          <a:p>
            <a:r>
              <a:rPr lang="en-US" dirty="0" smtClean="0"/>
              <a:t>site: – search within a domain</a:t>
            </a:r>
          </a:p>
          <a:p>
            <a:r>
              <a:rPr lang="en-US" dirty="0" err="1" smtClean="0"/>
              <a:t>filetype</a:t>
            </a:r>
            <a:r>
              <a:rPr lang="en-US" dirty="0" smtClean="0"/>
              <a:t>: – search specific file formats</a:t>
            </a:r>
          </a:p>
          <a:p>
            <a:r>
              <a:rPr lang="en-US" dirty="0" err="1" smtClean="0"/>
              <a:t>intitle</a:t>
            </a:r>
            <a:r>
              <a:rPr lang="en-US" dirty="0" smtClean="0"/>
              <a:t>: – search in page titles</a:t>
            </a:r>
          </a:p>
          <a:p>
            <a:r>
              <a:rPr lang="en-US" dirty="0" err="1" smtClean="0"/>
              <a:t>inurl</a:t>
            </a:r>
            <a:r>
              <a:rPr lang="en-US" dirty="0" smtClean="0"/>
              <a:t>: – search in URLs</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smtClean="0"/>
              <a:t>Archive.org (</a:t>
            </a:r>
            <a:r>
              <a:rPr lang="en-US" dirty="0" err="1" smtClean="0"/>
              <a:t>Wayback</a:t>
            </a:r>
            <a:r>
              <a:rPr lang="en-US" dirty="0" smtClean="0"/>
              <a:t> Machine)</a:t>
            </a:r>
            <a:endParaRPr lang="en-US" dirty="0"/>
          </a:p>
        </p:txBody>
      </p:sp>
      <p:sp>
        <p:nvSpPr>
          <p:cNvPr id="3" name="Content Placeholder 2"/>
          <p:cNvSpPr>
            <a:spLocks noGrp="1"/>
          </p:cNvSpPr>
          <p:nvPr>
            <p:ph idx="1"/>
          </p:nvPr>
        </p:nvSpPr>
        <p:spPr>
          <a:xfrm>
            <a:off x="457200" y="1000108"/>
            <a:ext cx="8229600" cy="5715040"/>
          </a:xfrm>
        </p:spPr>
        <p:txBody>
          <a:bodyPr>
            <a:normAutofit fontScale="70000" lnSpcReduction="20000"/>
          </a:bodyPr>
          <a:lstStyle/>
          <a:p>
            <a:pPr>
              <a:buNone/>
            </a:pPr>
            <a:r>
              <a:rPr lang="en-US" b="1" dirty="0" smtClean="0"/>
              <a:t>Archive.org</a:t>
            </a:r>
            <a:r>
              <a:rPr lang="en-US" dirty="0" smtClean="0"/>
              <a:t> stores </a:t>
            </a:r>
            <a:r>
              <a:rPr lang="en-US" b="1" dirty="0" smtClean="0"/>
              <a:t>historical snapshots of websites</a:t>
            </a:r>
            <a:r>
              <a:rPr lang="en-US" dirty="0" smtClean="0"/>
              <a:t> taken over time.</a:t>
            </a:r>
          </a:p>
          <a:p>
            <a:r>
              <a:rPr lang="en-US" b="1" dirty="0" smtClean="0"/>
              <a:t>Why is it important?</a:t>
            </a:r>
          </a:p>
          <a:p>
            <a:r>
              <a:rPr lang="en-US" dirty="0" smtClean="0"/>
              <a:t>Even if a page is deleted, </a:t>
            </a:r>
            <a:r>
              <a:rPr lang="en-US" b="1" dirty="0" smtClean="0"/>
              <a:t>old data may still exist</a:t>
            </a:r>
            <a:r>
              <a:rPr lang="en-US" dirty="0" smtClean="0"/>
              <a:t> in archives.</a:t>
            </a:r>
          </a:p>
          <a:p>
            <a:pPr>
              <a:buNone/>
            </a:pPr>
            <a:r>
              <a:rPr lang="en-US" b="1" dirty="0" smtClean="0"/>
              <a:t>Information Collected</a:t>
            </a:r>
          </a:p>
          <a:p>
            <a:r>
              <a:rPr lang="en-US" dirty="0" smtClean="0"/>
              <a:t>Old web pages</a:t>
            </a:r>
          </a:p>
          <a:p>
            <a:r>
              <a:rPr lang="en-US" dirty="0" smtClean="0"/>
              <a:t>Removed directories</a:t>
            </a:r>
          </a:p>
          <a:p>
            <a:r>
              <a:rPr lang="en-US" dirty="0" smtClean="0"/>
              <a:t>Old admin panels</a:t>
            </a:r>
          </a:p>
          <a:p>
            <a:r>
              <a:rPr lang="en-US" dirty="0" smtClean="0"/>
              <a:t>Previous technologies used</a:t>
            </a:r>
          </a:p>
          <a:p>
            <a:r>
              <a:rPr lang="en-US" dirty="0" smtClean="0"/>
              <a:t>Exposed credentials (historically)</a:t>
            </a:r>
          </a:p>
          <a:p>
            <a:pPr>
              <a:buNone/>
            </a:pPr>
            <a:r>
              <a:rPr lang="en-US" b="1" dirty="0" smtClean="0"/>
              <a:t>Example Use</a:t>
            </a:r>
          </a:p>
          <a:p>
            <a:r>
              <a:rPr lang="en-US" dirty="0" smtClean="0"/>
              <a:t>Checking how a website looked 5 years ago</a:t>
            </a:r>
          </a:p>
          <a:p>
            <a:r>
              <a:rPr lang="en-US" dirty="0" smtClean="0"/>
              <a:t>Finding removed URLs</a:t>
            </a:r>
          </a:p>
          <a:p>
            <a:r>
              <a:rPr lang="en-US" b="1" dirty="0" smtClean="0"/>
              <a:t>Advantages</a:t>
            </a:r>
          </a:p>
          <a:p>
            <a:r>
              <a:rPr lang="en-US" dirty="0" smtClean="0"/>
              <a:t>✔ Passive technique</a:t>
            </a:r>
            <a:br>
              <a:rPr lang="en-US" dirty="0" smtClean="0"/>
            </a:br>
            <a:r>
              <a:rPr lang="en-US" dirty="0" smtClean="0"/>
              <a:t>✔ Helps understand website evolution</a:t>
            </a:r>
          </a:p>
          <a:p>
            <a:r>
              <a:rPr lang="en-US" b="1" dirty="0" smtClean="0"/>
              <a:t>Limitation</a:t>
            </a:r>
          </a:p>
          <a:p>
            <a:r>
              <a:rPr lang="en-US" dirty="0" smtClean="0"/>
              <a:t>❌ Not all pages are archived</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err="1" smtClean="0"/>
              <a:t>Netcraft</a:t>
            </a:r>
            <a:endParaRPr lang="en-US" dirty="0"/>
          </a:p>
        </p:txBody>
      </p:sp>
      <p:sp>
        <p:nvSpPr>
          <p:cNvPr id="3" name="Content Placeholder 2"/>
          <p:cNvSpPr>
            <a:spLocks noGrp="1"/>
          </p:cNvSpPr>
          <p:nvPr>
            <p:ph idx="1"/>
          </p:nvPr>
        </p:nvSpPr>
        <p:spPr>
          <a:xfrm>
            <a:off x="457200" y="1000108"/>
            <a:ext cx="8229600" cy="5126055"/>
          </a:xfrm>
        </p:spPr>
        <p:txBody>
          <a:bodyPr>
            <a:normAutofit fontScale="62500" lnSpcReduction="20000"/>
          </a:bodyPr>
          <a:lstStyle/>
          <a:p>
            <a:pPr>
              <a:buNone/>
            </a:pPr>
            <a:r>
              <a:rPr lang="en-US" dirty="0" err="1" smtClean="0"/>
              <a:t>Netcraft</a:t>
            </a:r>
            <a:r>
              <a:rPr lang="en-US" dirty="0" smtClean="0"/>
              <a:t> is an </a:t>
            </a:r>
            <a:r>
              <a:rPr lang="en-US" b="1" dirty="0" smtClean="0"/>
              <a:t>online service</a:t>
            </a:r>
            <a:r>
              <a:rPr lang="en-US" dirty="0" smtClean="0"/>
              <a:t> used to gather </a:t>
            </a:r>
            <a:r>
              <a:rPr lang="en-US" b="1" dirty="0" smtClean="0"/>
              <a:t>website infrastructure and hosting details</a:t>
            </a:r>
            <a:r>
              <a:rPr lang="en-US" dirty="0" smtClean="0"/>
              <a:t>.</a:t>
            </a:r>
          </a:p>
          <a:p>
            <a:r>
              <a:rPr lang="en-US" b="1" dirty="0" smtClean="0"/>
              <a:t>Information Collected</a:t>
            </a:r>
          </a:p>
          <a:p>
            <a:r>
              <a:rPr lang="en-US" dirty="0" smtClean="0"/>
              <a:t>Web server type (Apache, </a:t>
            </a:r>
            <a:r>
              <a:rPr lang="en-US" dirty="0" err="1" smtClean="0"/>
              <a:t>Nginx</a:t>
            </a:r>
            <a:r>
              <a:rPr lang="en-US" dirty="0" smtClean="0"/>
              <a:t>)</a:t>
            </a:r>
          </a:p>
          <a:p>
            <a:r>
              <a:rPr lang="en-US" dirty="0" smtClean="0"/>
              <a:t>Operating system</a:t>
            </a:r>
          </a:p>
          <a:p>
            <a:r>
              <a:rPr lang="en-US" dirty="0" smtClean="0"/>
              <a:t>Hosting provider</a:t>
            </a:r>
          </a:p>
          <a:p>
            <a:r>
              <a:rPr lang="en-US" dirty="0" smtClean="0"/>
              <a:t>IP address</a:t>
            </a:r>
          </a:p>
          <a:p>
            <a:r>
              <a:rPr lang="en-US" dirty="0" smtClean="0"/>
              <a:t>SSL certificate details</a:t>
            </a:r>
          </a:p>
          <a:p>
            <a:r>
              <a:rPr lang="en-US" dirty="0" smtClean="0"/>
              <a:t>Website uptime</a:t>
            </a:r>
          </a:p>
          <a:p>
            <a:pPr>
              <a:buNone/>
            </a:pPr>
            <a:r>
              <a:rPr lang="en-US" b="1" dirty="0" smtClean="0"/>
              <a:t>Use Case</a:t>
            </a:r>
          </a:p>
          <a:p>
            <a:r>
              <a:rPr lang="en-US" dirty="0" smtClean="0"/>
              <a:t>Technology fingerprinting</a:t>
            </a:r>
          </a:p>
          <a:p>
            <a:r>
              <a:rPr lang="en-US" dirty="0" smtClean="0"/>
              <a:t>Understanding server environment</a:t>
            </a:r>
          </a:p>
          <a:p>
            <a:r>
              <a:rPr lang="en-US" b="1" dirty="0" smtClean="0"/>
              <a:t>Advantages</a:t>
            </a:r>
          </a:p>
          <a:p>
            <a:r>
              <a:rPr lang="en-US" dirty="0" smtClean="0"/>
              <a:t>✔ Accurate infrastructure data</a:t>
            </a:r>
            <a:br>
              <a:rPr lang="en-US" dirty="0" smtClean="0"/>
            </a:br>
            <a:r>
              <a:rPr lang="en-US" dirty="0" smtClean="0"/>
              <a:t>✔ Useful for security audits</a:t>
            </a:r>
          </a:p>
          <a:p>
            <a:r>
              <a:rPr lang="en-US" b="1" dirty="0" smtClean="0"/>
              <a:t>Limitation</a:t>
            </a:r>
          </a:p>
          <a:p>
            <a:r>
              <a:rPr lang="en-US" dirty="0" smtClean="0"/>
              <a:t>❌ Limited details in free version</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WHOIS is a protocol used to obtain </a:t>
            </a:r>
            <a:r>
              <a:rPr lang="en-US" b="1" dirty="0" smtClean="0"/>
              <a:t>domain registration information</a:t>
            </a:r>
            <a:r>
              <a:rPr lang="en-US" dirty="0" smtClean="0"/>
              <a:t>.</a:t>
            </a:r>
          </a:p>
          <a:p>
            <a:r>
              <a:rPr lang="en-US" b="1" dirty="0" smtClean="0"/>
              <a:t>Information Collected</a:t>
            </a:r>
          </a:p>
          <a:p>
            <a:r>
              <a:rPr lang="en-US" dirty="0" smtClean="0"/>
              <a:t>Domain owner name (if not hidden)</a:t>
            </a:r>
          </a:p>
          <a:p>
            <a:r>
              <a:rPr lang="en-US" dirty="0" smtClean="0"/>
              <a:t>Organization</a:t>
            </a:r>
          </a:p>
          <a:p>
            <a:r>
              <a:rPr lang="en-US" dirty="0" smtClean="0"/>
              <a:t>Email address</a:t>
            </a:r>
          </a:p>
          <a:p>
            <a:r>
              <a:rPr lang="en-US" dirty="0" smtClean="0"/>
              <a:t>Registrar</a:t>
            </a:r>
          </a:p>
          <a:p>
            <a:r>
              <a:rPr lang="en-US" dirty="0" smtClean="0"/>
              <a:t>Registration &amp; expiry dates</a:t>
            </a:r>
          </a:p>
          <a:p>
            <a:r>
              <a:rPr lang="en-US" dirty="0" smtClean="0"/>
              <a:t>Name servers</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HOST Command</a:t>
            </a:r>
            <a:endParaRPr lang="en-US" dirty="0"/>
          </a:p>
        </p:txBody>
      </p:sp>
      <p:sp>
        <p:nvSpPr>
          <p:cNvPr id="3" name="Content Placeholder 2"/>
          <p:cNvSpPr>
            <a:spLocks noGrp="1"/>
          </p:cNvSpPr>
          <p:nvPr>
            <p:ph idx="1"/>
          </p:nvPr>
        </p:nvSpPr>
        <p:spPr/>
        <p:txBody>
          <a:bodyPr/>
          <a:lstStyle/>
          <a:p>
            <a:r>
              <a:rPr lang="en-US" dirty="0" smtClean="0"/>
              <a:t>host is a </a:t>
            </a:r>
            <a:r>
              <a:rPr lang="en-US" b="1" dirty="0" smtClean="0"/>
              <a:t>DNS lookup utility</a:t>
            </a:r>
            <a:r>
              <a:rPr lang="en-US" dirty="0" smtClean="0"/>
              <a:t> used to map </a:t>
            </a:r>
            <a:r>
              <a:rPr lang="en-US" b="1" dirty="0" smtClean="0"/>
              <a:t>domain names to IP addresses</a:t>
            </a:r>
            <a:r>
              <a:rPr lang="en-US" dirty="0" smtClean="0"/>
              <a:t>.</a:t>
            </a:r>
          </a:p>
          <a:p>
            <a:r>
              <a:rPr lang="en-US" b="1" dirty="0" smtClean="0"/>
              <a:t>Information Collected</a:t>
            </a:r>
          </a:p>
          <a:p>
            <a:r>
              <a:rPr lang="en-US" dirty="0" smtClean="0"/>
              <a:t>IP address of a domain</a:t>
            </a:r>
          </a:p>
          <a:p>
            <a:r>
              <a:rPr lang="en-US" dirty="0" smtClean="0"/>
              <a:t>Mail servers</a:t>
            </a:r>
          </a:p>
          <a:p>
            <a:r>
              <a:rPr lang="en-US" dirty="0" smtClean="0"/>
              <a:t>Name servers</a:t>
            </a:r>
          </a:p>
          <a:p>
            <a:r>
              <a:rPr lang="en-US" b="1" dirty="0" smtClean="0"/>
              <a:t>Example</a:t>
            </a:r>
            <a:endParaRPr lang="en-US"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dirty="0" smtClean="0"/>
              <a:t>DIG (Domain Information Groper)</a:t>
            </a:r>
            <a:endParaRPr lang="en-US" dirty="0"/>
          </a:p>
        </p:txBody>
      </p:sp>
      <p:sp>
        <p:nvSpPr>
          <p:cNvPr id="3" name="Content Placeholder 2"/>
          <p:cNvSpPr>
            <a:spLocks noGrp="1"/>
          </p:cNvSpPr>
          <p:nvPr>
            <p:ph idx="1"/>
          </p:nvPr>
        </p:nvSpPr>
        <p:spPr>
          <a:xfrm>
            <a:off x="457200" y="1142984"/>
            <a:ext cx="8229600" cy="5500726"/>
          </a:xfrm>
        </p:spPr>
        <p:txBody>
          <a:bodyPr>
            <a:normAutofit fontScale="55000" lnSpcReduction="20000"/>
          </a:bodyPr>
          <a:lstStyle/>
          <a:p>
            <a:pPr>
              <a:buNone/>
            </a:pPr>
            <a:r>
              <a:rPr lang="en-US" b="1" dirty="0" smtClean="0"/>
              <a:t>What is DIG?</a:t>
            </a:r>
          </a:p>
          <a:p>
            <a:r>
              <a:rPr lang="en-US" dirty="0" smtClean="0"/>
              <a:t>dig is an </a:t>
            </a:r>
            <a:r>
              <a:rPr lang="en-US" b="1" dirty="0" smtClean="0"/>
              <a:t>advanced DNS query tool</a:t>
            </a:r>
            <a:r>
              <a:rPr lang="en-US" dirty="0" smtClean="0"/>
              <a:t> used to retrieve </a:t>
            </a:r>
            <a:r>
              <a:rPr lang="en-US" b="1" dirty="0" smtClean="0"/>
              <a:t>detailed DNS records</a:t>
            </a:r>
            <a:r>
              <a:rPr lang="en-US" dirty="0" smtClean="0"/>
              <a:t>.</a:t>
            </a:r>
          </a:p>
          <a:p>
            <a:r>
              <a:rPr lang="en-US" b="1" dirty="0" smtClean="0"/>
              <a:t>Information Collected</a:t>
            </a:r>
          </a:p>
          <a:p>
            <a:r>
              <a:rPr lang="en-US" dirty="0" smtClean="0"/>
              <a:t>A records (IP address)</a:t>
            </a:r>
          </a:p>
          <a:p>
            <a:r>
              <a:rPr lang="en-US" dirty="0" smtClean="0"/>
              <a:t>MX records (mail servers)</a:t>
            </a:r>
          </a:p>
          <a:p>
            <a:r>
              <a:rPr lang="en-US" dirty="0" smtClean="0"/>
              <a:t>NS records (name servers)</a:t>
            </a:r>
          </a:p>
          <a:p>
            <a:r>
              <a:rPr lang="en-US" dirty="0" smtClean="0"/>
              <a:t>TXT records</a:t>
            </a:r>
          </a:p>
          <a:p>
            <a:r>
              <a:rPr lang="en-US" dirty="0" smtClean="0"/>
              <a:t>TTL values</a:t>
            </a:r>
          </a:p>
          <a:p>
            <a:pPr>
              <a:buNone/>
            </a:pPr>
            <a:r>
              <a:rPr lang="en-US" b="1" dirty="0" smtClean="0"/>
              <a:t>Example</a:t>
            </a:r>
          </a:p>
          <a:p>
            <a:r>
              <a:rPr lang="en-US" dirty="0" smtClean="0"/>
              <a:t>dig example.com</a:t>
            </a:r>
          </a:p>
          <a:p>
            <a:pPr>
              <a:buNone/>
            </a:pPr>
            <a:r>
              <a:rPr lang="en-US" b="1" dirty="0" smtClean="0"/>
              <a:t>Use Case</a:t>
            </a:r>
          </a:p>
          <a:p>
            <a:r>
              <a:rPr lang="en-US" dirty="0" smtClean="0"/>
              <a:t>DNS troubleshooting</a:t>
            </a:r>
          </a:p>
          <a:p>
            <a:r>
              <a:rPr lang="en-US" dirty="0" smtClean="0"/>
              <a:t>Understanding DNS architecture</a:t>
            </a:r>
          </a:p>
          <a:p>
            <a:r>
              <a:rPr lang="en-US" dirty="0" smtClean="0"/>
              <a:t>Security analysis</a:t>
            </a:r>
          </a:p>
          <a:p>
            <a:pPr>
              <a:buNone/>
            </a:pPr>
            <a:r>
              <a:rPr lang="en-US" b="1" dirty="0" smtClean="0"/>
              <a:t>Advantages</a:t>
            </a:r>
          </a:p>
          <a:p>
            <a:r>
              <a:rPr lang="en-US" dirty="0" smtClean="0"/>
              <a:t>✔ Detailed and precise</a:t>
            </a:r>
            <a:br>
              <a:rPr lang="en-US" dirty="0" smtClean="0"/>
            </a:br>
            <a:r>
              <a:rPr lang="en-US" dirty="0" smtClean="0"/>
              <a:t>✔ Industry-standard tool</a:t>
            </a:r>
          </a:p>
          <a:p>
            <a:r>
              <a:rPr lang="en-US" b="1" dirty="0" smtClean="0"/>
              <a:t>Limitation</a:t>
            </a:r>
          </a:p>
          <a:p>
            <a:r>
              <a:rPr lang="en-US" dirty="0" smtClean="0"/>
              <a:t>❌ Requires DNS knowledge</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dirty="0" smtClean="0"/>
              <a:t>NMAP</a:t>
            </a:r>
            <a:endParaRPr lang="en-US" dirty="0"/>
          </a:p>
        </p:txBody>
      </p:sp>
      <p:sp>
        <p:nvSpPr>
          <p:cNvPr id="3" name="Content Placeholder 2"/>
          <p:cNvSpPr>
            <a:spLocks noGrp="1"/>
          </p:cNvSpPr>
          <p:nvPr>
            <p:ph idx="1"/>
          </p:nvPr>
        </p:nvSpPr>
        <p:spPr>
          <a:xfrm>
            <a:off x="357158" y="1000108"/>
            <a:ext cx="8329642" cy="5643602"/>
          </a:xfrm>
        </p:spPr>
        <p:txBody>
          <a:bodyPr>
            <a:noAutofit/>
          </a:bodyPr>
          <a:lstStyle/>
          <a:p>
            <a:pPr fontAlgn="base"/>
            <a:r>
              <a:rPr lang="en-US" sz="2000" b="1" dirty="0" err="1" smtClean="0"/>
              <a:t>Nmap</a:t>
            </a:r>
            <a:r>
              <a:rPr lang="en-US" sz="2000" b="1" dirty="0" smtClean="0"/>
              <a:t> (Network </a:t>
            </a:r>
            <a:r>
              <a:rPr lang="en-US" sz="2000" b="1" dirty="0" err="1" smtClean="0"/>
              <a:t>Mapper</a:t>
            </a:r>
            <a:r>
              <a:rPr lang="en-US" sz="2000" b="1" dirty="0" smtClean="0"/>
              <a:t>)</a:t>
            </a:r>
            <a:r>
              <a:rPr lang="en-US" sz="2000" dirty="0" smtClean="0"/>
              <a:t> is an open-source network scanning tool used to discover devices, identify open ports, detect services and their versions, and gather information about operating systems on a network. It is widely used for network auditing, security assessments, and troubleshooting. </a:t>
            </a:r>
            <a:r>
              <a:rPr lang="en-US" sz="2000" dirty="0" err="1" smtClean="0"/>
              <a:t>Nmap</a:t>
            </a:r>
            <a:r>
              <a:rPr lang="en-US" sz="2000" dirty="0" smtClean="0"/>
              <a:t> allows users to do a bunch of things that are related to a wide range of network-related tasks.</a:t>
            </a:r>
          </a:p>
          <a:p>
            <a:pPr fontAlgn="base"/>
            <a:r>
              <a:rPr lang="en-US" sz="2000" b="1" dirty="0" smtClean="0"/>
              <a:t>Network Discovery:</a:t>
            </a:r>
            <a:r>
              <a:rPr lang="en-US" sz="2000" dirty="0" smtClean="0"/>
              <a:t> With </a:t>
            </a:r>
            <a:r>
              <a:rPr lang="en-US" sz="2000" dirty="0" err="1" smtClean="0"/>
              <a:t>Nmap</a:t>
            </a:r>
            <a:r>
              <a:rPr lang="en-US" sz="2000" dirty="0" smtClean="0"/>
              <a:t>, users can scan networks and discover devices and hosts on a network, allowing network </a:t>
            </a:r>
            <a:r>
              <a:rPr lang="en-US" sz="2000" dirty="0" err="1" smtClean="0"/>
              <a:t>admins</a:t>
            </a:r>
            <a:r>
              <a:rPr lang="en-US" sz="2000" dirty="0" smtClean="0"/>
              <a:t> to understand the network more efficiently.</a:t>
            </a:r>
          </a:p>
          <a:p>
            <a:pPr fontAlgn="base"/>
            <a:r>
              <a:rPr lang="en-US" sz="2000" b="1" dirty="0" smtClean="0"/>
              <a:t>Port Scanning:</a:t>
            </a:r>
            <a:r>
              <a:rPr lang="en-US" sz="2000" dirty="0" smtClean="0"/>
              <a:t> It can determine which ports are open and which services are running on those ports, which is critical for security assessments and vulnerability scanning.</a:t>
            </a:r>
          </a:p>
          <a:p>
            <a:pPr fontAlgn="base"/>
            <a:r>
              <a:rPr lang="en-US" sz="2000" b="1" dirty="0" smtClean="0"/>
              <a:t>OS Fingerprinting:</a:t>
            </a:r>
            <a:r>
              <a:rPr lang="en-US" sz="2000" dirty="0" smtClean="0"/>
              <a:t> </a:t>
            </a:r>
            <a:r>
              <a:rPr lang="en-US" sz="2000" dirty="0" err="1" smtClean="0"/>
              <a:t>Nmap</a:t>
            </a:r>
            <a:r>
              <a:rPr lang="en-US" sz="2000" dirty="0" smtClean="0"/>
              <a:t> can attempt to identify the operating system running on a target host by analyzing various characteristics of network packets.</a:t>
            </a:r>
          </a:p>
          <a:p>
            <a:pPr fontAlgn="base"/>
            <a:r>
              <a:rPr lang="en-US" sz="2000" b="1" dirty="0" smtClean="0"/>
              <a:t>Network Monitoring: </a:t>
            </a:r>
            <a:r>
              <a:rPr lang="en-US" sz="2000" dirty="0" err="1" smtClean="0"/>
              <a:t>Nmap</a:t>
            </a:r>
            <a:r>
              <a:rPr lang="en-US" sz="2000" dirty="0" smtClean="0"/>
              <a:t> can be used for continuous monitoring to detect changes in the network environment.</a:t>
            </a:r>
          </a:p>
          <a:p>
            <a:endParaRPr 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Comprehensive Scanning:</a:t>
            </a:r>
            <a:r>
              <a:rPr lang="en-US" dirty="0" smtClean="0"/>
              <a:t> </a:t>
            </a:r>
            <a:r>
              <a:rPr lang="en-US" dirty="0" err="1" smtClean="0"/>
              <a:t>Nmap</a:t>
            </a:r>
            <a:r>
              <a:rPr lang="en-US" dirty="0" smtClean="0"/>
              <a:t> can scan a variety of protocols and perform different types of scans.</a:t>
            </a:r>
          </a:p>
          <a:p>
            <a:pPr fontAlgn="base"/>
            <a:r>
              <a:rPr lang="en-US" b="1" dirty="0" smtClean="0"/>
              <a:t>Scripting Engine: </a:t>
            </a:r>
            <a:r>
              <a:rPr lang="en-US" dirty="0" err="1" smtClean="0"/>
              <a:t>Nmap</a:t>
            </a:r>
            <a:r>
              <a:rPr lang="en-US" dirty="0" smtClean="0"/>
              <a:t> Scripting Engine(NSE) allows users to write and run their custom scripts to automate various tasks of </a:t>
            </a:r>
            <a:r>
              <a:rPr lang="en-US" dirty="0" err="1" smtClean="0"/>
              <a:t>Nmap</a:t>
            </a:r>
            <a:r>
              <a:rPr lang="en-US" dirty="0" smtClean="0"/>
              <a:t> such as Network auditing and vulnerability scanning.</a:t>
            </a:r>
          </a:p>
          <a:p>
            <a:pPr fontAlgn="base"/>
            <a:r>
              <a:rPr lang="en-US" b="1" dirty="0" smtClean="0"/>
              <a:t>OS Detection: </a:t>
            </a:r>
            <a:r>
              <a:rPr lang="en-US" dirty="0" err="1" smtClean="0"/>
              <a:t>Nmap</a:t>
            </a:r>
            <a:r>
              <a:rPr lang="en-US" dirty="0" smtClean="0"/>
              <a:t> can used to identify the operating system of the target hosts based on their responses to the network probes.</a:t>
            </a:r>
          </a:p>
          <a:p>
            <a:pPr fontAlgn="base"/>
            <a:r>
              <a:rPr lang="en-US" b="1" dirty="0" smtClean="0"/>
              <a:t>Service and Version Detection: </a:t>
            </a:r>
            <a:r>
              <a:rPr lang="en-US" dirty="0" err="1" smtClean="0"/>
              <a:t>Nmap</a:t>
            </a:r>
            <a:r>
              <a:rPr lang="en-US" dirty="0" smtClean="0"/>
              <a:t> can accurately identify the services and versions that are running on the open ports of the target hosts.</a:t>
            </a:r>
          </a:p>
          <a:p>
            <a:pPr fontAlgn="base"/>
            <a:r>
              <a:rPr lang="en-US" b="1" dirty="0" smtClean="0"/>
              <a:t>Output Formats: </a:t>
            </a:r>
            <a:r>
              <a:rPr lang="en-US" dirty="0" err="1" smtClean="0"/>
              <a:t>Nmap</a:t>
            </a:r>
            <a:r>
              <a:rPr lang="en-US" dirty="0" smtClean="0"/>
              <a:t> supports multiple output formats for the scan results like plain text, XML, and </a:t>
            </a:r>
            <a:r>
              <a:rPr lang="en-US" dirty="0" err="1" smtClean="0"/>
              <a:t>greppable</a:t>
            </a:r>
            <a:r>
              <a:rPr lang="en-US" dirty="0" smtClean="0"/>
              <a:t> output.</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214282" y="214291"/>
            <a:ext cx="8929718" cy="6500858"/>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smtClean="0"/>
              <a:t>Security Assessment: </a:t>
            </a:r>
            <a:r>
              <a:rPr lang="en-US" dirty="0" smtClean="0"/>
              <a:t>One of the main reasons to have </a:t>
            </a:r>
            <a:r>
              <a:rPr lang="en-US" dirty="0" err="1" smtClean="0"/>
              <a:t>Nmap</a:t>
            </a:r>
            <a:r>
              <a:rPr lang="en-US" dirty="0" smtClean="0"/>
              <a:t> is to assess the security of your network. you can do this by scanning open ports and services, and can further identify potential entry points for attackers.</a:t>
            </a:r>
          </a:p>
          <a:p>
            <a:pPr fontAlgn="base"/>
            <a:r>
              <a:rPr lang="en-US" b="1" dirty="0" smtClean="0"/>
              <a:t>Intrusion Detection: </a:t>
            </a:r>
            <a:r>
              <a:rPr lang="en-US" dirty="0" err="1" smtClean="0"/>
              <a:t>Nmap</a:t>
            </a:r>
            <a:r>
              <a:rPr lang="en-US" dirty="0" smtClean="0"/>
              <a:t> can be used to detect unauthorized or unexpected changes in your network environment. Regular scans can help you identify new or rogue devices that shouldn't be on your network.</a:t>
            </a:r>
          </a:p>
          <a:p>
            <a:pPr fontAlgn="base"/>
            <a:r>
              <a:rPr lang="en-US" b="1" dirty="0" smtClean="0"/>
              <a:t>Inventory Management:</a:t>
            </a:r>
            <a:r>
              <a:rPr lang="en-US" dirty="0" smtClean="0"/>
              <a:t> </a:t>
            </a:r>
            <a:r>
              <a:rPr lang="en-US" dirty="0" err="1" smtClean="0"/>
              <a:t>Nmap</a:t>
            </a:r>
            <a:r>
              <a:rPr lang="en-US" dirty="0" smtClean="0"/>
              <a:t> provides an efficient way to create an inventory of all devices on your network. This is crucial for keeping track of your network's assets and ensuring you have control over what's connected.</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Network Troubleshooting:</a:t>
            </a:r>
            <a:r>
              <a:rPr lang="en-US" dirty="0" smtClean="0"/>
              <a:t> Whenever there is a network issue, </a:t>
            </a:r>
            <a:r>
              <a:rPr lang="en-US" dirty="0" err="1" smtClean="0"/>
              <a:t>Nmap</a:t>
            </a:r>
            <a:r>
              <a:rPr lang="en-US" dirty="0" smtClean="0"/>
              <a:t> can help you identify the root cause of the issue by pinpointing the status of the network services and devices. which can further help you resolve the issue in a better manner.</a:t>
            </a:r>
          </a:p>
          <a:p>
            <a:pPr fontAlgn="base"/>
            <a:r>
              <a:rPr lang="en-US" b="1" dirty="0" smtClean="0"/>
              <a:t>Vulnerability Scanning:</a:t>
            </a:r>
            <a:r>
              <a:rPr lang="en-US" dirty="0" smtClean="0"/>
              <a:t> </a:t>
            </a:r>
            <a:r>
              <a:rPr lang="en-US" dirty="0" err="1" smtClean="0"/>
              <a:t>Nmap</a:t>
            </a:r>
            <a:r>
              <a:rPr lang="en-US" dirty="0" smtClean="0"/>
              <a:t> can be used in conjunction with vulnerability databases and scripts (such as NSE scripts) to scan for known vulnerabilities on devices. This aids in proactive security measures to patch or mitigate vulnerabilities before they are exploited.</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Social Engineering? </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pPr fontAlgn="base"/>
            <a:r>
              <a:rPr lang="en-US" dirty="0" smtClean="0"/>
              <a:t>Social Engineering is an umbrella term for </a:t>
            </a:r>
            <a:r>
              <a:rPr lang="en-US" b="1" dirty="0" smtClean="0"/>
              <a:t>multiple malicious activities </a:t>
            </a:r>
            <a:r>
              <a:rPr lang="en-US" dirty="0" smtClean="0"/>
              <a:t>done by cyber criminals over the internet through human interaction.</a:t>
            </a:r>
          </a:p>
          <a:p>
            <a:pPr fontAlgn="base"/>
            <a:r>
              <a:rPr lang="en-US" dirty="0" smtClean="0"/>
              <a:t>It doesn't involve the use of technical hacking techniques. Attackers use psychology and manipulation to trick users into performing actions that could compromise with their security including </a:t>
            </a:r>
            <a:r>
              <a:rPr lang="en-US" b="1" dirty="0" smtClean="0"/>
              <a:t>downloading malicious files, revealing sensitive information, clicking on malicious links, make transactions to illegal sources </a:t>
            </a:r>
            <a:r>
              <a:rPr lang="en-US" dirty="0" smtClean="0"/>
              <a:t>etc. </a:t>
            </a:r>
          </a:p>
          <a:p>
            <a:pPr fontAlgn="base"/>
            <a:r>
              <a:rPr lang="en-US" dirty="0" smtClean="0"/>
              <a:t>It includes range of attacks including Phishing, Baiting, </a:t>
            </a:r>
            <a:r>
              <a:rPr lang="en-US" dirty="0" err="1" smtClean="0"/>
              <a:t>Tailagting</a:t>
            </a:r>
            <a:r>
              <a:rPr lang="en-US" dirty="0" smtClean="0"/>
              <a:t>, </a:t>
            </a:r>
            <a:r>
              <a:rPr lang="en-US" dirty="0" err="1" smtClean="0"/>
              <a:t>Pretexting</a:t>
            </a:r>
            <a:r>
              <a:rPr lang="en-US" dirty="0" smtClean="0"/>
              <a:t>, </a:t>
            </a:r>
            <a:r>
              <a:rPr lang="en-US" dirty="0" err="1" smtClean="0"/>
              <a:t>Scareware</a:t>
            </a:r>
            <a:r>
              <a:rPr lang="en-US" dirty="0" smtClean="0"/>
              <a:t> etc. as they all exploit the human trust. Social engineering is often the first step of larger cyber attacks.</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fontAlgn="base"/>
            <a:r>
              <a:rPr lang="en-US" b="1" dirty="0" smtClean="0"/>
              <a:t>Purpose of Social Engineering Attacks</a:t>
            </a:r>
          </a:p>
          <a:p>
            <a:pPr fontAlgn="base"/>
            <a:r>
              <a:rPr lang="en-US" dirty="0" smtClean="0"/>
              <a:t>The purpose of</a:t>
            </a:r>
            <a:r>
              <a:rPr lang="en-US" u="sng" dirty="0" smtClean="0">
                <a:hlinkClick r:id="rId2"/>
              </a:rPr>
              <a:t> social engineering</a:t>
            </a:r>
            <a:r>
              <a:rPr lang="en-US" dirty="0" smtClean="0"/>
              <a:t> attacks is typically to </a:t>
            </a:r>
            <a:r>
              <a:rPr lang="en-US" b="1" dirty="0" smtClean="0"/>
              <a:t>steal sensitive information, such as login credentials, credit card numbers, or personal information. </a:t>
            </a:r>
            <a:r>
              <a:rPr lang="en-US" dirty="0" smtClean="0"/>
              <a:t>Attackers can use this information for</a:t>
            </a:r>
            <a:r>
              <a:rPr lang="en-US" b="1" dirty="0" smtClean="0"/>
              <a:t> identity theft, financial fraud, or other malicious purposes.</a:t>
            </a:r>
            <a:r>
              <a:rPr lang="en-US" dirty="0" smtClean="0"/>
              <a:t> Another purpose of social engineering attacks is to gain </a:t>
            </a:r>
            <a:r>
              <a:rPr lang="en-US" b="1" dirty="0" smtClean="0"/>
              <a:t>unauthorized access</a:t>
            </a:r>
            <a:r>
              <a:rPr lang="en-US" dirty="0" smtClean="0"/>
              <a:t> to secure areas or systems.</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How do Social Engineering Attack Works? </a:t>
            </a:r>
          </a:p>
          <a:p>
            <a:pPr fontAlgn="base"/>
            <a:r>
              <a:rPr lang="en-US" dirty="0" smtClean="0"/>
              <a:t>While social engineering attacks don't follow a fixed strategy, as attackers often adapt their tactics based on the victim, situation, and context, there are certain common elements that most social engineers employ. These key factors include:</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1. Planning and Research</a:t>
            </a:r>
          </a:p>
          <a:p>
            <a:pPr fontAlgn="base"/>
            <a:r>
              <a:rPr lang="en-US" dirty="0" smtClean="0"/>
              <a:t>Before launching a social engineering attack, the attacker spends time gathering information. This phase is critical to the success of the attack. The attacker may collect publicly available information about the target through:</a:t>
            </a:r>
          </a:p>
          <a:p>
            <a:pPr fontAlgn="base"/>
            <a:r>
              <a:rPr lang="en-US" b="1" dirty="0" smtClean="0"/>
              <a:t>Social Media</a:t>
            </a:r>
            <a:r>
              <a:rPr lang="en-US" dirty="0" smtClean="0"/>
              <a:t>: Platforms like LinkedIn, </a:t>
            </a:r>
            <a:r>
              <a:rPr lang="en-US" dirty="0" err="1" smtClean="0"/>
              <a:t>Facebook</a:t>
            </a:r>
            <a:r>
              <a:rPr lang="en-US" dirty="0" smtClean="0"/>
              <a:t>, or Twitter can reveal personal details, job roles, contacts, and interests.</a:t>
            </a:r>
          </a:p>
          <a:p>
            <a:pPr fontAlgn="base"/>
            <a:r>
              <a:rPr lang="en-US" b="1" dirty="0" smtClean="0"/>
              <a:t>Company Websites</a:t>
            </a:r>
            <a:r>
              <a:rPr lang="en-US" dirty="0" smtClean="0"/>
              <a:t>: Details about employees, company structure, and operational processes can be found here.</a:t>
            </a:r>
          </a:p>
          <a:p>
            <a:pPr fontAlgn="base"/>
            <a:r>
              <a:rPr lang="en-US" b="1" dirty="0" smtClean="0"/>
              <a:t>Public Records</a:t>
            </a:r>
            <a:r>
              <a:rPr lang="en-US" dirty="0" smtClean="0"/>
              <a:t>: Information like employee directories, email addresses, and phone numbers can be found on company </a:t>
            </a:r>
            <a:r>
              <a:rPr lang="en-US" u="sng" dirty="0" smtClean="0">
                <a:hlinkClick r:id="rId2"/>
              </a:rPr>
              <a:t>websites </a:t>
            </a:r>
            <a:r>
              <a:rPr lang="en-US" dirty="0" smtClean="0"/>
              <a:t>or government </a:t>
            </a:r>
            <a:r>
              <a:rPr lang="en-US" u="sng" dirty="0" smtClean="0">
                <a:hlinkClick r:id="rId3"/>
              </a:rPr>
              <a:t>databases</a:t>
            </a:r>
            <a:r>
              <a:rPr lang="en-US" dirty="0" smtClean="0"/>
              <a:t>.</a:t>
            </a:r>
          </a:p>
          <a:p>
            <a:pPr fontAlgn="base"/>
            <a:r>
              <a:rPr lang="en-US" dirty="0" smtClean="0"/>
              <a:t>This information helps the attacker craft a believable and tailored message, increasing the likelihood of success.</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2. Creating a Convincing Pretext</a:t>
            </a:r>
          </a:p>
          <a:p>
            <a:pPr fontAlgn="base"/>
            <a:r>
              <a:rPr lang="en-US" dirty="0" smtClean="0"/>
              <a:t>The attacker develops a </a:t>
            </a:r>
            <a:r>
              <a:rPr lang="en-US" b="1" dirty="0" smtClean="0"/>
              <a:t>pretext,</a:t>
            </a:r>
            <a:r>
              <a:rPr lang="en-US" dirty="0" smtClean="0"/>
              <a:t> story designed to gain the trust of the victim. For example:</a:t>
            </a:r>
          </a:p>
          <a:p>
            <a:pPr fontAlgn="base"/>
            <a:r>
              <a:rPr lang="en-US" b="1" dirty="0" smtClean="0"/>
              <a:t>Impersonation</a:t>
            </a:r>
            <a:r>
              <a:rPr lang="en-US" dirty="0" smtClean="0"/>
              <a:t>: The attacker might pose as a company executive, technical support, or a trusted colleague to ask for sensitive information or access.</a:t>
            </a:r>
          </a:p>
          <a:p>
            <a:pPr fontAlgn="base"/>
            <a:r>
              <a:rPr lang="en-US" b="1" dirty="0" smtClean="0"/>
              <a:t>Urgency or Pressure</a:t>
            </a:r>
            <a:r>
              <a:rPr lang="en-US" dirty="0" smtClean="0"/>
              <a:t>: The attacker may create a sense of urgency to pressure the victim into acting quickly, such as claiming that immediate action is needed to fix a system issue or resolve an account problem.</a:t>
            </a:r>
          </a:p>
          <a:p>
            <a:pPr fontAlgn="base"/>
            <a:r>
              <a:rPr lang="en-US" b="1" dirty="0" smtClean="0"/>
              <a:t>Familiarity</a:t>
            </a:r>
            <a:r>
              <a:rPr lang="en-US" dirty="0" smtClean="0"/>
              <a:t>: Attackers often use personal information about the target to make their approach seem more genuine (e.g., referencing the target’s recent social media posts or common connections).</a:t>
            </a:r>
          </a:p>
          <a:p>
            <a:pPr fontAlgn="base"/>
            <a:r>
              <a:rPr lang="en-US" dirty="0" smtClean="0"/>
              <a:t>The goal is to exploit the victim's natural tendency to trust familiar sources, especially in a work or personal context.</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fontScale="85000" lnSpcReduction="20000"/>
          </a:bodyPr>
          <a:lstStyle/>
          <a:p>
            <a:pPr fontAlgn="base"/>
            <a:r>
              <a:rPr lang="en-US" b="1" dirty="0" smtClean="0"/>
              <a:t>3. Engaging with the Victim</a:t>
            </a:r>
          </a:p>
          <a:p>
            <a:pPr fontAlgn="base"/>
            <a:r>
              <a:rPr lang="en-US" dirty="0" smtClean="0"/>
              <a:t>After the pretext is established, the attacker engages with the victim. The attack may take different forms:</a:t>
            </a:r>
          </a:p>
          <a:p>
            <a:pPr fontAlgn="base"/>
            <a:r>
              <a:rPr lang="en-US" b="1" u="sng" dirty="0" smtClean="0">
                <a:hlinkClick r:id="rId2"/>
              </a:rPr>
              <a:t>Phishing Emails</a:t>
            </a:r>
            <a:r>
              <a:rPr lang="en-US" dirty="0" smtClean="0"/>
              <a:t>: The attacker sends an email that appears legitimate, asking the victim to click on a malicious link or open an infected attachment. The email often includes a request for login credentials, sensitive data, or other confidential information.</a:t>
            </a:r>
          </a:p>
          <a:p>
            <a:pPr fontAlgn="base"/>
            <a:r>
              <a:rPr lang="en-US" b="1" dirty="0" smtClean="0"/>
              <a:t>Phone Calls (</a:t>
            </a:r>
            <a:r>
              <a:rPr lang="en-US" b="1" u="sng" dirty="0" err="1" smtClean="0">
                <a:hlinkClick r:id="rId3"/>
              </a:rPr>
              <a:t>Vishing</a:t>
            </a:r>
            <a:r>
              <a:rPr lang="en-US" b="1" dirty="0" smtClean="0"/>
              <a:t>)</a:t>
            </a:r>
            <a:r>
              <a:rPr lang="en-US" dirty="0" smtClean="0"/>
              <a:t>: The attacker calls the victim, pretending to be from IT support or a trusted institution, and asks the victim to provide personal or financial information.</a:t>
            </a:r>
          </a:p>
          <a:p>
            <a:pPr fontAlgn="base"/>
            <a:r>
              <a:rPr lang="en-US" b="1" dirty="0" smtClean="0"/>
              <a:t>SMS Messages (</a:t>
            </a:r>
            <a:r>
              <a:rPr lang="en-US" b="1" u="sng" dirty="0" err="1" smtClean="0">
                <a:hlinkClick r:id="rId4"/>
              </a:rPr>
              <a:t>Smishing</a:t>
            </a:r>
            <a:r>
              <a:rPr lang="en-US" b="1" dirty="0" smtClean="0"/>
              <a:t>)</a:t>
            </a:r>
            <a:r>
              <a:rPr lang="en-US" dirty="0" smtClean="0"/>
              <a:t>: The attacker sends a text message that mimics a legitimate service, prompting the victim to click on a malicious link or provide confidential information.</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fontScale="85000" lnSpcReduction="10000"/>
          </a:bodyPr>
          <a:lstStyle/>
          <a:p>
            <a:pPr fontAlgn="base"/>
            <a:r>
              <a:rPr lang="en-US" b="1" dirty="0" smtClean="0"/>
              <a:t>4. Exploiting the Trust</a:t>
            </a:r>
          </a:p>
          <a:p>
            <a:pPr fontAlgn="base"/>
            <a:r>
              <a:rPr lang="en-US" dirty="0" smtClean="0"/>
              <a:t>Once the victim responds, the attacker exploits the trust established through the pretext. This could involve:</a:t>
            </a:r>
          </a:p>
          <a:p>
            <a:pPr fontAlgn="base"/>
            <a:r>
              <a:rPr lang="en-US" b="1" dirty="0" smtClean="0"/>
              <a:t>Stealing Information</a:t>
            </a:r>
            <a:r>
              <a:rPr lang="en-US" dirty="0" smtClean="0"/>
              <a:t>: The attacker may gather sensitive data like login credentials, financial information, or personal identifiers.</a:t>
            </a:r>
          </a:p>
          <a:p>
            <a:pPr fontAlgn="base"/>
            <a:r>
              <a:rPr lang="en-US" b="1" dirty="0" smtClean="0"/>
              <a:t>Gaining </a:t>
            </a:r>
            <a:r>
              <a:rPr lang="en-US" b="1" u="sng" dirty="0" smtClean="0">
                <a:hlinkClick r:id="rId2"/>
              </a:rPr>
              <a:t>Unauthorized Access</a:t>
            </a:r>
            <a:r>
              <a:rPr lang="en-US" dirty="0" smtClean="0"/>
              <a:t>: The attacker may trick the victim into granting access to critical systems, networks, or databases, either by clicking on a link, downloading </a:t>
            </a:r>
            <a:r>
              <a:rPr lang="en-US" u="sng" dirty="0" smtClean="0">
                <a:hlinkClick r:id="rId3"/>
              </a:rPr>
              <a:t>malware</a:t>
            </a:r>
            <a:r>
              <a:rPr lang="en-US" dirty="0" smtClean="0"/>
              <a:t>, or entering login credentials.</a:t>
            </a:r>
          </a:p>
          <a:p>
            <a:pPr fontAlgn="base"/>
            <a:r>
              <a:rPr lang="en-US" b="1" dirty="0" smtClean="0"/>
              <a:t>Installing Malware</a:t>
            </a:r>
            <a:r>
              <a:rPr lang="en-US" u="sng" dirty="0" smtClean="0">
                <a:hlinkClick r:id="rId3"/>
              </a:rPr>
              <a:t>:</a:t>
            </a:r>
            <a:r>
              <a:rPr lang="en-US" dirty="0" smtClean="0"/>
              <a:t> In some cases, the attacker may convince the victim to download malware disguised as legitimate software or documents, which could then be used to access the victim’s system or data remotely.</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85000" lnSpcReduction="20000"/>
          </a:bodyPr>
          <a:lstStyle/>
          <a:p>
            <a:pPr fontAlgn="base"/>
            <a:r>
              <a:rPr lang="en-US" b="1" dirty="0" smtClean="0"/>
              <a:t>5. Taking Advantage of the Information</a:t>
            </a:r>
          </a:p>
          <a:p>
            <a:pPr fontAlgn="base"/>
            <a:r>
              <a:rPr lang="en-US" dirty="0" smtClean="0"/>
              <a:t>After successfully obtaining the desired information or access, the attacker can:</a:t>
            </a:r>
          </a:p>
          <a:p>
            <a:pPr fontAlgn="base"/>
            <a:r>
              <a:rPr lang="en-US" b="1" dirty="0" smtClean="0"/>
              <a:t>Perform Financial Fraud</a:t>
            </a:r>
            <a:r>
              <a:rPr lang="en-US" dirty="0" smtClean="0"/>
              <a:t>: Using stolen credentials or sensitive data, the attacker can make unauthorized financial transactions.</a:t>
            </a:r>
          </a:p>
          <a:p>
            <a:pPr fontAlgn="base"/>
            <a:r>
              <a:rPr lang="en-US" b="1" dirty="0" smtClean="0"/>
              <a:t>Access Sensitive Systems</a:t>
            </a:r>
            <a:r>
              <a:rPr lang="en-US" dirty="0" smtClean="0"/>
              <a:t>: The attacker may now have the ability to breach more secure areas of the organization, often leveraging compromised accounts to move laterally through the network.</a:t>
            </a:r>
          </a:p>
          <a:p>
            <a:pPr fontAlgn="base"/>
            <a:r>
              <a:rPr lang="en-US" b="1" dirty="0" smtClean="0"/>
              <a:t>Install </a:t>
            </a:r>
            <a:r>
              <a:rPr lang="en-US" b="1" dirty="0" err="1" smtClean="0"/>
              <a:t>Ransomware</a:t>
            </a:r>
            <a:r>
              <a:rPr lang="en-US" dirty="0" smtClean="0"/>
              <a:t>: If the attacker has gained access to critical systems, they may deploy </a:t>
            </a:r>
            <a:r>
              <a:rPr lang="en-US" u="sng" dirty="0" err="1" smtClean="0">
                <a:hlinkClick r:id="rId2"/>
              </a:rPr>
              <a:t>ransomware</a:t>
            </a:r>
            <a:r>
              <a:rPr lang="en-US" u="sng" dirty="0" smtClean="0">
                <a:hlinkClick r:id="rId2"/>
              </a:rPr>
              <a:t> </a:t>
            </a:r>
            <a:r>
              <a:rPr lang="en-US" dirty="0" smtClean="0"/>
              <a:t>to demand payment for </a:t>
            </a:r>
            <a:r>
              <a:rPr lang="en-US" u="sng" dirty="0" smtClean="0">
                <a:hlinkClick r:id="rId3"/>
              </a:rPr>
              <a:t>decryption</a:t>
            </a:r>
            <a:r>
              <a:rPr lang="en-US" dirty="0" smtClean="0"/>
              <a:t>.</a:t>
            </a:r>
          </a:p>
          <a:p>
            <a:pPr fontAlgn="base"/>
            <a:r>
              <a:rPr lang="en-US" b="1" dirty="0" smtClean="0"/>
              <a:t>Sell Stolen Data</a:t>
            </a:r>
            <a:r>
              <a:rPr lang="en-US" dirty="0" smtClean="0"/>
              <a:t>: The attacker may sell sensitive information, such as personal records, intellectual property, or financial data, on the dark web.</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20000"/>
          </a:bodyPr>
          <a:lstStyle/>
          <a:p>
            <a:pPr fontAlgn="base"/>
            <a:r>
              <a:rPr lang="en-US" b="1" dirty="0" smtClean="0"/>
              <a:t>6. Covering Their Tracks</a:t>
            </a:r>
          </a:p>
          <a:p>
            <a:pPr fontAlgn="base"/>
            <a:r>
              <a:rPr lang="en-US" dirty="0" smtClean="0"/>
              <a:t>Social engineers are often skilled at erasing signs of their presence. After exploiting the victim, they may:</a:t>
            </a:r>
          </a:p>
          <a:p>
            <a:pPr fontAlgn="base"/>
            <a:r>
              <a:rPr lang="en-US" b="1" dirty="0" smtClean="0"/>
              <a:t>Delete or Modify Logs</a:t>
            </a:r>
            <a:r>
              <a:rPr lang="en-US" dirty="0" smtClean="0"/>
              <a:t>: Attackers may delete communication logs or traces of malware to avoid detection.</a:t>
            </a:r>
          </a:p>
          <a:p>
            <a:pPr fontAlgn="base"/>
            <a:r>
              <a:rPr lang="en-US" b="1" dirty="0" smtClean="0"/>
              <a:t>Use </a:t>
            </a:r>
            <a:r>
              <a:rPr lang="en-US" b="1" u="sng" dirty="0" smtClean="0">
                <a:hlinkClick r:id="rId2"/>
              </a:rPr>
              <a:t>Encryption</a:t>
            </a:r>
            <a:r>
              <a:rPr lang="en-US" dirty="0" smtClean="0"/>
              <a:t>: The attacker may encrypt sensitive data to prevent the victim from accessing it or identifying the </a:t>
            </a:r>
            <a:r>
              <a:rPr lang="en-US" u="sng" dirty="0" smtClean="0">
                <a:hlinkClick r:id="rId3"/>
              </a:rPr>
              <a:t>breach</a:t>
            </a:r>
            <a:r>
              <a:rPr lang="en-US" dirty="0" smtClean="0"/>
              <a:t>.</a:t>
            </a:r>
          </a:p>
          <a:p>
            <a:pPr fontAlgn="base"/>
            <a:r>
              <a:rPr lang="en-US" dirty="0" smtClean="0"/>
              <a:t>This stage ensures the attacker remains undetected for a longer period, allowing them to continue exploiting the situation or sell the data they have stolen.</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SE Attacks</a:t>
            </a: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b="1" dirty="0" smtClean="0"/>
              <a:t>1. Phishing</a:t>
            </a:r>
          </a:p>
          <a:p>
            <a:pPr fontAlgn="base"/>
            <a:r>
              <a:rPr lang="en-US" u="sng" dirty="0" smtClean="0">
                <a:hlinkClick r:id="rId2"/>
              </a:rPr>
              <a:t>Phishing</a:t>
            </a:r>
            <a:r>
              <a:rPr lang="en-US" dirty="0" smtClean="0"/>
              <a:t> is a type of social engineering attack that involves sending an email or message that appears to be from a legitimate source, such as a bank, in an attempt to trick the recipient into revealing their login credentials or other sensitive information.</a:t>
            </a:r>
          </a:p>
          <a:p>
            <a:pPr fontAlgn="base"/>
            <a:r>
              <a:rPr lang="en-US" b="1" dirty="0" smtClean="0"/>
              <a:t>2. Baiting</a:t>
            </a:r>
          </a:p>
          <a:p>
            <a:pPr fontAlgn="base"/>
            <a:r>
              <a:rPr lang="en-US" dirty="0" smtClean="0"/>
              <a:t>Baiting is a type of social engineering attack that involves leaving a tempting item, such as a USB drive, in a public place in the hope that someone will pick it up and plug it into their computer. The USB drive is then used to infect the computer with malware.</a:t>
            </a:r>
          </a:p>
          <a:p>
            <a:pPr fontAlgn="base"/>
            <a:r>
              <a:rPr lang="en-US" b="1" dirty="0" smtClean="0"/>
              <a:t>3. Tailgating</a:t>
            </a:r>
          </a:p>
          <a:p>
            <a:pPr fontAlgn="base"/>
            <a:r>
              <a:rPr lang="en-US" dirty="0" smtClean="0"/>
              <a:t>Tailgating is a type of social engineering attack that involves following an authorized individual into a secure area, such as a building or data center, without proper authorization.</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10000"/>
          </a:bodyPr>
          <a:lstStyle/>
          <a:p>
            <a:pPr fontAlgn="base"/>
            <a:r>
              <a:rPr lang="en-US" b="1" dirty="0" smtClean="0"/>
              <a:t>4. </a:t>
            </a:r>
            <a:r>
              <a:rPr lang="en-US" b="1" dirty="0" err="1" smtClean="0"/>
              <a:t>Pretexting</a:t>
            </a:r>
            <a:endParaRPr lang="en-US" b="1" dirty="0" smtClean="0"/>
          </a:p>
          <a:p>
            <a:pPr fontAlgn="base"/>
            <a:r>
              <a:rPr lang="en-US" dirty="0" err="1" smtClean="0"/>
              <a:t>Pretexting</a:t>
            </a:r>
            <a:r>
              <a:rPr lang="en-US" dirty="0" smtClean="0"/>
              <a:t> is a type of social engineering attack that involves creating a false identity or situation in order to trick an individual into revealing sensitive information. For example, an attacker might pretend to be a customer service representative in order to trick an individual into giving them their login credentials.</a:t>
            </a:r>
          </a:p>
          <a:p>
            <a:pPr fontAlgn="base"/>
            <a:r>
              <a:rPr lang="en-US" b="1" dirty="0" smtClean="0"/>
              <a:t>5. </a:t>
            </a:r>
            <a:r>
              <a:rPr lang="en-US" b="1" dirty="0" err="1" smtClean="0"/>
              <a:t>Scareware</a:t>
            </a:r>
            <a:endParaRPr lang="en-US" b="1" dirty="0" smtClean="0"/>
          </a:p>
          <a:p>
            <a:pPr fontAlgn="base"/>
            <a:r>
              <a:rPr lang="en-US" dirty="0" err="1" smtClean="0"/>
              <a:t>Scareware</a:t>
            </a:r>
            <a:r>
              <a:rPr lang="en-US" dirty="0" smtClean="0"/>
              <a:t> is when the victim is sent false messages claiming their system is infected with a malware, or outdated, suggesting them to download </a:t>
            </a:r>
            <a:r>
              <a:rPr lang="en-US" dirty="0" err="1" smtClean="0"/>
              <a:t>softwares</a:t>
            </a:r>
            <a:r>
              <a:rPr lang="en-US" dirty="0" smtClean="0"/>
              <a:t> t</a:t>
            </a:r>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Prevention</a:t>
            </a:r>
            <a:endParaRPr lang="en-US" dirty="0"/>
          </a:p>
        </p:txBody>
      </p:sp>
      <p:sp>
        <p:nvSpPr>
          <p:cNvPr id="3" name="Content Placeholder 2"/>
          <p:cNvSpPr>
            <a:spLocks noGrp="1"/>
          </p:cNvSpPr>
          <p:nvPr>
            <p:ph idx="1"/>
          </p:nvPr>
        </p:nvSpPr>
        <p:spPr/>
        <p:txBody>
          <a:bodyPr>
            <a:normAutofit fontScale="55000" lnSpcReduction="20000"/>
          </a:bodyPr>
          <a:lstStyle/>
          <a:p>
            <a:pPr fontAlgn="base"/>
            <a:r>
              <a:rPr lang="en-US" b="1" dirty="0" smtClean="0"/>
              <a:t>1. Avoid Opening Emails and Attachments from Suspicious Sources</a:t>
            </a:r>
          </a:p>
          <a:p>
            <a:pPr fontAlgn="base"/>
            <a:r>
              <a:rPr lang="en-US" dirty="0" smtClean="0"/>
              <a:t>Phishing emails often appear legitimate but contain malicious links or attachments designed to steal personal information or install malware. Always be cautious when receiving unsolicited emails, especially those requesting sensitive data or action.</a:t>
            </a:r>
          </a:p>
          <a:p>
            <a:pPr fontAlgn="base"/>
            <a:r>
              <a:rPr lang="en-US" dirty="0" smtClean="0"/>
              <a:t>Check the sender's email address carefully.</a:t>
            </a:r>
          </a:p>
          <a:p>
            <a:pPr fontAlgn="base"/>
            <a:r>
              <a:rPr lang="en-US" dirty="0" smtClean="0"/>
              <a:t>Avoid clicking on suspicious links or downloading attachments.</a:t>
            </a:r>
          </a:p>
          <a:p>
            <a:pPr fontAlgn="base"/>
            <a:r>
              <a:rPr lang="en-US" dirty="0" smtClean="0"/>
              <a:t>Verify requests through alternative channels (e.g., by calling or messaging the official number).</a:t>
            </a:r>
          </a:p>
          <a:p>
            <a:pPr fontAlgn="base"/>
            <a:r>
              <a:rPr lang="en-US" b="1" dirty="0" smtClean="0"/>
              <a:t>2. Enable </a:t>
            </a:r>
            <a:r>
              <a:rPr lang="en-US" b="1" u="sng" dirty="0" smtClean="0">
                <a:hlinkClick r:id="rId2"/>
              </a:rPr>
              <a:t>Multi-Factor Authentication (MFA)</a:t>
            </a:r>
            <a:endParaRPr lang="en-US" b="1" dirty="0" smtClean="0"/>
          </a:p>
          <a:p>
            <a:pPr fontAlgn="base"/>
            <a:r>
              <a:rPr lang="en-US" dirty="0" smtClean="0"/>
              <a:t>Multi-factor authentication (MFA) adds an extra layer of security by requiring more than just a password. This reduces the risk of unauthorized access, even if your password is compromised.</a:t>
            </a:r>
          </a:p>
          <a:p>
            <a:pPr fontAlgn="base"/>
            <a:r>
              <a:rPr lang="en-US" dirty="0" smtClean="0"/>
              <a:t>Enable MFA for critical accounts (e.g., email, banking, social media).</a:t>
            </a:r>
          </a:p>
          <a:p>
            <a:pPr fontAlgn="base"/>
            <a:r>
              <a:rPr lang="en-US" dirty="0" smtClean="0"/>
              <a:t>Use authentication apps like Google Authenticator for added security.</a:t>
            </a:r>
          </a:p>
          <a:p>
            <a:pPr fontAlgn="base"/>
            <a:r>
              <a:rPr lang="en-US" dirty="0" smtClean="0"/>
              <a:t>Enable biometric authentication where possible.</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lnSpcReduction="10000"/>
          </a:bodyPr>
          <a:lstStyle/>
          <a:p>
            <a:pPr fontAlgn="base"/>
            <a:r>
              <a:rPr lang="en-US" b="1" dirty="0" smtClean="0"/>
              <a:t>3. Beware of Tempting Baits</a:t>
            </a:r>
          </a:p>
          <a:p>
            <a:pPr fontAlgn="base"/>
            <a:r>
              <a:rPr lang="en-US" dirty="0" smtClean="0"/>
              <a:t>Cyber attackers often use enticing offers to lure victims into clicking malicious links or downloading infected files. Be cautious of "too good to be true" deals.</a:t>
            </a:r>
          </a:p>
          <a:p>
            <a:pPr fontAlgn="base"/>
            <a:r>
              <a:rPr lang="en-US" dirty="0" smtClean="0"/>
              <a:t>Be wary of unsolicited offers, discounts, or free downloads.</a:t>
            </a:r>
          </a:p>
          <a:p>
            <a:pPr fontAlgn="base"/>
            <a:r>
              <a:rPr lang="en-US" dirty="0" smtClean="0"/>
              <a:t>Avoid clicking on unknown links or downloading files from unfamiliar sources.</a:t>
            </a:r>
          </a:p>
          <a:p>
            <a:pPr fontAlgn="base"/>
            <a:r>
              <a:rPr lang="en-US" dirty="0" smtClean="0"/>
              <a:t>Always verify the legitimacy of offers before acting.</a:t>
            </a:r>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b="1" dirty="0" smtClean="0"/>
              <a:t/>
            </a:r>
            <a:br>
              <a:rPr lang="en-US" b="1" dirty="0" smtClean="0"/>
            </a:br>
            <a:r>
              <a:rPr lang="en-US" sz="4000" b="1" dirty="0" smtClean="0"/>
              <a:t>Distributed Denial of Service </a:t>
            </a:r>
            <a:r>
              <a:rPr lang="en-US" sz="4000" b="1" dirty="0" err="1" smtClean="0"/>
              <a:t>DDoS</a:t>
            </a:r>
            <a:r>
              <a:rPr lang="en-US" sz="4000" b="1" dirty="0" smtClean="0"/>
              <a:t> attack</a:t>
            </a:r>
            <a:br>
              <a:rPr lang="en-US" sz="4000" b="1" dirty="0" smtClean="0"/>
            </a:br>
            <a:endParaRPr lang="en-US" sz="4000" dirty="0"/>
          </a:p>
        </p:txBody>
      </p:sp>
      <p:sp>
        <p:nvSpPr>
          <p:cNvPr id="3" name="Content Placeholder 2"/>
          <p:cNvSpPr>
            <a:spLocks noGrp="1"/>
          </p:cNvSpPr>
          <p:nvPr>
            <p:ph idx="1"/>
          </p:nvPr>
        </p:nvSpPr>
        <p:spPr>
          <a:xfrm>
            <a:off x="214282" y="1142984"/>
            <a:ext cx="8472518" cy="5500726"/>
          </a:xfrm>
        </p:spPr>
        <p:txBody>
          <a:bodyPr>
            <a:normAutofit fontScale="77500" lnSpcReduction="20000"/>
          </a:bodyPr>
          <a:lstStyle/>
          <a:p>
            <a:pPr fontAlgn="base"/>
            <a:r>
              <a:rPr lang="en-US" dirty="0" smtClean="0"/>
              <a:t>Imagine a scenario where you are visiting some websites and one of them seems to be a little slow. </a:t>
            </a:r>
          </a:p>
          <a:p>
            <a:pPr fontAlgn="base"/>
            <a:r>
              <a:rPr lang="en-US" dirty="0" smtClean="0"/>
              <a:t>You might blame their servers for improving their scalability as they might be experiencing a lot of user traffic on their site. </a:t>
            </a:r>
          </a:p>
          <a:p>
            <a:pPr fontAlgn="base"/>
            <a:r>
              <a:rPr lang="en-US" dirty="0" smtClean="0"/>
              <a:t>Most of the sites already take this issue into account beforehand. Chances are, they might be a victim of what is known as a </a:t>
            </a:r>
            <a:r>
              <a:rPr lang="en-US" dirty="0" err="1" smtClean="0"/>
              <a:t>DDoS</a:t>
            </a:r>
            <a:r>
              <a:rPr lang="en-US" dirty="0" smtClean="0"/>
              <a:t> attack, Distributed Denial of Service Attack.</a:t>
            </a:r>
          </a:p>
          <a:p>
            <a:pPr fontAlgn="base"/>
            <a:r>
              <a:rPr lang="en-US" dirty="0" smtClean="0"/>
              <a:t>In a </a:t>
            </a:r>
            <a:r>
              <a:rPr lang="en-US" dirty="0" err="1" smtClean="0"/>
              <a:t>DDoS</a:t>
            </a:r>
            <a:r>
              <a:rPr lang="en-US" dirty="0" smtClean="0"/>
              <a:t> attack, the attacker tries to make a particular service unavailable by directing continuous and huge traffic from multiple end systems. </a:t>
            </a:r>
          </a:p>
          <a:p>
            <a:pPr fontAlgn="base"/>
            <a:r>
              <a:rPr lang="en-US" dirty="0" smtClean="0"/>
              <a:t>Due to this enormous traffic, the network resources get utilized in serving requests of those false end systems such that, a legitimate user is unable to access the resources for themselves. </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Does a </a:t>
            </a:r>
            <a:r>
              <a:rPr lang="en-US" b="1" dirty="0" err="1" smtClean="0"/>
              <a:t>DDoS</a:t>
            </a:r>
            <a:r>
              <a:rPr lang="en-US" b="1" dirty="0" smtClean="0"/>
              <a:t> Attack Work?</a:t>
            </a:r>
            <a:br>
              <a:rPr lang="en-US" b="1" dirty="0" smtClean="0"/>
            </a:br>
            <a:endParaRPr lang="en-US" dirty="0"/>
          </a:p>
        </p:txBody>
      </p:sp>
      <p:sp>
        <p:nvSpPr>
          <p:cNvPr id="3" name="Content Placeholder 2"/>
          <p:cNvSpPr>
            <a:spLocks noGrp="1"/>
          </p:cNvSpPr>
          <p:nvPr>
            <p:ph idx="1"/>
          </p:nvPr>
        </p:nvSpPr>
        <p:spPr>
          <a:xfrm>
            <a:off x="457200" y="1071546"/>
            <a:ext cx="8229600" cy="5054617"/>
          </a:xfrm>
        </p:spPr>
        <p:txBody>
          <a:bodyPr>
            <a:normAutofit fontScale="70000" lnSpcReduction="20000"/>
          </a:bodyPr>
          <a:lstStyle/>
          <a:p>
            <a:pPr fontAlgn="base"/>
            <a:r>
              <a:rPr lang="en-US" dirty="0" smtClean="0"/>
              <a:t>A denial-of-service (</a:t>
            </a:r>
            <a:r>
              <a:rPr lang="en-US" dirty="0" err="1" smtClean="0"/>
              <a:t>DDoS</a:t>
            </a:r>
            <a:r>
              <a:rPr lang="en-US" dirty="0" smtClean="0"/>
              <a:t>) attack is essentially an excessive use of a valid online service. For instance, a website might be able to process a specific amount of requests per minute. </a:t>
            </a:r>
          </a:p>
          <a:p>
            <a:pPr fontAlgn="base"/>
            <a:r>
              <a:rPr lang="en-US" dirty="0" smtClean="0"/>
              <a:t>The website may become completely unusable if that number is surpassed, or its functionality may be negatively impacted. </a:t>
            </a:r>
          </a:p>
          <a:p>
            <a:pPr fontAlgn="base"/>
            <a:r>
              <a:rPr lang="en-US" dirty="0" smtClean="0"/>
              <a:t>An attack or even a legitimate use, like an e-commerce site experiencing overflow on Black Friday or a ticket sales platform experiencing a glitch when sales for a big event begin, could be the cause of this overload.</a:t>
            </a:r>
          </a:p>
          <a:p>
            <a:pPr fontAlgn="base"/>
            <a:r>
              <a:rPr lang="en-US" dirty="0" smtClean="0"/>
              <a:t>A </a:t>
            </a:r>
            <a:r>
              <a:rPr lang="en-US" dirty="0" err="1" smtClean="0"/>
              <a:t>DDoS</a:t>
            </a:r>
            <a:r>
              <a:rPr lang="en-US" dirty="0" smtClean="0"/>
              <a:t> attack is launched from multiple compromised devices which are present in different places over the globe, this such devices are referred to as </a:t>
            </a:r>
            <a:r>
              <a:rPr lang="en-US" dirty="0" err="1" smtClean="0"/>
              <a:t>botnets</a:t>
            </a:r>
            <a:r>
              <a:rPr lang="en-US" dirty="0" smtClean="0"/>
              <a:t>. </a:t>
            </a:r>
          </a:p>
          <a:p>
            <a:pPr fontAlgn="base"/>
            <a:r>
              <a:rPr lang="en-US" dirty="0" smtClean="0"/>
              <a:t>It differs from other denial of service (</a:t>
            </a:r>
            <a:r>
              <a:rPr lang="en-US" dirty="0" err="1" smtClean="0"/>
              <a:t>DoS</a:t>
            </a:r>
            <a:r>
              <a:rPr lang="en-US" dirty="0" smtClean="0"/>
              <a:t>) attacks in that it floods a target with malicious traffic using a single network connection or Internet-connected device.</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fontScale="70000" lnSpcReduction="20000"/>
          </a:bodyPr>
          <a:lstStyle/>
          <a:p>
            <a:pPr fontAlgn="base"/>
            <a:r>
              <a:rPr lang="en-US" b="1" dirty="0" smtClean="0"/>
              <a:t>Types of </a:t>
            </a:r>
            <a:r>
              <a:rPr lang="en-US" b="1" dirty="0" err="1" smtClean="0"/>
              <a:t>DDoS</a:t>
            </a:r>
            <a:r>
              <a:rPr lang="en-US" b="1" dirty="0" smtClean="0"/>
              <a:t> Attacks</a:t>
            </a:r>
          </a:p>
          <a:p>
            <a:pPr fontAlgn="base"/>
            <a:r>
              <a:rPr lang="en-US" dirty="0" err="1" smtClean="0"/>
              <a:t>DDoS</a:t>
            </a:r>
            <a:r>
              <a:rPr lang="en-US" dirty="0" smtClean="0"/>
              <a:t> attacks can be divided into three major categories: </a:t>
            </a:r>
          </a:p>
          <a:p>
            <a:pPr fontAlgn="base"/>
            <a:r>
              <a:rPr lang="en-US" b="1" dirty="0" smtClean="0"/>
              <a:t>Application Layer Attacks: </a:t>
            </a:r>
            <a:r>
              <a:rPr lang="en-US" dirty="0" smtClean="0"/>
              <a:t>These attacks focus on attacking layer 7 of the </a:t>
            </a:r>
            <a:r>
              <a:rPr lang="en-US" u="sng" dirty="0" smtClean="0">
                <a:hlinkClick r:id="rId2"/>
              </a:rPr>
              <a:t>OSI model</a:t>
            </a:r>
            <a:r>
              <a:rPr lang="en-US" dirty="0" smtClean="0"/>
              <a:t> where the </a:t>
            </a:r>
            <a:r>
              <a:rPr lang="en-US" dirty="0" err="1" smtClean="0"/>
              <a:t>webpages</a:t>
            </a:r>
            <a:r>
              <a:rPr lang="en-US" dirty="0" smtClean="0"/>
              <a:t> are generated in response to the request initiated by the end-user. </a:t>
            </a:r>
          </a:p>
          <a:p>
            <a:pPr fontAlgn="base"/>
            <a:r>
              <a:rPr lang="en-US" dirty="0" smtClean="0"/>
              <a:t>For a client, generating a request does not take any heavy load and it can easily generate multiple requests to the server. </a:t>
            </a:r>
          </a:p>
          <a:p>
            <a:pPr fontAlgn="base"/>
            <a:r>
              <a:rPr lang="en-US" dirty="0" smtClean="0"/>
              <a:t>On the other hand, responding to a request takes a considerable load for the server as it has to build all the pages, compute any queries, and load the results from the database according to the request. </a:t>
            </a:r>
            <a:r>
              <a:rPr lang="en-US" b="1" dirty="0" smtClean="0"/>
              <a:t>Examples:</a:t>
            </a:r>
            <a:r>
              <a:rPr lang="en-US" dirty="0" smtClean="0"/>
              <a:t> </a:t>
            </a:r>
            <a:r>
              <a:rPr lang="en-US" u="sng" dirty="0" smtClean="0">
                <a:hlinkClick r:id="rId3"/>
              </a:rPr>
              <a:t>HTTP Flood attack</a:t>
            </a:r>
            <a:r>
              <a:rPr lang="en-US" dirty="0" smtClean="0"/>
              <a:t> and attack on DNS Services. </a:t>
            </a:r>
            <a:br>
              <a:rPr lang="en-US" dirty="0" smtClean="0"/>
            </a:br>
            <a:r>
              <a:rPr lang="en-US" dirty="0" smtClean="0"/>
              <a:t> </a:t>
            </a:r>
          </a:p>
          <a:p>
            <a:pPr fontAlgn="base"/>
            <a:r>
              <a:rPr lang="en-US" b="1" dirty="0" smtClean="0"/>
              <a:t>Protocol Attacks: </a:t>
            </a:r>
            <a:r>
              <a:rPr lang="en-US" dirty="0" smtClean="0"/>
              <a:t>They are also known as state-exhaustion attacks. These attacks focus on vulnerabilities in layer 3 and layer 4 of the protocol stack. These types of attacks consume resources like servers, </a:t>
            </a:r>
            <a:r>
              <a:rPr lang="en-US" u="sng" dirty="0" smtClean="0">
                <a:hlinkClick r:id="rId4"/>
              </a:rPr>
              <a:t>firewalls</a:t>
            </a:r>
            <a:r>
              <a:rPr lang="en-US" dirty="0" smtClean="0"/>
              <a:t>, and load balancers. </a:t>
            </a:r>
            <a:r>
              <a:rPr lang="en-US" b="1" dirty="0" smtClean="0"/>
              <a:t>Examples:</a:t>
            </a:r>
            <a:r>
              <a:rPr lang="en-US" dirty="0" smtClean="0"/>
              <a:t> SYN Flood attack and Ping of Death. </a:t>
            </a: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lstStyle/>
          <a:p>
            <a:r>
              <a:rPr lang="en-US" b="1" dirty="0" smtClean="0"/>
              <a:t>Volumetric Attacks: </a:t>
            </a:r>
            <a:r>
              <a:rPr lang="en-US" dirty="0" smtClean="0"/>
              <a:t>Volumetric attacks focus on consuming the network bandwidth and saturating it by amplification or </a:t>
            </a:r>
            <a:r>
              <a:rPr lang="en-US" dirty="0" err="1" smtClean="0"/>
              <a:t>botnet</a:t>
            </a:r>
            <a:r>
              <a:rPr lang="en-US" dirty="0" smtClean="0"/>
              <a:t> to hinder its availability to the users. </a:t>
            </a:r>
          </a:p>
          <a:p>
            <a:r>
              <a:rPr lang="en-US" dirty="0" smtClean="0"/>
              <a:t>They are easy to generate by directing a massive amount of traffic to the target server. </a:t>
            </a:r>
            <a:r>
              <a:rPr lang="en-US" b="1" dirty="0" smtClean="0"/>
              <a:t>Examples: </a:t>
            </a:r>
            <a:r>
              <a:rPr lang="en-US" dirty="0" smtClean="0"/>
              <a:t>NTP Amplification, </a:t>
            </a:r>
            <a:r>
              <a:rPr lang="en-US" u="sng" dirty="0" smtClean="0">
                <a:hlinkClick r:id="rId2"/>
              </a:rPr>
              <a:t>DNS Amplification</a:t>
            </a:r>
            <a:r>
              <a:rPr lang="en-US" dirty="0" smtClean="0"/>
              <a:t>, UDP Flood attack, and TCP Flood attack. </a:t>
            </a:r>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Packet sniffing</a:t>
            </a:r>
            <a:endParaRPr lang="en-US" dirty="0"/>
          </a:p>
        </p:txBody>
      </p:sp>
      <p:sp>
        <p:nvSpPr>
          <p:cNvPr id="3" name="Content Placeholder 2"/>
          <p:cNvSpPr>
            <a:spLocks noGrp="1"/>
          </p:cNvSpPr>
          <p:nvPr>
            <p:ph idx="1"/>
          </p:nvPr>
        </p:nvSpPr>
        <p:spPr>
          <a:xfrm>
            <a:off x="285720" y="1600200"/>
            <a:ext cx="8401080" cy="4972072"/>
          </a:xfrm>
        </p:spPr>
        <p:txBody>
          <a:bodyPr>
            <a:normAutofit fontScale="92500" lnSpcReduction="10000"/>
          </a:bodyPr>
          <a:lstStyle/>
          <a:p>
            <a:r>
              <a:rPr lang="en-US" dirty="0" smtClean="0"/>
              <a:t>Packet sniffing is the monitoring and capturing of data packets passing through a network using software or hardware, known as sniffers or protocol analyzers.</a:t>
            </a:r>
          </a:p>
          <a:p>
            <a:r>
              <a:rPr lang="en-US" dirty="0" smtClean="0"/>
              <a:t> While used legitimately by administrators for network troubleshooting and performance monitoring, it is also employed by attackers to steal sensitive, unencrypted data like credentials, especially on unsecured, public Wi-Fi. </a:t>
            </a:r>
          </a:p>
          <a:p>
            <a:r>
              <a:rPr lang="en-US" dirty="0" smtClean="0"/>
              <a:t>Common tools include </a:t>
            </a:r>
            <a:r>
              <a:rPr lang="en-US" dirty="0" err="1" smtClean="0">
                <a:hlinkClick r:id="rId2"/>
              </a:rPr>
              <a:t>Wireshark</a:t>
            </a:r>
            <a:r>
              <a:rPr lang="en-US" dirty="0" smtClean="0"/>
              <a:t>, </a:t>
            </a:r>
            <a:r>
              <a:rPr lang="en-US" dirty="0" err="1" smtClean="0">
                <a:hlinkClick r:id="rId3"/>
              </a:rPr>
              <a:t>tcpdump</a:t>
            </a:r>
            <a:r>
              <a:rPr lang="en-US" dirty="0" smtClean="0"/>
              <a:t>, and </a:t>
            </a:r>
            <a:r>
              <a:rPr lang="en-US" dirty="0" err="1" smtClean="0"/>
              <a:t>Ettercap</a:t>
            </a:r>
            <a:r>
              <a:rPr lang="en-US" dirty="0" smtClean="0"/>
              <a:t>. </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of Packet Sniffing</a:t>
            </a:r>
            <a:endParaRPr lang="en-US" dirty="0"/>
          </a:p>
        </p:txBody>
      </p:sp>
      <p:sp>
        <p:nvSpPr>
          <p:cNvPr id="3" name="Content Placeholder 2"/>
          <p:cNvSpPr>
            <a:spLocks noGrp="1"/>
          </p:cNvSpPr>
          <p:nvPr>
            <p:ph idx="1"/>
          </p:nvPr>
        </p:nvSpPr>
        <p:spPr/>
        <p:txBody>
          <a:bodyPr>
            <a:noAutofit/>
          </a:bodyPr>
          <a:lstStyle/>
          <a:p>
            <a:pPr algn="just"/>
            <a:r>
              <a:rPr lang="en-US" sz="2800" dirty="0" smtClean="0"/>
              <a:t>When any data has to be transmitted over the computer network, it is broken down into smaller units at the sender's node called </a:t>
            </a:r>
            <a:r>
              <a:rPr lang="en-US" sz="2800" i="1" dirty="0" smtClean="0"/>
              <a:t>data packets</a:t>
            </a:r>
            <a:r>
              <a:rPr lang="en-US" sz="2800" dirty="0" smtClean="0"/>
              <a:t> and reassembled at receiver's node in original format. </a:t>
            </a:r>
          </a:p>
          <a:p>
            <a:pPr algn="just"/>
            <a:r>
              <a:rPr lang="en-US" sz="2800" dirty="0" smtClean="0"/>
              <a:t>It is the </a:t>
            </a:r>
            <a:r>
              <a:rPr lang="en-US" sz="2800" i="1" dirty="0" smtClean="0"/>
              <a:t>smallest unit</a:t>
            </a:r>
            <a:r>
              <a:rPr lang="en-US" sz="2800" dirty="0" smtClean="0"/>
              <a:t> of communication over a computer network. </a:t>
            </a:r>
          </a:p>
          <a:p>
            <a:pPr algn="just"/>
            <a:r>
              <a:rPr lang="en-US" sz="2800" dirty="0" smtClean="0"/>
              <a:t>It is also called a block, a segment, a datagram or a cell.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The act of capturing data packet across the computer network is called </a:t>
            </a:r>
            <a:r>
              <a:rPr lang="en-US" b="1" dirty="0" smtClean="0"/>
              <a:t>packet sniffing</a:t>
            </a:r>
            <a:r>
              <a:rPr lang="en-US" dirty="0" smtClean="0"/>
              <a:t>. </a:t>
            </a:r>
          </a:p>
          <a:p>
            <a:pPr algn="just"/>
            <a:r>
              <a:rPr lang="en-US" dirty="0" smtClean="0"/>
              <a:t>It is similar to as wire tapping to a telephone network. </a:t>
            </a:r>
          </a:p>
          <a:p>
            <a:pPr algn="just"/>
            <a:r>
              <a:rPr lang="en-US" dirty="0" smtClean="0"/>
              <a:t>It is mostly used by</a:t>
            </a:r>
            <a:r>
              <a:rPr lang="en-US" i="1" dirty="0" smtClean="0"/>
              <a:t> crackers and hackers</a:t>
            </a:r>
            <a:r>
              <a:rPr lang="en-US" dirty="0" smtClean="0"/>
              <a:t> to collect information illegally about network. </a:t>
            </a:r>
          </a:p>
          <a:p>
            <a:pPr algn="just"/>
            <a:r>
              <a:rPr lang="en-US" dirty="0" smtClean="0"/>
              <a:t>It is also used by </a:t>
            </a:r>
            <a:r>
              <a:rPr lang="en-US" i="1" dirty="0" smtClean="0"/>
              <a:t>ISPs, advertisers and governments</a:t>
            </a:r>
            <a:r>
              <a:rPr lang="en-US" dirty="0" smtClean="0"/>
              <a:t>. </a:t>
            </a:r>
          </a:p>
          <a:p>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ISPs</a:t>
            </a:r>
            <a:r>
              <a:rPr lang="en-US" dirty="0" smtClean="0"/>
              <a:t> use packet sniffing to track all your activities such as:</a:t>
            </a:r>
            <a:endParaRPr lang="en-US" dirty="0"/>
          </a:p>
        </p:txBody>
      </p:sp>
      <p:sp>
        <p:nvSpPr>
          <p:cNvPr id="3" name="Content Placeholder 2"/>
          <p:cNvSpPr>
            <a:spLocks noGrp="1"/>
          </p:cNvSpPr>
          <p:nvPr>
            <p:ph idx="1"/>
          </p:nvPr>
        </p:nvSpPr>
        <p:spPr/>
        <p:txBody>
          <a:bodyPr/>
          <a:lstStyle/>
          <a:p>
            <a:pPr fontAlgn="base"/>
            <a:r>
              <a:rPr lang="en-US" dirty="0" smtClean="0"/>
              <a:t>who is receiver of your email</a:t>
            </a:r>
          </a:p>
          <a:p>
            <a:pPr fontAlgn="base"/>
            <a:r>
              <a:rPr lang="en-US" dirty="0" smtClean="0"/>
              <a:t>what is content of that email</a:t>
            </a:r>
          </a:p>
          <a:p>
            <a:pPr fontAlgn="base"/>
            <a:r>
              <a:rPr lang="en-US" dirty="0" smtClean="0"/>
              <a:t>what you download</a:t>
            </a:r>
          </a:p>
          <a:p>
            <a:pPr fontAlgn="base"/>
            <a:r>
              <a:rPr lang="en-US" dirty="0" smtClean="0"/>
              <a:t>sites you visit</a:t>
            </a:r>
          </a:p>
          <a:p>
            <a:pPr fontAlgn="base"/>
            <a:r>
              <a:rPr lang="en-US" dirty="0" smtClean="0"/>
              <a:t>what you looked on that website</a:t>
            </a:r>
          </a:p>
          <a:p>
            <a:pPr fontAlgn="base"/>
            <a:r>
              <a:rPr lang="en-US" dirty="0" smtClean="0"/>
              <a:t>downloads from a site</a:t>
            </a:r>
          </a:p>
          <a:p>
            <a:pPr fontAlgn="base"/>
            <a:r>
              <a:rPr lang="en-US" dirty="0" smtClean="0"/>
              <a:t>streaming events like video, audio, etc.</a:t>
            </a:r>
          </a:p>
          <a:p>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smtClean="0"/>
              <a:t>Advertising agencies</a:t>
            </a:r>
            <a:r>
              <a:rPr lang="en-US" dirty="0" smtClean="0"/>
              <a:t> or internet advertising agencies are paid according to:</a:t>
            </a:r>
          </a:p>
          <a:p>
            <a:pPr marL="514350" indent="-514350" fontAlgn="base">
              <a:buFont typeface="+mj-lt"/>
              <a:buAutoNum type="arabicPeriod"/>
            </a:pPr>
            <a:r>
              <a:rPr lang="en-US" dirty="0" smtClean="0"/>
              <a:t>number of ads shown by them.</a:t>
            </a:r>
          </a:p>
          <a:p>
            <a:pPr marL="514350" indent="-514350" fontAlgn="base">
              <a:buFont typeface="+mj-lt"/>
              <a:buAutoNum type="arabicPeriod"/>
            </a:pPr>
            <a:r>
              <a:rPr lang="en-US" dirty="0" smtClean="0"/>
              <a:t>number of clicks on their ads also called PPC (pay per click).</a:t>
            </a:r>
          </a:p>
          <a:p>
            <a:pPr fontAlgn="base"/>
            <a:r>
              <a:rPr lang="en-US" dirty="0" smtClean="0"/>
              <a:t>To achieve this target, these agencies use packet sniffing to </a:t>
            </a:r>
            <a:r>
              <a:rPr lang="en-US" i="1" dirty="0" smtClean="0"/>
              <a:t>inject advertisements</a:t>
            </a:r>
            <a:r>
              <a:rPr lang="en-US" dirty="0" smtClean="0"/>
              <a:t> into the flowing packets. Most of the time these ads</a:t>
            </a:r>
            <a:r>
              <a:rPr lang="en-US" i="1" dirty="0" smtClean="0"/>
              <a:t> contain malware</a:t>
            </a:r>
            <a:r>
              <a:rPr lang="en-US" dirty="0" smtClean="0"/>
              <a:t>. </a:t>
            </a:r>
            <a:br>
              <a:rPr lang="en-US" dirty="0" smtClean="0"/>
            </a:br>
            <a:endParaRPr lang="en-US" dirty="0" smtClean="0"/>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472518" cy="5983311"/>
          </a:xfrm>
        </p:spPr>
        <p:txBody>
          <a:bodyPr>
            <a:normAutofit lnSpcReduction="10000"/>
          </a:bodyPr>
          <a:lstStyle/>
          <a:p>
            <a:pPr algn="just" fontAlgn="base"/>
            <a:r>
              <a:rPr lang="en-US" b="1" dirty="0" smtClean="0"/>
              <a:t>Packet Sniffer -</a:t>
            </a:r>
            <a:r>
              <a:rPr lang="en-US" dirty="0" smtClean="0"/>
              <a:t> Packet sniffing is done by using tools called </a:t>
            </a:r>
            <a:r>
              <a:rPr lang="en-US" i="1" dirty="0" smtClean="0"/>
              <a:t>packet sniffer</a:t>
            </a:r>
            <a:r>
              <a:rPr lang="en-US" dirty="0" smtClean="0"/>
              <a:t>. It can be either </a:t>
            </a:r>
            <a:r>
              <a:rPr lang="en-US" i="1" dirty="0" smtClean="0"/>
              <a:t>filtered or unfiltered</a:t>
            </a:r>
            <a:r>
              <a:rPr lang="en-US" dirty="0" smtClean="0"/>
              <a:t>. Filtered is used when only </a:t>
            </a:r>
            <a:r>
              <a:rPr lang="en-US" i="1" dirty="0" smtClean="0"/>
              <a:t>specific data packets</a:t>
            </a:r>
            <a:r>
              <a:rPr lang="en-US" dirty="0" smtClean="0"/>
              <a:t> have to be captured and Unfiltered is used when </a:t>
            </a:r>
            <a:r>
              <a:rPr lang="en-US" i="1" dirty="0" smtClean="0"/>
              <a:t>all the packets</a:t>
            </a:r>
            <a:r>
              <a:rPr lang="en-US" dirty="0" smtClean="0"/>
              <a:t> have to be captured. </a:t>
            </a:r>
            <a:r>
              <a:rPr lang="en-US" dirty="0" err="1" smtClean="0"/>
              <a:t>WireShark</a:t>
            </a:r>
            <a:r>
              <a:rPr lang="en-US" dirty="0" smtClean="0"/>
              <a:t>, </a:t>
            </a:r>
            <a:r>
              <a:rPr lang="en-US" dirty="0" err="1" smtClean="0"/>
              <a:t>SmartSniff</a:t>
            </a:r>
            <a:r>
              <a:rPr lang="en-US" dirty="0" smtClean="0"/>
              <a:t> are examples of packet-sniffing tools. </a:t>
            </a:r>
          </a:p>
          <a:p>
            <a:pPr algn="just" fontAlgn="base"/>
            <a:r>
              <a:rPr lang="en-US" b="1" dirty="0" smtClean="0"/>
              <a:t>How to prevent packet sniffing -</a:t>
            </a:r>
            <a:endParaRPr lang="en-US" dirty="0" smtClean="0"/>
          </a:p>
          <a:p>
            <a:pPr algn="just" fontAlgn="base"/>
            <a:r>
              <a:rPr lang="en-US" dirty="0" smtClean="0"/>
              <a:t>Encrypting data you send or receive.</a:t>
            </a:r>
          </a:p>
          <a:p>
            <a:pPr algn="just" fontAlgn="base"/>
            <a:r>
              <a:rPr lang="en-US" dirty="0" smtClean="0"/>
              <a:t>using trusted Wi-Fi networks.</a:t>
            </a:r>
          </a:p>
          <a:p>
            <a:pPr algn="just" fontAlgn="base"/>
            <a:r>
              <a:rPr lang="en-US" dirty="0" smtClean="0"/>
              <a:t>Scanning your network for dangers or issues.</a:t>
            </a:r>
          </a:p>
          <a:p>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 packet sniffing legal?</a:t>
            </a:r>
            <a:endParaRPr lang="en-US" dirty="0"/>
          </a:p>
        </p:txBody>
      </p:sp>
      <p:sp>
        <p:nvSpPr>
          <p:cNvPr id="3" name="Content Placeholder 2"/>
          <p:cNvSpPr>
            <a:spLocks noGrp="1"/>
          </p:cNvSpPr>
          <p:nvPr>
            <p:ph idx="1"/>
          </p:nvPr>
        </p:nvSpPr>
        <p:spPr/>
        <p:txBody>
          <a:bodyPr/>
          <a:lstStyle/>
          <a:p>
            <a:r>
              <a:rPr lang="en-US" dirty="0" smtClean="0"/>
              <a:t>Packet sniffing </a:t>
            </a:r>
            <a:r>
              <a:rPr lang="en-US" b="1" dirty="0" smtClean="0"/>
              <a:t>is legal for the purposes of network management</a:t>
            </a:r>
            <a:r>
              <a:rPr lang="en-US" dirty="0" smtClean="0"/>
              <a:t> and when used only on the part of the network for which the person or organization conducting the sniffing is responsible. Packet sniffing </a:t>
            </a:r>
            <a:r>
              <a:rPr lang="en-US" b="1" dirty="0" smtClean="0"/>
              <a:t>is illegal when access to data packets is unauthorized</a:t>
            </a:r>
            <a:r>
              <a:rPr lang="en-US" dirty="0" smtClean="0"/>
              <a:t>. </a:t>
            </a:r>
            <a:r>
              <a:rPr lang="en-US" dirty="0" smtClean="0">
                <a:hlinkClick r:id="rId2"/>
              </a:rPr>
              <a:t>Hackers</a:t>
            </a:r>
            <a:r>
              <a:rPr lang="en-US" dirty="0" smtClean="0"/>
              <a:t> use packet sniffing to monitor and steal data, which is also an illegal use of packet sniffing.</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does packet sniffing work?</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dirty="0" smtClean="0"/>
              <a:t>Packet sniffers can be a piece of hardware or software that work by </a:t>
            </a:r>
            <a:r>
              <a:rPr lang="en-US" b="1" dirty="0" smtClean="0"/>
              <a:t>observing data moving between networked computers and between those devices and the internet</a:t>
            </a:r>
            <a:r>
              <a:rPr lang="en-US" dirty="0" smtClean="0"/>
              <a:t>. Sniffers are sometimes referred to as packet analyzers or network analyzers.</a:t>
            </a:r>
          </a:p>
          <a:p>
            <a:pPr fontAlgn="base"/>
            <a:r>
              <a:rPr lang="en-US" dirty="0" smtClean="0"/>
              <a:t>Typically, networks send and receive data as packets — segments of broken down information — to make it quicker and easier to manage. Then, the information is reassembled from the packets once the transfer is complete.</a:t>
            </a:r>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dirty="0" smtClean="0"/>
              <a:t>Devices connected to a specific network hub observe all data packets moving through the network and simply disregard any packets that aren’t intended for that destination. A packet sniffer is not configured in the same way and instead can receive all packets.</a:t>
            </a:r>
          </a:p>
          <a:p>
            <a:pPr fontAlgn="base"/>
            <a:r>
              <a:rPr lang="en-US" dirty="0" smtClean="0"/>
              <a:t>Some larger networks are “switched” — meaning they use a network switch to forward specific data </a:t>
            </a:r>
            <a:r>
              <a:rPr lang="en-US" i="1" dirty="0" smtClean="0"/>
              <a:t>only </a:t>
            </a:r>
            <a:r>
              <a:rPr lang="en-US" dirty="0" smtClean="0"/>
              <a:t>to the designated device, rather than to all network devices. Sniffing on a switched network requires additional protocols to ensure the packet sniffer can be monitored.</a:t>
            </a:r>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packet sniffing in cyber security:</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b="1" dirty="0" smtClean="0"/>
              <a:t>Hardware packet sniffing </a:t>
            </a:r>
            <a:r>
              <a:rPr lang="en-US" dirty="0" smtClean="0"/>
              <a:t>uses a physical device that plugs directly into a network interface — that is, the connection point between your computer and a network. This method is favored by IT experts who want to access specific parts of a network.</a:t>
            </a:r>
          </a:p>
          <a:p>
            <a:pPr fontAlgn="base"/>
            <a:r>
              <a:rPr lang="en-US" b="1" dirty="0" smtClean="0"/>
              <a:t>Software packet sniffing </a:t>
            </a:r>
            <a:r>
              <a:rPr lang="en-US" dirty="0" smtClean="0"/>
              <a:t>uses a program to capture all traffic sent across the network. This type is much more popular today than hardware packet sniffing.</a:t>
            </a:r>
          </a:p>
          <a:p>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a packet sniffing attack?</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US" b="1" dirty="0" smtClean="0"/>
              <a:t>A sniffing attack is when a hacker uses a packet sniffer to capture and access confidential, unencrypted data packets for malicious purposes.</a:t>
            </a:r>
            <a:r>
              <a:rPr lang="en-US" dirty="0" smtClean="0"/>
              <a:t> This type of data can include both personal data (name, address, telephone number) and financial information (banking details and login credentials).</a:t>
            </a:r>
          </a:p>
          <a:p>
            <a:pPr fontAlgn="base"/>
            <a:r>
              <a:rPr lang="en-US" dirty="0" smtClean="0"/>
              <a:t>Without robust </a:t>
            </a:r>
            <a:r>
              <a:rPr lang="en-US" dirty="0" err="1" smtClean="0"/>
              <a:t>cybersecurity</a:t>
            </a:r>
            <a:r>
              <a:rPr lang="en-US" dirty="0" smtClean="0"/>
              <a:t> tools, malicious packet sniffing can be used to conduct further attacks, such as ARP or DNS </a:t>
            </a:r>
            <a:r>
              <a:rPr lang="en-US" dirty="0" smtClean="0">
                <a:hlinkClick r:id="rId2"/>
              </a:rPr>
              <a:t>spoofing</a:t>
            </a:r>
            <a:r>
              <a:rPr lang="en-US" dirty="0" smtClean="0"/>
              <a:t>, or inserting malicious code into data packets via </a:t>
            </a:r>
            <a:r>
              <a:rPr lang="en-US" dirty="0" smtClean="0">
                <a:hlinkClick r:id="rId3"/>
              </a:rPr>
              <a:t>SQL injection</a:t>
            </a:r>
            <a:r>
              <a:rPr lang="en-US" dirty="0" smtClean="0"/>
              <a:t>. If you accidentally download an infected file from the web or open an attachment corrupted with </a:t>
            </a:r>
            <a:r>
              <a:rPr lang="en-US" dirty="0" smtClean="0">
                <a:hlinkClick r:id="rId4"/>
              </a:rPr>
              <a:t>malware</a:t>
            </a:r>
            <a:r>
              <a:rPr lang="en-US" dirty="0" smtClean="0"/>
              <a:t>, a packet sniffer could get installed on your device.</a:t>
            </a:r>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t/>
            </a:r>
            <a:br>
              <a:rPr lang="en-US" b="1" dirty="0" smtClean="0"/>
            </a:br>
            <a:r>
              <a:rPr lang="en-US" b="1" dirty="0" smtClean="0"/>
              <a:t>Practical Workflow of Packet Sniffing</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457200" y="1071546"/>
            <a:ext cx="8229600" cy="5054617"/>
          </a:xfrm>
        </p:spPr>
        <p:txBody>
          <a:bodyPr>
            <a:normAutofit fontScale="77500" lnSpcReduction="20000"/>
          </a:bodyPr>
          <a:lstStyle/>
          <a:p>
            <a:r>
              <a:rPr lang="en-US" b="1" dirty="0" smtClean="0"/>
              <a:t>Initialization:</a:t>
            </a:r>
            <a:r>
              <a:rPr lang="en-US" dirty="0" smtClean="0"/>
              <a:t> A sniffing tool is installed on a machine connected to a network (wired or Wi-Fi).</a:t>
            </a:r>
          </a:p>
          <a:p>
            <a:r>
              <a:rPr lang="en-US" b="1" dirty="0" smtClean="0">
                <a:hlinkClick r:id="rId2"/>
              </a:rPr>
              <a:t>Promiscuous Mode Activation</a:t>
            </a:r>
            <a:r>
              <a:rPr lang="en-US" b="1" dirty="0" smtClean="0"/>
              <a:t>:</a:t>
            </a:r>
            <a:r>
              <a:rPr lang="en-US" dirty="0" smtClean="0"/>
              <a:t> The network card is set to capture </a:t>
            </a:r>
            <a:r>
              <a:rPr lang="en-US" i="1" dirty="0" smtClean="0"/>
              <a:t>all</a:t>
            </a:r>
            <a:r>
              <a:rPr lang="en-US" dirty="0" smtClean="0"/>
              <a:t> traffic on the segment, ignoring standard filtering that only accepts packets destined for that specific device.</a:t>
            </a:r>
          </a:p>
          <a:p>
            <a:r>
              <a:rPr lang="en-US" b="1" dirty="0" smtClean="0"/>
              <a:t>Packet Capture:</a:t>
            </a:r>
            <a:r>
              <a:rPr lang="en-US" dirty="0" smtClean="0"/>
              <a:t> The tool grabs packets as they pass through the network interface.</a:t>
            </a:r>
          </a:p>
          <a:p>
            <a:r>
              <a:rPr lang="en-US" b="1" dirty="0" smtClean="0"/>
              <a:t>Protocol Analysis:</a:t>
            </a:r>
            <a:r>
              <a:rPr lang="en-US" dirty="0" smtClean="0"/>
              <a:t> The software breaks down the captured packets, revealing source/destination IP addresses, protocols, and data payloads.</a:t>
            </a:r>
          </a:p>
          <a:p>
            <a:r>
              <a:rPr lang="en-US" b="1" dirty="0" smtClean="0"/>
              <a:t>Filtering &amp; Decoding:</a:t>
            </a:r>
            <a:r>
              <a:rPr lang="en-US" dirty="0" smtClean="0"/>
              <a:t> Operators filter data (e.g., viewing only HTTP or TCP traffic) to interpret readable information, such as passwords or unencrypted emails. </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Packet sniffing works practically by using software (e.g., </a:t>
            </a:r>
            <a:r>
              <a:rPr lang="en-US" dirty="0" err="1" smtClean="0"/>
              <a:t>Wireshark</a:t>
            </a:r>
            <a:r>
              <a:rPr lang="en-US" dirty="0" smtClean="0"/>
              <a:t>, </a:t>
            </a:r>
            <a:r>
              <a:rPr lang="en-US" dirty="0" smtClean="0">
                <a:hlinkClick r:id="rId2"/>
              </a:rPr>
              <a:t>Snort</a:t>
            </a:r>
            <a:r>
              <a:rPr lang="en-US" dirty="0" smtClean="0"/>
              <a:t>) to place a Network Interface Card (NIC) into "</a:t>
            </a:r>
            <a:r>
              <a:rPr lang="en-US" dirty="0" smtClean="0">
                <a:hlinkClick r:id="rId3"/>
              </a:rPr>
              <a:t>promiscuous mode</a:t>
            </a:r>
            <a:r>
              <a:rPr lang="en-US" dirty="0" smtClean="0"/>
              <a:t>," enabling it to capture all traversing data packets—not just those addressed to it.</a:t>
            </a:r>
          </a:p>
          <a:p>
            <a:r>
              <a:rPr lang="en-US" dirty="0" smtClean="0"/>
              <a:t> It intercepts, logs, and analyzes network traffic, often used for troubleshooting, security monitoring, or malicious data theft</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Common Tools</a:t>
            </a:r>
            <a:endParaRPr lang="en-US" dirty="0" smtClean="0"/>
          </a:p>
          <a:p>
            <a:r>
              <a:rPr lang="en-US" b="1" dirty="0" err="1" smtClean="0"/>
              <a:t>Wireshark</a:t>
            </a:r>
            <a:r>
              <a:rPr lang="en-US" b="1" dirty="0" smtClean="0"/>
              <a:t>:</a:t>
            </a:r>
            <a:r>
              <a:rPr lang="en-US" dirty="0" smtClean="0"/>
              <a:t> Widely used for deep packet analysis and visualization.</a:t>
            </a:r>
          </a:p>
          <a:p>
            <a:r>
              <a:rPr lang="en-US" b="1" dirty="0" err="1" smtClean="0"/>
              <a:t>Tcpdump</a:t>
            </a:r>
            <a:r>
              <a:rPr lang="en-US" b="1" dirty="0" smtClean="0"/>
              <a:t>:</a:t>
            </a:r>
            <a:r>
              <a:rPr lang="en-US" dirty="0" smtClean="0"/>
              <a:t> A command-line packet analyzer.</a:t>
            </a:r>
          </a:p>
          <a:p>
            <a:r>
              <a:rPr lang="en-US" b="1" dirty="0" smtClean="0"/>
              <a:t>Snort:</a:t>
            </a:r>
            <a:r>
              <a:rPr lang="en-US" dirty="0" smtClean="0"/>
              <a:t> An open-source network intrusion detection system. </a:t>
            </a: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Wireshark</a:t>
            </a:r>
            <a:r>
              <a:rPr lang="en-US" b="1" dirty="0" smtClean="0"/>
              <a:t> - Packet Capturing and Analyzing</a:t>
            </a:r>
            <a:endParaRPr lang="en-US" b="1" dirty="0"/>
          </a:p>
        </p:txBody>
      </p:sp>
      <p:sp>
        <p:nvSpPr>
          <p:cNvPr id="3" name="Content Placeholder 2"/>
          <p:cNvSpPr>
            <a:spLocks noGrp="1"/>
          </p:cNvSpPr>
          <p:nvPr>
            <p:ph idx="1"/>
          </p:nvPr>
        </p:nvSpPr>
        <p:spPr/>
        <p:txBody>
          <a:bodyPr>
            <a:normAutofit fontScale="85000" lnSpcReduction="10000"/>
          </a:bodyPr>
          <a:lstStyle/>
          <a:p>
            <a:pPr fontAlgn="base"/>
            <a:r>
              <a:rPr lang="en-US" dirty="0" err="1" smtClean="0"/>
              <a:t>Wireshark</a:t>
            </a:r>
            <a:r>
              <a:rPr lang="en-US" dirty="0" smtClean="0"/>
              <a:t> is a powerful network protocol analyzer used to capture and inspect packets traveling across a network. It helps users understand traffic flow, detect issues, and analyze protocols in deep detail.</a:t>
            </a:r>
          </a:p>
          <a:p>
            <a:pPr fontAlgn="base"/>
            <a:r>
              <a:rPr lang="en-US" dirty="0" smtClean="0"/>
              <a:t>Captures real-time network traffic using promiscuous mode and stores it in </a:t>
            </a:r>
            <a:r>
              <a:rPr lang="en-US" dirty="0" err="1" smtClean="0"/>
              <a:t>pcap</a:t>
            </a:r>
            <a:r>
              <a:rPr lang="en-US" dirty="0" smtClean="0"/>
              <a:t> files for analysis.</a:t>
            </a:r>
          </a:p>
          <a:p>
            <a:pPr fontAlgn="base"/>
            <a:r>
              <a:rPr lang="en-US" dirty="0" smtClean="0"/>
              <a:t>Provides detailed views of packets with filtering options to isolate specific IPs, ports, or protocols.</a:t>
            </a:r>
          </a:p>
          <a:p>
            <a:pPr fontAlgn="base"/>
            <a:r>
              <a:rPr lang="en-US" dirty="0" smtClean="0"/>
              <a:t>Useful for troubleshooting, security monitoring, and learning how networks and applications communicate.</a:t>
            </a:r>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14282" y="1"/>
            <a:ext cx="8786873" cy="6715148"/>
          </a:xfrm>
          <a:prstGeom prst="rect">
            <a:avLst/>
          </a:prstGeom>
          <a:noFill/>
          <a:ln w="9525">
            <a:noFill/>
            <a:miter lim="800000"/>
            <a:headEnd/>
            <a:tailEnd/>
          </a:ln>
          <a:effec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fontAlgn="base"/>
            <a:r>
              <a:rPr lang="en-US" b="1" dirty="0" smtClean="0"/>
              <a:t>1. Packet Capturing</a:t>
            </a:r>
          </a:p>
          <a:p>
            <a:pPr fontAlgn="base"/>
            <a:r>
              <a:rPr lang="en-US" dirty="0" err="1" smtClean="0"/>
              <a:t>Wireshark</a:t>
            </a:r>
            <a:r>
              <a:rPr lang="en-US" dirty="0" smtClean="0"/>
              <a:t> captures network traffic by placing your Network Interface Card (NIC) into promiscuous mode, allowing it to view all packets on the network segment, not just those addressed to your system.</a:t>
            </a:r>
          </a:p>
          <a:p>
            <a:pPr fontAlgn="base"/>
            <a:r>
              <a:rPr lang="en-US" b="1" dirty="0" smtClean="0"/>
              <a:t>How Capturing Works</a:t>
            </a:r>
          </a:p>
          <a:p>
            <a:pPr fontAlgn="base"/>
            <a:r>
              <a:rPr lang="en-US" dirty="0" smtClean="0"/>
              <a:t>Captures traffic in real time and stores it in </a:t>
            </a:r>
            <a:r>
              <a:rPr lang="en-US" b="1" dirty="0" smtClean="0"/>
              <a:t>.</a:t>
            </a:r>
            <a:r>
              <a:rPr lang="en-US" b="1" dirty="0" err="1" smtClean="0"/>
              <a:t>pcap</a:t>
            </a:r>
            <a:r>
              <a:rPr lang="en-US" dirty="0" smtClean="0"/>
              <a:t> or </a:t>
            </a:r>
            <a:r>
              <a:rPr lang="en-US" b="1" dirty="0" smtClean="0"/>
              <a:t>.</a:t>
            </a:r>
            <a:r>
              <a:rPr lang="en-US" b="1" dirty="0" err="1" smtClean="0"/>
              <a:t>pcapng</a:t>
            </a:r>
            <a:r>
              <a:rPr lang="en-US" dirty="0" smtClean="0"/>
              <a:t> files</a:t>
            </a:r>
          </a:p>
          <a:p>
            <a:pPr fontAlgn="base"/>
            <a:r>
              <a:rPr lang="en-US" dirty="0" smtClean="0"/>
              <a:t>Uses </a:t>
            </a:r>
            <a:r>
              <a:rPr lang="en-US" dirty="0" err="1" smtClean="0"/>
              <a:t>Npcap</a:t>
            </a:r>
            <a:r>
              <a:rPr lang="en-US" dirty="0" smtClean="0"/>
              <a:t> (</a:t>
            </a:r>
            <a:r>
              <a:rPr lang="en-US" dirty="0" err="1" smtClean="0"/>
              <a:t>Nmap’s</a:t>
            </a:r>
            <a:r>
              <a:rPr lang="en-US" dirty="0" smtClean="0"/>
              <a:t> packet capture library) on modern systems</a:t>
            </a:r>
          </a:p>
          <a:p>
            <a:pPr fontAlgn="base"/>
            <a:r>
              <a:rPr lang="en-US" dirty="0" smtClean="0"/>
              <a:t>Supports capture filters to limit what is collected (e.g., only HTTP packets or traffic from a specific IP)</a:t>
            </a:r>
          </a:p>
          <a:p>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Examples of capture filters:</a:t>
            </a:r>
            <a:endParaRPr lang="en-US" dirty="0" smtClean="0"/>
          </a:p>
          <a:p>
            <a:pPr fontAlgn="base"/>
            <a:r>
              <a:rPr lang="en-US" dirty="0" smtClean="0"/>
              <a:t>host 192.168.1.10</a:t>
            </a:r>
          </a:p>
          <a:p>
            <a:pPr fontAlgn="base"/>
            <a:r>
              <a:rPr lang="en-US" dirty="0" smtClean="0"/>
              <a:t>net 10.0.0.0/24</a:t>
            </a:r>
          </a:p>
          <a:p>
            <a:pPr fontAlgn="base"/>
            <a:r>
              <a:rPr lang="en-US" dirty="0" err="1" smtClean="0"/>
              <a:t>src</a:t>
            </a:r>
            <a:r>
              <a:rPr lang="en-US" dirty="0" smtClean="0"/>
              <a:t> port 53</a:t>
            </a:r>
          </a:p>
          <a:p>
            <a:pPr fontAlgn="base"/>
            <a:r>
              <a:rPr lang="en-US" dirty="0" err="1" smtClean="0"/>
              <a:t>tcp</a:t>
            </a:r>
            <a:r>
              <a:rPr lang="en-US" dirty="0" smtClean="0"/>
              <a:t> and not port 80</a:t>
            </a:r>
          </a:p>
          <a:p>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fontAlgn="base"/>
            <a:r>
              <a:rPr lang="en-US" b="1" dirty="0" smtClean="0"/>
              <a:t>2. Packet Analysis</a:t>
            </a:r>
          </a:p>
          <a:p>
            <a:pPr fontAlgn="base"/>
            <a:r>
              <a:rPr lang="en-US" dirty="0" smtClean="0"/>
              <a:t>After capturing, </a:t>
            </a:r>
            <a:r>
              <a:rPr lang="en-US" dirty="0" err="1" smtClean="0"/>
              <a:t>Wireshark</a:t>
            </a:r>
            <a:r>
              <a:rPr lang="en-US" dirty="0" smtClean="0"/>
              <a:t> offers powerful tools to analyze packets in depth. You can narrow the view using display filters, making it easier to inspect specific conversations or protocols.</a:t>
            </a:r>
          </a:p>
          <a:p>
            <a:pPr fontAlgn="base"/>
            <a:r>
              <a:rPr lang="en-US" b="1" dirty="0" smtClean="0"/>
              <a:t>Three Analysis Views</a:t>
            </a:r>
          </a:p>
          <a:p>
            <a:pPr fontAlgn="base"/>
            <a:r>
              <a:rPr lang="en-US" b="1" dirty="0" smtClean="0"/>
              <a:t>Packet List Pane:</a:t>
            </a:r>
            <a:r>
              <a:rPr lang="en-US" dirty="0" smtClean="0"/>
              <a:t> Summary of all packets</a:t>
            </a:r>
          </a:p>
          <a:p>
            <a:pPr fontAlgn="base"/>
            <a:r>
              <a:rPr lang="en-US" b="1" dirty="0" smtClean="0"/>
              <a:t>Packet Details Pane:</a:t>
            </a:r>
            <a:r>
              <a:rPr lang="en-US" dirty="0" smtClean="0"/>
              <a:t> Layer-by-layer protocol breakdown</a:t>
            </a:r>
          </a:p>
          <a:p>
            <a:pPr fontAlgn="base"/>
            <a:r>
              <a:rPr lang="en-US" b="1" dirty="0" smtClean="0"/>
              <a:t>Packet Bytes Pane:</a:t>
            </a:r>
            <a:r>
              <a:rPr lang="en-US" dirty="0" smtClean="0"/>
              <a:t> Raw hexadecimal + ASCII view</a:t>
            </a:r>
          </a:p>
          <a:p>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Examples of display filters:</a:t>
            </a:r>
            <a:endParaRPr lang="en-US" dirty="0" smtClean="0"/>
          </a:p>
          <a:p>
            <a:pPr fontAlgn="base"/>
            <a:r>
              <a:rPr lang="en-US" dirty="0" err="1" smtClean="0"/>
              <a:t>tcp.port</a:t>
            </a:r>
            <a:r>
              <a:rPr lang="en-US" dirty="0" smtClean="0"/>
              <a:t> == 80</a:t>
            </a:r>
          </a:p>
          <a:p>
            <a:pPr fontAlgn="base"/>
            <a:r>
              <a:rPr lang="en-US" dirty="0" err="1" smtClean="0"/>
              <a:t>ip.addr</a:t>
            </a:r>
            <a:r>
              <a:rPr lang="en-US" dirty="0" smtClean="0"/>
              <a:t> == 192.168.1.5</a:t>
            </a:r>
          </a:p>
          <a:p>
            <a:pPr fontAlgn="base"/>
            <a:r>
              <a:rPr lang="en-US" dirty="0" err="1" smtClean="0"/>
              <a:t>http.request.uri</a:t>
            </a:r>
            <a:r>
              <a:rPr lang="en-US" dirty="0" smtClean="0"/>
              <a:t> contains "login"</a:t>
            </a:r>
          </a:p>
          <a:p>
            <a:pPr fontAlgn="base"/>
            <a:r>
              <a:rPr lang="en-US" dirty="0" smtClean="0"/>
              <a:t>ip.src == 192.168.0.0/16 and ip.dst == 192.168.0.0/16</a:t>
            </a: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Packet Sniffing Matters?</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dirty="0" smtClean="0"/>
              <a:t>Packet sniffing is a crucial part of network reconnaissance, monitoring, and troubleshooting.</a:t>
            </a:r>
          </a:p>
          <a:p>
            <a:pPr fontAlgn="base"/>
            <a:r>
              <a:rPr lang="en-US" dirty="0" err="1" smtClean="0"/>
              <a:t>Wireshark</a:t>
            </a:r>
            <a:r>
              <a:rPr lang="en-US" dirty="0" smtClean="0"/>
              <a:t> helps you:</a:t>
            </a:r>
          </a:p>
          <a:p>
            <a:pPr fontAlgn="base"/>
            <a:r>
              <a:rPr lang="en-US" dirty="0" smtClean="0"/>
              <a:t>Detect network issues</a:t>
            </a:r>
          </a:p>
          <a:p>
            <a:pPr fontAlgn="base"/>
            <a:r>
              <a:rPr lang="en-US" dirty="0" smtClean="0"/>
              <a:t>Identify malicious or suspicious traffic</a:t>
            </a:r>
          </a:p>
          <a:p>
            <a:pPr fontAlgn="base"/>
            <a:r>
              <a:rPr lang="en-US" dirty="0" smtClean="0"/>
              <a:t>Debug and test network applications</a:t>
            </a:r>
          </a:p>
          <a:p>
            <a:pPr fontAlgn="base"/>
            <a:r>
              <a:rPr lang="en-US" dirty="0" smtClean="0"/>
              <a:t>Learn how protocols and packets really work</a:t>
            </a:r>
          </a:p>
          <a:p>
            <a:pPr fontAlgn="base"/>
            <a:r>
              <a:rPr lang="en-US" dirty="0" smtClean="0"/>
              <a:t>It acts like an “X-ray machine” for network communication.</a:t>
            </a:r>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s-main.png"/>
          <p:cNvPicPr>
            <a:picLocks noGrp="1" noChangeAspect="1"/>
          </p:cNvPicPr>
          <p:nvPr>
            <p:ph idx="1"/>
          </p:nvPr>
        </p:nvPicPr>
        <p:blipFill>
          <a:blip r:embed="rId2"/>
          <a:stretch>
            <a:fillRect/>
          </a:stretch>
        </p:blipFill>
        <p:spPr>
          <a:xfrm>
            <a:off x="142844" y="0"/>
            <a:ext cx="8786874" cy="6643710"/>
          </a:xfr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fontAlgn="base"/>
            <a:r>
              <a:rPr lang="en-US" dirty="0" smtClean="0"/>
              <a:t>The image in previous slide shows the interfaces on your device.</a:t>
            </a:r>
          </a:p>
          <a:p>
            <a:pPr fontAlgn="base"/>
            <a:r>
              <a:rPr lang="en-US" dirty="0" smtClean="0"/>
              <a:t>To start sniffing, select one interface and click on the </a:t>
            </a:r>
            <a:r>
              <a:rPr lang="en-US" dirty="0" err="1" smtClean="0"/>
              <a:t>bluefin</a:t>
            </a:r>
            <a:r>
              <a:rPr lang="en-US" dirty="0" smtClean="0"/>
              <a:t> icon on the top left.</a:t>
            </a:r>
          </a:p>
          <a:p>
            <a:pPr fontAlgn="base"/>
            <a:r>
              <a:rPr lang="en-US" dirty="0" smtClean="0"/>
              <a:t>The data capture screen has three panes.</a:t>
            </a:r>
          </a:p>
          <a:p>
            <a:pPr fontAlgn="base"/>
            <a:r>
              <a:rPr lang="en-US" dirty="0" smtClean="0"/>
              <a:t>The top pane shows real-time traffic, the middle one shows information about the chosen packet, and the bottom pane shows the raw packet data.</a:t>
            </a:r>
          </a:p>
          <a:p>
            <a:pPr fontAlgn="base"/>
            <a:r>
              <a:rPr lang="en-US" dirty="0" smtClean="0"/>
              <a:t>The top pane shows the source address (IPv4 or IPv6), destination address, source and destination ports, the protocol to which the packet belongs, to and additional information about the packet. </a:t>
            </a:r>
          </a:p>
          <a:p>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Live capture from many different network media</a:t>
            </a:r>
            <a:br>
              <a:rPr lang="en-US" dirty="0" smtClean="0"/>
            </a:br>
            <a:endParaRPr lang="en-US" dirty="0"/>
          </a:p>
        </p:txBody>
      </p:sp>
      <p:sp>
        <p:nvSpPr>
          <p:cNvPr id="3" name="Content Placeholder 2"/>
          <p:cNvSpPr>
            <a:spLocks noGrp="1"/>
          </p:cNvSpPr>
          <p:nvPr>
            <p:ph idx="1"/>
          </p:nvPr>
        </p:nvSpPr>
        <p:spPr/>
        <p:txBody>
          <a:bodyPr/>
          <a:lstStyle/>
          <a:p>
            <a:r>
              <a:rPr lang="en-US" dirty="0" err="1" smtClean="0"/>
              <a:t>Wireshark</a:t>
            </a:r>
            <a:r>
              <a:rPr lang="en-US" dirty="0" smtClean="0"/>
              <a:t> can capture traffic from many different network media types, including Ethernet, Wireless LAN, Bluetooth, USB, and more. The specific media types supported may be limited by several factors, including your hardware and operating system.</a:t>
            </a:r>
          </a:p>
          <a:p>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smtClean="0"/>
              <a:t>Capture Filters</a:t>
            </a:r>
          </a:p>
          <a:p>
            <a:pPr fontAlgn="base"/>
            <a:r>
              <a:rPr lang="en-US" dirty="0" smtClean="0"/>
              <a:t>Capture filters in </a:t>
            </a:r>
            <a:r>
              <a:rPr lang="en-US" dirty="0" err="1" smtClean="0"/>
              <a:t>Wireshark</a:t>
            </a:r>
            <a:r>
              <a:rPr lang="en-US" dirty="0" smtClean="0"/>
              <a:t> allow you to restrict which packets are recorded before the capture begins. They help reduce noise by collecting only the traffic you're interested in.</a:t>
            </a:r>
          </a:p>
          <a:p>
            <a:pPr fontAlgn="base"/>
            <a:r>
              <a:rPr lang="en-US" b="1" dirty="0" smtClean="0"/>
              <a:t>Common Capture Filters</a:t>
            </a:r>
          </a:p>
          <a:p>
            <a:pPr fontAlgn="base"/>
            <a:r>
              <a:rPr lang="en-US" b="1" dirty="0" smtClean="0"/>
              <a:t>1. host: </a:t>
            </a:r>
            <a:r>
              <a:rPr lang="en-US" dirty="0" smtClean="0"/>
              <a:t>Captures traffic to or from a specific device</a:t>
            </a:r>
            <a:br>
              <a:rPr lang="en-US" dirty="0" smtClean="0"/>
            </a:br>
            <a:r>
              <a:rPr lang="en-US" dirty="0" smtClean="0"/>
              <a:t>Example: host 192.168.1.10</a:t>
            </a:r>
          </a:p>
          <a:p>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2. net:</a:t>
            </a:r>
            <a:r>
              <a:rPr lang="en-US" dirty="0" smtClean="0"/>
              <a:t> Captures traffic within a network or subnet</a:t>
            </a:r>
            <a:br>
              <a:rPr lang="en-US" dirty="0" smtClean="0"/>
            </a:br>
            <a:r>
              <a:rPr lang="en-US" dirty="0" smtClean="0"/>
              <a:t>Example: net 192.168.1.0/24</a:t>
            </a:r>
            <a:br>
              <a:rPr lang="en-US" dirty="0" smtClean="0"/>
            </a:br>
            <a:r>
              <a:rPr lang="en-US" dirty="0" smtClean="0"/>
              <a:t>Can be prefixed with </a:t>
            </a:r>
            <a:r>
              <a:rPr lang="en-US" dirty="0" err="1" smtClean="0"/>
              <a:t>src</a:t>
            </a:r>
            <a:r>
              <a:rPr lang="en-US" dirty="0" smtClean="0"/>
              <a:t> or </a:t>
            </a:r>
            <a:r>
              <a:rPr lang="en-US" dirty="0" err="1" smtClean="0"/>
              <a:t>dst</a:t>
            </a:r>
            <a:r>
              <a:rPr lang="en-US" dirty="0" smtClean="0"/>
              <a:t> for direction control:</a:t>
            </a:r>
          </a:p>
          <a:p>
            <a:pPr fontAlgn="base"/>
            <a:r>
              <a:rPr lang="en-US" dirty="0" err="1" smtClean="0"/>
              <a:t>src</a:t>
            </a:r>
            <a:r>
              <a:rPr lang="en-US" dirty="0" smtClean="0"/>
              <a:t> net 10.0.0.0/8</a:t>
            </a:r>
          </a:p>
          <a:p>
            <a:pPr fontAlgn="base"/>
            <a:r>
              <a:rPr lang="en-US" dirty="0" err="1" smtClean="0"/>
              <a:t>dst</a:t>
            </a:r>
            <a:r>
              <a:rPr lang="en-US" dirty="0" smtClean="0"/>
              <a:t> net 172.16.0.0/16</a:t>
            </a:r>
          </a:p>
          <a:p>
            <a:pPr fontAlgn="base"/>
            <a:r>
              <a:rPr lang="en-US" b="1" dirty="0" smtClean="0"/>
              <a:t>3. port:</a:t>
            </a:r>
            <a:r>
              <a:rPr lang="en-US" dirty="0" smtClean="0"/>
              <a:t> Captures traffic on a specific port</a:t>
            </a:r>
            <a:br>
              <a:rPr lang="en-US" dirty="0" smtClean="0"/>
            </a:br>
            <a:r>
              <a:rPr lang="en-US" dirty="0" smtClean="0"/>
              <a:t>Example: port 80</a:t>
            </a:r>
            <a:br>
              <a:rPr lang="en-US" dirty="0" smtClean="0"/>
            </a:br>
            <a:r>
              <a:rPr lang="en-US" dirty="0" smtClean="0"/>
              <a:t>Can also use direction:</a:t>
            </a:r>
          </a:p>
          <a:p>
            <a:pPr fontAlgn="base"/>
            <a:r>
              <a:rPr lang="en-US" dirty="0" err="1" smtClean="0"/>
              <a:t>src</a:t>
            </a:r>
            <a:r>
              <a:rPr lang="en-US" dirty="0" smtClean="0"/>
              <a:t> port 53</a:t>
            </a:r>
          </a:p>
          <a:p>
            <a:pPr fontAlgn="base"/>
            <a:r>
              <a:rPr lang="en-US" dirty="0" err="1" smtClean="0"/>
              <a:t>dst</a:t>
            </a:r>
            <a:r>
              <a:rPr lang="en-US" dirty="0" smtClean="0"/>
              <a:t> port 443</a:t>
            </a:r>
          </a:p>
          <a:p>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Applications of </a:t>
            </a:r>
            <a:r>
              <a:rPr lang="en-US" b="1" dirty="0" err="1" smtClean="0"/>
              <a:t>Wireshark</a:t>
            </a:r>
            <a:endParaRPr lang="en-US" b="1" dirty="0" smtClean="0"/>
          </a:p>
          <a:p>
            <a:pPr fontAlgn="base"/>
            <a:r>
              <a:rPr lang="en-US" dirty="0" err="1" smtClean="0"/>
              <a:t>Wireshark</a:t>
            </a:r>
            <a:r>
              <a:rPr lang="en-US" dirty="0" smtClean="0"/>
              <a:t> can be used for a wide range of practical tasks, such as:</a:t>
            </a:r>
          </a:p>
          <a:p>
            <a:pPr fontAlgn="base"/>
            <a:r>
              <a:rPr lang="en-US" dirty="0" smtClean="0"/>
              <a:t>Diagnosing network or Wi-Fi connectivity problems</a:t>
            </a:r>
          </a:p>
          <a:p>
            <a:pPr fontAlgn="base"/>
            <a:r>
              <a:rPr lang="en-US" dirty="0" smtClean="0"/>
              <a:t>Monitoring devices for unusual or malicious traffic</a:t>
            </a:r>
          </a:p>
          <a:p>
            <a:pPr fontAlgn="base"/>
            <a:r>
              <a:rPr lang="en-US" dirty="0" smtClean="0"/>
              <a:t>Testing and debugging network-enabled applications</a:t>
            </a:r>
          </a:p>
          <a:p>
            <a:pPr fontAlgn="base"/>
            <a:r>
              <a:rPr lang="en-US" dirty="0" smtClean="0"/>
              <a:t>Learning and teaching how network protocols operate</a:t>
            </a:r>
          </a:p>
          <a:p>
            <a:pPr fontAlgn="base"/>
            <a:r>
              <a:rPr lang="en-US" dirty="0" smtClean="0"/>
              <a:t>Network forensics and security investigations</a:t>
            </a:r>
          </a:p>
          <a:p>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Model for Network Security</a:t>
            </a:r>
            <a:br>
              <a:rPr lang="en-US" b="1" dirty="0"/>
            </a:br>
            <a:endParaRPr lang="en-US" b="1" dirty="0"/>
          </a:p>
        </p:txBody>
      </p:sp>
      <p:sp>
        <p:nvSpPr>
          <p:cNvPr id="3" name="Content Placeholder 2"/>
          <p:cNvSpPr>
            <a:spLocks noGrp="1"/>
          </p:cNvSpPr>
          <p:nvPr>
            <p:ph idx="1"/>
          </p:nvPr>
        </p:nvSpPr>
        <p:spPr>
          <a:xfrm>
            <a:off x="214282" y="1071546"/>
            <a:ext cx="8472518" cy="5500726"/>
          </a:xfrm>
        </p:spPr>
        <p:txBody>
          <a:bodyPr>
            <a:noAutofit/>
          </a:bodyPr>
          <a:lstStyle/>
          <a:p>
            <a:pPr algn="just" fontAlgn="base"/>
            <a:r>
              <a:rPr lang="en-US" sz="2800" dirty="0"/>
              <a:t>A Network Security Model explains how secure communication is achieved over an insecure network using security services, mechanisms, and protocols.</a:t>
            </a:r>
          </a:p>
          <a:p>
            <a:pPr algn="just" fontAlgn="base"/>
            <a:r>
              <a:rPr lang="en-US" sz="2800" b="1" dirty="0">
                <a:solidFill>
                  <a:srgbClr val="FF0000"/>
                </a:solidFill>
              </a:rPr>
              <a:t>Defines the framework for secure data transmission over networks</a:t>
            </a:r>
          </a:p>
          <a:p>
            <a:pPr algn="just" fontAlgn="base"/>
            <a:r>
              <a:rPr lang="en-US" sz="2800" b="1" dirty="0">
                <a:solidFill>
                  <a:srgbClr val="FF0000"/>
                </a:solidFill>
              </a:rPr>
              <a:t>Combines security mechanisms, algorithms, and protocols</a:t>
            </a:r>
          </a:p>
          <a:p>
            <a:pPr algn="just" fontAlgn="base"/>
            <a:r>
              <a:rPr lang="en-US" sz="2800" b="1" dirty="0">
                <a:solidFill>
                  <a:srgbClr val="FF0000"/>
                </a:solidFill>
              </a:rPr>
              <a:t>Protects data against unauthorized access and attacks</a:t>
            </a:r>
          </a:p>
          <a:p>
            <a:pPr algn="just" fontAlgn="base"/>
            <a:r>
              <a:rPr lang="en-US" sz="2800" b="1" dirty="0">
                <a:solidFill>
                  <a:srgbClr val="FF0000"/>
                </a:solidFill>
              </a:rPr>
              <a:t>Ensures confidentiality, integrity, and authentication</a:t>
            </a:r>
          </a:p>
          <a:p>
            <a:pPr algn="just" fontAlgn="base"/>
            <a:r>
              <a:rPr lang="en-US" sz="2800" dirty="0"/>
              <a:t>Identifies roles of sender, receiver, attacker, and trusted third party</a:t>
            </a:r>
          </a:p>
          <a:p>
            <a:pPr algn="just"/>
            <a:endParaRPr lang="en-US" sz="2800"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0" y="142852"/>
            <a:ext cx="9144000" cy="652713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Elements of Network Security Model</a:t>
            </a:r>
            <a:br>
              <a:rPr lang="en-US" b="1" dirty="0"/>
            </a:br>
            <a:endParaRPr lang="en-US" dirty="0"/>
          </a:p>
        </p:txBody>
      </p:sp>
      <p:sp>
        <p:nvSpPr>
          <p:cNvPr id="3" name="Content Placeholder 2"/>
          <p:cNvSpPr>
            <a:spLocks noGrp="1"/>
          </p:cNvSpPr>
          <p:nvPr>
            <p:ph idx="1"/>
          </p:nvPr>
        </p:nvSpPr>
        <p:spPr>
          <a:xfrm>
            <a:off x="214282" y="1000108"/>
            <a:ext cx="8786874" cy="5643602"/>
          </a:xfrm>
        </p:spPr>
        <p:txBody>
          <a:bodyPr>
            <a:normAutofit fontScale="85000" lnSpcReduction="10000"/>
          </a:bodyPr>
          <a:lstStyle/>
          <a:p>
            <a:pPr fontAlgn="base">
              <a:buNone/>
            </a:pPr>
            <a:r>
              <a:rPr lang="en-US" b="1" dirty="0"/>
              <a:t>1. Sender</a:t>
            </a:r>
          </a:p>
          <a:p>
            <a:pPr fontAlgn="base"/>
            <a:r>
              <a:rPr lang="en-US" dirty="0"/>
              <a:t>The sender is the source of the original message.</a:t>
            </a:r>
          </a:p>
          <a:p>
            <a:pPr fontAlgn="base"/>
            <a:r>
              <a:rPr lang="en-US" dirty="0"/>
              <a:t>It wants to transmit data securely to the intended recipient.</a:t>
            </a:r>
          </a:p>
          <a:p>
            <a:pPr fontAlgn="base">
              <a:buNone/>
            </a:pPr>
            <a:r>
              <a:rPr lang="en-US" b="1" dirty="0"/>
              <a:t>2. Message</a:t>
            </a:r>
          </a:p>
          <a:p>
            <a:pPr fontAlgn="base"/>
            <a:r>
              <a:rPr lang="en-US" dirty="0"/>
              <a:t>This is the original plain data generated by the sender.</a:t>
            </a:r>
          </a:p>
          <a:p>
            <a:pPr fontAlgn="base"/>
            <a:r>
              <a:rPr lang="en-US" dirty="0"/>
              <a:t>Before transmission, it is vulnerable to attacks if sent directly.</a:t>
            </a:r>
          </a:p>
          <a:p>
            <a:pPr fontAlgn="base">
              <a:buNone/>
            </a:pPr>
            <a:r>
              <a:rPr lang="en-US" b="1" dirty="0"/>
              <a:t>3. Security-Related Transformation (Sender Side)</a:t>
            </a:r>
          </a:p>
          <a:p>
            <a:pPr fontAlgn="base"/>
            <a:r>
              <a:rPr lang="en-US" dirty="0"/>
              <a:t>The sender applies a security operation such as encryption or digital signature.</a:t>
            </a:r>
          </a:p>
          <a:p>
            <a:pPr fontAlgn="base"/>
            <a:r>
              <a:rPr lang="en-US" dirty="0"/>
              <a:t>This transformation protects the message from unauthorized access or modification.</a:t>
            </a:r>
          </a:p>
          <a:p>
            <a:endParaRPr lang="en-US"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401080" cy="6357982"/>
          </a:xfrm>
        </p:spPr>
        <p:txBody>
          <a:bodyPr>
            <a:normAutofit fontScale="92500" lnSpcReduction="20000"/>
          </a:bodyPr>
          <a:lstStyle/>
          <a:p>
            <a:pPr fontAlgn="base">
              <a:buNone/>
            </a:pPr>
            <a:r>
              <a:rPr lang="en-US" b="1" dirty="0"/>
              <a:t>4. Secret Information</a:t>
            </a:r>
          </a:p>
          <a:p>
            <a:pPr fontAlgn="base"/>
            <a:r>
              <a:rPr lang="en-US" dirty="0"/>
              <a:t>Secret information refers to cryptographic keys or credentials.</a:t>
            </a:r>
          </a:p>
          <a:p>
            <a:pPr fontAlgn="base"/>
            <a:r>
              <a:rPr lang="en-US" dirty="0"/>
              <a:t>These keys are used in the security transformation and must remain confidential.</a:t>
            </a:r>
          </a:p>
          <a:p>
            <a:pPr fontAlgn="base">
              <a:buNone/>
            </a:pPr>
            <a:r>
              <a:rPr lang="en-US" b="1" dirty="0" smtClean="0"/>
              <a:t>5. </a:t>
            </a:r>
            <a:r>
              <a:rPr lang="en-US" b="1" dirty="0"/>
              <a:t>Secure Message</a:t>
            </a:r>
          </a:p>
          <a:p>
            <a:pPr fontAlgn="base"/>
            <a:r>
              <a:rPr lang="en-US" dirty="0"/>
              <a:t>After applying the security transformation, the message becomes a secure message.</a:t>
            </a:r>
          </a:p>
          <a:p>
            <a:pPr fontAlgn="base"/>
            <a:r>
              <a:rPr lang="en-US" dirty="0"/>
              <a:t>This encrypted or signed data is safe to transmit over an insecure network.</a:t>
            </a:r>
          </a:p>
          <a:p>
            <a:pPr fontAlgn="base">
              <a:buNone/>
            </a:pPr>
            <a:r>
              <a:rPr lang="en-US" b="1" dirty="0"/>
              <a:t>6. Information Channel</a:t>
            </a:r>
          </a:p>
          <a:p>
            <a:pPr algn="just" fontAlgn="base"/>
            <a:r>
              <a:rPr lang="en-US" dirty="0"/>
              <a:t>The information channel represents the communication medium (e.g., Internet).</a:t>
            </a:r>
          </a:p>
          <a:p>
            <a:pPr algn="just" fontAlgn="base"/>
            <a:r>
              <a:rPr lang="en-US" dirty="0"/>
              <a:t>It is assumed to be insecure and open to interception.</a:t>
            </a:r>
          </a:p>
          <a:p>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214290"/>
            <a:ext cx="8543956" cy="6500858"/>
          </a:xfrm>
        </p:spPr>
        <p:txBody>
          <a:bodyPr>
            <a:normAutofit/>
          </a:bodyPr>
          <a:lstStyle/>
          <a:p>
            <a:pPr fontAlgn="base">
              <a:buNone/>
            </a:pPr>
            <a:r>
              <a:rPr lang="en-US" b="1" dirty="0"/>
              <a:t>7. Opponent (Attacker)</a:t>
            </a:r>
          </a:p>
          <a:p>
            <a:pPr algn="just" fontAlgn="base"/>
            <a:r>
              <a:rPr lang="en-US" dirty="0"/>
              <a:t>The opponent is an unauthorized entity attempting to intercept, read, modify, or disrupt the message.</a:t>
            </a:r>
          </a:p>
          <a:p>
            <a:pPr algn="just" fontAlgn="base"/>
            <a:r>
              <a:rPr lang="en-US" dirty="0"/>
              <a:t>The security model is designed to protect against such attackers.</a:t>
            </a:r>
          </a:p>
          <a:p>
            <a:pPr fontAlgn="base">
              <a:buNone/>
            </a:pPr>
            <a:r>
              <a:rPr lang="en-US" b="1" dirty="0"/>
              <a:t>8. Trusted Third Party (TTP)</a:t>
            </a:r>
          </a:p>
          <a:p>
            <a:pPr algn="just" fontAlgn="base"/>
            <a:r>
              <a:rPr lang="en-US" dirty="0"/>
              <a:t>A trusted third party (e.g., Certificate Authority) assists in key distribution, authentication, or verification.</a:t>
            </a:r>
          </a:p>
          <a:p>
            <a:pPr algn="just" fontAlgn="base"/>
            <a:r>
              <a:rPr lang="en-US" dirty="0"/>
              <a:t>It ensures trust between sender and receiver.</a:t>
            </a:r>
          </a:p>
          <a:p>
            <a:pPr algn="just"/>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fontScale="85000" lnSpcReduction="20000"/>
          </a:bodyPr>
          <a:lstStyle/>
          <a:p>
            <a:pPr fontAlgn="base">
              <a:buNone/>
            </a:pPr>
            <a:r>
              <a:rPr lang="en-US" b="1" dirty="0"/>
              <a:t>9. Security-Related Transformation (Receiver Side)</a:t>
            </a:r>
          </a:p>
          <a:p>
            <a:pPr fontAlgn="base"/>
            <a:r>
              <a:rPr lang="en-US" dirty="0"/>
              <a:t>The receiver applies a reverse security process such as decryption or signature verification.</a:t>
            </a:r>
          </a:p>
          <a:p>
            <a:pPr fontAlgn="base"/>
            <a:r>
              <a:rPr lang="en-US" dirty="0"/>
              <a:t>This process uses the corresponding secret information.</a:t>
            </a:r>
          </a:p>
          <a:p>
            <a:pPr fontAlgn="base">
              <a:buNone/>
            </a:pPr>
            <a:r>
              <a:rPr lang="en-US" b="1" dirty="0"/>
              <a:t>10. Recipient</a:t>
            </a:r>
          </a:p>
          <a:p>
            <a:pPr fontAlgn="base"/>
            <a:r>
              <a:rPr lang="en-US" dirty="0"/>
              <a:t>The recipient is the intended destination of the message.</a:t>
            </a:r>
          </a:p>
          <a:p>
            <a:pPr fontAlgn="base"/>
            <a:r>
              <a:rPr lang="en-US" dirty="0"/>
              <a:t>After successful transformation, the original message is recovered securely.</a:t>
            </a:r>
          </a:p>
          <a:p>
            <a:pPr fontAlgn="base">
              <a:buNone/>
            </a:pPr>
            <a:r>
              <a:rPr lang="en-US" b="1" dirty="0"/>
              <a:t>11. Final Message at Receiver</a:t>
            </a:r>
          </a:p>
          <a:p>
            <a:pPr fontAlgn="base"/>
            <a:r>
              <a:rPr lang="en-US" dirty="0"/>
              <a:t>The receiver obtains the original message in its usable form.</a:t>
            </a:r>
          </a:p>
          <a:p>
            <a:pPr fontAlgn="base"/>
            <a:r>
              <a:rPr lang="en-US" dirty="0"/>
              <a:t>Confidentiality, integrity, and authenticity are preserved.</a:t>
            </a:r>
          </a:p>
          <a:p>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fontAlgn="base"/>
            <a:r>
              <a:rPr lang="en-US" b="1" dirty="0"/>
              <a:t>Real-World Applications of Network Security Model</a:t>
            </a:r>
          </a:p>
          <a:p>
            <a:pPr fontAlgn="base"/>
            <a:r>
              <a:rPr lang="en-US" dirty="0"/>
              <a:t>The Network Security Model is widely used in real-world systems to ensure safe and reliable communication over insecure networks. Its applications </a:t>
            </a:r>
            <a:r>
              <a:rPr lang="en-US" dirty="0" smtClean="0"/>
              <a:t>include</a:t>
            </a:r>
            <a:endParaRPr lang="en-US" dirty="0"/>
          </a:p>
          <a:p>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3209"/>
            <a:ext cx="8229600" cy="5840435"/>
          </a:xfrm>
        </p:spPr>
        <p:txBody>
          <a:bodyPr>
            <a:normAutofit lnSpcReduction="10000"/>
          </a:bodyPr>
          <a:lstStyle/>
          <a:p>
            <a:pPr fontAlgn="base">
              <a:buNone/>
            </a:pPr>
            <a:r>
              <a:rPr lang="en-US" b="1" dirty="0"/>
              <a:t>1. Secure Web Communication (HTTPS)</a:t>
            </a:r>
          </a:p>
          <a:p>
            <a:pPr fontAlgn="base"/>
            <a:r>
              <a:rPr lang="en-US" dirty="0"/>
              <a:t>Used in online banking, e-commerce, and social media.</a:t>
            </a:r>
          </a:p>
          <a:p>
            <a:pPr fontAlgn="base"/>
            <a:r>
              <a:rPr lang="en-US" dirty="0"/>
              <a:t>Encryption and authentication protect data exchanged between users and websites.</a:t>
            </a:r>
          </a:p>
          <a:p>
            <a:pPr fontAlgn="base">
              <a:buNone/>
            </a:pPr>
            <a:r>
              <a:rPr lang="en-US" b="1" dirty="0" smtClean="0"/>
              <a:t>2</a:t>
            </a:r>
            <a:r>
              <a:rPr lang="en-US" b="1" dirty="0"/>
              <a:t>. Online Banking and Financial Transactions</a:t>
            </a:r>
          </a:p>
          <a:p>
            <a:pPr fontAlgn="base"/>
            <a:r>
              <a:rPr lang="en-US" dirty="0"/>
              <a:t>Ensures confidentiality and integrity of account details and transactions.</a:t>
            </a:r>
          </a:p>
          <a:p>
            <a:pPr fontAlgn="base"/>
            <a:r>
              <a:rPr lang="en-US" dirty="0"/>
              <a:t>Uses encryption, authentication, and trusted third parties like banks and payment gateways.</a:t>
            </a:r>
          </a:p>
          <a:p>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fontAlgn="base"/>
            <a:r>
              <a:rPr lang="en-US" b="1" dirty="0"/>
              <a:t>3. Email Security</a:t>
            </a:r>
          </a:p>
          <a:p>
            <a:pPr fontAlgn="base"/>
            <a:r>
              <a:rPr lang="en-US" dirty="0"/>
              <a:t>Protects emails from interception and tampering.</a:t>
            </a:r>
          </a:p>
          <a:p>
            <a:pPr fontAlgn="base"/>
            <a:r>
              <a:rPr lang="en-US" dirty="0"/>
              <a:t>Uses encryption and digital signatures to ensure privacy and sender authenticity.</a:t>
            </a:r>
          </a:p>
          <a:p>
            <a:pPr fontAlgn="base"/>
            <a:r>
              <a:rPr lang="en-US" b="1" dirty="0"/>
              <a:t>4. E-Commerce Platforms</a:t>
            </a:r>
          </a:p>
          <a:p>
            <a:pPr fontAlgn="base"/>
            <a:r>
              <a:rPr lang="en-US" dirty="0"/>
              <a:t>Secures customer data such as credit card details and personal information.</a:t>
            </a:r>
          </a:p>
          <a:p>
            <a:pPr fontAlgn="base"/>
            <a:r>
              <a:rPr lang="en-US" dirty="0"/>
              <a:t>Prevents fraud, data theft, and unauthorized access.</a:t>
            </a:r>
          </a:p>
          <a:p>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Real-Time Communication Security</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Real-Time Communication (RTC)</a:t>
            </a:r>
            <a:r>
              <a:rPr lang="en-US" dirty="0" smtClean="0"/>
              <a:t> refers to communication where </a:t>
            </a:r>
            <a:r>
              <a:rPr lang="en-US" b="1" dirty="0" smtClean="0"/>
              <a:t>data is transmitted and received instantly with very low delay (latency)</a:t>
            </a:r>
            <a:r>
              <a:rPr lang="en-US" dirty="0" smtClean="0"/>
              <a:t>. Examples include:</a:t>
            </a:r>
          </a:p>
          <a:p>
            <a:r>
              <a:rPr lang="en-US" dirty="0" smtClean="0"/>
              <a:t>Voice calls (VoIP)</a:t>
            </a:r>
          </a:p>
          <a:p>
            <a:r>
              <a:rPr lang="en-US" dirty="0" smtClean="0"/>
              <a:t>Video conferencing (Zoom, Google Meet)</a:t>
            </a:r>
          </a:p>
          <a:p>
            <a:r>
              <a:rPr lang="en-US" dirty="0" smtClean="0"/>
              <a:t>Live chat and messaging</a:t>
            </a:r>
          </a:p>
          <a:p>
            <a:r>
              <a:rPr lang="en-US" dirty="0" smtClean="0"/>
              <a:t>Online gaming</a:t>
            </a:r>
          </a:p>
          <a:p>
            <a:r>
              <a:rPr lang="en-US" dirty="0" smtClean="0"/>
              <a:t>Telemedicine systems</a:t>
            </a:r>
          </a:p>
          <a:p>
            <a:r>
              <a:rPr lang="en-US" b="1" dirty="0" smtClean="0"/>
              <a:t>Real-Time Communication Security</a:t>
            </a:r>
            <a:r>
              <a:rPr lang="en-US" dirty="0" smtClean="0"/>
              <a:t> ensures that such live communications are </a:t>
            </a:r>
            <a:r>
              <a:rPr lang="en-US" b="1" dirty="0" smtClean="0"/>
              <a:t>confidential, authentic, and tamper-proof</a:t>
            </a:r>
            <a:r>
              <a:rPr lang="en-US" dirty="0" smtClean="0"/>
              <a:t> while maintaining </a:t>
            </a:r>
            <a:r>
              <a:rPr lang="en-US" b="1" dirty="0" smtClean="0"/>
              <a:t>low delay and high performance</a:t>
            </a:r>
            <a:r>
              <a:rPr lang="en-US" dirty="0" smtClean="0"/>
              <a:t>.</a:t>
            </a:r>
          </a:p>
          <a:p>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Threats in Real-Time Communication</a:t>
            </a:r>
            <a:endParaRPr lang="en-US" dirty="0"/>
          </a:p>
        </p:txBody>
      </p:sp>
      <p:sp>
        <p:nvSpPr>
          <p:cNvPr id="3" name="Content Placeholder 2"/>
          <p:cNvSpPr>
            <a:spLocks noGrp="1"/>
          </p:cNvSpPr>
          <p:nvPr>
            <p:ph idx="1"/>
          </p:nvPr>
        </p:nvSpPr>
        <p:spPr>
          <a:xfrm>
            <a:off x="457200" y="1600200"/>
            <a:ext cx="8229600" cy="4900634"/>
          </a:xfrm>
        </p:spPr>
        <p:txBody>
          <a:bodyPr>
            <a:normAutofit fontScale="77500" lnSpcReduction="20000"/>
          </a:bodyPr>
          <a:lstStyle/>
          <a:p>
            <a:pPr>
              <a:buNone/>
            </a:pPr>
            <a:r>
              <a:rPr lang="en-US" b="1" dirty="0" smtClean="0"/>
              <a:t>a) Eavesdropping</a:t>
            </a:r>
          </a:p>
          <a:p>
            <a:r>
              <a:rPr lang="en-US" dirty="0" smtClean="0"/>
              <a:t>Attackers listen to voice or video streams</a:t>
            </a:r>
          </a:p>
          <a:p>
            <a:r>
              <a:rPr lang="en-US" dirty="0" smtClean="0"/>
              <a:t>Common in unsecured networks</a:t>
            </a:r>
          </a:p>
          <a:p>
            <a:pPr>
              <a:buNone/>
            </a:pPr>
            <a:r>
              <a:rPr lang="en-US" b="1" dirty="0" smtClean="0"/>
              <a:t>b) Man-in-the-Middle (MITM) Attack</a:t>
            </a:r>
          </a:p>
          <a:p>
            <a:r>
              <a:rPr lang="en-US" dirty="0" smtClean="0"/>
              <a:t>Attacker intercepts real-time data and may alter it</a:t>
            </a:r>
          </a:p>
          <a:p>
            <a:pPr>
              <a:buNone/>
            </a:pPr>
            <a:r>
              <a:rPr lang="en-US" b="1" dirty="0" smtClean="0"/>
              <a:t>c) Session Hijacking</a:t>
            </a:r>
          </a:p>
          <a:p>
            <a:r>
              <a:rPr lang="en-US" dirty="0" smtClean="0"/>
              <a:t>Attacker takes control of an active communication session</a:t>
            </a:r>
          </a:p>
          <a:p>
            <a:pPr>
              <a:buNone/>
            </a:pPr>
            <a:r>
              <a:rPr lang="en-US" b="1" dirty="0" smtClean="0"/>
              <a:t>d) Replay Attacks</a:t>
            </a:r>
          </a:p>
          <a:p>
            <a:r>
              <a:rPr lang="en-US" dirty="0" smtClean="0"/>
              <a:t>Previously captured packets are resent to disrupt communication</a:t>
            </a:r>
          </a:p>
          <a:p>
            <a:pPr>
              <a:buNone/>
            </a:pPr>
            <a:r>
              <a:rPr lang="en-US" b="1" dirty="0" smtClean="0"/>
              <a:t>e) Denial of Service (</a:t>
            </a:r>
            <a:r>
              <a:rPr lang="en-US" b="1" dirty="0" err="1" smtClean="0"/>
              <a:t>DoS</a:t>
            </a:r>
            <a:r>
              <a:rPr lang="en-US" b="1" dirty="0" smtClean="0"/>
              <a:t>)</a:t>
            </a:r>
          </a:p>
          <a:p>
            <a:r>
              <a:rPr lang="en-US" dirty="0" smtClean="0"/>
              <a:t>Flooding servers to disrupt live calls or streams</a:t>
            </a:r>
          </a:p>
          <a:p>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Real-Time Communications Examples</a:t>
            </a:r>
            <a:br>
              <a:rPr lang="en-US" dirty="0" smtClean="0"/>
            </a:br>
            <a:endParaRPr lang="en-US" dirty="0"/>
          </a:p>
        </p:txBody>
      </p:sp>
      <p:sp>
        <p:nvSpPr>
          <p:cNvPr id="3" name="Content Placeholder 2"/>
          <p:cNvSpPr>
            <a:spLocks noGrp="1"/>
          </p:cNvSpPr>
          <p:nvPr>
            <p:ph idx="1"/>
          </p:nvPr>
        </p:nvSpPr>
        <p:spPr>
          <a:xfrm>
            <a:off x="457200" y="1231903"/>
            <a:ext cx="8229600" cy="4911741"/>
          </a:xfrm>
        </p:spPr>
        <p:txBody>
          <a:bodyPr>
            <a:normAutofit fontScale="92500"/>
          </a:bodyPr>
          <a:lstStyle/>
          <a:p>
            <a:r>
              <a:rPr lang="en-US" b="1" dirty="0"/>
              <a:t>Voice and video </a:t>
            </a:r>
            <a:r>
              <a:rPr lang="en-US" b="1" dirty="0" smtClean="0"/>
              <a:t>calls: </a:t>
            </a:r>
            <a:r>
              <a:rPr lang="en-US" dirty="0" smtClean="0"/>
              <a:t>Applications </a:t>
            </a:r>
            <a:r>
              <a:rPr lang="en-US" dirty="0"/>
              <a:t>such as Skype, Zoom, and </a:t>
            </a:r>
            <a:r>
              <a:rPr lang="en-US" dirty="0" err="1"/>
              <a:t>FaceTime</a:t>
            </a:r>
            <a:r>
              <a:rPr lang="en-US" dirty="0"/>
              <a:t> enable users to make voice and video calls over the internet in real time. </a:t>
            </a:r>
          </a:p>
          <a:p>
            <a:r>
              <a:rPr lang="en-US" b="1" dirty="0"/>
              <a:t>Video </a:t>
            </a:r>
            <a:r>
              <a:rPr lang="en-US" b="1" dirty="0" smtClean="0"/>
              <a:t>conferencing</a:t>
            </a:r>
            <a:r>
              <a:rPr lang="en-US" b="1" dirty="0"/>
              <a:t>:</a:t>
            </a:r>
            <a:r>
              <a:rPr lang="en-US" dirty="0" smtClean="0"/>
              <a:t> </a:t>
            </a:r>
            <a:r>
              <a:rPr lang="en-US" dirty="0"/>
              <a:t>Applications such as Zoom, Skype, and Google Meet enable users to participate in video conferences with multiple participants. </a:t>
            </a:r>
          </a:p>
          <a:p>
            <a:r>
              <a:rPr lang="en-US" b="1" dirty="0"/>
              <a:t>Instant </a:t>
            </a:r>
            <a:r>
              <a:rPr lang="en-US" b="1" dirty="0" smtClean="0"/>
              <a:t>messaging</a:t>
            </a:r>
            <a:r>
              <a:rPr lang="en-US" b="1" dirty="0"/>
              <a:t>:</a:t>
            </a:r>
            <a:r>
              <a:rPr lang="en-US" dirty="0" smtClean="0"/>
              <a:t> </a:t>
            </a:r>
            <a:r>
              <a:rPr lang="en-US" dirty="0"/>
              <a:t>Applications such as Slack, Microsoft Teams, and </a:t>
            </a:r>
            <a:r>
              <a:rPr lang="en-US" dirty="0" err="1"/>
              <a:t>WhatsApp</a:t>
            </a:r>
            <a:r>
              <a:rPr lang="en-US" dirty="0"/>
              <a:t> enable users to send and receive messages in real time.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01080" cy="5840435"/>
          </a:xfrm>
        </p:spPr>
        <p:txBody>
          <a:bodyPr>
            <a:normAutofit/>
          </a:bodyPr>
          <a:lstStyle/>
          <a:p>
            <a:pPr algn="just"/>
            <a:r>
              <a:rPr lang="en-US" b="1" dirty="0"/>
              <a:t>Live streaming</a:t>
            </a:r>
            <a:r>
              <a:rPr lang="en-US" dirty="0"/>
              <a:t> ? Applications such as YouTube Live and </a:t>
            </a:r>
            <a:r>
              <a:rPr lang="en-US" dirty="0" err="1"/>
              <a:t>Facebook</a:t>
            </a:r>
            <a:r>
              <a:rPr lang="en-US" dirty="0"/>
              <a:t> Live enable users to stream video in real time over the internet. </a:t>
            </a:r>
          </a:p>
          <a:p>
            <a:pPr algn="just"/>
            <a:r>
              <a:rPr lang="en-US" dirty="0"/>
              <a:t>Overall, RTC applications enable users to communicate and interact with each other in real time, regardless of their location</a:t>
            </a:r>
            <a:r>
              <a:rPr lang="en-US" dirty="0" smtClean="0"/>
              <a:t>.</a:t>
            </a:r>
          </a:p>
          <a:p>
            <a:pPr algn="just"/>
            <a:r>
              <a:rPr lang="en-US" dirty="0" smtClean="0"/>
              <a:t>These </a:t>
            </a:r>
            <a:r>
              <a:rPr lang="en-US" dirty="0"/>
              <a:t>applications have become an important part of the modern communication landscape and are used in a wide range of contexts, including social and business interactions.</a:t>
            </a:r>
          </a:p>
          <a:p>
            <a:pPr algn="just"/>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Real-Time Communications Vendors And Products</a:t>
            </a:r>
            <a:br>
              <a:rPr lang="en-US" dirty="0"/>
            </a:br>
            <a:endParaRPr lang="en-US" dirty="0"/>
          </a:p>
        </p:txBody>
      </p:sp>
      <p:sp>
        <p:nvSpPr>
          <p:cNvPr id="3" name="Content Placeholder 2"/>
          <p:cNvSpPr>
            <a:spLocks noGrp="1"/>
          </p:cNvSpPr>
          <p:nvPr>
            <p:ph idx="1"/>
          </p:nvPr>
        </p:nvSpPr>
        <p:spPr/>
        <p:txBody>
          <a:bodyPr>
            <a:normAutofit/>
          </a:bodyPr>
          <a:lstStyle/>
          <a:p>
            <a:r>
              <a:rPr lang="en-US" b="1" dirty="0" err="1" smtClean="0"/>
              <a:t>Zooom</a:t>
            </a:r>
            <a:r>
              <a:rPr lang="en-US" b="1" dirty="0" smtClean="0"/>
              <a:t>:</a:t>
            </a:r>
            <a:endParaRPr lang="en-US" dirty="0"/>
          </a:p>
          <a:p>
            <a:r>
              <a:rPr lang="en-US" b="1" dirty="0" smtClean="0"/>
              <a:t>Skype:</a:t>
            </a:r>
            <a:endParaRPr lang="en-US" dirty="0"/>
          </a:p>
          <a:p>
            <a:r>
              <a:rPr lang="en-US" b="1" dirty="0"/>
              <a:t>Microsoft </a:t>
            </a:r>
            <a:r>
              <a:rPr lang="en-US" b="1" dirty="0" smtClean="0"/>
              <a:t>Teams:</a:t>
            </a:r>
            <a:endParaRPr lang="en-US" dirty="0"/>
          </a:p>
          <a:p>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Real-Time Communication Security Works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Real-time communication security works by </a:t>
            </a:r>
            <a:r>
              <a:rPr lang="en-US" b="1" dirty="0" smtClean="0"/>
              <a:t>securing the entire communication process</a:t>
            </a:r>
            <a:r>
              <a:rPr lang="en-US" dirty="0" smtClean="0"/>
              <a:t>, from </a:t>
            </a:r>
            <a:r>
              <a:rPr lang="en-US" b="1" dirty="0" smtClean="0"/>
              <a:t>call setup</a:t>
            </a:r>
            <a:r>
              <a:rPr lang="en-US" dirty="0" smtClean="0"/>
              <a:t> to </a:t>
            </a:r>
            <a:r>
              <a:rPr lang="en-US" b="1" dirty="0" smtClean="0"/>
              <a:t>live data transmission</a:t>
            </a:r>
            <a:r>
              <a:rPr lang="en-US" dirty="0" smtClean="0"/>
              <a:t>, while keeping </a:t>
            </a:r>
            <a:r>
              <a:rPr lang="en-US" b="1" dirty="0" smtClean="0"/>
              <a:t>delay (latency) very low</a:t>
            </a:r>
            <a:r>
              <a:rPr lang="en-US" dirty="0" smtClean="0"/>
              <a:t>.</a:t>
            </a:r>
          </a:p>
          <a:p>
            <a:pPr>
              <a:buNone/>
            </a:pPr>
            <a:r>
              <a:rPr lang="en-US" b="1" dirty="0" smtClean="0"/>
              <a:t>Overall Working Flow (High-Level Idea)</a:t>
            </a:r>
          </a:p>
          <a:p>
            <a:r>
              <a:rPr lang="en-US" dirty="0" smtClean="0"/>
              <a:t>When two users communicate in real time (voice/video/chat), security is applied in </a:t>
            </a:r>
            <a:r>
              <a:rPr lang="en-US" b="1" dirty="0" smtClean="0"/>
              <a:t>three main phases</a:t>
            </a:r>
            <a:r>
              <a:rPr lang="en-US" dirty="0" smtClean="0"/>
              <a:t>:</a:t>
            </a:r>
          </a:p>
          <a:p>
            <a:r>
              <a:rPr lang="en-US" b="1" dirty="0" smtClean="0"/>
              <a:t>Secure signaling (call setup)</a:t>
            </a:r>
            <a:endParaRPr lang="en-US" dirty="0" smtClean="0"/>
          </a:p>
          <a:p>
            <a:r>
              <a:rPr lang="en-US" b="1" dirty="0" smtClean="0"/>
              <a:t>Secure key exchange</a:t>
            </a:r>
            <a:endParaRPr lang="en-US" dirty="0" smtClean="0"/>
          </a:p>
          <a:p>
            <a:r>
              <a:rPr lang="en-US" b="1" dirty="0" smtClean="0"/>
              <a:t>Secure real-time media transmission</a:t>
            </a:r>
            <a:endParaRPr lang="en-US" dirty="0" smtClean="0"/>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20000"/>
          </a:bodyPr>
          <a:lstStyle/>
          <a:p>
            <a:r>
              <a:rPr lang="en-US" b="1" dirty="0" smtClean="0"/>
              <a:t>Step 1: Secure Signaling (Call Setup)</a:t>
            </a:r>
          </a:p>
          <a:p>
            <a:r>
              <a:rPr lang="en-US" dirty="0" smtClean="0"/>
              <a:t>Before the actual voice or video starts, devices exchange </a:t>
            </a:r>
            <a:r>
              <a:rPr lang="en-US" b="1" dirty="0" smtClean="0"/>
              <a:t>signaling messages</a:t>
            </a:r>
            <a:r>
              <a:rPr lang="en-US" dirty="0" smtClean="0"/>
              <a:t> to:</a:t>
            </a:r>
          </a:p>
          <a:p>
            <a:r>
              <a:rPr lang="en-US" dirty="0" smtClean="0"/>
              <a:t>Identify users</a:t>
            </a:r>
          </a:p>
          <a:p>
            <a:r>
              <a:rPr lang="en-US" dirty="0" smtClean="0"/>
              <a:t>Set up session parameters</a:t>
            </a:r>
          </a:p>
          <a:p>
            <a:r>
              <a:rPr lang="en-US" dirty="0" smtClean="0"/>
              <a:t>Decide </a:t>
            </a:r>
            <a:r>
              <a:rPr lang="en-US" dirty="0" err="1" smtClean="0"/>
              <a:t>codecs</a:t>
            </a:r>
            <a:r>
              <a:rPr lang="en-US" dirty="0" smtClean="0"/>
              <a:t> and protocols</a:t>
            </a:r>
          </a:p>
          <a:p>
            <a:endParaRPr lang="en-US" dirty="0" smtClean="0"/>
          </a:p>
          <a:p>
            <a:pPr>
              <a:buNone/>
            </a:pPr>
            <a:r>
              <a:rPr lang="en-US" b="1" dirty="0" smtClean="0"/>
              <a:t>How it is secured:</a:t>
            </a:r>
          </a:p>
          <a:p>
            <a:r>
              <a:rPr lang="en-US" b="1" dirty="0" smtClean="0"/>
              <a:t>TLS (Transport Layer Security)</a:t>
            </a:r>
            <a:r>
              <a:rPr lang="en-US" dirty="0" smtClean="0"/>
              <a:t> is used</a:t>
            </a:r>
          </a:p>
          <a:p>
            <a:r>
              <a:rPr lang="en-US" dirty="0" smtClean="0"/>
              <a:t>Prevents fake call requests and MITM attacks</a:t>
            </a:r>
          </a:p>
          <a:p>
            <a:r>
              <a:rPr lang="en-US" dirty="0" smtClean="0"/>
              <a:t>Example:</a:t>
            </a:r>
            <a:br>
              <a:rPr lang="en-US" dirty="0" smtClean="0"/>
            </a:br>
            <a:r>
              <a:rPr lang="en-US" dirty="0" smtClean="0"/>
              <a:t>When you click </a:t>
            </a:r>
            <a:r>
              <a:rPr lang="en-US" i="1" dirty="0" smtClean="0"/>
              <a:t>“Join Meeting”</a:t>
            </a:r>
            <a:r>
              <a:rPr lang="en-US" dirty="0" smtClean="0"/>
              <a:t> in Zoom, signaling messages are securely exchanged using TLS.</a:t>
            </a:r>
          </a:p>
          <a:p>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10000"/>
          </a:bodyPr>
          <a:lstStyle/>
          <a:p>
            <a:pPr>
              <a:buNone/>
            </a:pPr>
            <a:r>
              <a:rPr lang="en-US" b="1" dirty="0" smtClean="0"/>
              <a:t>Step 2: Authentication of Users</a:t>
            </a:r>
          </a:p>
          <a:p>
            <a:r>
              <a:rPr lang="en-US" dirty="0" smtClean="0"/>
              <a:t>Each user is verified before joining the session</a:t>
            </a:r>
          </a:p>
          <a:p>
            <a:r>
              <a:rPr lang="en-US" dirty="0" smtClean="0"/>
              <a:t>Prevents unauthorized access</a:t>
            </a:r>
          </a:p>
          <a:p>
            <a:pPr>
              <a:buNone/>
            </a:pPr>
            <a:endParaRPr lang="en-US" dirty="0" smtClean="0"/>
          </a:p>
          <a:p>
            <a:pPr>
              <a:buNone/>
            </a:pPr>
            <a:r>
              <a:rPr lang="en-US" b="1" dirty="0" smtClean="0"/>
              <a:t>Methods used:</a:t>
            </a:r>
          </a:p>
          <a:p>
            <a:r>
              <a:rPr lang="en-US" dirty="0" smtClean="0"/>
              <a:t>Username &amp; password</a:t>
            </a:r>
          </a:p>
          <a:p>
            <a:r>
              <a:rPr lang="en-US" dirty="0" smtClean="0"/>
              <a:t>One-time password (OTP)</a:t>
            </a:r>
          </a:p>
          <a:p>
            <a:r>
              <a:rPr lang="en-US" dirty="0" smtClean="0"/>
              <a:t>Digital certificates</a:t>
            </a:r>
          </a:p>
          <a:p>
            <a:r>
              <a:rPr lang="en-US" dirty="0" smtClean="0"/>
              <a:t>Meeting IDs and </a:t>
            </a:r>
            <a:r>
              <a:rPr lang="en-US" dirty="0" err="1" smtClean="0"/>
              <a:t>passcodes</a:t>
            </a:r>
            <a:endParaRPr lang="en-US" dirty="0" smtClean="0"/>
          </a:p>
          <a:p>
            <a:r>
              <a:rPr lang="en-US" dirty="0" smtClean="0"/>
              <a:t>Example:</a:t>
            </a:r>
            <a:br>
              <a:rPr lang="en-US" dirty="0" smtClean="0"/>
            </a:br>
            <a:r>
              <a:rPr lang="en-US" dirty="0" smtClean="0"/>
              <a:t>Only authenticated users can join a secure video conference.</a:t>
            </a:r>
          </a:p>
          <a:p>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lnSpcReduction="10000"/>
          </a:bodyPr>
          <a:lstStyle/>
          <a:p>
            <a:pPr>
              <a:buNone/>
            </a:pPr>
            <a:r>
              <a:rPr lang="en-US" b="1" dirty="0" smtClean="0"/>
              <a:t>Step 3: Secure Key Exchange</a:t>
            </a:r>
          </a:p>
          <a:p>
            <a:r>
              <a:rPr lang="en-US" dirty="0" smtClean="0"/>
              <a:t>Once signaling is done, both parties must agree on a </a:t>
            </a:r>
            <a:r>
              <a:rPr lang="en-US" b="1" dirty="0" smtClean="0"/>
              <a:t>shared secret key</a:t>
            </a:r>
            <a:r>
              <a:rPr lang="en-US" dirty="0" smtClean="0"/>
              <a:t>.</a:t>
            </a:r>
          </a:p>
          <a:p>
            <a:r>
              <a:rPr lang="en-US" b="1" dirty="0" smtClean="0"/>
              <a:t>How it works:</a:t>
            </a:r>
          </a:p>
          <a:p>
            <a:r>
              <a:rPr lang="en-US" dirty="0" smtClean="0"/>
              <a:t>Uses </a:t>
            </a:r>
            <a:r>
              <a:rPr lang="en-US" b="1" dirty="0" smtClean="0"/>
              <a:t>asymmetric cryptography</a:t>
            </a:r>
            <a:endParaRPr lang="en-US" dirty="0" smtClean="0"/>
          </a:p>
          <a:p>
            <a:r>
              <a:rPr lang="en-US" dirty="0" smtClean="0"/>
              <a:t>Common method: </a:t>
            </a:r>
            <a:r>
              <a:rPr lang="en-US" b="1" dirty="0" err="1" smtClean="0"/>
              <a:t>Diffie</a:t>
            </a:r>
            <a:r>
              <a:rPr lang="en-US" b="1" dirty="0" smtClean="0"/>
              <a:t>-Hellman Key Exchange</a:t>
            </a:r>
            <a:endParaRPr lang="en-US" dirty="0" smtClean="0"/>
          </a:p>
          <a:p>
            <a:r>
              <a:rPr lang="en-US" dirty="0" smtClean="0"/>
              <a:t>Keys are generated </a:t>
            </a:r>
            <a:r>
              <a:rPr lang="en-US" b="1" dirty="0" smtClean="0"/>
              <a:t>dynamically per session</a:t>
            </a:r>
            <a:endParaRPr lang="en-US" dirty="0" smtClean="0"/>
          </a:p>
          <a:p>
            <a:pPr>
              <a:buNone/>
            </a:pPr>
            <a:r>
              <a:rPr lang="en-US" dirty="0" smtClean="0"/>
              <a:t>Important point:</a:t>
            </a:r>
            <a:br>
              <a:rPr lang="en-US" dirty="0" smtClean="0"/>
            </a:br>
            <a:r>
              <a:rPr lang="en-US" dirty="0" smtClean="0"/>
              <a:t>The encryption key is </a:t>
            </a:r>
            <a:r>
              <a:rPr lang="en-US" b="1" dirty="0" smtClean="0"/>
              <a:t>never sent directly</a:t>
            </a:r>
            <a:r>
              <a:rPr lang="en-US" dirty="0" smtClean="0"/>
              <a:t> over the network.</a:t>
            </a:r>
          </a:p>
          <a:p>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a:bodyPr>
          <a:lstStyle/>
          <a:p>
            <a:pPr>
              <a:buNone/>
            </a:pPr>
            <a:r>
              <a:rPr lang="en-US" b="1" dirty="0" smtClean="0"/>
              <a:t>Step 4: Encryption of Real-Time Data</a:t>
            </a:r>
          </a:p>
          <a:p>
            <a:r>
              <a:rPr lang="en-US" dirty="0" smtClean="0"/>
              <a:t>Now the actual </a:t>
            </a:r>
            <a:r>
              <a:rPr lang="en-US" b="1" dirty="0" smtClean="0"/>
              <a:t>voice, video, or chat data</a:t>
            </a:r>
            <a:r>
              <a:rPr lang="en-US" dirty="0" smtClean="0"/>
              <a:t> is transmitted.</a:t>
            </a:r>
          </a:p>
          <a:p>
            <a:r>
              <a:rPr lang="en-US" b="1" dirty="0" smtClean="0"/>
              <a:t>How security is applied:</a:t>
            </a:r>
          </a:p>
          <a:p>
            <a:r>
              <a:rPr lang="en-US" dirty="0" smtClean="0"/>
              <a:t>Data is encrypted using </a:t>
            </a:r>
            <a:r>
              <a:rPr lang="en-US" b="1" dirty="0" smtClean="0"/>
              <a:t>symmetric encryption</a:t>
            </a:r>
            <a:r>
              <a:rPr lang="en-US" dirty="0" smtClean="0"/>
              <a:t> (fast)</a:t>
            </a:r>
          </a:p>
          <a:p>
            <a:r>
              <a:rPr lang="en-US" dirty="0" smtClean="0"/>
              <a:t>Common algorithm: </a:t>
            </a:r>
            <a:r>
              <a:rPr lang="en-US" b="1" dirty="0" smtClean="0"/>
              <a:t>AES</a:t>
            </a:r>
            <a:endParaRPr lang="en-US" dirty="0" smtClean="0"/>
          </a:p>
          <a:p>
            <a:r>
              <a:rPr lang="en-US" dirty="0" smtClean="0"/>
              <a:t>Ensures confidentiality</a:t>
            </a:r>
          </a:p>
          <a:p>
            <a:pPr>
              <a:buNone/>
            </a:pPr>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pPr>
              <a:buNone/>
            </a:pPr>
            <a:r>
              <a:rPr lang="en-US" b="1" dirty="0" smtClean="0"/>
              <a:t>Step 5: Secure Real-Time Transport (SRTP)</a:t>
            </a:r>
          </a:p>
          <a:p>
            <a:r>
              <a:rPr lang="en-US" b="1" dirty="0" smtClean="0"/>
              <a:t>SRTP (Secure Real-time Transport Protocol) is used to:</a:t>
            </a:r>
          </a:p>
          <a:p>
            <a:r>
              <a:rPr lang="en-US" dirty="0" smtClean="0"/>
              <a:t>Encrypt media streams</a:t>
            </a:r>
          </a:p>
          <a:p>
            <a:r>
              <a:rPr lang="en-US" dirty="0" smtClean="0"/>
              <a:t>Ensure data integrity</a:t>
            </a:r>
          </a:p>
          <a:p>
            <a:r>
              <a:rPr lang="en-US" dirty="0" smtClean="0"/>
              <a:t>Protect against replay attacks</a:t>
            </a:r>
          </a:p>
          <a:p>
            <a:r>
              <a:rPr lang="en-US" b="1" dirty="0" smtClean="0"/>
              <a:t>SRTP provides:</a:t>
            </a:r>
          </a:p>
          <a:p>
            <a:r>
              <a:rPr lang="en-US" dirty="0" smtClean="0"/>
              <a:t>Encryption → privacy</a:t>
            </a:r>
          </a:p>
          <a:p>
            <a:r>
              <a:rPr lang="en-US" dirty="0" smtClean="0"/>
              <a:t>Message authentication → integrity</a:t>
            </a:r>
          </a:p>
          <a:p>
            <a:r>
              <a:rPr lang="en-US" dirty="0" smtClean="0"/>
              <a:t>Sequence numbers → replay protection</a:t>
            </a:r>
          </a:p>
          <a:p>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a:t>
            </a:r>
          </a:p>
          <a:p>
            <a:pPr>
              <a:buNone/>
            </a:pPr>
            <a:endParaRPr lang="en-US" dirty="0" smtClean="0"/>
          </a:p>
          <a:p>
            <a:pPr>
              <a:buNone/>
            </a:pPr>
            <a:r>
              <a:rPr lang="en-US" dirty="0" smtClean="0"/>
              <a:t>				END OF CHAPTER 4</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921</TotalTime>
  <Words>5805</Words>
  <Application>Microsoft Office PowerPoint</Application>
  <PresentationFormat>On-screen Show (4:3)</PresentationFormat>
  <Paragraphs>742</Paragraphs>
  <Slides>143</Slides>
  <Notes>0</Notes>
  <HiddenSlides>0</HiddenSlides>
  <MMClips>0</MMClips>
  <ScaleCrop>false</ScaleCrop>
  <HeadingPairs>
    <vt:vector size="4" baseType="variant">
      <vt:variant>
        <vt:lpstr>Theme</vt:lpstr>
      </vt:variant>
      <vt:variant>
        <vt:i4>1</vt:i4>
      </vt:variant>
      <vt:variant>
        <vt:lpstr>Slide Titles</vt:lpstr>
      </vt:variant>
      <vt:variant>
        <vt:i4>143</vt:i4>
      </vt:variant>
    </vt:vector>
  </HeadingPairs>
  <TitlesOfParts>
    <vt:vector size="144" baseType="lpstr">
      <vt:lpstr>Office Theme</vt:lpstr>
      <vt:lpstr>Network Security and Ethical Hacking</vt:lpstr>
      <vt:lpstr>How Does Network Security Work? </vt:lpstr>
      <vt:lpstr>Slide 3</vt:lpstr>
      <vt:lpstr> Physical Network Security </vt:lpstr>
      <vt:lpstr>Technical Network Security </vt:lpstr>
      <vt:lpstr>Administrative Network Security </vt:lpstr>
      <vt:lpstr>Types of Network Security </vt:lpstr>
      <vt:lpstr>Slide 8</vt:lpstr>
      <vt:lpstr>Slide 9</vt:lpstr>
      <vt:lpstr>Slide 10</vt:lpstr>
      <vt:lpstr>Slide 11</vt:lpstr>
      <vt:lpstr>Slide 12</vt:lpstr>
      <vt:lpstr>Slide 13</vt:lpstr>
      <vt:lpstr>Slide 14</vt:lpstr>
      <vt:lpstr>What is Hacktivism ? </vt:lpstr>
      <vt:lpstr>Slide 16</vt:lpstr>
      <vt:lpstr>Ethical hacking</vt:lpstr>
      <vt:lpstr>Slide 18</vt:lpstr>
      <vt:lpstr>Slide 19</vt:lpstr>
      <vt:lpstr>Key aspects of Ethical Hacking </vt:lpstr>
      <vt:lpstr>Slide 21</vt:lpstr>
      <vt:lpstr>Slide 22</vt:lpstr>
      <vt:lpstr>Types of Ethical Hacking </vt:lpstr>
      <vt:lpstr>Slide 24</vt:lpstr>
      <vt:lpstr>Types of Ethical Hackers </vt:lpstr>
      <vt:lpstr>Slide 26</vt:lpstr>
      <vt:lpstr>Slide 27</vt:lpstr>
      <vt:lpstr>Slide 28</vt:lpstr>
      <vt:lpstr>Slide 29</vt:lpstr>
      <vt:lpstr>Slide 30</vt:lpstr>
      <vt:lpstr>Slide 31</vt:lpstr>
      <vt:lpstr>Slide 32</vt:lpstr>
      <vt:lpstr>Slide 33</vt:lpstr>
      <vt:lpstr>Slide 34</vt:lpstr>
      <vt:lpstr>Slide 35</vt:lpstr>
      <vt:lpstr>Slide 36</vt:lpstr>
      <vt:lpstr>How Cyber Crimes start ?</vt:lpstr>
      <vt:lpstr>Slide 38</vt:lpstr>
      <vt:lpstr>Digital Citizenship</vt:lpstr>
      <vt:lpstr>Balanced Digital Diet</vt:lpstr>
      <vt:lpstr>Definitions of DC and DD</vt:lpstr>
      <vt:lpstr>Have you ever heard about DQ ?</vt:lpstr>
      <vt:lpstr>Slide 43</vt:lpstr>
      <vt:lpstr>Slide 44</vt:lpstr>
      <vt:lpstr> Fraud via APK (Android Package Kit): A Growing Cyber Threat </vt:lpstr>
      <vt:lpstr>What is an APK File? </vt:lpstr>
      <vt:lpstr>How malicious APKs are typically created </vt:lpstr>
      <vt:lpstr>Slide 48</vt:lpstr>
      <vt:lpstr>Slide 49</vt:lpstr>
      <vt:lpstr>How these permission are created ?</vt:lpstr>
      <vt:lpstr>Permissions exploited by the APP</vt:lpstr>
      <vt:lpstr>Slide 52</vt:lpstr>
      <vt:lpstr>Steps typically used by attackers: </vt:lpstr>
      <vt:lpstr>Distribution Methods Used by Cybercriminals</vt:lpstr>
      <vt:lpstr>Common types of malicious code inserted in legitimate APKs</vt:lpstr>
      <vt:lpstr>Indicators of a Malicious APK </vt:lpstr>
      <vt:lpstr>Indicators of a Malicious APK </vt:lpstr>
      <vt:lpstr>Slide 58</vt:lpstr>
      <vt:lpstr>Slide 59</vt:lpstr>
      <vt:lpstr>Slide 60</vt:lpstr>
      <vt:lpstr>Information Gathering (Reconnaissance) </vt:lpstr>
      <vt:lpstr>Types of Information Gathering</vt:lpstr>
      <vt:lpstr>Advanced Google Search (Google Dorking)</vt:lpstr>
      <vt:lpstr>How Does Google Dorking Work? </vt:lpstr>
      <vt:lpstr>Slide 65</vt:lpstr>
      <vt:lpstr>Slide 66</vt:lpstr>
      <vt:lpstr>Slide 67</vt:lpstr>
      <vt:lpstr>Archive.org (Wayback Machine)</vt:lpstr>
      <vt:lpstr>Netcraft</vt:lpstr>
      <vt:lpstr>WHOIS</vt:lpstr>
      <vt:lpstr>HOST Command</vt:lpstr>
      <vt:lpstr>DIG (Domain Information Groper)</vt:lpstr>
      <vt:lpstr>NMAP</vt:lpstr>
      <vt:lpstr>Slide 74</vt:lpstr>
      <vt:lpstr>Slide 75</vt:lpstr>
      <vt:lpstr>Slide 76</vt:lpstr>
      <vt:lpstr>Slide 77</vt:lpstr>
      <vt:lpstr>Slide 78</vt:lpstr>
      <vt:lpstr>What is Social Engineering?  </vt:lpstr>
      <vt:lpstr>Slide 80</vt:lpstr>
      <vt:lpstr>Slide 81</vt:lpstr>
      <vt:lpstr>Slide 82</vt:lpstr>
      <vt:lpstr>Slide 83</vt:lpstr>
      <vt:lpstr>Slide 84</vt:lpstr>
      <vt:lpstr>Slide 85</vt:lpstr>
      <vt:lpstr>Slide 86</vt:lpstr>
      <vt:lpstr>Slide 87</vt:lpstr>
      <vt:lpstr>Types of SE Attacks</vt:lpstr>
      <vt:lpstr>Slide 89</vt:lpstr>
      <vt:lpstr>Prevention</vt:lpstr>
      <vt:lpstr>Slide 91</vt:lpstr>
      <vt:lpstr> Distributed Denial of Service DDoS attack </vt:lpstr>
      <vt:lpstr>How Does a DDoS Attack Work? </vt:lpstr>
      <vt:lpstr>Slide 94</vt:lpstr>
      <vt:lpstr>Slide 95</vt:lpstr>
      <vt:lpstr>Packet sniffing</vt:lpstr>
      <vt:lpstr>Definition of Packet Sniffing</vt:lpstr>
      <vt:lpstr>Slide 98</vt:lpstr>
      <vt:lpstr>ISPs use packet sniffing to track all your activities such as:</vt:lpstr>
      <vt:lpstr>Slide 100</vt:lpstr>
      <vt:lpstr>Slide 101</vt:lpstr>
      <vt:lpstr>Is packet sniffing legal?</vt:lpstr>
      <vt:lpstr>How does packet sniffing work? </vt:lpstr>
      <vt:lpstr>Slide 104</vt:lpstr>
      <vt:lpstr>Types of packet sniffing in cyber security:</vt:lpstr>
      <vt:lpstr>What is a packet sniffing attack? </vt:lpstr>
      <vt:lpstr> Practical Workflow of Packet Sniffing  </vt:lpstr>
      <vt:lpstr>Slide 108</vt:lpstr>
      <vt:lpstr>Slide 109</vt:lpstr>
      <vt:lpstr>Wireshark - Packet Capturing and Analyzing</vt:lpstr>
      <vt:lpstr>Slide 111</vt:lpstr>
      <vt:lpstr>Slide 112</vt:lpstr>
      <vt:lpstr>Slide 113</vt:lpstr>
      <vt:lpstr>Slide 114</vt:lpstr>
      <vt:lpstr>Slide 115</vt:lpstr>
      <vt:lpstr>Why Packet Sniffing Matters? </vt:lpstr>
      <vt:lpstr>Slide 117</vt:lpstr>
      <vt:lpstr>Slide 118</vt:lpstr>
      <vt:lpstr>Live capture from many different network media </vt:lpstr>
      <vt:lpstr>Slide 120</vt:lpstr>
      <vt:lpstr>Slide 121</vt:lpstr>
      <vt:lpstr>Slide 122</vt:lpstr>
      <vt:lpstr>Model for Network Security </vt:lpstr>
      <vt:lpstr>Slide 124</vt:lpstr>
      <vt:lpstr>Elements of Network Security Model </vt:lpstr>
      <vt:lpstr>Slide 126</vt:lpstr>
      <vt:lpstr>Slide 127</vt:lpstr>
      <vt:lpstr>Slide 128</vt:lpstr>
      <vt:lpstr>Slide 129</vt:lpstr>
      <vt:lpstr>Slide 130</vt:lpstr>
      <vt:lpstr>Slide 131</vt:lpstr>
      <vt:lpstr>Real-Time Communication Security</vt:lpstr>
      <vt:lpstr>Common Threats in Real-Time Communication</vt:lpstr>
      <vt:lpstr>Real-Time Communications Examples </vt:lpstr>
      <vt:lpstr>Slide 135</vt:lpstr>
      <vt:lpstr>Real-Time Communications Vendors And Products </vt:lpstr>
      <vt:lpstr>How Real-Time Communication Security Works</vt:lpstr>
      <vt:lpstr>Slide 138</vt:lpstr>
      <vt:lpstr>Slide 139</vt:lpstr>
      <vt:lpstr>Slide 140</vt:lpstr>
      <vt:lpstr>Slide 141</vt:lpstr>
      <vt:lpstr>Slide 142</vt:lpstr>
      <vt:lpstr>Slide 143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Security and Ethical Hacking</dc:title>
  <dc:creator>Amit</dc:creator>
  <cp:lastModifiedBy>Amit</cp:lastModifiedBy>
  <cp:revision>63</cp:revision>
  <dcterms:created xsi:type="dcterms:W3CDTF">2026-02-07T07:08:01Z</dcterms:created>
  <dcterms:modified xsi:type="dcterms:W3CDTF">2026-04-23T04:53:28Z</dcterms:modified>
</cp:coreProperties>
</file>