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1" r:id="rId14"/>
    <p:sldId id="311" r:id="rId15"/>
    <p:sldId id="269" r:id="rId16"/>
    <p:sldId id="270" r:id="rId17"/>
    <p:sldId id="271" r:id="rId18"/>
    <p:sldId id="273" r:id="rId19"/>
    <p:sldId id="274" r:id="rId20"/>
    <p:sldId id="309" r:id="rId21"/>
    <p:sldId id="275" r:id="rId22"/>
    <p:sldId id="276" r:id="rId23"/>
    <p:sldId id="310" r:id="rId24"/>
    <p:sldId id="277" r:id="rId25"/>
    <p:sldId id="354" r:id="rId26"/>
    <p:sldId id="278" r:id="rId27"/>
    <p:sldId id="279" r:id="rId28"/>
    <p:sldId id="280" r:id="rId29"/>
    <p:sldId id="281" r:id="rId30"/>
    <p:sldId id="356" r:id="rId31"/>
    <p:sldId id="282" r:id="rId32"/>
    <p:sldId id="283" r:id="rId33"/>
    <p:sldId id="284" r:id="rId34"/>
    <p:sldId id="285" r:id="rId35"/>
    <p:sldId id="286" r:id="rId36"/>
    <p:sldId id="287" r:id="rId37"/>
    <p:sldId id="357" r:id="rId38"/>
    <p:sldId id="359" r:id="rId39"/>
    <p:sldId id="360" r:id="rId40"/>
    <p:sldId id="361" r:id="rId41"/>
    <p:sldId id="362" r:id="rId42"/>
    <p:sldId id="363" r:id="rId43"/>
    <p:sldId id="364" r:id="rId44"/>
    <p:sldId id="365" r:id="rId45"/>
    <p:sldId id="366" r:id="rId46"/>
    <p:sldId id="367" r:id="rId47"/>
    <p:sldId id="368" r:id="rId48"/>
    <p:sldId id="369" r:id="rId49"/>
    <p:sldId id="370" r:id="rId50"/>
    <p:sldId id="371" r:id="rId51"/>
    <p:sldId id="372" r:id="rId52"/>
    <p:sldId id="373" r:id="rId53"/>
    <p:sldId id="374" r:id="rId54"/>
    <p:sldId id="375" r:id="rId55"/>
    <p:sldId id="376" r:id="rId56"/>
    <p:sldId id="288" r:id="rId57"/>
    <p:sldId id="289" r:id="rId58"/>
    <p:sldId id="290" r:id="rId59"/>
    <p:sldId id="291" r:id="rId60"/>
    <p:sldId id="292" r:id="rId61"/>
    <p:sldId id="293" r:id="rId62"/>
    <p:sldId id="294" r:id="rId63"/>
    <p:sldId id="295" r:id="rId64"/>
    <p:sldId id="296" r:id="rId65"/>
    <p:sldId id="298" r:id="rId66"/>
    <p:sldId id="297" r:id="rId67"/>
    <p:sldId id="299" r:id="rId68"/>
    <p:sldId id="300" r:id="rId69"/>
    <p:sldId id="301" r:id="rId70"/>
    <p:sldId id="358" r:id="rId71"/>
    <p:sldId id="302" r:id="rId72"/>
    <p:sldId id="303" r:id="rId73"/>
    <p:sldId id="355" r:id="rId74"/>
    <p:sldId id="304" r:id="rId75"/>
    <p:sldId id="305" r:id="rId76"/>
    <p:sldId id="307" r:id="rId77"/>
    <p:sldId id="306" r:id="rId78"/>
    <p:sldId id="308" r:id="rId79"/>
    <p:sldId id="353" r:id="rId8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howOutlineIcons="0">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6992"/>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55FAE7-9188-4CDB-ADEB-CAEA5BB61A6D}"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D41F09-89C3-41FC-82CB-931F656A446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55FAE7-9188-4CDB-ADEB-CAEA5BB61A6D}"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D41F09-89C3-41FC-82CB-931F656A446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55FAE7-9188-4CDB-ADEB-CAEA5BB61A6D}"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D41F09-89C3-41FC-82CB-931F656A446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255FAE7-9188-4CDB-ADEB-CAEA5BB61A6D}"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D41F09-89C3-41FC-82CB-931F656A446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255FAE7-9188-4CDB-ADEB-CAEA5BB61A6D}" type="datetimeFigureOut">
              <a:rPr lang="en-US" smtClean="0"/>
              <a:pPr/>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DD41F09-89C3-41FC-82CB-931F656A446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255FAE7-9188-4CDB-ADEB-CAEA5BB61A6D}" type="datetimeFigureOut">
              <a:rPr lang="en-US" smtClean="0"/>
              <a:pPr/>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DD41F09-89C3-41FC-82CB-931F656A446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55FAE7-9188-4CDB-ADEB-CAEA5BB61A6D}"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D41F09-89C3-41FC-82CB-931F656A446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55FAE7-9188-4CDB-ADEB-CAEA5BB61A6D}"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D41F09-89C3-41FC-82CB-931F656A446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55FAE7-9188-4CDB-ADEB-CAEA5BB61A6D}"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D41F09-89C3-41FC-82CB-931F656A446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55FAE7-9188-4CDB-ADEB-CAEA5BB61A6D}"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D41F09-89C3-41FC-82CB-931F656A446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55FAE7-9188-4CDB-ADEB-CAEA5BB61A6D}"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D41F09-89C3-41FC-82CB-931F656A446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55FAE7-9188-4CDB-ADEB-CAEA5BB61A6D}" type="datetimeFigureOut">
              <a:rPr lang="en-US" smtClean="0"/>
              <a:pPr/>
              <a:t>2/27/2026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D41F09-89C3-41FC-82CB-931F656A446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eeksforgeeks.org/cloud-computing/data-collection/"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geeksforgeeks.org/data-analysis/methods-of-data-collection/"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geeksforgeeks.org/data-analysis/what-is-data-analysis/"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www.google.com/search?rlz=1C1CFYW_en-GBIN1180IN1180&amp;sca_esv=02d96f4dae5a5963&amp;sxsrf=ANbL-n7DEoMzqexTf4O1uWXOvI6ixWoX5g:1769681971152&amp;q=Operational+Data&amp;sa=X&amp;sqi=2&amp;ved=2ahUKEwjQ5oWKw7CSAxXbSmwGHW7bGz4QxccNegQIaxAB&amp;mstk=AUtExfCPMbHZ4bKY_ZMCZgOvJyUrTeqqfhc5JMLa0vpLre0gg9lI07lRFKxfDYD_m5xtp9W6MHZcILH6nOwH1VP7Hn6nsMKsQSCFTtBMWpTQU1HQg3detUUaSw7EdSCTkZNoIDKh_RrmX354Ag6DfGDu093t7yrcGzoZjzvNs5hvgf9HhA5ll6ITR0ykcVVN5_xMA1zJCCuQDzGeDrSG536qcjHSjMJ-goinQXaFkWbmaC0kEGGVIcRFuQKX3yVn6pl7-tTOE1G8GGat5PRW8-fEznN1&amp;csui=3"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google.com/search?rlz=1C1CFYW_en-GBIN1180IN1180&amp;sca_esv=02d96f4dae5a5963&amp;sxsrf=ANbL-n7DEoMzqexTf4O1uWXOvI6ixWoX5g:1769681971152&amp;q=Structured+Data&amp;sa=X&amp;sqi=2&amp;ved=2ahUKEwjQ5oWKw7CSAxXbSmwGHW7bGz4QxccNegQIfRAB&amp;mstk=AUtExfCPMbHZ4bKY_ZMCZgOvJyUrTeqqfhc5JMLa0vpLre0gg9lI07lRFKxfDYD_m5xtp9W6MHZcILH6nOwH1VP7Hn6nsMKsQSCFTtBMWpTQU1HQg3detUUaSw7EdSCTkZNoIDKh_RrmX354Ag6DfGDu093t7yrcGzoZjzvNs5hvgf9HhA5ll6ITR0ykcVVN5_xMA1zJCCuQDzGeDrSG536qcjHSjMJ-goinQXaFkWbmaC0kEGGVIcRFuQKX3yVn6pl7-tTOE1G8GGat5PRW8-fEznN1&amp;csui=3"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www.geeksforgeeks.org/maths/interquartile-range/"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8000" b="1" dirty="0" smtClean="0">
                <a:solidFill>
                  <a:srgbClr val="FF0000"/>
                </a:solidFill>
              </a:rPr>
              <a:t>Data Science and Big Data Analytics</a:t>
            </a:r>
            <a:endParaRPr lang="en-US" sz="8000"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What is Data Science? </a:t>
            </a:r>
            <a:endParaRPr lang="en-US" dirty="0"/>
          </a:p>
        </p:txBody>
      </p:sp>
      <p:sp>
        <p:nvSpPr>
          <p:cNvPr id="3" name="Content Placeholder 2"/>
          <p:cNvSpPr>
            <a:spLocks noGrp="1"/>
          </p:cNvSpPr>
          <p:nvPr>
            <p:ph idx="1"/>
          </p:nvPr>
        </p:nvSpPr>
        <p:spPr/>
        <p:txBody>
          <a:bodyPr/>
          <a:lstStyle/>
          <a:p>
            <a:pPr algn="just"/>
            <a:r>
              <a:rPr lang="en-US" b="1" dirty="0" smtClean="0"/>
              <a:t>Data Science</a:t>
            </a:r>
            <a:r>
              <a:rPr lang="en-US" dirty="0" smtClean="0"/>
              <a:t> is a field that deals with </a:t>
            </a:r>
            <a:r>
              <a:rPr lang="en-US" b="1" dirty="0" smtClean="0"/>
              <a:t>collecting, analyzing, and interpreting data</a:t>
            </a:r>
            <a:r>
              <a:rPr lang="en-US" dirty="0" smtClean="0"/>
              <a:t> to find useful information and help in </a:t>
            </a:r>
            <a:r>
              <a:rPr lang="en-US" b="1" dirty="0" smtClean="0"/>
              <a:t>decision making</a:t>
            </a:r>
            <a:r>
              <a:rPr lang="en-US" dirty="0" smtClean="0"/>
              <a:t>.</a:t>
            </a:r>
          </a:p>
          <a:p>
            <a:pPr algn="just"/>
            <a:r>
              <a:rPr lang="en-US" dirty="0" smtClean="0"/>
              <a:t>In simple words:</a:t>
            </a:r>
          </a:p>
          <a:p>
            <a:pPr algn="just">
              <a:buNone/>
            </a:pPr>
            <a:r>
              <a:rPr lang="en-US" i="1" dirty="0" smtClean="0"/>
              <a:t>Data Science turns raw data into meaningful knowledge.</a:t>
            </a:r>
            <a:endParaRPr lang="en-US" dirty="0" smtClean="0"/>
          </a:p>
          <a:p>
            <a:pPr algn="just"/>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(Definition)</a:t>
            </a:r>
            <a:br>
              <a:rPr lang="en-US" b="1" dirty="0" smtClean="0"/>
            </a:br>
            <a:endParaRPr lang="en-US" dirty="0"/>
          </a:p>
        </p:txBody>
      </p:sp>
      <p:sp>
        <p:nvSpPr>
          <p:cNvPr id="3" name="Content Placeholder 2"/>
          <p:cNvSpPr>
            <a:spLocks noGrp="1"/>
          </p:cNvSpPr>
          <p:nvPr>
            <p:ph idx="1"/>
          </p:nvPr>
        </p:nvSpPr>
        <p:spPr>
          <a:xfrm>
            <a:off x="457200" y="1000108"/>
            <a:ext cx="8229600" cy="5126055"/>
          </a:xfrm>
        </p:spPr>
        <p:txBody>
          <a:bodyPr>
            <a:normAutofit fontScale="85000" lnSpcReduction="20000"/>
          </a:bodyPr>
          <a:lstStyle/>
          <a:p>
            <a:pPr algn="just" fontAlgn="base"/>
            <a:r>
              <a:rPr lang="en-US" dirty="0"/>
              <a:t>Data science is the study of data used to extract meaningful insights for business decisions. </a:t>
            </a:r>
            <a:endParaRPr lang="en-US" dirty="0" smtClean="0"/>
          </a:p>
          <a:p>
            <a:pPr algn="just" fontAlgn="base"/>
            <a:r>
              <a:rPr lang="en-US" dirty="0" smtClean="0"/>
              <a:t>It </a:t>
            </a:r>
            <a:r>
              <a:rPr lang="en-US" dirty="0"/>
              <a:t>combines mathematics, computing and domain knowledge to solve real-world problems and uncover hidden patterns.</a:t>
            </a:r>
          </a:p>
          <a:p>
            <a:pPr algn="just" fontAlgn="base"/>
            <a:r>
              <a:rPr lang="en-US" dirty="0"/>
              <a:t>It processes raw data to address business challenges and predict future trends. </a:t>
            </a:r>
            <a:endParaRPr lang="en-US" dirty="0" smtClean="0"/>
          </a:p>
          <a:p>
            <a:pPr algn="just" fontAlgn="base"/>
            <a:r>
              <a:rPr lang="en-US" dirty="0" smtClean="0"/>
              <a:t>For </a:t>
            </a:r>
            <a:r>
              <a:rPr lang="en-US" dirty="0"/>
              <a:t>example, from large company datasets, data science can help answer questions like:</a:t>
            </a:r>
          </a:p>
          <a:p>
            <a:pPr marL="514350" indent="-514350" algn="just" fontAlgn="base">
              <a:buFont typeface="+mj-lt"/>
              <a:buAutoNum type="arabicPeriod"/>
            </a:pPr>
            <a:r>
              <a:rPr lang="en-US" b="1" dirty="0">
                <a:solidFill>
                  <a:srgbClr val="FF0000"/>
                </a:solidFill>
              </a:rPr>
              <a:t>What do customer want?</a:t>
            </a:r>
          </a:p>
          <a:p>
            <a:pPr marL="514350" indent="-514350" algn="just" fontAlgn="base">
              <a:buFont typeface="+mj-lt"/>
              <a:buAutoNum type="arabicPeriod"/>
            </a:pPr>
            <a:r>
              <a:rPr lang="en-US" b="1" dirty="0">
                <a:solidFill>
                  <a:srgbClr val="FF0000"/>
                </a:solidFill>
              </a:rPr>
              <a:t>How can we improve our services?</a:t>
            </a:r>
          </a:p>
          <a:p>
            <a:pPr marL="514350" indent="-514350" algn="just" fontAlgn="base">
              <a:buFont typeface="+mj-lt"/>
              <a:buAutoNum type="arabicPeriod"/>
            </a:pPr>
            <a:r>
              <a:rPr lang="en-US" b="1" dirty="0">
                <a:solidFill>
                  <a:srgbClr val="FF0000"/>
                </a:solidFill>
              </a:rPr>
              <a:t>What will the upcoming trend in sales?</a:t>
            </a:r>
          </a:p>
          <a:p>
            <a:pPr marL="514350" indent="-514350" algn="just" fontAlgn="base">
              <a:buFont typeface="+mj-lt"/>
              <a:buAutoNum type="arabicPeriod"/>
            </a:pPr>
            <a:r>
              <a:rPr lang="en-US" b="1" dirty="0">
                <a:solidFill>
                  <a:srgbClr val="FF0000"/>
                </a:solidFill>
              </a:rPr>
              <a:t>How much stock they need for upcoming festival.</a:t>
            </a:r>
          </a:p>
          <a:p>
            <a:pPr algn="just"/>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0" y="0"/>
            <a:ext cx="9144000" cy="6715147"/>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Steps involved in Data Science</a:t>
            </a:r>
            <a:br>
              <a:rPr lang="en-US" b="1" dirty="0"/>
            </a:br>
            <a:endParaRPr lang="en-US" dirty="0"/>
          </a:p>
        </p:txBody>
      </p:sp>
      <p:sp>
        <p:nvSpPr>
          <p:cNvPr id="3" name="Content Placeholder 2"/>
          <p:cNvSpPr>
            <a:spLocks noGrp="1"/>
          </p:cNvSpPr>
          <p:nvPr>
            <p:ph idx="1"/>
          </p:nvPr>
        </p:nvSpPr>
        <p:spPr>
          <a:xfrm>
            <a:off x="285720" y="1214422"/>
            <a:ext cx="8401080" cy="4911741"/>
          </a:xfrm>
        </p:spPr>
        <p:txBody>
          <a:bodyPr>
            <a:normAutofit fontScale="92500" lnSpcReduction="20000"/>
          </a:bodyPr>
          <a:lstStyle/>
          <a:p>
            <a:pPr marL="514350" indent="-514350" algn="just" fontAlgn="base">
              <a:buFont typeface="+mj-lt"/>
              <a:buAutoNum type="arabicPeriod"/>
            </a:pPr>
            <a:r>
              <a:rPr lang="en-US" b="1" dirty="0"/>
              <a:t>Data Collection:</a:t>
            </a:r>
            <a:r>
              <a:rPr lang="en-US" dirty="0"/>
              <a:t> Gathering raw data from various sources, such as databases, sensors or user interactions.</a:t>
            </a:r>
          </a:p>
          <a:p>
            <a:pPr marL="514350" indent="-514350" algn="just" fontAlgn="base">
              <a:buFont typeface="+mj-lt"/>
              <a:buAutoNum type="arabicPeriod"/>
            </a:pPr>
            <a:r>
              <a:rPr lang="en-US" b="1" dirty="0"/>
              <a:t>Data Cleaning: </a:t>
            </a:r>
            <a:r>
              <a:rPr lang="en-US" dirty="0"/>
              <a:t>Ensuring the data is accurate, complete and ready for analysis.</a:t>
            </a:r>
          </a:p>
          <a:p>
            <a:pPr marL="514350" indent="-514350" algn="just" fontAlgn="base">
              <a:buFont typeface="+mj-lt"/>
              <a:buAutoNum type="arabicPeriod"/>
            </a:pPr>
            <a:r>
              <a:rPr lang="en-US" b="1" dirty="0"/>
              <a:t>Data Analysis: </a:t>
            </a:r>
            <a:r>
              <a:rPr lang="en-US" dirty="0"/>
              <a:t>Applying statistical and computational methods to identify patterns, trends or relationships.</a:t>
            </a:r>
          </a:p>
          <a:p>
            <a:pPr marL="514350" indent="-514350" algn="just" fontAlgn="base">
              <a:buFont typeface="+mj-lt"/>
              <a:buAutoNum type="arabicPeriod"/>
            </a:pPr>
            <a:r>
              <a:rPr lang="en-US" b="1" dirty="0"/>
              <a:t>Data Visualization:</a:t>
            </a:r>
            <a:r>
              <a:rPr lang="en-US" dirty="0"/>
              <a:t> Creating charts, graphs and dashboards to present findings clearly.</a:t>
            </a:r>
          </a:p>
          <a:p>
            <a:pPr marL="514350" indent="-514350" algn="just" fontAlgn="base">
              <a:buFont typeface="+mj-lt"/>
              <a:buAutoNum type="arabicPeriod"/>
            </a:pPr>
            <a:r>
              <a:rPr lang="en-US" b="1" dirty="0"/>
              <a:t>Decision-Making: </a:t>
            </a:r>
            <a:r>
              <a:rPr lang="en-US" dirty="0"/>
              <a:t>Using insights to inform strategies, create solutions or predict outcomes.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Science Lifecycle</a:t>
            </a:r>
            <a:endParaRPr lang="en-US" dirty="0"/>
          </a:p>
        </p:txBody>
      </p:sp>
      <p:sp>
        <p:nvSpPr>
          <p:cNvPr id="3" name="Content Placeholder 2"/>
          <p:cNvSpPr>
            <a:spLocks noGrp="1"/>
          </p:cNvSpPr>
          <p:nvPr>
            <p:ph idx="1"/>
          </p:nvPr>
        </p:nvSpPr>
        <p:spPr>
          <a:xfrm>
            <a:off x="214282" y="1600200"/>
            <a:ext cx="8472518" cy="4972072"/>
          </a:xfrm>
        </p:spPr>
        <p:txBody>
          <a:bodyPr>
            <a:normAutofit/>
          </a:bodyPr>
          <a:lstStyle/>
          <a:p>
            <a:pPr algn="just"/>
            <a:r>
              <a:rPr lang="en-US" dirty="0" smtClean="0"/>
              <a:t>The </a:t>
            </a:r>
            <a:r>
              <a:rPr lang="en-US" b="1" dirty="0" smtClean="0"/>
              <a:t>Data Science Lifecycle</a:t>
            </a:r>
            <a:r>
              <a:rPr lang="en-US" dirty="0" smtClean="0"/>
              <a:t> describes the </a:t>
            </a:r>
            <a:r>
              <a:rPr lang="en-US" b="1" dirty="0" smtClean="0"/>
              <a:t>steps followed to solve a problem using data</a:t>
            </a:r>
            <a:r>
              <a:rPr lang="en-US" dirty="0" smtClean="0"/>
              <a:t>. It is an iterative process (steps can repeat).</a:t>
            </a:r>
          </a:p>
          <a:p>
            <a:pPr algn="just">
              <a:buNone/>
            </a:pPr>
            <a:r>
              <a:rPr lang="en-US" b="1" dirty="0" smtClean="0">
                <a:solidFill>
                  <a:srgbClr val="FF0000"/>
                </a:solidFill>
              </a:rPr>
              <a:t>Step 1: Problem Understanding</a:t>
            </a:r>
          </a:p>
          <a:p>
            <a:pPr algn="just"/>
            <a:r>
              <a:rPr lang="en-US" dirty="0" smtClean="0"/>
              <a:t>Understand </a:t>
            </a:r>
            <a:r>
              <a:rPr lang="en-US" b="1" dirty="0" smtClean="0"/>
              <a:t>what problem needs to be solved</a:t>
            </a:r>
            <a:endParaRPr lang="en-US" dirty="0" smtClean="0"/>
          </a:p>
          <a:p>
            <a:pPr algn="just"/>
            <a:r>
              <a:rPr lang="en-US" dirty="0" smtClean="0"/>
              <a:t>Define objectives clearly</a:t>
            </a:r>
          </a:p>
          <a:p>
            <a:r>
              <a:rPr lang="en-US" b="1" dirty="0" smtClean="0"/>
              <a:t>Example:</a:t>
            </a:r>
            <a:r>
              <a:rPr lang="en-US" dirty="0" smtClean="0"/>
              <a:t/>
            </a:r>
            <a:br>
              <a:rPr lang="en-US" dirty="0" smtClean="0"/>
            </a:br>
            <a:r>
              <a:rPr lang="en-US" dirty="0" smtClean="0"/>
              <a:t>Predict whether a student will pass or fail based on attendance and marks.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85728"/>
            <a:ext cx="8401080" cy="6215106"/>
          </a:xfrm>
        </p:spPr>
        <p:txBody>
          <a:bodyPr>
            <a:normAutofit/>
          </a:bodyPr>
          <a:lstStyle/>
          <a:p>
            <a:pPr algn="just">
              <a:buNone/>
            </a:pPr>
            <a:r>
              <a:rPr lang="en-US" b="1" dirty="0" smtClean="0">
                <a:solidFill>
                  <a:srgbClr val="FF0000"/>
                </a:solidFill>
              </a:rPr>
              <a:t>Step 2: Data Collection</a:t>
            </a:r>
          </a:p>
          <a:p>
            <a:pPr algn="just"/>
            <a:r>
              <a:rPr lang="en-US" dirty="0" smtClean="0"/>
              <a:t>Gather data from different sources such as:</a:t>
            </a:r>
          </a:p>
          <a:p>
            <a:pPr lvl="1" algn="just"/>
            <a:r>
              <a:rPr lang="en-US" dirty="0" smtClean="0"/>
              <a:t>Databases</a:t>
            </a:r>
          </a:p>
          <a:p>
            <a:pPr lvl="1" algn="just"/>
            <a:r>
              <a:rPr lang="en-US" dirty="0" smtClean="0"/>
              <a:t>Surveys</a:t>
            </a:r>
          </a:p>
          <a:p>
            <a:pPr lvl="1" algn="just"/>
            <a:r>
              <a:rPr lang="en-US" dirty="0" smtClean="0"/>
              <a:t>Sensors</a:t>
            </a:r>
          </a:p>
          <a:p>
            <a:pPr lvl="1" algn="just"/>
            <a:r>
              <a:rPr lang="en-US" dirty="0" smtClean="0"/>
              <a:t>Websites</a:t>
            </a:r>
          </a:p>
          <a:p>
            <a:pPr lvl="1" algn="just"/>
            <a:r>
              <a:rPr lang="en-US" dirty="0" smtClean="0"/>
              <a:t>Excel/CSV files</a:t>
            </a:r>
          </a:p>
          <a:p>
            <a:r>
              <a:rPr lang="en-US" b="1" dirty="0" smtClean="0"/>
              <a:t>Example:</a:t>
            </a:r>
            <a:r>
              <a:rPr lang="en-US" dirty="0" smtClean="0"/>
              <a:t/>
            </a:r>
            <a:br>
              <a:rPr lang="en-US" dirty="0" smtClean="0"/>
            </a:br>
            <a:r>
              <a:rPr lang="en-US" dirty="0" smtClean="0"/>
              <a:t>Collect student attendance, internal marks, and previous results.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357166"/>
            <a:ext cx="8401080" cy="5768997"/>
          </a:xfrm>
        </p:spPr>
        <p:txBody>
          <a:bodyPr/>
          <a:lstStyle/>
          <a:p>
            <a:pPr>
              <a:buNone/>
            </a:pPr>
            <a:r>
              <a:rPr lang="en-US" b="1" dirty="0" smtClean="0">
                <a:solidFill>
                  <a:srgbClr val="FF0000"/>
                </a:solidFill>
              </a:rPr>
              <a:t>Step 3: Data Cleaning (Preprocessing)</a:t>
            </a:r>
          </a:p>
          <a:p>
            <a:r>
              <a:rPr lang="en-US" dirty="0" smtClean="0"/>
              <a:t>Remove:</a:t>
            </a:r>
          </a:p>
          <a:p>
            <a:pPr lvl="1"/>
            <a:r>
              <a:rPr lang="en-US" dirty="0" smtClean="0"/>
              <a:t>Missing values</a:t>
            </a:r>
          </a:p>
          <a:p>
            <a:pPr lvl="1"/>
            <a:r>
              <a:rPr lang="en-US" dirty="0" smtClean="0"/>
              <a:t>Duplicate data</a:t>
            </a:r>
          </a:p>
          <a:p>
            <a:pPr lvl="1"/>
            <a:r>
              <a:rPr lang="en-US" dirty="0" smtClean="0"/>
              <a:t>Incorrect entries</a:t>
            </a:r>
          </a:p>
          <a:p>
            <a:r>
              <a:rPr lang="en-US" dirty="0" smtClean="0"/>
              <a:t>Convert data into usable format</a:t>
            </a:r>
          </a:p>
          <a:p>
            <a:r>
              <a:rPr lang="en-US" dirty="0" smtClean="0"/>
              <a:t>This step is very important because </a:t>
            </a:r>
            <a:r>
              <a:rPr lang="en-US" b="1" dirty="0" smtClean="0"/>
              <a:t>dirty data gives wrong results</a:t>
            </a:r>
            <a:r>
              <a:rPr lang="en-US" dirty="0" smtClean="0"/>
              <a: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a:bodyPr>
          <a:lstStyle/>
          <a:p>
            <a:pPr>
              <a:buNone/>
            </a:pPr>
            <a:r>
              <a:rPr lang="en-US" b="1" dirty="0" smtClean="0">
                <a:solidFill>
                  <a:srgbClr val="FF0000"/>
                </a:solidFill>
              </a:rPr>
              <a:t>Step 4: Exploratory Data Analysis (EDA)</a:t>
            </a:r>
          </a:p>
          <a:p>
            <a:r>
              <a:rPr lang="en-US" dirty="0" smtClean="0"/>
              <a:t>Study data using:</a:t>
            </a:r>
          </a:p>
          <a:p>
            <a:pPr lvl="1"/>
            <a:r>
              <a:rPr lang="en-US" dirty="0" smtClean="0"/>
              <a:t>Tables</a:t>
            </a:r>
          </a:p>
          <a:p>
            <a:pPr lvl="1"/>
            <a:r>
              <a:rPr lang="en-US" dirty="0" smtClean="0"/>
              <a:t>Graphs</a:t>
            </a:r>
          </a:p>
          <a:p>
            <a:pPr lvl="1"/>
            <a:r>
              <a:rPr lang="en-US" dirty="0" smtClean="0"/>
              <a:t>Charts</a:t>
            </a:r>
          </a:p>
          <a:p>
            <a:r>
              <a:rPr lang="en-US" dirty="0" smtClean="0"/>
              <a:t>Find patterns, trends, and relationships</a:t>
            </a:r>
          </a:p>
          <a:p>
            <a:r>
              <a:rPr lang="en-US" b="1" dirty="0" smtClean="0"/>
              <a:t>Example:</a:t>
            </a:r>
            <a:r>
              <a:rPr lang="en-US" dirty="0" smtClean="0"/>
              <a:t/>
            </a:r>
            <a:br>
              <a:rPr lang="en-US" dirty="0" smtClean="0"/>
            </a:br>
            <a:r>
              <a:rPr lang="en-US" dirty="0" smtClean="0"/>
              <a:t>Check if attendance affects student performance.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lstStyle/>
          <a:p>
            <a:pPr>
              <a:buNone/>
            </a:pPr>
            <a:r>
              <a:rPr lang="en-US" b="1" dirty="0" smtClean="0">
                <a:solidFill>
                  <a:srgbClr val="FF0000"/>
                </a:solidFill>
              </a:rPr>
              <a:t>Step 5: Model Building</a:t>
            </a:r>
          </a:p>
          <a:p>
            <a:r>
              <a:rPr lang="en-US" dirty="0" smtClean="0"/>
              <a:t>Apply </a:t>
            </a:r>
            <a:r>
              <a:rPr lang="en-US" b="1" dirty="0" smtClean="0"/>
              <a:t>machine learning algorithms</a:t>
            </a:r>
            <a:r>
              <a:rPr lang="en-US" dirty="0" smtClean="0"/>
              <a:t> such as:</a:t>
            </a:r>
          </a:p>
          <a:p>
            <a:pPr lvl="1"/>
            <a:r>
              <a:rPr lang="en-US" dirty="0" smtClean="0"/>
              <a:t>Linear Regression</a:t>
            </a:r>
          </a:p>
          <a:p>
            <a:pPr lvl="1"/>
            <a:r>
              <a:rPr lang="en-US" dirty="0" smtClean="0"/>
              <a:t>Decision Trees</a:t>
            </a:r>
          </a:p>
          <a:p>
            <a:pPr lvl="1"/>
            <a:r>
              <a:rPr lang="en-US" dirty="0" smtClean="0"/>
              <a:t>K-Means</a:t>
            </a:r>
          </a:p>
          <a:p>
            <a:pPr lvl="1"/>
            <a:r>
              <a:rPr lang="en-US" dirty="0" smtClean="0"/>
              <a:t>Naive </a:t>
            </a:r>
            <a:r>
              <a:rPr lang="en-US" dirty="0" err="1" smtClean="0"/>
              <a:t>Bayes</a:t>
            </a:r>
            <a:endParaRPr lang="en-US" dirty="0" smtClean="0"/>
          </a:p>
          <a:p>
            <a:r>
              <a:rPr lang="en-US" dirty="0" smtClean="0"/>
              <a:t>Train the model using available data</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lstStyle/>
          <a:p>
            <a:pPr>
              <a:buNone/>
            </a:pPr>
            <a:r>
              <a:rPr lang="en-US" b="1" dirty="0" smtClean="0">
                <a:solidFill>
                  <a:srgbClr val="FF0000"/>
                </a:solidFill>
              </a:rPr>
              <a:t>Step 6: Model Evaluation</a:t>
            </a:r>
          </a:p>
          <a:p>
            <a:r>
              <a:rPr lang="en-US" dirty="0" smtClean="0"/>
              <a:t>Check model accuracy and performance</a:t>
            </a:r>
          </a:p>
          <a:p>
            <a:r>
              <a:rPr lang="en-US" dirty="0" smtClean="0"/>
              <a:t>Use metrics like:</a:t>
            </a:r>
          </a:p>
          <a:p>
            <a:pPr lvl="1"/>
            <a:r>
              <a:rPr lang="en-US" dirty="0" smtClean="0"/>
              <a:t>Accuracy</a:t>
            </a:r>
          </a:p>
          <a:p>
            <a:pPr lvl="1"/>
            <a:r>
              <a:rPr lang="en-US" dirty="0" smtClean="0"/>
              <a:t>Precision</a:t>
            </a:r>
          </a:p>
          <a:p>
            <a:pPr lvl="1"/>
            <a:r>
              <a:rPr lang="en-US" dirty="0" smtClean="0"/>
              <a:t>Recall</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lstStyle/>
          <a:p>
            <a:pPr>
              <a:buNone/>
            </a:pPr>
            <a:r>
              <a:rPr lang="en-US" b="1" dirty="0" smtClean="0">
                <a:solidFill>
                  <a:srgbClr val="FF0000"/>
                </a:solidFill>
              </a:rPr>
              <a:t>Step 7: Deployment &amp; Decision Making</a:t>
            </a:r>
          </a:p>
          <a:p>
            <a:r>
              <a:rPr lang="en-US" dirty="0" smtClean="0"/>
              <a:t>Use the model in real-world applications</a:t>
            </a:r>
          </a:p>
          <a:p>
            <a:r>
              <a:rPr lang="en-US" dirty="0" smtClean="0"/>
              <a:t>Take decisions based on insights</a:t>
            </a:r>
          </a:p>
          <a:p>
            <a:r>
              <a:rPr lang="en-US" b="1" dirty="0" smtClean="0"/>
              <a:t>Example:</a:t>
            </a:r>
            <a:r>
              <a:rPr lang="en-US" dirty="0" smtClean="0"/>
              <a:t/>
            </a:r>
            <a:br>
              <a:rPr lang="en-US" dirty="0" smtClean="0"/>
            </a:br>
            <a:r>
              <a:rPr lang="en-US" dirty="0" smtClean="0"/>
              <a:t>Identify weak students early and provide extra support.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Real Life Example of Data Science</a:t>
            </a:r>
            <a:br>
              <a:rPr lang="en-US" b="1"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a:xfrm>
            <a:off x="457200" y="1214422"/>
            <a:ext cx="8229600" cy="4911741"/>
          </a:xfrm>
        </p:spPr>
        <p:txBody>
          <a:bodyPr>
            <a:normAutofit/>
          </a:bodyPr>
          <a:lstStyle/>
          <a:p>
            <a:pPr marL="514350" indent="-514350" algn="just" fontAlgn="base"/>
            <a:r>
              <a:rPr lang="en-US" b="1" dirty="0" smtClean="0"/>
              <a:t>E-Commerce</a:t>
            </a:r>
            <a:r>
              <a:rPr lang="en-US" b="1" dirty="0"/>
              <a:t>: </a:t>
            </a:r>
            <a:r>
              <a:rPr lang="en-US" dirty="0"/>
              <a:t>Recommender systems suggest products by analyzing browsing history and user behavior patterns.</a:t>
            </a:r>
          </a:p>
          <a:p>
            <a:pPr marL="514350" indent="-514350" algn="just" fontAlgn="base"/>
            <a:r>
              <a:rPr lang="en-US" b="1" dirty="0"/>
              <a:t>Streaming Platforms: </a:t>
            </a:r>
            <a:r>
              <a:rPr lang="en-US" dirty="0"/>
              <a:t>Machine learning models recommend movies and videos based on watch duration and engagement metrics.</a:t>
            </a:r>
          </a:p>
          <a:p>
            <a:pPr marL="514350" indent="-514350" algn="just" fontAlgn="base"/>
            <a:r>
              <a:rPr lang="en-US" b="1" dirty="0"/>
              <a:t>Banking and Finance:</a:t>
            </a:r>
            <a:r>
              <a:rPr lang="en-US" dirty="0"/>
              <a:t> Fraud detection systems flag unusual transaction activity using anomaly-based classification.</a:t>
            </a:r>
          </a:p>
          <a:p>
            <a:pPr fontAlgn="base"/>
            <a:endParaRPr lang="en-US"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a:bodyPr>
          <a:lstStyle/>
          <a:p>
            <a:pPr marL="514350" indent="-514350" algn="just" fontAlgn="base"/>
            <a:r>
              <a:rPr lang="en-US" b="1" dirty="0" smtClean="0"/>
              <a:t>Healthcare Diagnostics:</a:t>
            </a:r>
            <a:r>
              <a:rPr lang="en-US" dirty="0" smtClean="0"/>
              <a:t> Predictive models analyze medical scans to assist doctors in early disease detection and treatment decisions.</a:t>
            </a:r>
          </a:p>
          <a:p>
            <a:pPr marL="514350" indent="-514350" algn="just" fontAlgn="base"/>
            <a:r>
              <a:rPr lang="en-US" b="1" dirty="0" smtClean="0"/>
              <a:t>Ride-Sharing:</a:t>
            </a:r>
            <a:r>
              <a:rPr lang="en-US" dirty="0" smtClean="0"/>
              <a:t> Algorithms estimate fares and optimal routes by evaluating traffic conditions and supply-demand ratios.</a:t>
            </a:r>
          </a:p>
          <a:p>
            <a:pPr marL="514350" indent="-514350" algn="just" fontAlgn="base"/>
            <a:r>
              <a:rPr lang="en-US" b="1" dirty="0" smtClean="0"/>
              <a:t>Social Media:</a:t>
            </a:r>
            <a:r>
              <a:rPr lang="en-US" dirty="0" smtClean="0"/>
              <a:t> Sentiment analysis examines user posts to understand public opinion on brands, events and trends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b="1" dirty="0" smtClean="0">
                <a:solidFill>
                  <a:srgbClr val="FF0000"/>
                </a:solidFill>
              </a:rPr>
              <a:t>Significance of Data Science</a:t>
            </a:r>
            <a:endParaRPr lang="en-US" b="1" dirty="0">
              <a:solidFill>
                <a:srgbClr val="FF0000"/>
              </a:solidFill>
            </a:endParaRPr>
          </a:p>
        </p:txBody>
      </p:sp>
      <p:sp>
        <p:nvSpPr>
          <p:cNvPr id="3" name="Content Placeholder 2"/>
          <p:cNvSpPr>
            <a:spLocks noGrp="1"/>
          </p:cNvSpPr>
          <p:nvPr>
            <p:ph idx="1"/>
          </p:nvPr>
        </p:nvSpPr>
        <p:spPr>
          <a:xfrm>
            <a:off x="285720" y="1142984"/>
            <a:ext cx="8401080" cy="4983179"/>
          </a:xfrm>
        </p:spPr>
        <p:txBody>
          <a:bodyPr>
            <a:normAutofit fontScale="85000" lnSpcReduction="10000"/>
          </a:bodyPr>
          <a:lstStyle/>
          <a:p>
            <a:pPr algn="just" fontAlgn="base"/>
            <a:r>
              <a:rPr lang="en-US" b="1" dirty="0"/>
              <a:t>Programming:</a:t>
            </a:r>
            <a:r>
              <a:rPr lang="en-US" dirty="0"/>
              <a:t> Proficiency in programming languages like </a:t>
            </a:r>
            <a:r>
              <a:rPr lang="en-US" dirty="0">
                <a:solidFill>
                  <a:srgbClr val="FF0000"/>
                </a:solidFill>
              </a:rPr>
              <a:t>Python, R or SQL is crucial </a:t>
            </a:r>
            <a:r>
              <a:rPr lang="en-US" dirty="0"/>
              <a:t>for analyzing and processing data effectively.</a:t>
            </a:r>
          </a:p>
          <a:p>
            <a:pPr algn="just" fontAlgn="base"/>
            <a:r>
              <a:rPr lang="en-US" b="1" dirty="0"/>
              <a:t>Statistics and Mathematics:</a:t>
            </a:r>
            <a:r>
              <a:rPr lang="en-US" dirty="0"/>
              <a:t> A strong foundation in statistics and linear algebra helps in understanding data patterns and building predictive models.</a:t>
            </a:r>
          </a:p>
          <a:p>
            <a:pPr algn="just" fontAlgn="base"/>
            <a:r>
              <a:rPr lang="en-US" b="1" dirty="0"/>
              <a:t>Machine Learning:</a:t>
            </a:r>
            <a:r>
              <a:rPr lang="en-US" dirty="0"/>
              <a:t> Knowledge of machine learning algorithms and frameworks is key to creating intelligent data-driven solutions.</a:t>
            </a:r>
          </a:p>
          <a:p>
            <a:pPr algn="just" fontAlgn="base"/>
            <a:r>
              <a:rPr lang="en-US" b="1" dirty="0"/>
              <a:t>Data Visualization:</a:t>
            </a:r>
            <a:r>
              <a:rPr lang="en-US" dirty="0"/>
              <a:t> The ability to present data insights through tools like </a:t>
            </a:r>
            <a:r>
              <a:rPr lang="en-US" b="1" dirty="0">
                <a:solidFill>
                  <a:srgbClr val="FF0000"/>
                </a:solidFill>
              </a:rPr>
              <a:t>Tableau, Power BI or </a:t>
            </a:r>
            <a:r>
              <a:rPr lang="en-US" b="1" dirty="0" err="1">
                <a:solidFill>
                  <a:srgbClr val="FF0000"/>
                </a:solidFill>
              </a:rPr>
              <a:t>Matplotlib</a:t>
            </a:r>
            <a:r>
              <a:rPr lang="en-US" b="1" dirty="0">
                <a:solidFill>
                  <a:srgbClr val="FF0000"/>
                </a:solidFill>
              </a:rPr>
              <a:t> ensures findings are clear and actionable.</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normAutofit fontScale="92500" lnSpcReduction="10000"/>
          </a:bodyPr>
          <a:lstStyle/>
          <a:p>
            <a:pPr fontAlgn="base"/>
            <a:r>
              <a:rPr lang="en-US" b="1" dirty="0" smtClean="0"/>
              <a:t>Data Wrangling:</a:t>
            </a:r>
            <a:r>
              <a:rPr lang="en-US" dirty="0" smtClean="0"/>
              <a:t> Skills in cleaning, transforming and preparing raw data for analysis are vital for maintaining data quality.</a:t>
            </a:r>
          </a:p>
          <a:p>
            <a:pPr fontAlgn="base"/>
            <a:r>
              <a:rPr lang="en-US" b="1" dirty="0" smtClean="0"/>
              <a:t>Big Data Tools:</a:t>
            </a:r>
            <a:r>
              <a:rPr lang="en-US" dirty="0" smtClean="0"/>
              <a:t> Familiarity with tools like </a:t>
            </a:r>
            <a:r>
              <a:rPr lang="en-US" dirty="0" err="1" smtClean="0"/>
              <a:t>Hadoop</a:t>
            </a:r>
            <a:r>
              <a:rPr lang="en-US" dirty="0" smtClean="0"/>
              <a:t>, Spark or cloud platforms helps in handling large datasets efficiently.</a:t>
            </a:r>
          </a:p>
          <a:p>
            <a:pPr fontAlgn="base"/>
            <a:r>
              <a:rPr lang="en-US" b="1" dirty="0" smtClean="0"/>
              <a:t>Critical Thinking:</a:t>
            </a:r>
            <a:r>
              <a:rPr lang="en-US" dirty="0" smtClean="0"/>
              <a:t> Analytical skills to interpret data and solve problems creatively are essential for uncovering actionable insights.</a:t>
            </a:r>
          </a:p>
          <a:p>
            <a:pPr fontAlgn="base"/>
            <a:r>
              <a:rPr lang="en-US" b="1" dirty="0" smtClean="0"/>
              <a:t>Communication:</a:t>
            </a:r>
            <a:r>
              <a:rPr lang="en-US" dirty="0" smtClean="0"/>
              <a:t> The ability to explain complex data findings in simple terms to stakeholders is a valuable asset.</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and sources of data</a:t>
            </a:r>
            <a:endParaRPr lang="en-US" b="1" dirty="0"/>
          </a:p>
        </p:txBody>
      </p:sp>
      <p:sp>
        <p:nvSpPr>
          <p:cNvPr id="3" name="Content Placeholder 2"/>
          <p:cNvSpPr>
            <a:spLocks noGrp="1"/>
          </p:cNvSpPr>
          <p:nvPr>
            <p:ph idx="1"/>
          </p:nvPr>
        </p:nvSpPr>
        <p:spPr>
          <a:xfrm>
            <a:off x="142844" y="1600200"/>
            <a:ext cx="8543956" cy="4829196"/>
          </a:xfrm>
        </p:spPr>
        <p:txBody>
          <a:bodyPr>
            <a:normAutofit fontScale="92500" lnSpcReduction="10000"/>
          </a:bodyPr>
          <a:lstStyle/>
          <a:p>
            <a:pPr algn="just"/>
            <a:r>
              <a:rPr lang="en-US" dirty="0"/>
              <a:t>In the era of big data, </a:t>
            </a:r>
            <a:r>
              <a:rPr lang="en-US" b="1" dirty="0">
                <a:solidFill>
                  <a:srgbClr val="FF0000"/>
                </a:solidFill>
              </a:rPr>
              <a:t>the ability to harness and analyze vast amounts of information has become a cornerstone of innovation across industries</a:t>
            </a:r>
            <a:r>
              <a:rPr lang="en-US" b="1" dirty="0" smtClean="0">
                <a:solidFill>
                  <a:srgbClr val="FF0000"/>
                </a:solidFill>
              </a:rPr>
              <a:t>.</a:t>
            </a:r>
          </a:p>
          <a:p>
            <a:pPr algn="just"/>
            <a:r>
              <a:rPr lang="en-US" dirty="0" smtClean="0"/>
              <a:t>Data </a:t>
            </a:r>
            <a:r>
              <a:rPr lang="en-US" dirty="0"/>
              <a:t>collection serves as the critical </a:t>
            </a:r>
            <a:r>
              <a:rPr lang="en-US" b="1" dirty="0">
                <a:solidFill>
                  <a:srgbClr val="FF0000"/>
                </a:solidFill>
              </a:rPr>
              <a:t>first step in this process, laying the foundation for extracting meaningful insights from raw information. </a:t>
            </a:r>
            <a:endParaRPr lang="en-US" b="1" dirty="0" smtClean="0">
              <a:solidFill>
                <a:srgbClr val="FF0000"/>
              </a:solidFill>
            </a:endParaRPr>
          </a:p>
          <a:p>
            <a:pPr algn="just"/>
            <a:r>
              <a:rPr lang="en-US" dirty="0" smtClean="0"/>
              <a:t>By </a:t>
            </a:r>
            <a:r>
              <a:rPr lang="en-US" dirty="0"/>
              <a:t>systematically gathering data from diverse sources, whether structured like </a:t>
            </a:r>
            <a:r>
              <a:rPr lang="en-US" b="1" dirty="0">
                <a:solidFill>
                  <a:srgbClr val="0070C0"/>
                </a:solidFill>
              </a:rPr>
              <a:t>numerical records or unstructured like text, audio, or video, organizations can transform raw data into actionable knowledge.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is Data Collection?</a:t>
            </a:r>
            <a:br>
              <a:rPr lang="en-US" b="1" dirty="0"/>
            </a:br>
            <a:endParaRPr lang="en-US" dirty="0"/>
          </a:p>
        </p:txBody>
      </p:sp>
      <p:sp>
        <p:nvSpPr>
          <p:cNvPr id="3" name="Content Placeholder 2"/>
          <p:cNvSpPr>
            <a:spLocks noGrp="1"/>
          </p:cNvSpPr>
          <p:nvPr>
            <p:ph idx="1"/>
          </p:nvPr>
        </p:nvSpPr>
        <p:spPr>
          <a:xfrm>
            <a:off x="214282" y="1071546"/>
            <a:ext cx="8472518" cy="5500726"/>
          </a:xfrm>
        </p:spPr>
        <p:txBody>
          <a:bodyPr>
            <a:normAutofit fontScale="92500"/>
          </a:bodyPr>
          <a:lstStyle/>
          <a:p>
            <a:pPr algn="just"/>
            <a:r>
              <a:rPr lang="en-US" b="1" u="sng" dirty="0">
                <a:hlinkClick r:id="rId2"/>
              </a:rPr>
              <a:t>Data collection</a:t>
            </a:r>
            <a:r>
              <a:rPr lang="en-US" dirty="0"/>
              <a:t> is the process of acquiring, collecting, extracting, and storing a voluminous amount of data, </a:t>
            </a:r>
            <a:endParaRPr lang="en-US" dirty="0" smtClean="0"/>
          </a:p>
          <a:p>
            <a:pPr algn="just"/>
            <a:r>
              <a:rPr lang="en-US" dirty="0" smtClean="0"/>
              <a:t>It may </a:t>
            </a:r>
            <a:r>
              <a:rPr lang="en-US" dirty="0"/>
              <a:t>be </a:t>
            </a:r>
            <a:r>
              <a:rPr lang="en-US" b="1" dirty="0"/>
              <a:t>in a structured or unstructured form like text, video, audio, XML files, records, or other image files used in later stages of data analysis. </a:t>
            </a:r>
            <a:endParaRPr lang="en-US" b="1" dirty="0" smtClean="0"/>
          </a:p>
          <a:p>
            <a:pPr algn="just"/>
            <a:r>
              <a:rPr lang="en-US" b="1" dirty="0" smtClean="0">
                <a:solidFill>
                  <a:srgbClr val="FF0000"/>
                </a:solidFill>
              </a:rPr>
              <a:t>“</a:t>
            </a:r>
            <a:r>
              <a:rPr lang="en-US" b="1" dirty="0">
                <a:solidFill>
                  <a:srgbClr val="FF0000"/>
                </a:solidFill>
              </a:rPr>
              <a:t>Data collection” is the initial step before starting to analyze the patterns or useful information in the data. </a:t>
            </a:r>
            <a:endParaRPr lang="en-US" b="1" dirty="0" smtClean="0">
              <a:solidFill>
                <a:srgbClr val="FF0000"/>
              </a:solidFill>
            </a:endParaRPr>
          </a:p>
          <a:p>
            <a:pPr algn="just"/>
            <a:r>
              <a:rPr lang="en-US" dirty="0" smtClean="0"/>
              <a:t>The </a:t>
            </a:r>
            <a:r>
              <a:rPr lang="en-US" dirty="0"/>
              <a:t>data that is to be analyzed must be collected from different valid sources.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44" y="142852"/>
            <a:ext cx="8786874" cy="6500858"/>
          </a:xfrm>
        </p:spPr>
        <p:txBody>
          <a:bodyPr>
            <a:normAutofit lnSpcReduction="10000"/>
          </a:bodyPr>
          <a:lstStyle/>
          <a:p>
            <a:pPr algn="just"/>
            <a:r>
              <a:rPr lang="en-US" dirty="0"/>
              <a:t>The data that is collected is known as raw data, which is not useful now, but after cleaning the impure and utilizing that data for further analysis forms information, the information obtained is known as “</a:t>
            </a:r>
            <a:r>
              <a:rPr lang="en-US" b="1" dirty="0"/>
              <a:t>knowledge</a:t>
            </a:r>
            <a:r>
              <a:rPr lang="en-US" dirty="0"/>
              <a:t>”. </a:t>
            </a:r>
            <a:endParaRPr lang="en-US" dirty="0" smtClean="0"/>
          </a:p>
          <a:p>
            <a:pPr algn="just"/>
            <a:r>
              <a:rPr lang="en-US" b="1" dirty="0" smtClean="0">
                <a:solidFill>
                  <a:srgbClr val="FF0000"/>
                </a:solidFill>
              </a:rPr>
              <a:t>Knowledge </a:t>
            </a:r>
            <a:r>
              <a:rPr lang="en-US" b="1" dirty="0">
                <a:solidFill>
                  <a:srgbClr val="FF0000"/>
                </a:solidFill>
              </a:rPr>
              <a:t>has many meanings like business knowledge or sales of enterprise products, disease treatment, etc. </a:t>
            </a:r>
            <a:endParaRPr lang="en-US" b="1" dirty="0" smtClean="0">
              <a:solidFill>
                <a:srgbClr val="FF0000"/>
              </a:solidFill>
            </a:endParaRPr>
          </a:p>
          <a:p>
            <a:pPr algn="just"/>
            <a:r>
              <a:rPr lang="en-US" dirty="0" smtClean="0"/>
              <a:t>The </a:t>
            </a:r>
            <a:r>
              <a:rPr lang="en-US" dirty="0"/>
              <a:t>main goal of </a:t>
            </a:r>
            <a:r>
              <a:rPr lang="en-US" b="1" dirty="0">
                <a:solidFill>
                  <a:srgbClr val="0070C0"/>
                </a:solidFill>
              </a:rPr>
              <a:t>data collection is to collect information-rich data. </a:t>
            </a:r>
            <a:endParaRPr lang="en-US" b="1" dirty="0" smtClean="0">
              <a:solidFill>
                <a:srgbClr val="0070C0"/>
              </a:solidFill>
            </a:endParaRPr>
          </a:p>
          <a:p>
            <a:pPr algn="just"/>
            <a:r>
              <a:rPr lang="en-US" dirty="0" smtClean="0"/>
              <a:t>Data </a:t>
            </a:r>
            <a:r>
              <a:rPr lang="en-US" dirty="0"/>
              <a:t>collection starts with asking some questions such as what type of data is to be collected and what is the source of collection. </a:t>
            </a:r>
            <a:endParaRPr lang="en-US"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lstStyle/>
          <a:p>
            <a:pPr algn="just"/>
            <a:r>
              <a:rPr lang="en-US" dirty="0" smtClean="0"/>
              <a:t>Most of the data collected are of two types</a:t>
            </a:r>
          </a:p>
          <a:p>
            <a:pPr marL="514350" indent="-514350" algn="just">
              <a:buFont typeface="+mj-lt"/>
              <a:buAutoNum type="arabicPeriod"/>
            </a:pPr>
            <a:r>
              <a:rPr lang="en-US" b="1" dirty="0" smtClean="0">
                <a:solidFill>
                  <a:srgbClr val="FF0000"/>
                </a:solidFill>
              </a:rPr>
              <a:t>“Qualitative data“</a:t>
            </a:r>
            <a:r>
              <a:rPr lang="en-US" dirty="0" smtClean="0"/>
              <a:t> which is a group of non-numerical data such as words, sentences mostly focus on behavior and actions of the group.</a:t>
            </a:r>
          </a:p>
          <a:p>
            <a:pPr marL="514350" indent="-514350" algn="just">
              <a:buFont typeface="+mj-lt"/>
              <a:buAutoNum type="arabicPeriod"/>
            </a:pPr>
            <a:r>
              <a:rPr lang="en-US" dirty="0" smtClean="0"/>
              <a:t>Another one is </a:t>
            </a:r>
            <a:r>
              <a:rPr lang="en-US" b="1" dirty="0" smtClean="0">
                <a:solidFill>
                  <a:srgbClr val="FF0000"/>
                </a:solidFill>
              </a:rPr>
              <a:t>“quantitative data” </a:t>
            </a:r>
            <a:r>
              <a:rPr lang="en-US" dirty="0" smtClean="0"/>
              <a:t>which is in numerical forms and can be calculated using different scientific tools and sampling data.</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a:t>The actual data is then further divided mainly into two types known as:</a:t>
            </a:r>
            <a:endParaRPr lang="en-US" dirty="0"/>
          </a:p>
          <a:p>
            <a:pPr fontAlgn="base"/>
            <a:r>
              <a:rPr lang="en-US" b="1" dirty="0"/>
              <a:t>Primary data</a:t>
            </a:r>
            <a:endParaRPr lang="en-US" dirty="0"/>
          </a:p>
          <a:p>
            <a:pPr fontAlgn="base"/>
            <a:r>
              <a:rPr lang="en-US" b="1" dirty="0"/>
              <a:t>Secondary data</a:t>
            </a:r>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14290"/>
            <a:ext cx="8472518" cy="5911873"/>
          </a:xfrm>
        </p:spPr>
        <p:txBody>
          <a:bodyPr>
            <a:normAutofit fontScale="92500" lnSpcReduction="10000"/>
          </a:bodyPr>
          <a:lstStyle/>
          <a:p>
            <a:pPr algn="just" fontAlgn="base"/>
            <a:r>
              <a:rPr lang="en-US" b="1" dirty="0"/>
              <a:t>Primary data</a:t>
            </a:r>
          </a:p>
          <a:p>
            <a:pPr algn="just" fontAlgn="base"/>
            <a:r>
              <a:rPr lang="en-US" dirty="0"/>
              <a:t>The data which is Raw, original, and extracted directly from the official sources is known as primary data. </a:t>
            </a:r>
            <a:endParaRPr lang="en-US" dirty="0" smtClean="0"/>
          </a:p>
          <a:p>
            <a:pPr algn="just" fontAlgn="base"/>
            <a:r>
              <a:rPr lang="en-US" dirty="0" smtClean="0"/>
              <a:t>Data </a:t>
            </a:r>
            <a:r>
              <a:rPr lang="en-US" dirty="0"/>
              <a:t>is collected directly by performing techniques such as questionnaires, interviews, and surveys. </a:t>
            </a:r>
            <a:endParaRPr lang="en-US" dirty="0" smtClean="0"/>
          </a:p>
          <a:p>
            <a:pPr algn="just" fontAlgn="base"/>
            <a:r>
              <a:rPr lang="en-US" dirty="0" smtClean="0"/>
              <a:t>Data </a:t>
            </a:r>
            <a:r>
              <a:rPr lang="en-US" dirty="0"/>
              <a:t>collected must be according to the demand and requirements of the target audience on which analysis is performed otherwise it would be a burden in the data processing. </a:t>
            </a:r>
            <a:endParaRPr lang="en-US" dirty="0" smtClean="0"/>
          </a:p>
          <a:p>
            <a:pPr algn="just" fontAlgn="base"/>
            <a:r>
              <a:rPr lang="en-US" b="1" dirty="0" smtClean="0"/>
              <a:t>Few </a:t>
            </a:r>
            <a:r>
              <a:rPr lang="en-US" b="1" dirty="0"/>
              <a:t>methods of collecting primary </a:t>
            </a:r>
            <a:r>
              <a:rPr lang="en-US" b="1" dirty="0" smtClean="0"/>
              <a:t>data (next slide)</a:t>
            </a:r>
            <a:endParaRPr lang="en-US" dirty="0"/>
          </a:p>
          <a:p>
            <a:pPr algn="just" fontAlgn="base">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normAutofit fontScale="92500" lnSpcReduction="10000"/>
          </a:bodyPr>
          <a:lstStyle/>
          <a:p>
            <a:pPr algn="just" fontAlgn="base"/>
            <a:r>
              <a:rPr lang="en-US" b="1" dirty="0" smtClean="0"/>
              <a:t>Interview method:</a:t>
            </a:r>
          </a:p>
          <a:p>
            <a:pPr algn="just" fontAlgn="base"/>
            <a:r>
              <a:rPr lang="en-US" dirty="0" smtClean="0"/>
              <a:t>The data collected during this process is through interviewing the target audience by a person called interviewer.</a:t>
            </a:r>
          </a:p>
          <a:p>
            <a:pPr algn="just" fontAlgn="base"/>
            <a:r>
              <a:rPr lang="en-US" dirty="0" smtClean="0"/>
              <a:t>The person who answers the interview is known as the interviewee. </a:t>
            </a:r>
          </a:p>
          <a:p>
            <a:pPr algn="just" fontAlgn="base"/>
            <a:r>
              <a:rPr lang="en-US" dirty="0" smtClean="0"/>
              <a:t>Some basic business or product related questions are asked and noted down in the form of notes, audio, or video and this data is stored for processing. </a:t>
            </a:r>
          </a:p>
          <a:p>
            <a:pPr algn="just" fontAlgn="base"/>
            <a:r>
              <a:rPr lang="en-US" dirty="0" smtClean="0"/>
              <a:t>These can be both structured and unstructured like personal interviews or formal interviews through telephone, face to face, email, etc.</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85728"/>
            <a:ext cx="8472518" cy="6357982"/>
          </a:xfrm>
        </p:spPr>
        <p:txBody>
          <a:bodyPr>
            <a:normAutofit/>
          </a:bodyPr>
          <a:lstStyle/>
          <a:p>
            <a:pPr fontAlgn="base">
              <a:buNone/>
            </a:pPr>
            <a:r>
              <a:rPr lang="en-US" b="1" dirty="0" smtClean="0"/>
              <a:t> </a:t>
            </a:r>
            <a:r>
              <a:rPr lang="en-US" b="1" dirty="0"/>
              <a:t>Survey method:</a:t>
            </a:r>
          </a:p>
          <a:p>
            <a:pPr algn="just" fontAlgn="base"/>
            <a:r>
              <a:rPr lang="en-US" sz="3400" dirty="0"/>
              <a:t>The survey method is the process of research where a list of relevant questions are asked and answers are noted down in the form of text, audio, or video. </a:t>
            </a:r>
            <a:endParaRPr lang="en-US" sz="3400" dirty="0" smtClean="0"/>
          </a:p>
          <a:p>
            <a:pPr algn="just" fontAlgn="base"/>
            <a:r>
              <a:rPr lang="en-US" sz="3400" b="1" dirty="0" smtClean="0">
                <a:solidFill>
                  <a:srgbClr val="FF0000"/>
                </a:solidFill>
              </a:rPr>
              <a:t>The </a:t>
            </a:r>
            <a:r>
              <a:rPr lang="en-US" sz="3400" b="1" dirty="0">
                <a:solidFill>
                  <a:srgbClr val="FF0000"/>
                </a:solidFill>
              </a:rPr>
              <a:t>survey method can be obtained in both online and offline mode like through website forms and email</a:t>
            </a:r>
            <a:r>
              <a:rPr lang="en-US" sz="3400" b="1" dirty="0" smtClean="0">
                <a:solidFill>
                  <a:srgbClr val="FF0000"/>
                </a:solidFill>
              </a:rPr>
              <a:t>.</a:t>
            </a:r>
          </a:p>
          <a:p>
            <a:pPr algn="just" fontAlgn="base"/>
            <a:r>
              <a:rPr lang="en-US" sz="3400" dirty="0" smtClean="0"/>
              <a:t> </a:t>
            </a:r>
            <a:r>
              <a:rPr lang="en-US" sz="3400" dirty="0"/>
              <a:t>Then that survey answers are stored for analyzing data. Examples are online surveys or surveys through social media polls</a:t>
            </a:r>
            <a:r>
              <a:rPr lang="en-US" sz="3400" dirty="0" smtClean="0"/>
              <a:t>.</a:t>
            </a:r>
          </a:p>
          <a:p>
            <a:pPr fontAlgn="base"/>
            <a:endParaRPr lang="en-US" sz="3400" dirty="0" smtClean="0"/>
          </a:p>
          <a:p>
            <a:pPr fontAlgn="base">
              <a:buNone/>
            </a:pPr>
            <a:endParaRPr lang="en-US" sz="3400" dirty="0"/>
          </a:p>
          <a:p>
            <a:endParaRPr lang="en-US" sz="3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US" b="1" dirty="0" smtClean="0"/>
              <a:t>Observation method:</a:t>
            </a:r>
            <a:endParaRPr lang="en-US" dirty="0"/>
          </a:p>
        </p:txBody>
      </p:sp>
      <p:sp>
        <p:nvSpPr>
          <p:cNvPr id="3" name="Content Placeholder 2"/>
          <p:cNvSpPr>
            <a:spLocks noGrp="1"/>
          </p:cNvSpPr>
          <p:nvPr>
            <p:ph idx="1"/>
          </p:nvPr>
        </p:nvSpPr>
        <p:spPr>
          <a:xfrm>
            <a:off x="457200" y="1285860"/>
            <a:ext cx="8229600" cy="5357850"/>
          </a:xfrm>
        </p:spPr>
        <p:txBody>
          <a:bodyPr>
            <a:normAutofit fontScale="92500" lnSpcReduction="10000"/>
          </a:bodyPr>
          <a:lstStyle/>
          <a:p>
            <a:pPr algn="just" fontAlgn="base"/>
            <a:r>
              <a:rPr lang="en-US" dirty="0" smtClean="0"/>
              <a:t>The observation method is a </a:t>
            </a:r>
            <a:r>
              <a:rPr lang="en-US" u="sng" dirty="0" smtClean="0">
                <a:hlinkClick r:id="rId2"/>
              </a:rPr>
              <a:t>method of data collection</a:t>
            </a:r>
            <a:r>
              <a:rPr lang="en-US" dirty="0" smtClean="0"/>
              <a:t> in which the researcher keenly observes the behavior and practices of the target audience using some data collecting tool</a:t>
            </a:r>
          </a:p>
          <a:p>
            <a:pPr algn="just" fontAlgn="base"/>
            <a:r>
              <a:rPr lang="en-US" dirty="0" smtClean="0"/>
              <a:t>Stores the observed data in the form of text, audio, video, or any raw formats.</a:t>
            </a:r>
          </a:p>
          <a:p>
            <a:pPr algn="just" fontAlgn="base"/>
            <a:r>
              <a:rPr lang="en-US" dirty="0" smtClean="0"/>
              <a:t>In this method, the data is collected directly by posting a few questions on the participants.</a:t>
            </a:r>
          </a:p>
          <a:p>
            <a:pPr algn="just" fontAlgn="base"/>
            <a:r>
              <a:rPr lang="en-US" b="1" dirty="0" smtClean="0">
                <a:solidFill>
                  <a:srgbClr val="0070C0"/>
                </a:solidFill>
              </a:rPr>
              <a:t>For example, observing a group of customers and their behavior towards the products. </a:t>
            </a:r>
          </a:p>
          <a:p>
            <a:pPr algn="just" fontAlgn="base"/>
            <a:r>
              <a:rPr lang="en-US" b="1" dirty="0" smtClean="0">
                <a:solidFill>
                  <a:srgbClr val="0070C0"/>
                </a:solidFill>
              </a:rPr>
              <a:t>The data obtained will be sent for processing.</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Experimental method:</a:t>
            </a:r>
            <a:br>
              <a:rPr lang="en-US" b="1" dirty="0" smtClean="0"/>
            </a:br>
            <a:endParaRPr lang="en-US" dirty="0"/>
          </a:p>
        </p:txBody>
      </p:sp>
      <p:sp>
        <p:nvSpPr>
          <p:cNvPr id="3" name="Content Placeholder 2"/>
          <p:cNvSpPr>
            <a:spLocks noGrp="1"/>
          </p:cNvSpPr>
          <p:nvPr>
            <p:ph idx="1"/>
          </p:nvPr>
        </p:nvSpPr>
        <p:spPr>
          <a:xfrm>
            <a:off x="214282" y="1000108"/>
            <a:ext cx="8472518" cy="5643602"/>
          </a:xfrm>
        </p:spPr>
        <p:txBody>
          <a:bodyPr>
            <a:normAutofit fontScale="92500" lnSpcReduction="10000"/>
          </a:bodyPr>
          <a:lstStyle/>
          <a:p>
            <a:pPr algn="just" fontAlgn="base"/>
            <a:r>
              <a:rPr lang="en-US" dirty="0" smtClean="0"/>
              <a:t>The </a:t>
            </a:r>
            <a:r>
              <a:rPr lang="en-US" dirty="0"/>
              <a:t>experimental method is the process of collecting data through performing experiments, research, and investigation. </a:t>
            </a:r>
            <a:endParaRPr lang="en-US" dirty="0" smtClean="0"/>
          </a:p>
          <a:p>
            <a:pPr algn="just" fontAlgn="base"/>
            <a:r>
              <a:rPr lang="en-US" dirty="0" smtClean="0"/>
              <a:t>The </a:t>
            </a:r>
            <a:r>
              <a:rPr lang="en-US" dirty="0"/>
              <a:t>most frequently used experiment methods are CRD, RBD, LSD, FD.</a:t>
            </a:r>
          </a:p>
          <a:p>
            <a:pPr algn="just" fontAlgn="base"/>
            <a:r>
              <a:rPr lang="en-US" b="1" dirty="0"/>
              <a:t>CRD - Completely Randomized design</a:t>
            </a:r>
            <a:r>
              <a:rPr lang="en-US" dirty="0"/>
              <a:t> is a simple experimental design used in data analytics which is based on randomization and replication. It is mostly used for comparing the experiments.</a:t>
            </a:r>
          </a:p>
          <a:p>
            <a:pPr algn="just" fontAlgn="base"/>
            <a:r>
              <a:rPr lang="en-US" b="1" dirty="0"/>
              <a:t>RBD - Randomized Block Design</a:t>
            </a:r>
            <a:r>
              <a:rPr lang="en-US" dirty="0"/>
              <a:t> is an experimental design in which the experiment is divided into small units called blocks</a:t>
            </a:r>
            <a:r>
              <a:rPr lang="en-US" dirty="0" smtClean="0"/>
              <a:t>.</a:t>
            </a:r>
          </a:p>
          <a:p>
            <a:pPr algn="just" fontAlgn="base">
              <a:buNone/>
            </a:pPr>
            <a:endParaRPr lang="en-US" dirty="0" smtClean="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6429420"/>
          </a:xfrm>
        </p:spPr>
        <p:txBody>
          <a:bodyPr>
            <a:normAutofit fontScale="92500" lnSpcReduction="10000"/>
          </a:bodyPr>
          <a:lstStyle/>
          <a:p>
            <a:pPr fontAlgn="base">
              <a:buNone/>
            </a:pPr>
            <a:r>
              <a:rPr lang="en-US" b="1" dirty="0"/>
              <a:t>Secondary data</a:t>
            </a:r>
          </a:p>
          <a:p>
            <a:pPr fontAlgn="base"/>
            <a:r>
              <a:rPr lang="en-US" b="1" dirty="0"/>
              <a:t>Secondary data</a:t>
            </a:r>
            <a:r>
              <a:rPr lang="en-US" dirty="0"/>
              <a:t> is the data which has already been collected and reused again for some valid purpose. </a:t>
            </a:r>
            <a:endParaRPr lang="en-US" dirty="0" smtClean="0"/>
          </a:p>
          <a:p>
            <a:pPr fontAlgn="base"/>
            <a:r>
              <a:rPr lang="en-US" dirty="0" smtClean="0"/>
              <a:t>This </a:t>
            </a:r>
            <a:r>
              <a:rPr lang="en-US" dirty="0"/>
              <a:t>type of data is previously recorded from primary data and it has two types of sources named internal source and external source.</a:t>
            </a:r>
          </a:p>
          <a:p>
            <a:pPr fontAlgn="base">
              <a:buNone/>
            </a:pPr>
            <a:r>
              <a:rPr lang="en-US" b="1" dirty="0" smtClean="0"/>
              <a:t> </a:t>
            </a:r>
            <a:r>
              <a:rPr lang="en-US" b="1" dirty="0"/>
              <a:t>Internal source:</a:t>
            </a:r>
          </a:p>
          <a:p>
            <a:pPr fontAlgn="base"/>
            <a:r>
              <a:rPr lang="en-US" dirty="0"/>
              <a:t>These types of data can easily be found within the organization such as market record, a sales record, transactions, customer data, accounting resources, etc. </a:t>
            </a:r>
            <a:endParaRPr lang="en-US" dirty="0" smtClean="0"/>
          </a:p>
          <a:p>
            <a:pPr fontAlgn="base"/>
            <a:r>
              <a:rPr lang="en-US" dirty="0" smtClean="0"/>
              <a:t>The </a:t>
            </a:r>
            <a:r>
              <a:rPr lang="en-US" dirty="0"/>
              <a:t>cost and time consumption is less in obtaining internal sources.</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normAutofit fontScale="92500"/>
          </a:bodyPr>
          <a:lstStyle/>
          <a:p>
            <a:pPr fontAlgn="base">
              <a:buNone/>
            </a:pPr>
            <a:r>
              <a:rPr lang="en-US" b="1" dirty="0" smtClean="0"/>
              <a:t>External </a:t>
            </a:r>
            <a:r>
              <a:rPr lang="en-US" b="1" dirty="0"/>
              <a:t>source:</a:t>
            </a:r>
          </a:p>
          <a:p>
            <a:pPr algn="just" fontAlgn="base"/>
            <a:r>
              <a:rPr lang="en-US" dirty="0"/>
              <a:t>The data which can’t be found at internal organizations and can be gained through external third party resources is external source data. </a:t>
            </a:r>
            <a:endParaRPr lang="en-US" dirty="0" smtClean="0"/>
          </a:p>
          <a:p>
            <a:pPr algn="just" fontAlgn="base"/>
            <a:r>
              <a:rPr lang="en-US" dirty="0" smtClean="0"/>
              <a:t>The </a:t>
            </a:r>
            <a:r>
              <a:rPr lang="en-US" dirty="0"/>
              <a:t>cost and time consumption is more because this contains a huge amount of data. </a:t>
            </a:r>
            <a:endParaRPr lang="en-US" dirty="0" smtClean="0"/>
          </a:p>
          <a:p>
            <a:pPr algn="just" fontAlgn="base"/>
            <a:r>
              <a:rPr lang="en-US" dirty="0" smtClean="0"/>
              <a:t>Examples </a:t>
            </a:r>
            <a:r>
              <a:rPr lang="en-US" dirty="0"/>
              <a:t>of </a:t>
            </a:r>
            <a:r>
              <a:rPr lang="en-US" b="1" dirty="0">
                <a:solidFill>
                  <a:srgbClr val="0070C0"/>
                </a:solidFill>
              </a:rPr>
              <a:t>external sources are Government publications, news publications, Registrar General of India, planning commission, international labor bureau, syndicate services, and other non-governmental publications.</a:t>
            </a:r>
          </a:p>
          <a:p>
            <a:pPr algn="just"/>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a:bodyPr>
          <a:lstStyle/>
          <a:p>
            <a:pPr fontAlgn="base">
              <a:buNone/>
            </a:pPr>
            <a:r>
              <a:rPr lang="en-US" b="1" dirty="0" smtClean="0"/>
              <a:t>Other </a:t>
            </a:r>
            <a:r>
              <a:rPr lang="en-US" b="1" dirty="0"/>
              <a:t>sources:</a:t>
            </a:r>
          </a:p>
          <a:p>
            <a:pPr algn="just" fontAlgn="base"/>
            <a:r>
              <a:rPr lang="en-US" b="1" dirty="0"/>
              <a:t>Sensors data: </a:t>
            </a:r>
            <a:r>
              <a:rPr lang="en-US" dirty="0"/>
              <a:t>With the advancement of </a:t>
            </a:r>
            <a:r>
              <a:rPr lang="en-US" dirty="0" err="1"/>
              <a:t>IoT</a:t>
            </a:r>
            <a:r>
              <a:rPr lang="en-US" dirty="0"/>
              <a:t> devices, the sensors of these devices collect data which can be used for sensor data analytics to track the performance and usage of products.</a:t>
            </a:r>
          </a:p>
          <a:p>
            <a:pPr algn="just" fontAlgn="base"/>
            <a:r>
              <a:rPr lang="en-US" b="1" dirty="0"/>
              <a:t>Satellites data: </a:t>
            </a:r>
            <a:r>
              <a:rPr lang="en-US" dirty="0"/>
              <a:t>Satellites collect a lot of images and data in terabytes on daily basis through surveillance cameras which can be used to collect useful information.</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fontAlgn="base"/>
            <a:r>
              <a:rPr lang="en-US" b="1" dirty="0" smtClean="0"/>
              <a:t>Web traffic:</a:t>
            </a:r>
            <a:r>
              <a:rPr lang="en-US" dirty="0" smtClean="0"/>
              <a:t> Due to fast and cheap internet facilities many formats of data which is uploaded by users on different platforms can be predicted and collected with their permission for </a:t>
            </a:r>
            <a:r>
              <a:rPr lang="en-US" u="sng" dirty="0" smtClean="0">
                <a:hlinkClick r:id="rId2"/>
              </a:rPr>
              <a:t>data analysis</a:t>
            </a:r>
            <a:r>
              <a:rPr lang="en-US" dirty="0" smtClean="0"/>
              <a:t>. </a:t>
            </a:r>
          </a:p>
          <a:p>
            <a:pPr algn="just" fontAlgn="base"/>
            <a:r>
              <a:rPr lang="en-US" dirty="0" smtClean="0"/>
              <a:t>The search engines also provide their data through keywords and queries searched mostly.</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214290"/>
            <a:ext cx="8401080" cy="6500858"/>
          </a:xfrm>
        </p:spPr>
        <p:txBody>
          <a:bodyPr>
            <a:normAutofit/>
          </a:bodyPr>
          <a:lstStyle/>
          <a:p>
            <a:pPr algn="just"/>
            <a:r>
              <a:rPr lang="en-US" b="1" dirty="0"/>
              <a:t>Internal Data Sources (Within an Organization)</a:t>
            </a:r>
          </a:p>
          <a:p>
            <a:pPr algn="just"/>
            <a:r>
              <a:rPr lang="en-US" b="1" dirty="0"/>
              <a:t>Customer Data:</a:t>
            </a:r>
            <a:r>
              <a:rPr lang="en-US" dirty="0"/>
              <a:t> Profiles, purchase history, interactions.</a:t>
            </a:r>
          </a:p>
          <a:p>
            <a:pPr algn="just"/>
            <a:r>
              <a:rPr lang="en-US" b="1" dirty="0"/>
              <a:t>Financial Data:</a:t>
            </a:r>
            <a:r>
              <a:rPr lang="en-US" dirty="0"/>
              <a:t> Sales figures, expenses, transactions.</a:t>
            </a:r>
          </a:p>
          <a:p>
            <a:pPr algn="just"/>
            <a:r>
              <a:rPr lang="en-US" b="1" dirty="0"/>
              <a:t>Marketing Data:</a:t>
            </a:r>
            <a:r>
              <a:rPr lang="en-US" dirty="0"/>
              <a:t> Campaign performance, website analytics (Google Analytics).</a:t>
            </a:r>
          </a:p>
          <a:p>
            <a:pPr algn="just"/>
            <a:r>
              <a:rPr lang="en-US" b="1" dirty="0">
                <a:hlinkClick r:id="rId2"/>
              </a:rPr>
              <a:t>Operational Data</a:t>
            </a:r>
            <a:r>
              <a:rPr lang="en-US" b="1" dirty="0"/>
              <a:t>:</a:t>
            </a:r>
            <a:r>
              <a:rPr lang="en-US" dirty="0"/>
              <a:t> Production metrics, employee records, supply chain info.</a:t>
            </a:r>
          </a:p>
          <a:p>
            <a:pPr algn="just"/>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lnSpcReduction="10000"/>
          </a:bodyPr>
          <a:lstStyle/>
          <a:p>
            <a:pPr algn="just"/>
            <a:r>
              <a:rPr lang="en-US" b="1" dirty="0"/>
              <a:t>External Data Sources (Outside an Organization)</a:t>
            </a:r>
          </a:p>
          <a:p>
            <a:pPr algn="just"/>
            <a:r>
              <a:rPr lang="en-US" b="1" dirty="0"/>
              <a:t>Public/Open Data:</a:t>
            </a:r>
            <a:r>
              <a:rPr lang="en-US" dirty="0"/>
              <a:t> Government statistics, scientific research, census data.</a:t>
            </a:r>
          </a:p>
          <a:p>
            <a:pPr algn="just"/>
            <a:r>
              <a:rPr lang="en-US" b="1" dirty="0"/>
              <a:t>Social Media:</a:t>
            </a:r>
            <a:r>
              <a:rPr lang="en-US" dirty="0"/>
              <a:t> Posts, comments, trends (Twitter, </a:t>
            </a:r>
            <a:r>
              <a:rPr lang="en-US" dirty="0" err="1"/>
              <a:t>Facebook</a:t>
            </a:r>
            <a:r>
              <a:rPr lang="en-US" dirty="0"/>
              <a:t>, etc.).</a:t>
            </a:r>
          </a:p>
          <a:p>
            <a:pPr algn="just"/>
            <a:r>
              <a:rPr lang="en-US" b="1" dirty="0"/>
              <a:t>Web Data:</a:t>
            </a:r>
            <a:r>
              <a:rPr lang="en-US" dirty="0"/>
              <a:t> Scraped data, website traffic, search engine queries.</a:t>
            </a:r>
          </a:p>
          <a:p>
            <a:pPr algn="just"/>
            <a:r>
              <a:rPr lang="en-US" b="1" dirty="0"/>
              <a:t>Third-Party Platforms:</a:t>
            </a:r>
            <a:r>
              <a:rPr lang="en-US" dirty="0"/>
              <a:t> Data from partners or specialized data providers via APIs.</a:t>
            </a:r>
          </a:p>
          <a:p>
            <a:pPr algn="just"/>
            <a:r>
              <a:rPr lang="en-US" b="1" dirty="0" err="1"/>
              <a:t>IoT</a:t>
            </a:r>
            <a:r>
              <a:rPr lang="en-US" b="1" dirty="0"/>
              <a:t> &amp; Sensor Data:</a:t>
            </a:r>
            <a:r>
              <a:rPr lang="en-US" dirty="0"/>
              <a:t> Real-time feeds from devices, satellites, smart products.</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14290"/>
            <a:ext cx="8229600" cy="5911873"/>
          </a:xfrm>
        </p:spPr>
        <p:txBody>
          <a:bodyPr>
            <a:normAutofit fontScale="92500" lnSpcReduction="10000"/>
          </a:bodyPr>
          <a:lstStyle/>
          <a:p>
            <a:pPr>
              <a:buNone/>
            </a:pPr>
            <a:r>
              <a:rPr lang="en-US" b="1" dirty="0"/>
              <a:t>Secondary Data (Pre-existing)</a:t>
            </a:r>
          </a:p>
          <a:p>
            <a:r>
              <a:rPr lang="en-US" b="1" dirty="0"/>
              <a:t>Internal:</a:t>
            </a:r>
            <a:r>
              <a:rPr lang="en-US" dirty="0"/>
              <a:t> Company databases, reports, documents.</a:t>
            </a:r>
          </a:p>
          <a:p>
            <a:r>
              <a:rPr lang="en-US" b="1" dirty="0"/>
              <a:t>External:</a:t>
            </a:r>
            <a:r>
              <a:rPr lang="en-US" dirty="0"/>
              <a:t> Published research, industry reports, government publications.</a:t>
            </a:r>
          </a:p>
          <a:p>
            <a:r>
              <a:rPr lang="en-US" b="1" dirty="0"/>
              <a:t>Technical Data Formats &amp; Access Methods</a:t>
            </a:r>
          </a:p>
          <a:p>
            <a:r>
              <a:rPr lang="en-US" b="1" dirty="0">
                <a:hlinkClick r:id="rId2"/>
              </a:rPr>
              <a:t>Structured Data</a:t>
            </a:r>
            <a:r>
              <a:rPr lang="en-US" b="1" dirty="0"/>
              <a:t>:</a:t>
            </a:r>
            <a:r>
              <a:rPr lang="en-US" dirty="0"/>
              <a:t> Databases (SQL, </a:t>
            </a:r>
            <a:r>
              <a:rPr lang="en-US" dirty="0" err="1"/>
              <a:t>NoSQL</a:t>
            </a:r>
            <a:r>
              <a:rPr lang="en-US" dirty="0"/>
              <a:t>), spreadsheets (CSV, Excel).</a:t>
            </a:r>
          </a:p>
          <a:p>
            <a:r>
              <a:rPr lang="en-US" b="1" dirty="0"/>
              <a:t>Unstructured/Semi-structured:</a:t>
            </a:r>
            <a:r>
              <a:rPr lang="en-US" dirty="0"/>
              <a:t> Text (JSON, XML), images, audio, video.</a:t>
            </a:r>
          </a:p>
          <a:p>
            <a:r>
              <a:rPr lang="en-US" b="1" dirty="0"/>
              <a:t>Access:</a:t>
            </a:r>
            <a:r>
              <a:rPr lang="en-US" dirty="0"/>
              <a:t> APIs, Web Scraping, File Transfer Protocols (FTP).</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US" sz="3600" b="1" dirty="0" smtClean="0"/>
              <a:t>Visualizing data patterns using histograms</a:t>
            </a:r>
            <a:endParaRPr lang="en-US" sz="3600" b="1" dirty="0"/>
          </a:p>
        </p:txBody>
      </p:sp>
      <p:sp>
        <p:nvSpPr>
          <p:cNvPr id="3" name="Content Placeholder 2"/>
          <p:cNvSpPr>
            <a:spLocks noGrp="1"/>
          </p:cNvSpPr>
          <p:nvPr>
            <p:ph idx="1"/>
          </p:nvPr>
        </p:nvSpPr>
        <p:spPr>
          <a:xfrm>
            <a:off x="142844" y="1000108"/>
            <a:ext cx="8543956" cy="5857892"/>
          </a:xfrm>
        </p:spPr>
        <p:txBody>
          <a:bodyPr>
            <a:normAutofit fontScale="92500" lnSpcReduction="20000"/>
          </a:bodyPr>
          <a:lstStyle/>
          <a:p>
            <a:pPr algn="just" fontAlgn="base"/>
            <a:r>
              <a:rPr lang="en-US" b="1" dirty="0" smtClean="0"/>
              <a:t>A histogram </a:t>
            </a:r>
            <a:r>
              <a:rPr lang="en-US" dirty="0" smtClean="0"/>
              <a:t>is a type of graphical representation used in statistics to show the distribution of numerical data.</a:t>
            </a:r>
          </a:p>
          <a:p>
            <a:pPr algn="just" fontAlgn="base"/>
            <a:r>
              <a:rPr lang="en-US" dirty="0" smtClean="0"/>
              <a:t> It looks somewhat like a bar chart, but unlike bar graphs, which are used for categorical data, histograms are designed for continuous data, grouping it into logical ranges, which are also known as "bins."</a:t>
            </a:r>
          </a:p>
          <a:p>
            <a:pPr algn="just" fontAlgn="base"/>
            <a:r>
              <a:rPr lang="en-US" dirty="0" smtClean="0"/>
              <a:t>A histogram helps in visualizing the distribution of data across a continuous interval or period which makes the data more understandable and also highlights the trends and patterns.</a:t>
            </a:r>
          </a:p>
          <a:p>
            <a:pPr>
              <a:buNone/>
            </a:pPr>
            <a:r>
              <a:rPr lang="en-US" dirty="0" smtClean="0"/>
              <a:t/>
            </a:r>
            <a:br>
              <a:rPr lang="en-US" dirty="0" smtClean="0"/>
            </a:b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071538" y="214290"/>
            <a:ext cx="6929486" cy="6215105"/>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Representation of Data in Histogram</a:t>
            </a:r>
            <a:br>
              <a:rPr lang="en-US" b="1" dirty="0" smtClean="0"/>
            </a:br>
            <a:endParaRPr lang="en-US" dirty="0"/>
          </a:p>
        </p:txBody>
      </p:sp>
      <p:sp>
        <p:nvSpPr>
          <p:cNvPr id="3" name="Content Placeholder 2"/>
          <p:cNvSpPr>
            <a:spLocks noGrp="1"/>
          </p:cNvSpPr>
          <p:nvPr>
            <p:ph idx="1"/>
          </p:nvPr>
        </p:nvSpPr>
        <p:spPr>
          <a:xfrm>
            <a:off x="457200" y="1071546"/>
            <a:ext cx="8229600" cy="5500726"/>
          </a:xfrm>
        </p:spPr>
        <p:txBody>
          <a:bodyPr>
            <a:normAutofit/>
          </a:bodyPr>
          <a:lstStyle/>
          <a:p>
            <a:pPr fontAlgn="base"/>
            <a:r>
              <a:rPr lang="en-US" dirty="0" smtClean="0"/>
              <a:t>In a histogram, data is grouped into continuous number ranges, and each range corresponds to a vertical bar.</a:t>
            </a:r>
          </a:p>
          <a:p>
            <a:pPr fontAlgn="base"/>
            <a:r>
              <a:rPr lang="en-US" b="1" dirty="0" smtClean="0">
                <a:solidFill>
                  <a:srgbClr val="0070C0"/>
                </a:solidFill>
              </a:rPr>
              <a:t>Horizontal axis displays the number range.</a:t>
            </a:r>
          </a:p>
          <a:p>
            <a:pPr fontAlgn="base"/>
            <a:r>
              <a:rPr lang="en-US" b="1" dirty="0" smtClean="0">
                <a:solidFill>
                  <a:srgbClr val="0070C0"/>
                </a:solidFill>
              </a:rPr>
              <a:t>Vertical axis (frequency) represents the amount of data present in each range</a:t>
            </a:r>
            <a:r>
              <a:rPr lang="en-US" dirty="0" smtClean="0"/>
              <a:t>.</a:t>
            </a:r>
          </a:p>
          <a:p>
            <a:pPr fontAlgn="base"/>
            <a:r>
              <a:rPr lang="en-US" dirty="0" smtClean="0"/>
              <a:t>It allows us to </a:t>
            </a:r>
            <a:r>
              <a:rPr lang="en-US" b="1" dirty="0" smtClean="0"/>
              <a:t>assess where the values are concentrated,</a:t>
            </a:r>
            <a:r>
              <a:rPr lang="en-US" dirty="0" smtClean="0"/>
              <a:t> what the extremes are, and whether there are any gaps or anomalous values. </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52"/>
            <a:ext cx="8229600" cy="5983311"/>
          </a:xfrm>
        </p:spPr>
        <p:txBody>
          <a:bodyPr>
            <a:normAutofit/>
          </a:bodyPr>
          <a:lstStyle/>
          <a:p>
            <a:pPr algn="just" fontAlgn="base"/>
            <a:r>
              <a:rPr lang="en-US" dirty="0" smtClean="0"/>
              <a:t>A Histogram is similar to a vertical bar graph, however, the distinction is that a Histogram has no space between the bars, but a bar graph does.</a:t>
            </a:r>
          </a:p>
          <a:p>
            <a:pPr algn="just" fontAlgn="base"/>
            <a:r>
              <a:rPr lang="en-US" dirty="0" smtClean="0"/>
              <a:t>A histogram is a graph that shows the distribution of data.</a:t>
            </a:r>
          </a:p>
          <a:p>
            <a:pPr algn="just" fontAlgn="base"/>
            <a:r>
              <a:rPr lang="en-US" dirty="0" smtClean="0"/>
              <a:t>It resembles a sequence of interconnected bars. </a:t>
            </a:r>
          </a:p>
          <a:p>
            <a:pPr algn="just" fontAlgn="base"/>
            <a:r>
              <a:rPr lang="en-US" dirty="0" smtClean="0"/>
              <a:t>Each bar represents a range of values, and its height indicates how many data points are inside that range.</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US" dirty="0" smtClean="0"/>
              <a:t>Computer Clusters</a:t>
            </a:r>
            <a:endParaRPr lang="en-US" dirty="0"/>
          </a:p>
        </p:txBody>
      </p:sp>
      <p:sp>
        <p:nvSpPr>
          <p:cNvPr id="3" name="Content Placeholder 2"/>
          <p:cNvSpPr>
            <a:spLocks noGrp="1"/>
          </p:cNvSpPr>
          <p:nvPr>
            <p:ph idx="1"/>
          </p:nvPr>
        </p:nvSpPr>
        <p:spPr>
          <a:xfrm>
            <a:off x="142844" y="1071546"/>
            <a:ext cx="8543956" cy="5572164"/>
          </a:xfrm>
        </p:spPr>
        <p:txBody>
          <a:bodyPr>
            <a:normAutofit fontScale="77500" lnSpcReduction="20000"/>
          </a:bodyPr>
          <a:lstStyle/>
          <a:p>
            <a:pPr algn="just"/>
            <a:r>
              <a:rPr lang="en-US" dirty="0" smtClean="0"/>
              <a:t>Cluster computing is attracting the attention of researchers including system developers, network engineers, academics and software designers. </a:t>
            </a:r>
          </a:p>
          <a:p>
            <a:pPr algn="just"/>
            <a:r>
              <a:rPr lang="en-US" dirty="0" smtClean="0"/>
              <a:t>A computer cluster is defined as a single logical unit which consist of several computers that are linked through a fast local area network (LAN). </a:t>
            </a:r>
          </a:p>
          <a:p>
            <a:pPr algn="just"/>
            <a:r>
              <a:rPr lang="en-US" dirty="0" smtClean="0"/>
              <a:t>The components of a cluster, which is commonly termed as nodes, operate their own instance of an operating system. </a:t>
            </a:r>
          </a:p>
          <a:p>
            <a:pPr algn="just"/>
            <a:r>
              <a:rPr lang="en-US" dirty="0" smtClean="0"/>
              <a:t>A node usually comprises of the CPU, memory, and disk storage . </a:t>
            </a:r>
          </a:p>
          <a:p>
            <a:pPr algn="just"/>
            <a:r>
              <a:rPr lang="en-US" dirty="0" smtClean="0"/>
              <a:t>It is observed that clusters, as computing platform, is not only restricted to the scientific and engineering applications. </a:t>
            </a:r>
          </a:p>
          <a:p>
            <a:pPr algn="just"/>
            <a:r>
              <a:rPr lang="en-US" b="1" dirty="0" smtClean="0">
                <a:solidFill>
                  <a:srgbClr val="0070C0"/>
                </a:solidFill>
              </a:rPr>
              <a:t>Many business applications are also using computer clusters. Computer Clusters are needed for Big Data.</a:t>
            </a:r>
            <a:endParaRPr lang="en-US" b="1" dirty="0">
              <a:solidFill>
                <a:srgbClr val="0070C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Apache </a:t>
            </a:r>
            <a:r>
              <a:rPr lang="en-US" dirty="0" err="1" smtClean="0"/>
              <a:t>Hadoop</a:t>
            </a:r>
            <a:endParaRPr lang="en-US" dirty="0"/>
          </a:p>
        </p:txBody>
      </p:sp>
      <p:sp>
        <p:nvSpPr>
          <p:cNvPr id="3" name="Content Placeholder 2"/>
          <p:cNvSpPr>
            <a:spLocks noGrp="1"/>
          </p:cNvSpPr>
          <p:nvPr>
            <p:ph idx="1"/>
          </p:nvPr>
        </p:nvSpPr>
        <p:spPr>
          <a:xfrm>
            <a:off x="142844" y="1600200"/>
            <a:ext cx="8786874" cy="4525963"/>
          </a:xfrm>
        </p:spPr>
        <p:txBody>
          <a:bodyPr/>
          <a:lstStyle/>
          <a:p>
            <a:r>
              <a:rPr lang="en-US" b="1" dirty="0" smtClean="0"/>
              <a:t>Apache </a:t>
            </a:r>
            <a:r>
              <a:rPr lang="en-US" b="1" dirty="0" err="1" smtClean="0"/>
              <a:t>Hadoop</a:t>
            </a:r>
            <a:r>
              <a:rPr lang="en-US" dirty="0" smtClean="0"/>
              <a:t> is an </a:t>
            </a:r>
            <a:r>
              <a:rPr lang="en-US" b="1" dirty="0" smtClean="0"/>
              <a:t>open-source framework</a:t>
            </a:r>
            <a:r>
              <a:rPr lang="en-US" dirty="0" smtClean="0"/>
              <a:t> used to </a:t>
            </a:r>
            <a:r>
              <a:rPr lang="en-US" b="1" dirty="0" smtClean="0"/>
              <a:t>store and process very large amounts of data</a:t>
            </a:r>
            <a:r>
              <a:rPr lang="en-US" dirty="0" smtClean="0"/>
              <a:t> (Big Data) across </a:t>
            </a:r>
            <a:r>
              <a:rPr lang="en-US" b="1" dirty="0" smtClean="0"/>
              <a:t>many computers (nodes)</a:t>
            </a:r>
            <a:r>
              <a:rPr lang="en-US" dirty="0" smtClean="0"/>
              <a:t> in a </a:t>
            </a:r>
            <a:r>
              <a:rPr lang="en-US" b="1" dirty="0" smtClean="0"/>
              <a:t>distributed manner</a:t>
            </a:r>
            <a:r>
              <a:rPr lang="en-US" dirty="0" smtClean="0"/>
              <a:t>.</a:t>
            </a:r>
          </a:p>
          <a:p>
            <a:r>
              <a:rPr lang="en-US" dirty="0" smtClean="0"/>
              <a:t>In simple words:</a:t>
            </a:r>
            <a:br>
              <a:rPr lang="en-US" dirty="0" smtClean="0"/>
            </a:br>
            <a:r>
              <a:rPr lang="en-US" dirty="0" err="1" smtClean="0"/>
              <a:t>Hadoop</a:t>
            </a:r>
            <a:r>
              <a:rPr lang="en-US" dirty="0" smtClean="0"/>
              <a:t> lets you </a:t>
            </a:r>
            <a:r>
              <a:rPr lang="en-US" b="1" dirty="0" smtClean="0"/>
              <a:t>handle huge data</a:t>
            </a:r>
            <a:r>
              <a:rPr lang="en-US" dirty="0" smtClean="0"/>
              <a:t> by </a:t>
            </a:r>
            <a:r>
              <a:rPr lang="en-US" b="1" dirty="0" smtClean="0"/>
              <a:t>splitting it across multiple machines</a:t>
            </a:r>
            <a:r>
              <a:rPr lang="en-US" dirty="0" smtClean="0"/>
              <a:t> and </a:t>
            </a:r>
            <a:r>
              <a:rPr lang="en-US" b="1" dirty="0" smtClean="0"/>
              <a:t>processing it in parallel</a:t>
            </a:r>
            <a:r>
              <a:rPr lang="en-US" dirty="0" smtClean="0"/>
              <a:t>.</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dirty="0" smtClean="0"/>
              <a:t>Why do we need </a:t>
            </a:r>
            <a:r>
              <a:rPr lang="en-US" b="1" dirty="0" err="1" smtClean="0"/>
              <a:t>Hadoop</a:t>
            </a:r>
            <a:r>
              <a:rPr lang="en-US" b="1" dirty="0" smtClean="0"/>
              <a:t>?</a:t>
            </a:r>
          </a:p>
          <a:p>
            <a:r>
              <a:rPr lang="en-US" dirty="0" smtClean="0"/>
              <a:t>Traditional systems struggle when:</a:t>
            </a:r>
          </a:p>
          <a:p>
            <a:r>
              <a:rPr lang="en-US" dirty="0" smtClean="0"/>
              <a:t>Data size becomes </a:t>
            </a:r>
            <a:r>
              <a:rPr lang="en-US" b="1" dirty="0" smtClean="0"/>
              <a:t>very large (TBs or PBs)</a:t>
            </a:r>
            <a:endParaRPr lang="en-US" dirty="0" smtClean="0"/>
          </a:p>
          <a:p>
            <a:r>
              <a:rPr lang="en-US" dirty="0" smtClean="0"/>
              <a:t>Data grows </a:t>
            </a:r>
            <a:r>
              <a:rPr lang="en-US" b="1" dirty="0" smtClean="0"/>
              <a:t>quickly</a:t>
            </a:r>
            <a:endParaRPr lang="en-US" dirty="0" smtClean="0"/>
          </a:p>
          <a:p>
            <a:r>
              <a:rPr lang="en-US" dirty="0" smtClean="0"/>
              <a:t>Data comes in </a:t>
            </a:r>
            <a:r>
              <a:rPr lang="en-US" b="1" dirty="0" smtClean="0"/>
              <a:t>different formats</a:t>
            </a:r>
            <a:r>
              <a:rPr lang="en-US" dirty="0" smtClean="0"/>
              <a:t> (text, images, logs, videos)</a:t>
            </a:r>
          </a:p>
          <a:p>
            <a:r>
              <a:rPr lang="en-US" dirty="0" err="1" smtClean="0"/>
              <a:t>Hadoop</a:t>
            </a:r>
            <a:r>
              <a:rPr lang="en-US" dirty="0" smtClean="0"/>
              <a:t> solves these problems by using </a:t>
            </a:r>
            <a:r>
              <a:rPr lang="en-US" b="1" dirty="0" smtClean="0"/>
              <a:t>distributed computing</a:t>
            </a:r>
            <a:r>
              <a:rPr lang="en-US" dirty="0" smtClean="0"/>
              <a:t>.</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Main Components of Apache </a:t>
            </a:r>
            <a:r>
              <a:rPr lang="en-US" b="1" dirty="0" err="1" smtClean="0"/>
              <a:t>Hadoop</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r>
              <a:rPr lang="en-US" b="1" dirty="0" smtClean="0"/>
              <a:t>HDFS (</a:t>
            </a:r>
            <a:r>
              <a:rPr lang="en-US" b="1" dirty="0" err="1" smtClean="0"/>
              <a:t>Hadoop</a:t>
            </a:r>
            <a:r>
              <a:rPr lang="en-US" b="1" dirty="0" smtClean="0"/>
              <a:t> Distributed File System)</a:t>
            </a:r>
          </a:p>
          <a:p>
            <a:r>
              <a:rPr lang="en-US" dirty="0" smtClean="0"/>
              <a:t>Stores data across multiple machines</a:t>
            </a:r>
          </a:p>
          <a:p>
            <a:r>
              <a:rPr lang="en-US" dirty="0" smtClean="0"/>
              <a:t>Breaks large files into </a:t>
            </a:r>
            <a:r>
              <a:rPr lang="en-US" b="1" dirty="0" smtClean="0"/>
              <a:t>blocks</a:t>
            </a:r>
            <a:endParaRPr lang="en-US" dirty="0" smtClean="0"/>
          </a:p>
          <a:p>
            <a:r>
              <a:rPr lang="en-US" dirty="0" smtClean="0"/>
              <a:t>Stores </a:t>
            </a:r>
            <a:r>
              <a:rPr lang="en-US" b="1" dirty="0" smtClean="0"/>
              <a:t>replicas</a:t>
            </a:r>
            <a:r>
              <a:rPr lang="en-US" dirty="0" smtClean="0"/>
              <a:t> of data for </a:t>
            </a:r>
            <a:r>
              <a:rPr lang="en-US" b="1" dirty="0" smtClean="0"/>
              <a:t>fault tolerance</a:t>
            </a:r>
            <a:endParaRPr lang="en-US" dirty="0" smtClean="0"/>
          </a:p>
          <a:p>
            <a:r>
              <a:rPr lang="en-US" dirty="0" smtClean="0"/>
              <a:t>If one machine fails, data is not lost</a:t>
            </a:r>
          </a:p>
          <a:p>
            <a:r>
              <a:rPr lang="en-US" dirty="0" smtClean="0"/>
              <a:t>📌 Example:</a:t>
            </a:r>
            <a:br>
              <a:rPr lang="en-US" dirty="0" smtClean="0"/>
            </a:br>
            <a:r>
              <a:rPr lang="en-US" b="1" dirty="0" smtClean="0"/>
              <a:t>A 1 GB file is split into smaller blocks and stored on different nodes.</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MapReduce</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A programming model for </a:t>
            </a:r>
            <a:r>
              <a:rPr lang="en-US" b="1" dirty="0" smtClean="0"/>
              <a:t>processing data</a:t>
            </a:r>
            <a:endParaRPr lang="en-US" dirty="0" smtClean="0"/>
          </a:p>
          <a:p>
            <a:r>
              <a:rPr lang="en-US" dirty="0" smtClean="0"/>
              <a:t>Works in two steps:</a:t>
            </a:r>
          </a:p>
          <a:p>
            <a:pPr lvl="1"/>
            <a:r>
              <a:rPr lang="en-US" b="1" dirty="0" smtClean="0"/>
              <a:t>Map</a:t>
            </a:r>
            <a:r>
              <a:rPr lang="en-US" dirty="0" smtClean="0"/>
              <a:t>: Breaks data into smaller parts</a:t>
            </a:r>
          </a:p>
          <a:p>
            <a:pPr lvl="1"/>
            <a:r>
              <a:rPr lang="en-US" b="1" dirty="0" smtClean="0"/>
              <a:t>Reduce</a:t>
            </a:r>
            <a:r>
              <a:rPr lang="en-US" dirty="0" smtClean="0"/>
              <a:t>: Combines results to produce output</a:t>
            </a:r>
          </a:p>
          <a:p>
            <a:r>
              <a:rPr lang="en-US" dirty="0" smtClean="0"/>
              <a:t>Processes data </a:t>
            </a:r>
            <a:r>
              <a:rPr lang="en-US" b="1" dirty="0" smtClean="0"/>
              <a:t>in parallel</a:t>
            </a:r>
            <a:endParaRPr lang="en-US" dirty="0" smtClean="0"/>
          </a:p>
          <a:p>
            <a:r>
              <a:rPr lang="en-US" dirty="0" smtClean="0"/>
              <a:t>📌 Example:</a:t>
            </a:r>
            <a:br>
              <a:rPr lang="en-US" dirty="0" smtClean="0"/>
            </a:br>
            <a:r>
              <a:rPr lang="en-US" dirty="0" smtClean="0"/>
              <a:t>Counting word frequency in millions of documents.</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YARN (Yet Another Resource Negotiator)</a:t>
            </a:r>
          </a:p>
          <a:p>
            <a:r>
              <a:rPr lang="en-US" dirty="0" smtClean="0"/>
              <a:t>Manages </a:t>
            </a:r>
            <a:r>
              <a:rPr lang="en-US" b="1" dirty="0" smtClean="0"/>
              <a:t>resources</a:t>
            </a:r>
            <a:r>
              <a:rPr lang="en-US" dirty="0" smtClean="0"/>
              <a:t> (CPU, memory)</a:t>
            </a:r>
          </a:p>
          <a:p>
            <a:r>
              <a:rPr lang="en-US" dirty="0" smtClean="0"/>
              <a:t>Schedules jobs on the cluster</a:t>
            </a:r>
          </a:p>
          <a:p>
            <a:r>
              <a:rPr lang="en-US" dirty="0" smtClean="0"/>
              <a:t>Allows multiple applications to run on </a:t>
            </a:r>
            <a:r>
              <a:rPr lang="en-US" dirty="0" err="1" smtClean="0"/>
              <a:t>Hadoop</a:t>
            </a:r>
            <a:endParaRPr lang="en-US" dirty="0" smtClean="0"/>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APACHE HADOOP CORE COMPONENTS </a:t>
            </a:r>
            <a:endParaRPr lang="en-US" dirty="0"/>
          </a:p>
        </p:txBody>
      </p:sp>
      <p:sp>
        <p:nvSpPr>
          <p:cNvPr id="3" name="Content Placeholder 2"/>
          <p:cNvSpPr>
            <a:spLocks noGrp="1"/>
          </p:cNvSpPr>
          <p:nvPr>
            <p:ph idx="1"/>
          </p:nvPr>
        </p:nvSpPr>
        <p:spPr/>
        <p:txBody>
          <a:bodyPr/>
          <a:lstStyle/>
          <a:p>
            <a:r>
              <a:rPr lang="en-US" dirty="0" err="1" smtClean="0"/>
              <a:t>Hadoop</a:t>
            </a:r>
            <a:r>
              <a:rPr lang="en-US" dirty="0" smtClean="0"/>
              <a:t> consists of the two following core components that are related to distributed computing: </a:t>
            </a:r>
          </a:p>
          <a:p>
            <a:r>
              <a:rPr lang="en-US" dirty="0" smtClean="0"/>
              <a:t>HDFS (</a:t>
            </a:r>
            <a:r>
              <a:rPr lang="en-US" dirty="0" err="1" smtClean="0"/>
              <a:t>Hadoop</a:t>
            </a:r>
            <a:r>
              <a:rPr lang="en-US" dirty="0" smtClean="0"/>
              <a:t> Distributed File System) </a:t>
            </a:r>
          </a:p>
          <a:p>
            <a:r>
              <a:rPr lang="en-US" dirty="0" smtClean="0"/>
              <a:t>Map Reduce </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42852"/>
            <a:ext cx="8472518" cy="6500858"/>
          </a:xfrm>
        </p:spPr>
        <p:txBody>
          <a:bodyPr>
            <a:normAutofit/>
          </a:bodyPr>
          <a:lstStyle/>
          <a:p>
            <a:r>
              <a:rPr lang="en-US" dirty="0" smtClean="0"/>
              <a:t>HDFS is one of the core component of </a:t>
            </a:r>
            <a:r>
              <a:rPr lang="en-US" dirty="0" err="1" smtClean="0"/>
              <a:t>Hadoop</a:t>
            </a:r>
            <a:r>
              <a:rPr lang="en-US" dirty="0" smtClean="0"/>
              <a:t> cluster and it is a distributed file system that handles huge volume of data sets. </a:t>
            </a:r>
          </a:p>
          <a:p>
            <a:r>
              <a:rPr lang="en-US" dirty="0" smtClean="0"/>
              <a:t>It is based on Google's File System (GFS). </a:t>
            </a:r>
          </a:p>
          <a:p>
            <a:r>
              <a:rPr lang="en-US" dirty="0" smtClean="0"/>
              <a:t>HDFS is redundant, fault tolerant and scalable. It is designed like a Master-Slave architecture.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lgn="just"/>
            <a:r>
              <a:rPr lang="en-US" dirty="0" smtClean="0"/>
              <a:t>The Master which is also termed as the </a:t>
            </a:r>
            <a:r>
              <a:rPr lang="en-US" dirty="0" err="1" smtClean="0"/>
              <a:t>NameNode</a:t>
            </a:r>
            <a:r>
              <a:rPr lang="en-US" dirty="0" smtClean="0"/>
              <a:t> is one which manages the file system namespace operations like opening, closing, renaming files and directories. </a:t>
            </a:r>
          </a:p>
          <a:p>
            <a:pPr algn="just"/>
            <a:r>
              <a:rPr lang="en-US" dirty="0" smtClean="0"/>
              <a:t>It is also responsible to map blocks to </a:t>
            </a:r>
            <a:r>
              <a:rPr lang="en-US" dirty="0" err="1" smtClean="0"/>
              <a:t>DataNodes</a:t>
            </a:r>
            <a:r>
              <a:rPr lang="en-US" dirty="0" smtClean="0"/>
              <a:t> along with regulating access to files by clients. </a:t>
            </a:r>
          </a:p>
          <a:p>
            <a:pPr algn="just"/>
            <a:r>
              <a:rPr lang="en-US" dirty="0" smtClean="0"/>
              <a:t>Slaves, also known as </a:t>
            </a:r>
            <a:r>
              <a:rPr lang="en-US" dirty="0" err="1" smtClean="0"/>
              <a:t>DataNodes</a:t>
            </a:r>
            <a:r>
              <a:rPr lang="en-US" dirty="0" smtClean="0"/>
              <a:t>, are accountable for attending the read and write request from the clients</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52"/>
            <a:ext cx="8229600" cy="5983311"/>
          </a:xfrm>
        </p:spPr>
        <p:txBody>
          <a:bodyPr>
            <a:normAutofit/>
          </a:bodyPr>
          <a:lstStyle/>
          <a:p>
            <a:pPr algn="just"/>
            <a:r>
              <a:rPr lang="en-US" dirty="0" err="1" smtClean="0"/>
              <a:t>MapReduce</a:t>
            </a:r>
            <a:r>
              <a:rPr lang="en-US" dirty="0" smtClean="0"/>
              <a:t> is a programming model that is used to process and generate large dataset . </a:t>
            </a:r>
          </a:p>
          <a:p>
            <a:pPr algn="just"/>
            <a:r>
              <a:rPr lang="en-US" dirty="0" smtClean="0"/>
              <a:t>It is responsible for parallel processing of the data on the cluster. </a:t>
            </a:r>
          </a:p>
          <a:p>
            <a:pPr algn="just"/>
            <a:r>
              <a:rPr lang="en-US" dirty="0" smtClean="0"/>
              <a:t>In fact, users have to specify a map function which processes a key/value pair. </a:t>
            </a:r>
          </a:p>
          <a:p>
            <a:pPr algn="just"/>
            <a:r>
              <a:rPr lang="en-US" dirty="0" smtClean="0"/>
              <a:t>A set of intermediate key/value pairs are then generated. As for the reduce function, all intermediate values are merged.</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Key Concepts of HDFS</a:t>
            </a:r>
            <a:br>
              <a:rPr lang="en-US" b="1" dirty="0" smtClean="0"/>
            </a:br>
            <a:endParaRPr lang="en-US" dirty="0"/>
          </a:p>
        </p:txBody>
      </p:sp>
      <p:sp>
        <p:nvSpPr>
          <p:cNvPr id="3" name="Content Placeholder 2"/>
          <p:cNvSpPr>
            <a:spLocks noGrp="1"/>
          </p:cNvSpPr>
          <p:nvPr>
            <p:ph idx="1"/>
          </p:nvPr>
        </p:nvSpPr>
        <p:spPr>
          <a:xfrm>
            <a:off x="457200" y="1142984"/>
            <a:ext cx="8229600" cy="5429288"/>
          </a:xfrm>
        </p:spPr>
        <p:txBody>
          <a:bodyPr>
            <a:normAutofit fontScale="92500" lnSpcReduction="10000"/>
          </a:bodyPr>
          <a:lstStyle/>
          <a:p>
            <a:r>
              <a:rPr lang="en-US" b="1" dirty="0" smtClean="0"/>
              <a:t>🔹Blocks</a:t>
            </a:r>
          </a:p>
          <a:p>
            <a:r>
              <a:rPr lang="en-US" dirty="0" smtClean="0"/>
              <a:t>Default block size: </a:t>
            </a:r>
            <a:r>
              <a:rPr lang="en-US" b="1" dirty="0" smtClean="0"/>
              <a:t>128 MB</a:t>
            </a:r>
            <a:endParaRPr lang="en-US" dirty="0" smtClean="0"/>
          </a:p>
          <a:p>
            <a:r>
              <a:rPr lang="en-US" dirty="0" smtClean="0"/>
              <a:t>Large block size reduces overhead</a:t>
            </a:r>
          </a:p>
          <a:p>
            <a:r>
              <a:rPr lang="en-US" b="1" dirty="0" smtClean="0"/>
              <a:t>🔹 Replication</a:t>
            </a:r>
          </a:p>
          <a:p>
            <a:r>
              <a:rPr lang="en-US" dirty="0" smtClean="0"/>
              <a:t>Each block is stored </a:t>
            </a:r>
            <a:r>
              <a:rPr lang="en-US" b="1" dirty="0" smtClean="0"/>
              <a:t>multiple times</a:t>
            </a:r>
            <a:r>
              <a:rPr lang="en-US" dirty="0" smtClean="0"/>
              <a:t> (default: 3)</a:t>
            </a:r>
          </a:p>
          <a:p>
            <a:r>
              <a:rPr lang="en-US" dirty="0" smtClean="0"/>
              <a:t>Ensures </a:t>
            </a:r>
            <a:r>
              <a:rPr lang="en-US" b="1" dirty="0" smtClean="0"/>
              <a:t>fault tolerance</a:t>
            </a:r>
            <a:endParaRPr lang="en-US" dirty="0" smtClean="0"/>
          </a:p>
          <a:p>
            <a:r>
              <a:rPr lang="en-US" b="1" dirty="0" smtClean="0"/>
              <a:t>🔹 Master–Slave Architecture</a:t>
            </a:r>
          </a:p>
          <a:p>
            <a:r>
              <a:rPr lang="en-US" b="1" dirty="0" err="1" smtClean="0"/>
              <a:t>NameNode</a:t>
            </a:r>
            <a:r>
              <a:rPr lang="en-US" dirty="0" smtClean="0"/>
              <a:t> (Master):</a:t>
            </a:r>
            <a:br>
              <a:rPr lang="en-US" dirty="0" smtClean="0"/>
            </a:br>
            <a:r>
              <a:rPr lang="en-US" dirty="0" smtClean="0"/>
              <a:t>Manages metadata (file location, permissions)</a:t>
            </a:r>
          </a:p>
          <a:p>
            <a:r>
              <a:rPr lang="en-US" b="1" dirty="0" err="1" smtClean="0"/>
              <a:t>DataNode</a:t>
            </a:r>
            <a:r>
              <a:rPr lang="en-US" dirty="0" smtClean="0"/>
              <a:t> (Slave):</a:t>
            </a:r>
            <a:br>
              <a:rPr lang="en-US" dirty="0" smtClean="0"/>
            </a:br>
            <a:r>
              <a:rPr lang="en-US" dirty="0" smtClean="0"/>
              <a:t>Stores actual data blocks</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Distributed Systems</a:t>
            </a:r>
            <a:br>
              <a:rPr lang="en-US" b="1" dirty="0" smtClean="0"/>
            </a:br>
            <a:endParaRPr lang="en-US" dirty="0"/>
          </a:p>
        </p:txBody>
      </p:sp>
      <p:sp>
        <p:nvSpPr>
          <p:cNvPr id="3" name="Content Placeholder 2"/>
          <p:cNvSpPr>
            <a:spLocks noGrp="1"/>
          </p:cNvSpPr>
          <p:nvPr>
            <p:ph idx="1"/>
          </p:nvPr>
        </p:nvSpPr>
        <p:spPr/>
        <p:txBody>
          <a:bodyPr/>
          <a:lstStyle/>
          <a:p>
            <a:pPr algn="just">
              <a:buNone/>
            </a:pPr>
            <a:r>
              <a:rPr lang="en-US" dirty="0" smtClean="0"/>
              <a:t>A </a:t>
            </a:r>
            <a:r>
              <a:rPr lang="en-US" b="1" dirty="0" smtClean="0"/>
              <a:t>distributed system</a:t>
            </a:r>
            <a:r>
              <a:rPr lang="en-US" dirty="0" smtClean="0"/>
              <a:t> is a system where </a:t>
            </a:r>
            <a:r>
              <a:rPr lang="en-US" b="1" dirty="0" smtClean="0"/>
              <a:t>multiple independent computers</a:t>
            </a:r>
            <a:r>
              <a:rPr lang="en-US" dirty="0" smtClean="0"/>
              <a:t> work together and appear as </a:t>
            </a:r>
            <a:r>
              <a:rPr lang="en-US" b="1" dirty="0" smtClean="0"/>
              <a:t>one single system</a:t>
            </a:r>
            <a:r>
              <a:rPr lang="en-US" dirty="0" smtClean="0"/>
              <a:t> to the user.</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smtClean="0"/>
              <a:t>Why Distributed Systems Are Important Today?</a:t>
            </a:r>
          </a:p>
          <a:p>
            <a:r>
              <a:rPr lang="en-US" b="1" dirty="0" smtClean="0"/>
              <a:t>1⃣   Handling Huge Amounts of Data</a:t>
            </a:r>
          </a:p>
          <a:p>
            <a:r>
              <a:rPr lang="en-US" dirty="0" smtClean="0"/>
              <a:t>Modern applications generate </a:t>
            </a:r>
            <a:r>
              <a:rPr lang="en-US" b="1" dirty="0" smtClean="0"/>
              <a:t>massive data</a:t>
            </a:r>
            <a:r>
              <a:rPr lang="en-US" dirty="0" smtClean="0"/>
              <a:t> (Big Data).</a:t>
            </a:r>
          </a:p>
          <a:p>
            <a:r>
              <a:rPr lang="en-US" dirty="0" smtClean="0"/>
              <a:t>Single machines cannot store or process it</a:t>
            </a:r>
          </a:p>
          <a:p>
            <a:r>
              <a:rPr lang="en-US" dirty="0" smtClean="0"/>
              <a:t>Distributed systems </a:t>
            </a:r>
            <a:r>
              <a:rPr lang="en-US" b="1" dirty="0" smtClean="0"/>
              <a:t>divide data and workload</a:t>
            </a:r>
            <a:r>
              <a:rPr lang="en-US" dirty="0" smtClean="0"/>
              <a:t> among many nodes</a:t>
            </a:r>
          </a:p>
          <a:p>
            <a:r>
              <a:rPr lang="en-US" dirty="0" smtClean="0"/>
              <a:t>📌   </a:t>
            </a:r>
            <a:r>
              <a:rPr lang="en-US" i="1" dirty="0" smtClean="0"/>
              <a:t>Example:</a:t>
            </a:r>
            <a:r>
              <a:rPr lang="en-US" dirty="0" smtClean="0"/>
              <a:t> </a:t>
            </a:r>
            <a:r>
              <a:rPr lang="en-US" dirty="0" err="1" smtClean="0"/>
              <a:t>Hadoop</a:t>
            </a:r>
            <a:r>
              <a:rPr lang="en-US" dirty="0" smtClean="0"/>
              <a:t> storing TBs of data across multiple serve</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High Performance &amp; Faster Processing</a:t>
            </a:r>
          </a:p>
          <a:p>
            <a:r>
              <a:rPr lang="en-US" dirty="0" smtClean="0"/>
              <a:t>Tasks are executed </a:t>
            </a:r>
            <a:r>
              <a:rPr lang="en-US" b="1" dirty="0" smtClean="0"/>
              <a:t>in parallel</a:t>
            </a:r>
            <a:endParaRPr lang="en-US" dirty="0" smtClean="0"/>
          </a:p>
          <a:p>
            <a:r>
              <a:rPr lang="en-US" dirty="0" smtClean="0"/>
              <a:t>Multiple machines work at the same time</a:t>
            </a:r>
          </a:p>
          <a:p>
            <a:r>
              <a:rPr lang="en-US" dirty="0" smtClean="0"/>
              <a:t>Reduces execution time</a:t>
            </a:r>
          </a:p>
          <a:p>
            <a:r>
              <a:rPr lang="en-US" dirty="0" smtClean="0"/>
              <a:t>📌   </a:t>
            </a:r>
            <a:r>
              <a:rPr lang="en-US" i="1" dirty="0" smtClean="0"/>
              <a:t>Example:</a:t>
            </a:r>
            <a:r>
              <a:rPr lang="en-US" dirty="0" smtClean="0"/>
              <a:t> Spark processing large datasets much faster using parallelism</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Scalability</a:t>
            </a:r>
          </a:p>
          <a:p>
            <a:r>
              <a:rPr lang="en-US" dirty="0" smtClean="0"/>
              <a:t>Distributed systems are </a:t>
            </a:r>
            <a:r>
              <a:rPr lang="en-US" b="1" dirty="0" smtClean="0"/>
              <a:t>easily scalable</a:t>
            </a:r>
            <a:r>
              <a:rPr lang="en-US" dirty="0" smtClean="0"/>
              <a:t>:</a:t>
            </a:r>
          </a:p>
          <a:p>
            <a:r>
              <a:rPr lang="en-US" dirty="0" smtClean="0"/>
              <a:t>Add more machines to increase capacity</a:t>
            </a:r>
          </a:p>
          <a:p>
            <a:r>
              <a:rPr lang="en-US" dirty="0" smtClean="0"/>
              <a:t>No need to replace the whole system</a:t>
            </a:r>
          </a:p>
          <a:p>
            <a:r>
              <a:rPr lang="en-US" dirty="0" smtClean="0"/>
              <a:t>📌   </a:t>
            </a:r>
            <a:r>
              <a:rPr lang="en-US" i="1" dirty="0" smtClean="0"/>
              <a:t>Example:</a:t>
            </a:r>
            <a:r>
              <a:rPr lang="en-US" dirty="0" smtClean="0"/>
              <a:t> Cloud platforms like AWS, Azure</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Fault Tolerance &amp; Reliability</a:t>
            </a:r>
          </a:p>
          <a:p>
            <a:r>
              <a:rPr lang="en-US" dirty="0" smtClean="0"/>
              <a:t>If one node fails, others continue working</a:t>
            </a:r>
          </a:p>
          <a:p>
            <a:r>
              <a:rPr lang="en-US" dirty="0" smtClean="0"/>
              <a:t>Data is </a:t>
            </a:r>
            <a:r>
              <a:rPr lang="en-US" b="1" dirty="0" smtClean="0"/>
              <a:t>replicated</a:t>
            </a:r>
            <a:endParaRPr lang="en-US" dirty="0" smtClean="0"/>
          </a:p>
          <a:p>
            <a:r>
              <a:rPr lang="en-US" dirty="0" smtClean="0"/>
              <a:t>System remains available</a:t>
            </a:r>
          </a:p>
          <a:p>
            <a:r>
              <a:rPr lang="en-US" dirty="0" smtClean="0"/>
              <a:t>📌   </a:t>
            </a:r>
            <a:r>
              <a:rPr lang="en-US" i="1" dirty="0" smtClean="0"/>
              <a:t>Example:</a:t>
            </a:r>
            <a:r>
              <a:rPr lang="en-US" dirty="0" smtClean="0"/>
              <a:t> HDFS replicates data blocks across nodes</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Cost Effectiveness</a:t>
            </a:r>
          </a:p>
          <a:p>
            <a:r>
              <a:rPr lang="en-US" dirty="0" smtClean="0"/>
              <a:t>Uses </a:t>
            </a:r>
            <a:r>
              <a:rPr lang="en-US" b="1" dirty="0" smtClean="0"/>
              <a:t>commodity hardware</a:t>
            </a:r>
            <a:endParaRPr lang="en-US" dirty="0" smtClean="0"/>
          </a:p>
          <a:p>
            <a:r>
              <a:rPr lang="en-US" dirty="0" smtClean="0"/>
              <a:t>No need for expensive supercomputers</a:t>
            </a:r>
          </a:p>
          <a:p>
            <a:r>
              <a:rPr lang="en-US" dirty="0" smtClean="0"/>
              <a:t>Easy maintenance and expansion</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Real-World Applications</a:t>
            </a:r>
          </a:p>
          <a:p>
            <a:r>
              <a:rPr lang="en-US" dirty="0" smtClean="0"/>
              <a:t>Big Data platforms (</a:t>
            </a:r>
            <a:r>
              <a:rPr lang="en-US" dirty="0" err="1" smtClean="0"/>
              <a:t>Hadoop</a:t>
            </a:r>
            <a:r>
              <a:rPr lang="en-US" dirty="0" smtClean="0"/>
              <a:t>, Spark)</a:t>
            </a:r>
          </a:p>
          <a:p>
            <a:r>
              <a:rPr lang="en-US" dirty="0" smtClean="0"/>
              <a:t>Cloud computing</a:t>
            </a:r>
          </a:p>
          <a:p>
            <a:r>
              <a:rPr lang="en-US" dirty="0" smtClean="0"/>
              <a:t>Online gaming</a:t>
            </a:r>
          </a:p>
          <a:p>
            <a:r>
              <a:rPr lang="en-US" dirty="0" err="1" smtClean="0"/>
              <a:t>IoT</a:t>
            </a:r>
            <a:r>
              <a:rPr lang="en-US" dirty="0" smtClean="0"/>
              <a:t> systems</a:t>
            </a:r>
          </a:p>
          <a:p>
            <a:r>
              <a:rPr lang="en-US" dirty="0" smtClean="0"/>
              <a:t>Banking and finance</a:t>
            </a:r>
          </a:p>
          <a:p>
            <a:r>
              <a:rPr lang="en-US" dirty="0" smtClean="0"/>
              <a:t>Healthcare systems</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dirty="0" smtClean="0"/>
              <a:t>Box plots</a:t>
            </a:r>
            <a:endParaRPr lang="en-US" dirty="0"/>
          </a:p>
        </p:txBody>
      </p:sp>
      <p:sp>
        <p:nvSpPr>
          <p:cNvPr id="3" name="Content Placeholder 2"/>
          <p:cNvSpPr>
            <a:spLocks noGrp="1"/>
          </p:cNvSpPr>
          <p:nvPr>
            <p:ph idx="1"/>
          </p:nvPr>
        </p:nvSpPr>
        <p:spPr>
          <a:xfrm>
            <a:off x="214282" y="1285860"/>
            <a:ext cx="8715436" cy="5143536"/>
          </a:xfrm>
        </p:spPr>
        <p:txBody>
          <a:bodyPr>
            <a:normAutofit fontScale="85000" lnSpcReduction="20000"/>
          </a:bodyPr>
          <a:lstStyle/>
          <a:p>
            <a:pPr algn="just" fontAlgn="base"/>
            <a:r>
              <a:rPr lang="en-US" dirty="0" smtClean="0"/>
              <a:t>A Box Plot is also known as a Box and Whisker Plot and it is a graphical tool used to understand the distribution of numerical data. </a:t>
            </a:r>
          </a:p>
          <a:p>
            <a:pPr marL="514350" indent="-514350" algn="just" fontAlgn="base"/>
            <a:r>
              <a:rPr lang="en-US" dirty="0" smtClean="0"/>
              <a:t>It shows the median, quartiles and possible outliers in a simple visual form. </a:t>
            </a:r>
          </a:p>
          <a:p>
            <a:pPr marL="514350" indent="-514350" algn="just" fontAlgn="base"/>
            <a:r>
              <a:rPr lang="en-US" dirty="0" smtClean="0"/>
              <a:t>It helps compare distributions between groups with ease.</a:t>
            </a:r>
          </a:p>
          <a:p>
            <a:pPr marL="514350" indent="-514350" algn="just" fontAlgn="base"/>
            <a:r>
              <a:rPr lang="en-US" dirty="0" smtClean="0"/>
              <a:t>multiple groups effectively.</a:t>
            </a:r>
          </a:p>
          <a:p>
            <a:pPr marL="514350" indent="-514350" algn="just" fontAlgn="base"/>
            <a:r>
              <a:rPr lang="en-US" dirty="0" smtClean="0"/>
              <a:t>Identify outliers quickly and visually.</a:t>
            </a:r>
          </a:p>
          <a:p>
            <a:pPr marL="514350" indent="-514350" algn="just" fontAlgn="base"/>
            <a:r>
              <a:rPr lang="en-US" dirty="0" smtClean="0"/>
              <a:t>Reveal data symmetry or </a:t>
            </a:r>
            <a:r>
              <a:rPr lang="en-US" dirty="0" err="1" smtClean="0"/>
              <a:t>skewness</a:t>
            </a:r>
            <a:r>
              <a:rPr lang="en-US" dirty="0" smtClean="0"/>
              <a:t> at a glance.</a:t>
            </a:r>
          </a:p>
          <a:p>
            <a:pPr marL="514350" indent="-514350" algn="just" fontAlgn="base"/>
            <a:r>
              <a:rPr lang="en-US" dirty="0" smtClean="0"/>
              <a:t>Show variability clearly even for large datasets.</a:t>
            </a:r>
          </a:p>
          <a:p>
            <a:pPr marL="514350" indent="-514350" algn="just" fontAlgn="base"/>
            <a:r>
              <a:rPr lang="en-US" dirty="0" smtClean="0"/>
              <a:t>Provide compact summaries of data using quartiles and range.</a:t>
            </a:r>
          </a:p>
          <a:p>
            <a:pPr marL="514350" indent="-514350" algn="just" fontAlgn="base"/>
            <a:r>
              <a:rPr lang="en-US" dirty="0" smtClean="0"/>
              <a:t>Useful for comparing multiple groups or categories.</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Interquartile</a:t>
            </a:r>
            <a:r>
              <a:rPr lang="en-US" b="1" dirty="0" smtClean="0"/>
              <a:t> Range (IQR)</a:t>
            </a:r>
            <a:endParaRPr lang="en-US" dirty="0"/>
          </a:p>
        </p:txBody>
      </p:sp>
      <p:sp>
        <p:nvSpPr>
          <p:cNvPr id="3" name="Content Placeholder 2"/>
          <p:cNvSpPr>
            <a:spLocks noGrp="1"/>
          </p:cNvSpPr>
          <p:nvPr>
            <p:ph idx="1"/>
          </p:nvPr>
        </p:nvSpPr>
        <p:spPr/>
        <p:txBody>
          <a:bodyPr>
            <a:normAutofit fontScale="85000" lnSpcReduction="20000"/>
          </a:bodyPr>
          <a:lstStyle/>
          <a:p>
            <a:pPr fontAlgn="base">
              <a:buNone/>
            </a:pPr>
            <a:r>
              <a:rPr lang="en-US" b="1" dirty="0" smtClean="0"/>
              <a:t> </a:t>
            </a:r>
            <a:r>
              <a:rPr lang="en-US" dirty="0" smtClean="0"/>
              <a:t>The box in a box plot represents the </a:t>
            </a:r>
            <a:r>
              <a:rPr lang="en-US" u="sng" dirty="0" err="1" smtClean="0">
                <a:hlinkClick r:id="rId2"/>
              </a:rPr>
              <a:t>Interquartile</a:t>
            </a:r>
            <a:r>
              <a:rPr lang="en-US" u="sng" dirty="0" smtClean="0">
                <a:hlinkClick r:id="rId2"/>
              </a:rPr>
              <a:t> Range (IQR)</a:t>
            </a:r>
            <a:r>
              <a:rPr lang="en-US" dirty="0" smtClean="0"/>
              <a:t>.</a:t>
            </a:r>
          </a:p>
          <a:p>
            <a:pPr fontAlgn="base"/>
            <a:r>
              <a:rPr lang="en-US" b="1" dirty="0" smtClean="0"/>
              <a:t>IQR</a:t>
            </a:r>
            <a:r>
              <a:rPr lang="en-US" dirty="0" smtClean="0"/>
              <a:t>=</a:t>
            </a:r>
            <a:r>
              <a:rPr lang="en-US" i="1" dirty="0" smtClean="0"/>
              <a:t>Q</a:t>
            </a:r>
            <a:r>
              <a:rPr lang="en-US" dirty="0" smtClean="0"/>
              <a:t>3</a:t>
            </a:r>
            <a:r>
              <a:rPr lang="en-US" dirty="0" smtClean="0"/>
              <a:t>​−</a:t>
            </a:r>
            <a:r>
              <a:rPr lang="en-US" i="1" dirty="0" smtClean="0"/>
              <a:t>Q</a:t>
            </a:r>
            <a:r>
              <a:rPr lang="en-US" dirty="0" smtClean="0"/>
              <a:t>1​</a:t>
            </a:r>
          </a:p>
          <a:p>
            <a:pPr fontAlgn="base"/>
            <a:r>
              <a:rPr lang="en-US" dirty="0" smtClean="0"/>
              <a:t> It covers the middle 50% of the data, making it a strong  measure of spread that is resistant to extreme values.</a:t>
            </a:r>
          </a:p>
          <a:p>
            <a:pPr fontAlgn="base"/>
            <a:r>
              <a:rPr lang="en-US" b="1" dirty="0" smtClean="0"/>
              <a:t>Identifying Outliers in a Box Plot</a:t>
            </a:r>
          </a:p>
          <a:p>
            <a:pPr fontAlgn="base"/>
            <a:r>
              <a:rPr lang="en-US" dirty="0" smtClean="0"/>
              <a:t>Outliers are values that lie outside the upper and lower limits:</a:t>
            </a:r>
          </a:p>
          <a:p>
            <a:pPr fontAlgn="base"/>
            <a:r>
              <a:rPr lang="en-US" dirty="0" smtClean="0"/>
              <a:t>Lower Limit=Q1−1.5×IQRLower Limit=</a:t>
            </a:r>
            <a:r>
              <a:rPr lang="en-US" i="1" dirty="0" smtClean="0"/>
              <a:t>Q</a:t>
            </a:r>
            <a:r>
              <a:rPr lang="en-US" dirty="0" smtClean="0"/>
              <a:t>1​−1.5×IQR</a:t>
            </a:r>
          </a:p>
          <a:p>
            <a:pPr fontAlgn="base"/>
            <a:r>
              <a:rPr lang="en-US" dirty="0" smtClean="0"/>
              <a:t>Upper Limit=Q3+1.5×IQRUpper Limit=</a:t>
            </a:r>
            <a:r>
              <a:rPr lang="en-US" i="1" dirty="0" smtClean="0"/>
              <a:t>Q</a:t>
            </a:r>
            <a:r>
              <a:rPr lang="en-US" dirty="0" smtClean="0"/>
              <a:t>3​+1.5×IQR</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Components of a Box Plot</a:t>
            </a:r>
            <a:br>
              <a:rPr lang="en-US" b="1" dirty="0" smtClean="0"/>
            </a:b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571472" y="1214422"/>
            <a:ext cx="8001056" cy="5000660"/>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 Box Plot visually represents the five-number summary of a dataset:</a:t>
            </a:r>
            <a:endParaRPr lang="en-US" dirty="0"/>
          </a:p>
        </p:txBody>
      </p:sp>
      <p:sp>
        <p:nvSpPr>
          <p:cNvPr id="3" name="Content Placeholder 2"/>
          <p:cNvSpPr>
            <a:spLocks noGrp="1"/>
          </p:cNvSpPr>
          <p:nvPr>
            <p:ph idx="1"/>
          </p:nvPr>
        </p:nvSpPr>
        <p:spPr/>
        <p:txBody>
          <a:bodyPr>
            <a:normAutofit fontScale="92500" lnSpcReduction="20000"/>
          </a:bodyPr>
          <a:lstStyle/>
          <a:p>
            <a:pPr marL="514350" indent="-514350" algn="just" fontAlgn="base">
              <a:buFont typeface="+mj-lt"/>
              <a:buAutoNum type="arabicPeriod"/>
            </a:pPr>
            <a:r>
              <a:rPr lang="en-US" b="1" dirty="0" smtClean="0"/>
              <a:t>Minimum: </a:t>
            </a:r>
            <a:r>
              <a:rPr lang="en-US" dirty="0" smtClean="0"/>
              <a:t>The smallest non-outlier value shown at the lower whisker end.</a:t>
            </a:r>
          </a:p>
          <a:p>
            <a:pPr marL="514350" indent="-514350" algn="just" fontAlgn="base">
              <a:buFont typeface="+mj-lt"/>
              <a:buAutoNum type="arabicPeriod"/>
            </a:pPr>
            <a:r>
              <a:rPr lang="en-US" b="1" dirty="0" smtClean="0"/>
              <a:t>First Quartile (Q1): </a:t>
            </a:r>
            <a:r>
              <a:rPr lang="en-US" dirty="0" smtClean="0"/>
              <a:t>The value below which 25% of the data lies.</a:t>
            </a:r>
          </a:p>
          <a:p>
            <a:pPr marL="514350" indent="-514350" algn="just" fontAlgn="base">
              <a:buFont typeface="+mj-lt"/>
              <a:buAutoNum type="arabicPeriod"/>
            </a:pPr>
            <a:r>
              <a:rPr lang="en-US" b="1" dirty="0" smtClean="0"/>
              <a:t>Median (Q2):</a:t>
            </a:r>
            <a:r>
              <a:rPr lang="en-US" dirty="0" smtClean="0"/>
              <a:t> The middle value that splits the data into two equal halves.</a:t>
            </a:r>
          </a:p>
          <a:p>
            <a:pPr marL="514350" indent="-514350" algn="just" fontAlgn="base">
              <a:buFont typeface="+mj-lt"/>
              <a:buAutoNum type="arabicPeriod"/>
            </a:pPr>
            <a:r>
              <a:rPr lang="en-US" b="1" dirty="0" smtClean="0"/>
              <a:t>Third Quartile (Q3): </a:t>
            </a:r>
            <a:r>
              <a:rPr lang="en-US" dirty="0" smtClean="0"/>
              <a:t>The value below which 75% of the data lies.</a:t>
            </a:r>
          </a:p>
          <a:p>
            <a:pPr marL="514350" indent="-514350" algn="just" fontAlgn="base">
              <a:buFont typeface="+mj-lt"/>
              <a:buAutoNum type="arabicPeriod"/>
            </a:pPr>
            <a:r>
              <a:rPr lang="en-US" b="1" dirty="0" smtClean="0"/>
              <a:t>Maximum: </a:t>
            </a:r>
            <a:r>
              <a:rPr lang="en-US" dirty="0" smtClean="0"/>
              <a:t>The largest non-outlier value shown at the upper whisker end.</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to Create a Box Plot</a:t>
            </a:r>
            <a:br>
              <a:rPr lang="en-US" b="1" dirty="0" smtClean="0"/>
            </a:br>
            <a:endParaRPr lang="en-US" dirty="0"/>
          </a:p>
        </p:txBody>
      </p:sp>
      <p:sp>
        <p:nvSpPr>
          <p:cNvPr id="3" name="Content Placeholder 2"/>
          <p:cNvSpPr>
            <a:spLocks noGrp="1"/>
          </p:cNvSpPr>
          <p:nvPr>
            <p:ph idx="1"/>
          </p:nvPr>
        </p:nvSpPr>
        <p:spPr>
          <a:xfrm>
            <a:off x="457200" y="1214422"/>
            <a:ext cx="8229600" cy="4911741"/>
          </a:xfrm>
        </p:spPr>
        <p:txBody>
          <a:bodyPr/>
          <a:lstStyle/>
          <a:p>
            <a:r>
              <a:rPr lang="en-US" dirty="0" smtClean="0"/>
              <a:t>Consider the runs scored by a cricket team in 12 matches: 100, 120, 110, 150, 110, 140, 130, 170, 120, 220, 140, 110.</a:t>
            </a:r>
          </a:p>
          <a:p>
            <a:endParaRPr lang="en-US" dirty="0" smtClean="0"/>
          </a:p>
          <a:p>
            <a:endParaRPr lang="en-US" dirty="0"/>
          </a:p>
        </p:txBody>
      </p:sp>
      <p:pic>
        <p:nvPicPr>
          <p:cNvPr id="5" name="Picture 4" descr="1.png"/>
          <p:cNvPicPr>
            <a:picLocks noChangeAspect="1"/>
          </p:cNvPicPr>
          <p:nvPr/>
        </p:nvPicPr>
        <p:blipFill>
          <a:blip r:embed="rId2"/>
          <a:stretch>
            <a:fillRect/>
          </a:stretch>
        </p:blipFill>
        <p:spPr>
          <a:xfrm>
            <a:off x="428596" y="2857496"/>
            <a:ext cx="8572560" cy="3643338"/>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214282" y="142852"/>
            <a:ext cx="8929718" cy="6572296"/>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Box Plot </a:t>
            </a:r>
            <a:r>
              <a:rPr lang="en-US" b="1" dirty="0" smtClean="0"/>
              <a:t>Use-Cases of Box Plots</a:t>
            </a:r>
            <a:br>
              <a:rPr lang="en-US" b="1" dirty="0" smtClean="0"/>
            </a:br>
            <a:endParaRPr lang="en-US" dirty="0"/>
          </a:p>
        </p:txBody>
      </p:sp>
      <p:sp>
        <p:nvSpPr>
          <p:cNvPr id="3" name="Content Placeholder 2"/>
          <p:cNvSpPr>
            <a:spLocks noGrp="1"/>
          </p:cNvSpPr>
          <p:nvPr>
            <p:ph idx="1"/>
          </p:nvPr>
        </p:nvSpPr>
        <p:spPr>
          <a:xfrm>
            <a:off x="457200" y="1071546"/>
            <a:ext cx="8229600" cy="5054617"/>
          </a:xfrm>
        </p:spPr>
        <p:txBody>
          <a:bodyPr>
            <a:normAutofit fontScale="92500" lnSpcReduction="10000"/>
          </a:bodyPr>
          <a:lstStyle/>
          <a:p>
            <a:pPr algn="just" fontAlgn="base"/>
            <a:r>
              <a:rPr lang="en-US" dirty="0" smtClean="0"/>
              <a:t>Common use-cases include:</a:t>
            </a:r>
          </a:p>
          <a:p>
            <a:pPr algn="just" fontAlgn="base"/>
            <a:r>
              <a:rPr lang="en-US" b="1" dirty="0" smtClean="0"/>
              <a:t>Exploratory Data Analysis (EDA): </a:t>
            </a:r>
            <a:r>
              <a:rPr lang="en-US" dirty="0" smtClean="0"/>
              <a:t>Helps quickly detect spread, </a:t>
            </a:r>
            <a:r>
              <a:rPr lang="en-US" dirty="0" err="1" smtClean="0"/>
              <a:t>skewness</a:t>
            </a:r>
            <a:r>
              <a:rPr lang="en-US" dirty="0" smtClean="0"/>
              <a:t> and extreme values.</a:t>
            </a:r>
          </a:p>
          <a:p>
            <a:pPr algn="just" fontAlgn="base"/>
            <a:r>
              <a:rPr lang="en-US" b="1" dirty="0" smtClean="0"/>
              <a:t>Comparing Multiple Groups:</a:t>
            </a:r>
            <a:r>
              <a:rPr lang="en-US" dirty="0" smtClean="0"/>
              <a:t> Useful for visualizing differences in distributions across categories.</a:t>
            </a:r>
          </a:p>
          <a:p>
            <a:pPr algn="just" fontAlgn="base"/>
            <a:r>
              <a:rPr lang="en-US" b="1" dirty="0" smtClean="0"/>
              <a:t>Quality Control and Process Monitoring:</a:t>
            </a:r>
            <a:r>
              <a:rPr lang="en-US" dirty="0" smtClean="0"/>
              <a:t> Detects unusual deviations or anomalies in manufacturing and processes.</a:t>
            </a:r>
          </a:p>
          <a:p>
            <a:pPr algn="just" fontAlgn="base"/>
            <a:r>
              <a:rPr lang="en-US" b="1" dirty="0" smtClean="0"/>
              <a:t>Statistical Reporting:</a:t>
            </a:r>
            <a:r>
              <a:rPr lang="en-US" dirty="0" smtClean="0"/>
              <a:t> Provides a compact visual summary for large datasets.</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What is Correlation Analysis?</a:t>
            </a:r>
            <a:br>
              <a:rPr lang="en-US" b="1" dirty="0" smtClean="0"/>
            </a:br>
            <a:endParaRPr lang="en-US" dirty="0"/>
          </a:p>
        </p:txBody>
      </p:sp>
      <p:sp>
        <p:nvSpPr>
          <p:cNvPr id="3" name="Content Placeholder 2"/>
          <p:cNvSpPr>
            <a:spLocks noGrp="1"/>
          </p:cNvSpPr>
          <p:nvPr>
            <p:ph idx="1"/>
          </p:nvPr>
        </p:nvSpPr>
        <p:spPr/>
        <p:txBody>
          <a:bodyPr/>
          <a:lstStyle/>
          <a:p>
            <a:r>
              <a:rPr lang="en-US" dirty="0" smtClean="0"/>
              <a:t>Correlation Analysis" is an important tool used to understand the type of relation between variables.</a:t>
            </a:r>
          </a:p>
          <a:p>
            <a:r>
              <a:rPr lang="en-US" dirty="0" smtClean="0"/>
              <a:t>Correlation analysis is a statistical technique for determining the strength of a link between two variables. It is used to detect patterns and trends in data and to forecast future occurrences.</a:t>
            </a: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US" b="1" dirty="0" smtClean="0"/>
              <a:t>Types of Correlation</a:t>
            </a:r>
            <a:endParaRPr lang="en-US" b="1" dirty="0"/>
          </a:p>
        </p:txBody>
      </p:sp>
      <p:sp>
        <p:nvSpPr>
          <p:cNvPr id="3" name="Content Placeholder 2"/>
          <p:cNvSpPr>
            <a:spLocks noGrp="1"/>
          </p:cNvSpPr>
          <p:nvPr>
            <p:ph idx="1"/>
          </p:nvPr>
        </p:nvSpPr>
        <p:spPr>
          <a:xfrm>
            <a:off x="457200" y="1142984"/>
            <a:ext cx="8229600" cy="5500726"/>
          </a:xfrm>
        </p:spPr>
        <p:txBody>
          <a:bodyPr>
            <a:normAutofit fontScale="70000" lnSpcReduction="20000"/>
          </a:bodyPr>
          <a:lstStyle/>
          <a:p>
            <a:pPr algn="just" fontAlgn="base"/>
            <a:r>
              <a:rPr lang="en-US" b="1" dirty="0" smtClean="0"/>
              <a:t>Positive Correlation</a:t>
            </a:r>
            <a:r>
              <a:rPr lang="en-US" dirty="0" smtClean="0"/>
              <a:t>: Positive correlation indicates that two variables have a direct relationship. </a:t>
            </a:r>
          </a:p>
          <a:p>
            <a:pPr algn="just" fontAlgn="base"/>
            <a:r>
              <a:rPr lang="en-US" dirty="0" smtClean="0"/>
              <a:t>As one variable increases, the other variable also increases. </a:t>
            </a:r>
          </a:p>
          <a:p>
            <a:pPr algn="just" fontAlgn="base"/>
            <a:r>
              <a:rPr lang="en-US" dirty="0" smtClean="0"/>
              <a:t>For example, there is a positive correlation between height and weight. As people get taller, they also tend to weigh more.</a:t>
            </a:r>
          </a:p>
          <a:p>
            <a:pPr algn="just" fontAlgn="base"/>
            <a:r>
              <a:rPr lang="en-US" b="1" dirty="0" smtClean="0"/>
              <a:t>Negative Correlation: </a:t>
            </a:r>
            <a:r>
              <a:rPr lang="en-US" dirty="0" smtClean="0"/>
              <a:t>Negative correlation indicates that two variables have an inverse relationship. </a:t>
            </a:r>
          </a:p>
          <a:p>
            <a:pPr algn="just" fontAlgn="base"/>
            <a:r>
              <a:rPr lang="en-US" dirty="0" smtClean="0"/>
              <a:t>As one variable increases, the other variable decreases. For example, there is a negative correlation between price and demand. As the price of a product increases, the demand for that product decreases.</a:t>
            </a:r>
          </a:p>
          <a:p>
            <a:pPr algn="just" fontAlgn="base"/>
            <a:r>
              <a:rPr lang="en-US" b="1" dirty="0" smtClean="0"/>
              <a:t>Zero Correlation:</a:t>
            </a:r>
            <a:r>
              <a:rPr lang="en-US" dirty="0" smtClean="0"/>
              <a:t> Zero correlation indicates that there is no relationship between two variables. </a:t>
            </a:r>
          </a:p>
          <a:p>
            <a:pPr algn="just" fontAlgn="base"/>
            <a:r>
              <a:rPr lang="en-US" dirty="0" smtClean="0"/>
              <a:t>The changes in one variable do not affect the other variable. </a:t>
            </a:r>
          </a:p>
          <a:p>
            <a:pPr algn="just" fontAlgn="base"/>
            <a:r>
              <a:rPr lang="en-US" dirty="0" smtClean="0"/>
              <a:t>For example, there is zero correlation between shoe size and intelligence.</a:t>
            </a:r>
          </a:p>
          <a:p>
            <a:pPr algn="just"/>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orrel.png"/>
          <p:cNvPicPr>
            <a:picLocks noGrp="1" noChangeAspect="1"/>
          </p:cNvPicPr>
          <p:nvPr>
            <p:ph idx="1"/>
          </p:nvPr>
        </p:nvPicPr>
        <p:blipFill>
          <a:blip r:embed="rId2"/>
          <a:stretch>
            <a:fillRect/>
          </a:stretch>
        </p:blipFill>
        <p:spPr>
          <a:xfrm>
            <a:off x="357158" y="500042"/>
            <a:ext cx="8358246" cy="5857916"/>
          </a:xfr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lgn="just" fontAlgn="base"/>
            <a:r>
              <a:rPr lang="en-US" dirty="0" smtClean="0"/>
              <a:t>A positive correlation indicates that the two variables move in the same direction, while a negative correlation indicates that the two variables move in opposite directions.</a:t>
            </a:r>
          </a:p>
          <a:p>
            <a:pPr algn="just" fontAlgn="base"/>
            <a:r>
              <a:rPr lang="en-US" dirty="0" smtClean="0"/>
              <a:t>The strength of the correlation is measured by a correlation coefficient, which can range from -1 to 1.</a:t>
            </a:r>
          </a:p>
          <a:p>
            <a:pPr algn="just" fontAlgn="base"/>
            <a:r>
              <a:rPr lang="en-US" dirty="0" smtClean="0"/>
              <a:t> A correlation coefficient of 0 indicates no correlation, while a correlation coefficient of 1 or -1 indicates a perfect correlation.</a:t>
            </a:r>
          </a:p>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FF0000"/>
                </a:solidFill>
              </a:rPr>
              <a:t>Characteristics of Big Data (6V)</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In recent years, Big Data was defined by the “3 Vs” but now there are “6 Vs” of Big Data which are also termed as the characteristics of Big Data. </a:t>
            </a:r>
          </a:p>
          <a:p>
            <a:r>
              <a:rPr lang="en-US" dirty="0" smtClean="0"/>
              <a:t>These six characteristics help define what Big Data really means and how it can be managed effectively.</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srcRect/>
          <a:stretch>
            <a:fillRect/>
          </a:stretch>
        </p:blipFill>
        <p:spPr bwMode="auto">
          <a:xfrm>
            <a:off x="285720" y="0"/>
            <a:ext cx="8715435" cy="6858000"/>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1. Volume – Scale of Data</a:t>
            </a:r>
            <a:br>
              <a:rPr lang="en-US" b="1" dirty="0" smtClean="0"/>
            </a:br>
            <a:endParaRPr lang="en-US" dirty="0"/>
          </a:p>
        </p:txBody>
      </p:sp>
      <p:sp>
        <p:nvSpPr>
          <p:cNvPr id="3" name="Content Placeholder 2"/>
          <p:cNvSpPr>
            <a:spLocks noGrp="1"/>
          </p:cNvSpPr>
          <p:nvPr>
            <p:ph idx="1"/>
          </p:nvPr>
        </p:nvSpPr>
        <p:spPr>
          <a:xfrm>
            <a:off x="357158" y="1071546"/>
            <a:ext cx="8501122" cy="5643602"/>
          </a:xfrm>
        </p:spPr>
        <p:txBody>
          <a:bodyPr>
            <a:normAutofit/>
          </a:bodyPr>
          <a:lstStyle/>
          <a:p>
            <a:pPr fontAlgn="base"/>
            <a:r>
              <a:rPr lang="en-US" dirty="0" smtClean="0"/>
              <a:t>The name ‘Big Data’ itself is related to a size which is enormous. </a:t>
            </a:r>
          </a:p>
          <a:p>
            <a:pPr fontAlgn="base"/>
            <a:r>
              <a:rPr lang="en-US" dirty="0" smtClean="0"/>
              <a:t>Volume is a huge amount of data. </a:t>
            </a:r>
          </a:p>
          <a:p>
            <a:pPr fontAlgn="base"/>
            <a:r>
              <a:rPr lang="en-US" dirty="0" smtClean="0"/>
              <a:t>To determine the value of data, size of data plays a very crucial role. </a:t>
            </a:r>
          </a:p>
          <a:p>
            <a:pPr fontAlgn="base"/>
            <a:r>
              <a:rPr lang="en-US" sz="3300" b="1" dirty="0" smtClean="0">
                <a:solidFill>
                  <a:srgbClr val="0070C0"/>
                </a:solidFill>
              </a:rPr>
              <a:t>If the volume of data is very large, then it is actually considered as a ‘Big Data’. </a:t>
            </a:r>
          </a:p>
          <a:p>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base"/>
            <a:r>
              <a:rPr lang="en-US" dirty="0" smtClean="0"/>
              <a:t>This means whether a particular data can actually be considered as a Big Data or not, is dependent upon the volume of data. </a:t>
            </a:r>
          </a:p>
          <a:p>
            <a:pPr fontAlgn="base"/>
            <a:r>
              <a:rPr lang="en-US" dirty="0" smtClean="0"/>
              <a:t>Hence while dealing with Big Data it is necessary to consider a characteristic ‘Volume’.</a:t>
            </a:r>
          </a:p>
          <a:p>
            <a:pPr algn="just" fontAlgn="base"/>
            <a:r>
              <a:rPr lang="en-US" b="1" i="1" dirty="0" smtClean="0"/>
              <a:t>Example:</a:t>
            </a:r>
            <a:r>
              <a:rPr lang="en-US" b="1" dirty="0" smtClean="0"/>
              <a:t> In the year 2016, the estimated global mobile traffic was 6.2 </a:t>
            </a:r>
            <a:r>
              <a:rPr lang="en-US" b="1" dirty="0" err="1" smtClean="0"/>
              <a:t>Exabytes</a:t>
            </a:r>
            <a:r>
              <a:rPr lang="en-US" b="1" dirty="0" smtClean="0"/>
              <a:t> (6.2 billion GB) per month. </a:t>
            </a:r>
          </a:p>
          <a:p>
            <a:pPr algn="just" fontAlgn="base"/>
            <a:r>
              <a:rPr lang="en-US" b="1" dirty="0" smtClean="0"/>
              <a:t>Also, by the year 2026 we will have almost 50000 </a:t>
            </a:r>
            <a:r>
              <a:rPr lang="en-US" b="1" dirty="0" err="1" smtClean="0"/>
              <a:t>Exabytes</a:t>
            </a:r>
            <a:r>
              <a:rPr lang="en-US" b="1" dirty="0" smtClean="0"/>
              <a:t> of data.</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2. Velocity – Speed of Data</a:t>
            </a:r>
            <a:br>
              <a:rPr lang="en-US" b="1" dirty="0" smtClean="0"/>
            </a:br>
            <a:endParaRPr lang="en-US" dirty="0"/>
          </a:p>
        </p:txBody>
      </p:sp>
      <p:sp>
        <p:nvSpPr>
          <p:cNvPr id="3" name="Content Placeholder 2"/>
          <p:cNvSpPr>
            <a:spLocks noGrp="1"/>
          </p:cNvSpPr>
          <p:nvPr>
            <p:ph idx="1"/>
          </p:nvPr>
        </p:nvSpPr>
        <p:spPr>
          <a:xfrm>
            <a:off x="214282" y="1000108"/>
            <a:ext cx="8715436" cy="5643602"/>
          </a:xfrm>
        </p:spPr>
        <p:txBody>
          <a:bodyPr>
            <a:normAutofit fontScale="92500" lnSpcReduction="10000"/>
          </a:bodyPr>
          <a:lstStyle/>
          <a:p>
            <a:pPr fontAlgn="base"/>
            <a:r>
              <a:rPr lang="en-US" dirty="0" smtClean="0"/>
              <a:t>Velocity refers to the high speed of accumulation of data. </a:t>
            </a:r>
          </a:p>
          <a:p>
            <a:pPr fontAlgn="base"/>
            <a:r>
              <a:rPr lang="en-US" dirty="0" smtClean="0"/>
              <a:t>In Big Data </a:t>
            </a:r>
            <a:r>
              <a:rPr lang="en-US" b="1" dirty="0" smtClean="0">
                <a:solidFill>
                  <a:srgbClr val="0070C0"/>
                </a:solidFill>
              </a:rPr>
              <a:t>velocity data flows in from sources like machines, networks, social media, mobile phones etc. There is a massive and continuous flow of data. </a:t>
            </a:r>
          </a:p>
          <a:p>
            <a:pPr fontAlgn="base"/>
            <a:r>
              <a:rPr lang="en-US" dirty="0" smtClean="0"/>
              <a:t>This determines the potential of data that how fast the data is generated and processed to meet the demands. Sampling data can help in dealing with the issue like ‘velocity’.</a:t>
            </a:r>
          </a:p>
          <a:p>
            <a:pPr algn="just" fontAlgn="base"/>
            <a:r>
              <a:rPr lang="en-US" b="1" i="1" dirty="0" smtClean="0"/>
              <a:t>Example:</a:t>
            </a:r>
            <a:r>
              <a:rPr lang="en-US" b="1" dirty="0" smtClean="0"/>
              <a:t> There are more than 3.5 billion searches per day are made on Google. Also, </a:t>
            </a:r>
            <a:r>
              <a:rPr lang="en-US" b="1" dirty="0" err="1" smtClean="0"/>
              <a:t>Facebook</a:t>
            </a:r>
            <a:r>
              <a:rPr lang="en-US" b="1" dirty="0" smtClean="0"/>
              <a:t> users are increasing by 22%(Approx.) year by year.</a:t>
            </a:r>
          </a:p>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pPr fontAlgn="base"/>
            <a:r>
              <a:rPr lang="en-US" b="1" dirty="0" smtClean="0"/>
              <a:t>3. Variety – Diversity of Data</a:t>
            </a:r>
          </a:p>
        </p:txBody>
      </p:sp>
      <p:sp>
        <p:nvSpPr>
          <p:cNvPr id="3" name="Content Placeholder 2"/>
          <p:cNvSpPr>
            <a:spLocks noGrp="1"/>
          </p:cNvSpPr>
          <p:nvPr>
            <p:ph idx="1"/>
          </p:nvPr>
        </p:nvSpPr>
        <p:spPr>
          <a:xfrm>
            <a:off x="214282" y="1142984"/>
            <a:ext cx="8572560" cy="5572164"/>
          </a:xfrm>
        </p:spPr>
        <p:txBody>
          <a:bodyPr>
            <a:normAutofit/>
          </a:bodyPr>
          <a:lstStyle/>
          <a:p>
            <a:pPr fontAlgn="base"/>
            <a:r>
              <a:rPr lang="en-US" dirty="0" smtClean="0"/>
              <a:t>It refers to nature of data that is structured, semi-structured and unstructured data. It also refers to heterogeneous sources. </a:t>
            </a:r>
          </a:p>
          <a:p>
            <a:pPr fontAlgn="base"/>
            <a:r>
              <a:rPr lang="en-US" dirty="0" smtClean="0"/>
              <a:t>Variety is basically the arrival of data from new sources that are both inside and outside of an enterprise. It can be structured, semi-structured and unstructured.</a:t>
            </a:r>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52"/>
            <a:ext cx="8229600" cy="5983311"/>
          </a:xfrm>
        </p:spPr>
        <p:txBody>
          <a:bodyPr>
            <a:normAutofit fontScale="92500" lnSpcReduction="20000"/>
          </a:bodyPr>
          <a:lstStyle/>
          <a:p>
            <a:pPr marL="514350" indent="-514350" algn="just" fontAlgn="base">
              <a:buFont typeface="+mj-lt"/>
              <a:buAutoNum type="arabicPeriod"/>
            </a:pPr>
            <a:r>
              <a:rPr lang="en-US" b="1" dirty="0" smtClean="0"/>
              <a:t>Structured data</a:t>
            </a:r>
            <a:r>
              <a:rPr lang="en-US" dirty="0" smtClean="0"/>
              <a:t>: This data is basically an organized data. It generally refers to data that has defined the length and format of data.</a:t>
            </a:r>
          </a:p>
          <a:p>
            <a:pPr marL="514350" indent="-514350" algn="just" fontAlgn="base">
              <a:buFont typeface="+mj-lt"/>
              <a:buAutoNum type="arabicPeriod"/>
            </a:pPr>
            <a:r>
              <a:rPr lang="en-US" b="1" dirty="0" smtClean="0"/>
              <a:t>Semi- Structured data</a:t>
            </a:r>
            <a:r>
              <a:rPr lang="en-US" dirty="0" smtClean="0"/>
              <a:t>: This data is basically a semi-</a:t>
            </a:r>
            <a:r>
              <a:rPr lang="en-US" dirty="0" err="1" smtClean="0"/>
              <a:t>organised</a:t>
            </a:r>
            <a:r>
              <a:rPr lang="en-US" dirty="0" smtClean="0"/>
              <a:t> data. It is generally a form of data that do not conform to the formal structure of data. Log files are the examples of this type of data.</a:t>
            </a:r>
          </a:p>
          <a:p>
            <a:pPr marL="514350" indent="-514350" algn="just" fontAlgn="base">
              <a:buFont typeface="+mj-lt"/>
              <a:buAutoNum type="arabicPeriod"/>
            </a:pPr>
            <a:r>
              <a:rPr lang="en-US" b="1" dirty="0" smtClean="0"/>
              <a:t>Unstructured data</a:t>
            </a:r>
            <a:r>
              <a:rPr lang="en-US" dirty="0" smtClean="0"/>
              <a:t>: This data basically refers to unorganized data. It generally refers to data that doesn’t fit neatly into the traditional row and column structure of the relational database. </a:t>
            </a:r>
          </a:p>
          <a:p>
            <a:pPr marL="514350" indent="-514350" algn="just" fontAlgn="base">
              <a:buNone/>
            </a:pPr>
            <a:r>
              <a:rPr lang="en-US" dirty="0" smtClean="0"/>
              <a:t>	</a:t>
            </a:r>
            <a:r>
              <a:rPr lang="en-US" b="1" dirty="0" smtClean="0">
                <a:solidFill>
                  <a:srgbClr val="0070C0"/>
                </a:solidFill>
              </a:rPr>
              <a:t>Texts, pictures, videos etc. are the examples of unstructured data which can’t be stored in the form of rows and columns.</a:t>
            </a:r>
          </a:p>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4. Veracity – Trustworthiness of Data</a:t>
            </a:r>
            <a:br>
              <a:rPr lang="en-US" b="1" dirty="0" smtClean="0"/>
            </a:br>
            <a:endParaRPr lang="en-US" dirty="0"/>
          </a:p>
        </p:txBody>
      </p:sp>
      <p:sp>
        <p:nvSpPr>
          <p:cNvPr id="3" name="Content Placeholder 2"/>
          <p:cNvSpPr>
            <a:spLocks noGrp="1"/>
          </p:cNvSpPr>
          <p:nvPr>
            <p:ph idx="1"/>
          </p:nvPr>
        </p:nvSpPr>
        <p:spPr>
          <a:xfrm>
            <a:off x="285720" y="1600200"/>
            <a:ext cx="8715436" cy="4972072"/>
          </a:xfrm>
        </p:spPr>
        <p:txBody>
          <a:bodyPr>
            <a:normAutofit lnSpcReduction="10000"/>
          </a:bodyPr>
          <a:lstStyle/>
          <a:p>
            <a:pPr algn="just" fontAlgn="base"/>
            <a:r>
              <a:rPr lang="en-US" dirty="0" smtClean="0"/>
              <a:t>It refers to inconsistencies and uncertainty in data, that is data which is available can sometimes get messy and quality and accuracy are difficult to control. </a:t>
            </a:r>
          </a:p>
          <a:p>
            <a:pPr algn="just" fontAlgn="base"/>
            <a:r>
              <a:rPr lang="en-US" dirty="0" smtClean="0"/>
              <a:t>Big Data is also variable because of the multitude of data dimensions resulting from multiple disparate data types and sources.</a:t>
            </a:r>
          </a:p>
          <a:p>
            <a:pPr algn="just" fontAlgn="base"/>
            <a:r>
              <a:rPr lang="en-US" b="1" i="1" dirty="0" smtClean="0">
                <a:solidFill>
                  <a:srgbClr val="002060"/>
                </a:solidFill>
              </a:rPr>
              <a:t>Example:</a:t>
            </a:r>
            <a:r>
              <a:rPr lang="en-US" b="1" dirty="0" smtClean="0">
                <a:solidFill>
                  <a:srgbClr val="002060"/>
                </a:solidFill>
              </a:rPr>
              <a:t> Data in bulk could create confusion whereas less amount of data could convey half or Incomplete Information.</a:t>
            </a:r>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5. Value – Usefulness of Data</a:t>
            </a:r>
            <a:br>
              <a:rPr lang="en-US" b="1" dirty="0" smtClean="0"/>
            </a:br>
            <a:endParaRPr lang="en-US" dirty="0"/>
          </a:p>
        </p:txBody>
      </p:sp>
      <p:sp>
        <p:nvSpPr>
          <p:cNvPr id="3" name="Content Placeholder 2"/>
          <p:cNvSpPr>
            <a:spLocks noGrp="1"/>
          </p:cNvSpPr>
          <p:nvPr>
            <p:ph idx="1"/>
          </p:nvPr>
        </p:nvSpPr>
        <p:spPr>
          <a:xfrm>
            <a:off x="457200" y="1600200"/>
            <a:ext cx="8229600" cy="5043510"/>
          </a:xfrm>
        </p:spPr>
        <p:txBody>
          <a:bodyPr>
            <a:normAutofit lnSpcReduction="10000"/>
          </a:bodyPr>
          <a:lstStyle/>
          <a:p>
            <a:pPr algn="just" fontAlgn="base"/>
            <a:r>
              <a:rPr lang="en-US" dirty="0" smtClean="0"/>
              <a:t>After having the 4 V’s into account there comes one </a:t>
            </a:r>
            <a:r>
              <a:rPr lang="en-US" b="1" dirty="0" smtClean="0">
                <a:solidFill>
                  <a:srgbClr val="0070C0"/>
                </a:solidFill>
              </a:rPr>
              <a:t>more V which stands for Value. </a:t>
            </a:r>
          </a:p>
          <a:p>
            <a:pPr algn="just" fontAlgn="base"/>
            <a:r>
              <a:rPr lang="en-US" dirty="0" smtClean="0"/>
              <a:t>The bulk of Data having no Value is of no good to the company, unless you turn it into something useful. </a:t>
            </a:r>
          </a:p>
          <a:p>
            <a:pPr algn="just" fontAlgn="base"/>
            <a:r>
              <a:rPr lang="en-US" dirty="0" smtClean="0"/>
              <a:t>Data in itself is of no use or importance but it needs to be converted into something valuable to extract Information. </a:t>
            </a:r>
          </a:p>
          <a:p>
            <a:pPr algn="just" fontAlgn="base"/>
            <a:r>
              <a:rPr lang="en-US" dirty="0" smtClean="0"/>
              <a:t>Hence, you can state </a:t>
            </a:r>
            <a:r>
              <a:rPr lang="en-US" b="1" dirty="0" smtClean="0">
                <a:solidFill>
                  <a:srgbClr val="0070C0"/>
                </a:solidFill>
              </a:rPr>
              <a:t>that Value is the most important V of all the 6V’s.</a:t>
            </a:r>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6. Variability – Inconsistency of Data</a:t>
            </a:r>
            <a:br>
              <a:rPr lang="en-US" b="1" dirty="0" smtClean="0"/>
            </a:br>
            <a:endParaRPr lang="en-US" dirty="0"/>
          </a:p>
        </p:txBody>
      </p:sp>
      <p:sp>
        <p:nvSpPr>
          <p:cNvPr id="3" name="Content Placeholder 2"/>
          <p:cNvSpPr>
            <a:spLocks noGrp="1"/>
          </p:cNvSpPr>
          <p:nvPr>
            <p:ph idx="1"/>
          </p:nvPr>
        </p:nvSpPr>
        <p:spPr>
          <a:xfrm>
            <a:off x="457200" y="1071546"/>
            <a:ext cx="8229600" cy="5643602"/>
          </a:xfrm>
        </p:spPr>
        <p:txBody>
          <a:bodyPr>
            <a:normAutofit fontScale="92500" lnSpcReduction="20000"/>
          </a:bodyPr>
          <a:lstStyle/>
          <a:p>
            <a:pPr algn="just" fontAlgn="base"/>
            <a:r>
              <a:rPr lang="en-US" dirty="0" smtClean="0"/>
              <a:t>Variability refers to the changes in data flow rates, formats, or meanings over time. </a:t>
            </a:r>
          </a:p>
          <a:p>
            <a:pPr algn="just" fontAlgn="base"/>
            <a:r>
              <a:rPr lang="en-US" dirty="0" smtClean="0"/>
              <a:t>For instance, during sales events or trending news, data may spike drastically. </a:t>
            </a:r>
          </a:p>
          <a:p>
            <a:pPr algn="just" fontAlgn="base"/>
            <a:r>
              <a:rPr lang="en-US" dirty="0" smtClean="0"/>
              <a:t>Additionally, words or behavior may have different meanings in different contexts, making interpretation harder.</a:t>
            </a:r>
          </a:p>
          <a:p>
            <a:pPr algn="just" fontAlgn="base"/>
            <a:r>
              <a:rPr lang="en-US" b="1" i="1" dirty="0" smtClean="0">
                <a:solidFill>
                  <a:srgbClr val="FF0000"/>
                </a:solidFill>
              </a:rPr>
              <a:t>Example</a:t>
            </a:r>
            <a:r>
              <a:rPr lang="en-US" b="1" dirty="0" smtClean="0">
                <a:solidFill>
                  <a:srgbClr val="FF0000"/>
                </a:solidFill>
              </a:rPr>
              <a:t>: if you are eating same ice-cream daily and the taste just keep changing. </a:t>
            </a:r>
          </a:p>
          <a:p>
            <a:pPr algn="just" fontAlgn="base"/>
            <a:r>
              <a:rPr lang="en-US" b="1" dirty="0" smtClean="0">
                <a:solidFill>
                  <a:srgbClr val="FF0000"/>
                </a:solidFill>
              </a:rPr>
              <a:t>Or A tweet saying "bad" might be negative, or in slang, it could mean "good." This inconsistency must be addressed when analyzing large, dynamic datasets.</a:t>
            </a:r>
          </a:p>
          <a:p>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Big Data Ecosystem</a:t>
            </a:r>
            <a:endParaRPr lang="en-US" dirty="0"/>
          </a:p>
        </p:txBody>
      </p:sp>
      <p:sp>
        <p:nvSpPr>
          <p:cNvPr id="3" name="Content Placeholder 2"/>
          <p:cNvSpPr>
            <a:spLocks noGrp="1"/>
          </p:cNvSpPr>
          <p:nvPr>
            <p:ph idx="1"/>
          </p:nvPr>
        </p:nvSpPr>
        <p:spPr>
          <a:xfrm>
            <a:off x="142844" y="1600200"/>
            <a:ext cx="8543956" cy="5043510"/>
          </a:xfrm>
        </p:spPr>
        <p:txBody>
          <a:bodyPr>
            <a:normAutofit fontScale="92500" lnSpcReduction="20000"/>
          </a:bodyPr>
          <a:lstStyle/>
          <a:p>
            <a:pPr algn="just"/>
            <a:r>
              <a:rPr lang="en-US" dirty="0" smtClean="0"/>
              <a:t>With the advances in technology and the rapid evolution of computing technology, it is becoming a very tedious to process and manage huge amount of information without the use of supercomputers.</a:t>
            </a:r>
          </a:p>
          <a:p>
            <a:pPr algn="just"/>
            <a:r>
              <a:rPr lang="en-US" dirty="0" smtClean="0"/>
              <a:t>There are some tools and techniques that are available for data management like </a:t>
            </a:r>
            <a:r>
              <a:rPr lang="en-US" b="1" dirty="0" smtClean="0"/>
              <a:t>Google </a:t>
            </a:r>
            <a:r>
              <a:rPr lang="en-US" b="1" dirty="0" err="1" smtClean="0"/>
              <a:t>BigTable</a:t>
            </a:r>
            <a:r>
              <a:rPr lang="en-US" b="1" dirty="0" smtClean="0"/>
              <a:t>, Data Stream Management System (DSMS), </a:t>
            </a:r>
            <a:r>
              <a:rPr lang="en-US" b="1" dirty="0" err="1" smtClean="0"/>
              <a:t>NoSQL</a:t>
            </a:r>
            <a:r>
              <a:rPr lang="en-US" b="1" dirty="0" smtClean="0"/>
              <a:t> amongst others.  </a:t>
            </a:r>
          </a:p>
          <a:p>
            <a:pPr algn="just"/>
            <a:r>
              <a:rPr lang="en-US" dirty="0" smtClean="0"/>
              <a:t>However, there is an urgent need for companies to deploy special tools and technologies that can be used to store, access, </a:t>
            </a:r>
            <a:r>
              <a:rPr lang="en-US" dirty="0" err="1" smtClean="0"/>
              <a:t>analyse</a:t>
            </a:r>
            <a:r>
              <a:rPr lang="en-US" dirty="0" smtClean="0"/>
              <a:t> and large amounts of data in near-real time. </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lstStyle/>
          <a:p>
            <a:r>
              <a:rPr lang="en-US" dirty="0" smtClean="0"/>
              <a:t>Big Data cannot be stored in a single machine and thus, several machines are required. </a:t>
            </a:r>
          </a:p>
          <a:p>
            <a:r>
              <a:rPr lang="en-US" dirty="0" smtClean="0"/>
              <a:t>Common tools that are used to manipulate Big Data are </a:t>
            </a:r>
            <a:r>
              <a:rPr lang="en-US" dirty="0" err="1" smtClean="0"/>
              <a:t>Hadoop</a:t>
            </a:r>
            <a:r>
              <a:rPr lang="en-US" dirty="0" smtClean="0"/>
              <a:t>, </a:t>
            </a:r>
            <a:r>
              <a:rPr lang="en-US" dirty="0" err="1" smtClean="0"/>
              <a:t>MapReduce</a:t>
            </a:r>
            <a:r>
              <a:rPr lang="en-US" dirty="0" smtClean="0"/>
              <a:t>, and </a:t>
            </a:r>
            <a:r>
              <a:rPr lang="en-US" dirty="0" err="1" smtClean="0"/>
              <a:t>BigTable</a:t>
            </a:r>
            <a:r>
              <a:rPr lang="en-US" dirty="0" smtClean="0"/>
              <a:t>. </a:t>
            </a:r>
          </a:p>
          <a:p>
            <a:r>
              <a:rPr lang="en-US" dirty="0" smtClean="0"/>
              <a:t>These tools are able to process large amount of data efficiently </a:t>
            </a: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buNone/>
            </a:pPr>
            <a:endParaRPr lang="en-US" dirty="0" smtClean="0"/>
          </a:p>
          <a:p>
            <a:pPr algn="ctr">
              <a:buNone/>
            </a:pPr>
            <a:endParaRPr lang="en-US" dirty="0" smtClean="0"/>
          </a:p>
          <a:p>
            <a:pPr algn="ctr">
              <a:buNone/>
            </a:pPr>
            <a:endParaRPr lang="en-US" dirty="0" smtClean="0"/>
          </a:p>
          <a:p>
            <a:pPr algn="ctr">
              <a:buNone/>
            </a:pPr>
            <a:r>
              <a:rPr lang="en-US" dirty="0" smtClean="0"/>
              <a:t>End of Chapter</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TotalTime>
  <Words>3141</Words>
  <Application>Microsoft Office PowerPoint</Application>
  <PresentationFormat>On-screen Show (4:3)</PresentationFormat>
  <Paragraphs>363</Paragraphs>
  <Slides>79</Slides>
  <Notes>0</Notes>
  <HiddenSlides>0</HiddenSlides>
  <MMClips>0</MMClips>
  <ScaleCrop>false</ScaleCrop>
  <HeadingPairs>
    <vt:vector size="4" baseType="variant">
      <vt:variant>
        <vt:lpstr>Theme</vt:lpstr>
      </vt:variant>
      <vt:variant>
        <vt:i4>1</vt:i4>
      </vt:variant>
      <vt:variant>
        <vt:lpstr>Slide Titles</vt:lpstr>
      </vt:variant>
      <vt:variant>
        <vt:i4>79</vt:i4>
      </vt:variant>
    </vt:vector>
  </HeadingPairs>
  <TitlesOfParts>
    <vt:vector size="80" baseType="lpstr">
      <vt:lpstr>Office Theme</vt:lpstr>
      <vt:lpstr>Data Science and Big Data Analytics</vt:lpstr>
      <vt:lpstr>What is Data Science? </vt:lpstr>
      <vt:lpstr>(Definition) </vt:lpstr>
      <vt:lpstr>Slide 4</vt:lpstr>
      <vt:lpstr>Steps involved in Data Science </vt:lpstr>
      <vt:lpstr>Data Science Lifecycle</vt:lpstr>
      <vt:lpstr>Slide 7</vt:lpstr>
      <vt:lpstr>Slide 8</vt:lpstr>
      <vt:lpstr>Slide 9</vt:lpstr>
      <vt:lpstr>Slide 10</vt:lpstr>
      <vt:lpstr>Slide 11</vt:lpstr>
      <vt:lpstr>Slide 12</vt:lpstr>
      <vt:lpstr>Real Life Example of Data Science </vt:lpstr>
      <vt:lpstr>Slide 14</vt:lpstr>
      <vt:lpstr>Significance of Data Science</vt:lpstr>
      <vt:lpstr>Slide 16</vt:lpstr>
      <vt:lpstr>Types and sources of data</vt:lpstr>
      <vt:lpstr>What is Data Collection? </vt:lpstr>
      <vt:lpstr>Slide 19</vt:lpstr>
      <vt:lpstr>Slide 20</vt:lpstr>
      <vt:lpstr>Slide 21</vt:lpstr>
      <vt:lpstr>Slide 22</vt:lpstr>
      <vt:lpstr>Slide 23</vt:lpstr>
      <vt:lpstr>Slide 24</vt:lpstr>
      <vt:lpstr>Observation method:</vt:lpstr>
      <vt:lpstr>Experimental method: </vt:lpstr>
      <vt:lpstr>Slide 27</vt:lpstr>
      <vt:lpstr>Slide 28</vt:lpstr>
      <vt:lpstr>Slide 29</vt:lpstr>
      <vt:lpstr>Slide 30</vt:lpstr>
      <vt:lpstr>Slide 31</vt:lpstr>
      <vt:lpstr>Slide 32</vt:lpstr>
      <vt:lpstr>Slide 33</vt:lpstr>
      <vt:lpstr>Visualizing data patterns using histograms</vt:lpstr>
      <vt:lpstr>Slide 35</vt:lpstr>
      <vt:lpstr>Representation of Data in Histogram </vt:lpstr>
      <vt:lpstr>Slide 37</vt:lpstr>
      <vt:lpstr>Computer Clusters</vt:lpstr>
      <vt:lpstr>Apache Hadoop</vt:lpstr>
      <vt:lpstr>Slide 40</vt:lpstr>
      <vt:lpstr>Main Components of Apache Hadoop </vt:lpstr>
      <vt:lpstr>MapReduce </vt:lpstr>
      <vt:lpstr>Slide 43</vt:lpstr>
      <vt:lpstr>APACHE HADOOP CORE COMPONENTS </vt:lpstr>
      <vt:lpstr>Slide 45</vt:lpstr>
      <vt:lpstr>Slide 46</vt:lpstr>
      <vt:lpstr>Slide 47</vt:lpstr>
      <vt:lpstr>Key Concepts of HDFS </vt:lpstr>
      <vt:lpstr>Distributed Systems </vt:lpstr>
      <vt:lpstr>Slide 50</vt:lpstr>
      <vt:lpstr>Slide 51</vt:lpstr>
      <vt:lpstr>Slide 52</vt:lpstr>
      <vt:lpstr>Slide 53</vt:lpstr>
      <vt:lpstr>Slide 54</vt:lpstr>
      <vt:lpstr>Slide 55</vt:lpstr>
      <vt:lpstr>Box plots</vt:lpstr>
      <vt:lpstr>Interquartile Range (IQR)</vt:lpstr>
      <vt:lpstr>Components of a Box Plot </vt:lpstr>
      <vt:lpstr>A Box Plot visually represents the five-number summary of a dataset:</vt:lpstr>
      <vt:lpstr>How to Create a Box Plot </vt:lpstr>
      <vt:lpstr>Slide 61</vt:lpstr>
      <vt:lpstr>Box Plot Use-Cases of Box Plots </vt:lpstr>
      <vt:lpstr>What is Correlation Analysis? </vt:lpstr>
      <vt:lpstr>Types of Correlation</vt:lpstr>
      <vt:lpstr>Slide 65</vt:lpstr>
      <vt:lpstr>Slide 66</vt:lpstr>
      <vt:lpstr>Characteristics of Big Data (6V)</vt:lpstr>
      <vt:lpstr>Slide 68</vt:lpstr>
      <vt:lpstr>1. Volume – Scale of Data </vt:lpstr>
      <vt:lpstr>Slide 70</vt:lpstr>
      <vt:lpstr>2. Velocity – Speed of Data </vt:lpstr>
      <vt:lpstr>3. Variety – Diversity of Data</vt:lpstr>
      <vt:lpstr>Slide 73</vt:lpstr>
      <vt:lpstr>4. Veracity – Trustworthiness of Data </vt:lpstr>
      <vt:lpstr>5. Value – Usefulness of Data </vt:lpstr>
      <vt:lpstr>6. Variability – Inconsistency of Data </vt:lpstr>
      <vt:lpstr>Big Data Ecosystem</vt:lpstr>
      <vt:lpstr>Slide 78</vt:lpstr>
      <vt:lpstr>Slide 79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and Big Data Analytics</dc:title>
  <dc:creator>Amit</dc:creator>
  <cp:lastModifiedBy>Amit</cp:lastModifiedBy>
  <cp:revision>26</cp:revision>
  <dcterms:created xsi:type="dcterms:W3CDTF">2026-01-29T10:03:46Z</dcterms:created>
  <dcterms:modified xsi:type="dcterms:W3CDTF">2026-02-27T03:15:38Z</dcterms:modified>
</cp:coreProperties>
</file>