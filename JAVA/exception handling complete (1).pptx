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7" r:id="rId2"/>
    <p:sldId id="302" r:id="rId3"/>
    <p:sldId id="272" r:id="rId4"/>
    <p:sldId id="263" r:id="rId5"/>
    <p:sldId id="301" r:id="rId6"/>
    <p:sldId id="303" r:id="rId7"/>
    <p:sldId id="299" r:id="rId8"/>
    <p:sldId id="300" r:id="rId9"/>
    <p:sldId id="276" r:id="rId10"/>
    <p:sldId id="297" r:id="rId11"/>
    <p:sldId id="298" r:id="rId12"/>
    <p:sldId id="274" r:id="rId13"/>
    <p:sldId id="275" r:id="rId14"/>
    <p:sldId id="296" r:id="rId15"/>
    <p:sldId id="278" r:id="rId16"/>
    <p:sldId id="273" r:id="rId17"/>
    <p:sldId id="265" r:id="rId18"/>
    <p:sldId id="277" r:id="rId19"/>
    <p:sldId id="280" r:id="rId20"/>
    <p:sldId id="279" r:id="rId21"/>
    <p:sldId id="266" r:id="rId22"/>
    <p:sldId id="269" r:id="rId23"/>
    <p:sldId id="281" r:id="rId24"/>
    <p:sldId id="268" r:id="rId25"/>
    <p:sldId id="270" r:id="rId26"/>
    <p:sldId id="271" r:id="rId27"/>
    <p:sldId id="282" r:id="rId28"/>
    <p:sldId id="283" r:id="rId29"/>
    <p:sldId id="284" r:id="rId30"/>
    <p:sldId id="290" r:id="rId31"/>
    <p:sldId id="291" r:id="rId32"/>
    <p:sldId id="292" r:id="rId33"/>
    <p:sldId id="288" r:id="rId34"/>
    <p:sldId id="293" r:id="rId35"/>
    <p:sldId id="294" r:id="rId36"/>
    <p:sldId id="285" r:id="rId37"/>
    <p:sldId id="295" r:id="rId38"/>
  </p:sldIdLst>
  <p:sldSz cx="18288000" cy="10287000"/>
  <p:notesSz cx="6858000" cy="9144000"/>
  <p:embeddedFontLst>
    <p:embeddedFont>
      <p:font typeface="Calibri" panose="020F0502020204030204" pitchFamily="34" charset="0"/>
      <p:regular r:id="rId39"/>
      <p:bold r:id="rId40"/>
      <p:italic r:id="rId41"/>
      <p:boldItalic r:id="rId42"/>
    </p:embeddedFont>
    <p:embeddedFont>
      <p:font typeface="Consolas" panose="020B0609020204030204" pitchFamily="49"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15" autoAdjust="0"/>
  </p:normalViewPr>
  <p:slideViewPr>
    <p:cSldViewPr>
      <p:cViewPr>
        <p:scale>
          <a:sx n="51" d="100"/>
          <a:sy n="51" d="100"/>
        </p:scale>
        <p:origin x="-45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a:t>
            </a:r>
            <a:r>
              <a:rPr lang="en-US" sz="7200" b="1" dirty="0" smtClean="0"/>
              <a:t>basics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7201972"/>
          </a:xfrm>
          <a:prstGeom prst="rect">
            <a:avLst/>
          </a:prstGeom>
        </p:spPr>
        <p:txBody>
          <a:bodyPr wrap="square" lIns="0" tIns="0" rIns="0" bIns="0" rtlCol="0" anchor="t">
            <a:spAutoFit/>
          </a:bodyPr>
          <a:lstStyle/>
          <a:p>
            <a:endParaRPr lang="en-US" sz="3600" dirty="0"/>
          </a:p>
          <a:p>
            <a:pPr marL="571500" indent="-571500">
              <a:buFont typeface="Arial" panose="020B0604020202020204" pitchFamily="34" charset="0"/>
              <a:buChar char="•"/>
            </a:pPr>
            <a:r>
              <a:rPr lang="en-US" sz="3600" dirty="0"/>
              <a:t>When you write a program, you expect it to work correctly. But sometimes, mistakes happen—like dividing by zero, entering letters instead of numbers, or accessing something that doesn’t exist. These mistakes are called </a:t>
            </a:r>
            <a:r>
              <a:rPr lang="en-US" sz="3600" b="1" dirty="0"/>
              <a:t>exceptions</a:t>
            </a:r>
            <a:r>
              <a:rPr lang="en-US" sz="3600" dirty="0"/>
              <a:t>. If we don’t handle them, the program will suddenly stop, which is not good for users.</a:t>
            </a:r>
          </a:p>
          <a:p>
            <a:pPr marL="571500" indent="-571500">
              <a:buFont typeface="Arial" panose="020B0604020202020204" pitchFamily="34" charset="0"/>
              <a:buChar char="•"/>
            </a:pPr>
            <a:r>
              <a:rPr lang="en-US" sz="3600" dirty="0"/>
              <a:t>Exception handling is a way to </a:t>
            </a:r>
            <a:r>
              <a:rPr lang="en-US" sz="3600" b="1" dirty="0"/>
              <a:t>manage these errors so the program doesn’t crash</a:t>
            </a:r>
            <a:r>
              <a:rPr lang="en-US" sz="3600" dirty="0"/>
              <a:t>. Instead of stopping, the program can show a proper message and continue running. In Java, this is done using try and catch. The try block contains the code that may cause an error, and the catch block handles that error.</a:t>
            </a:r>
          </a:p>
          <a:p>
            <a:pPr marL="571500" indent="-571500">
              <a:buFont typeface="Arial" panose="020B0604020202020204" pitchFamily="34" charset="0"/>
              <a:buChar char="•"/>
            </a:pPr>
            <a:r>
              <a:rPr lang="en-US" sz="3600" dirty="0"/>
              <a:t>For a student, you can think of exception handling like writing an exam: if you don’t know one question (error), you don’t leave the whole paper—you skip it and continue solving the rest. Similarly, exception handling helps the program continue even if an error occurs.</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1765369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Fundamentals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6647974"/>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3600" dirty="0" smtClean="0"/>
              <a:t>An </a:t>
            </a:r>
            <a:r>
              <a:rPr lang="en-US" sz="3600" b="1" dirty="0"/>
              <a:t>exception</a:t>
            </a:r>
            <a:r>
              <a:rPr lang="en-US" sz="3600" dirty="0"/>
              <a:t> is an abnormal condition that arises in a code sequence at run time. In other words, an exception is a runtime error. </a:t>
            </a:r>
          </a:p>
          <a:p>
            <a:pPr marL="571500" indent="-571500">
              <a:buFont typeface="Arial" panose="020B0604020202020204" pitchFamily="34" charset="0"/>
              <a:buChar char="•"/>
            </a:pPr>
            <a:r>
              <a:rPr lang="en-US" sz="3600" dirty="0" smtClean="0"/>
              <a:t>When </a:t>
            </a:r>
            <a:r>
              <a:rPr lang="en-US" sz="3600" dirty="0"/>
              <a:t>an exceptional condition arises, an object representing that exception is created and thrown in the method that caused the error. That method may choose to handle the exception itself, or pass it on. Either way, at some point, the exception is caught and processed. </a:t>
            </a:r>
            <a:endParaRPr lang="en-US" sz="3600" dirty="0" smtClean="0"/>
          </a:p>
          <a:p>
            <a:pPr marL="571500" indent="-571500">
              <a:buFont typeface="Arial" panose="020B0604020202020204" pitchFamily="34" charset="0"/>
              <a:buChar char="•"/>
            </a:pPr>
            <a:r>
              <a:rPr lang="en-US" sz="3600" dirty="0" smtClean="0"/>
              <a:t>Exceptions </a:t>
            </a:r>
            <a:r>
              <a:rPr lang="en-US" sz="3600" dirty="0"/>
              <a:t>can be generated by the </a:t>
            </a:r>
            <a:r>
              <a:rPr lang="en-US" sz="3600" b="1" dirty="0"/>
              <a:t>Java run-time system</a:t>
            </a:r>
            <a:r>
              <a:rPr lang="en-US" sz="3600" dirty="0"/>
              <a:t>, or they can be </a:t>
            </a:r>
            <a:r>
              <a:rPr lang="en-US" sz="3600" b="1" dirty="0"/>
              <a:t>manually generated </a:t>
            </a:r>
            <a:r>
              <a:rPr lang="en-US" sz="3600" dirty="0"/>
              <a:t>by your code. </a:t>
            </a:r>
            <a:endParaRPr lang="en-US" sz="3600" dirty="0" smtClean="0"/>
          </a:p>
          <a:p>
            <a:pPr marL="571500" indent="-571500">
              <a:buFont typeface="Arial" panose="020B0604020202020204" pitchFamily="34" charset="0"/>
              <a:buChar char="•"/>
            </a:pPr>
            <a:r>
              <a:rPr lang="en-US" sz="3600" dirty="0"/>
              <a:t>System-generated exceptions are automatically thrown by the Java run-time system.  </a:t>
            </a:r>
          </a:p>
          <a:p>
            <a:pPr marL="571500" indent="-571500">
              <a:buFont typeface="Arial" panose="020B0604020202020204" pitchFamily="34" charset="0"/>
              <a:buChar char="•"/>
            </a:pPr>
            <a:r>
              <a:rPr lang="en-US" sz="3600" dirty="0"/>
              <a:t>To manually throw an exception, use the keyword throw. </a:t>
            </a:r>
          </a:p>
          <a:p>
            <a:pPr marL="571500" indent="-571500">
              <a:buFont typeface="Arial" panose="020B0604020202020204" pitchFamily="34" charset="0"/>
              <a:buChar char="•"/>
            </a:pPr>
            <a:r>
              <a:rPr lang="en-US" sz="3600" dirty="0" smtClean="0"/>
              <a:t>In </a:t>
            </a:r>
            <a:r>
              <a:rPr lang="en-US" sz="3600" dirty="0"/>
              <a:t>Java, an exception is an event that disrupts the normal flow of the program. It is an object which is thrown at runtime. </a:t>
            </a:r>
            <a:endParaRPr lang="en-US" sz="3600" dirty="0" smtClean="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41226718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Fundamentals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381000" y="2099996"/>
            <a:ext cx="17906999" cy="738663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Java exception handling is managed via five keywords: </a:t>
            </a:r>
            <a:r>
              <a:rPr lang="en-US" sz="4000" b="1" dirty="0"/>
              <a:t>try, catch, throw, throws, and finally. </a:t>
            </a:r>
          </a:p>
          <a:p>
            <a:pPr marL="571500" indent="-571500">
              <a:buFont typeface="Arial" panose="020B0604020202020204" pitchFamily="34" charset="0"/>
              <a:buChar char="•"/>
            </a:pPr>
            <a:r>
              <a:rPr lang="en-US" sz="4000" dirty="0" smtClean="0"/>
              <a:t>Program </a:t>
            </a:r>
            <a:r>
              <a:rPr lang="en-US" sz="4000" dirty="0"/>
              <a:t>statements that you want to monitor for exceptions are contained within a try </a:t>
            </a:r>
            <a:r>
              <a:rPr lang="en-US" sz="4000" dirty="0" smtClean="0"/>
              <a:t>block. If </a:t>
            </a:r>
            <a:r>
              <a:rPr lang="en-US" sz="4000" dirty="0"/>
              <a:t>an exception occurs within the try block, it is thrown. </a:t>
            </a:r>
          </a:p>
          <a:p>
            <a:pPr marL="571500" indent="-571500">
              <a:buFont typeface="Arial" panose="020B0604020202020204" pitchFamily="34" charset="0"/>
              <a:buChar char="•"/>
            </a:pPr>
            <a:r>
              <a:rPr lang="en-US" sz="4000" dirty="0" smtClean="0"/>
              <a:t>Your </a:t>
            </a:r>
            <a:r>
              <a:rPr lang="en-US" sz="4000" dirty="0"/>
              <a:t>code can catch this exception (using catch) and handle it in some rational manner. </a:t>
            </a:r>
          </a:p>
          <a:p>
            <a:pPr marL="571500" indent="-571500">
              <a:buFont typeface="Arial" panose="020B0604020202020204" pitchFamily="34" charset="0"/>
              <a:buChar char="•"/>
            </a:pPr>
            <a:r>
              <a:rPr lang="en-US" sz="4000" dirty="0" smtClean="0"/>
              <a:t>Any </a:t>
            </a:r>
            <a:r>
              <a:rPr lang="en-US" sz="4000" dirty="0"/>
              <a:t>exception that is thrown out of a method must be specified as such by a throws clause. </a:t>
            </a:r>
          </a:p>
          <a:p>
            <a:pPr marL="571500" indent="-571500">
              <a:buFont typeface="Arial" panose="020B0604020202020204" pitchFamily="34" charset="0"/>
              <a:buChar char="•"/>
            </a:pPr>
            <a:r>
              <a:rPr lang="en-US" sz="4000" dirty="0" smtClean="0"/>
              <a:t>Any </a:t>
            </a:r>
            <a:r>
              <a:rPr lang="en-US" sz="4000" dirty="0"/>
              <a:t>code that absolutely must be executed after a try block completes is put in a finally block</a:t>
            </a:r>
            <a:r>
              <a:rPr lang="en-US" sz="4000" dirty="0" smtClean="0"/>
              <a:t>.</a:t>
            </a:r>
          </a:p>
          <a:p>
            <a:pPr marL="571500" indent="-571500">
              <a:buFont typeface="Arial" panose="020B0604020202020204" pitchFamily="34" charset="0"/>
              <a:buChar char="•"/>
            </a:pPr>
            <a:r>
              <a:rPr lang="en-US" sz="4000" dirty="0"/>
              <a:t>Exception Handling is a mechanism to handle runtime errors such as ClassNotFoundException, IOException, SQLException, RemoteException, etc. </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40320079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sym typeface="Garet Bold"/>
              </a:rPr>
              <a:t> </a:t>
            </a:r>
            <a:r>
              <a:rPr lang="en-US" sz="7200" b="1" dirty="0" smtClean="0">
                <a:sym typeface="Garet Bold"/>
              </a:rPr>
              <a:t>Throwable class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23587" y="2248018"/>
            <a:ext cx="16463277" cy="738663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All exception types are subclasses of the built-in class Throwable. </a:t>
            </a:r>
            <a:r>
              <a:rPr lang="en-US" sz="4000" dirty="0" smtClean="0"/>
              <a:t> </a:t>
            </a:r>
          </a:p>
          <a:p>
            <a:pPr marL="571500" indent="-571500">
              <a:buFont typeface="Arial" panose="020B0604020202020204" pitchFamily="34" charset="0"/>
              <a:buChar char="•"/>
            </a:pPr>
            <a:r>
              <a:rPr lang="en-US" sz="4000" dirty="0" smtClean="0"/>
              <a:t>Throwable </a:t>
            </a:r>
            <a:r>
              <a:rPr lang="en-US" sz="4000" dirty="0"/>
              <a:t>is at the top of the exception class hierarchy. </a:t>
            </a:r>
          </a:p>
          <a:p>
            <a:pPr marL="571500" indent="-571500">
              <a:buFont typeface="Arial" panose="020B0604020202020204" pitchFamily="34" charset="0"/>
              <a:buChar char="•"/>
            </a:pPr>
            <a:r>
              <a:rPr lang="en-US" sz="4000" dirty="0"/>
              <a:t>The </a:t>
            </a:r>
            <a:r>
              <a:rPr lang="en-US" sz="4000" b="1" dirty="0"/>
              <a:t>Throwable class</a:t>
            </a:r>
            <a:r>
              <a:rPr lang="en-US" sz="4000" dirty="0"/>
              <a:t> in Java is the root class of the exception handling hierarchy and is a part of the java.lang package. It represents all types of errors and exceptions that can occur during the execution of a </a:t>
            </a:r>
            <a:r>
              <a:rPr lang="en-US" sz="4000" dirty="0" smtClean="0"/>
              <a:t>program.</a:t>
            </a:r>
          </a:p>
          <a:p>
            <a:pPr marL="571500" indent="-571500">
              <a:buFont typeface="Arial" panose="020B0604020202020204" pitchFamily="34" charset="0"/>
              <a:buChar char="•"/>
            </a:pPr>
            <a:r>
              <a:rPr lang="en-US" sz="4000" dirty="0" smtClean="0"/>
              <a:t>Every </a:t>
            </a:r>
            <a:r>
              <a:rPr lang="en-US" sz="4000" dirty="0"/>
              <a:t>exception and error in Java is derived from the Throwable class, making it the base class for handling abnormal conditions. It has two main subclasses: </a:t>
            </a:r>
            <a:endParaRPr lang="en-US" sz="4000" dirty="0" smtClean="0"/>
          </a:p>
          <a:p>
            <a:pPr marL="1485900" lvl="2" indent="-571500">
              <a:buFont typeface="Wingdings" panose="05000000000000000000" pitchFamily="2" charset="2"/>
              <a:buChar char="v"/>
            </a:pPr>
            <a:r>
              <a:rPr lang="en-US" sz="4000" b="1" dirty="0" smtClean="0"/>
              <a:t>Exception</a:t>
            </a:r>
            <a:r>
              <a:rPr lang="en-US" sz="4000" dirty="0"/>
              <a:t>, which represents conditions that a program can catch and handle, </a:t>
            </a:r>
          </a:p>
          <a:p>
            <a:pPr marL="1485900" lvl="2" indent="-571500">
              <a:buFont typeface="Wingdings" panose="05000000000000000000" pitchFamily="2" charset="2"/>
              <a:buChar char="v"/>
            </a:pPr>
            <a:r>
              <a:rPr lang="en-US" sz="4000" b="1" dirty="0" smtClean="0"/>
              <a:t>Error</a:t>
            </a:r>
            <a:r>
              <a:rPr lang="en-US" sz="4000" dirty="0"/>
              <a:t>, which represents serious problems usually beyond the control of the program. </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476222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sym typeface="Garet Bold"/>
              </a:rPr>
              <a:t> Exception vs Error</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6463308"/>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smtClean="0"/>
              <a:t> When </a:t>
            </a:r>
            <a:r>
              <a:rPr lang="en-US" sz="2800" dirty="0"/>
              <a:t>something goes wrong in a program, it can be either an </a:t>
            </a:r>
            <a:r>
              <a:rPr lang="en-US" sz="2800" b="1" dirty="0"/>
              <a:t>Exception</a:t>
            </a:r>
            <a:r>
              <a:rPr lang="en-US" sz="2800" dirty="0"/>
              <a:t> or an </a:t>
            </a:r>
            <a:r>
              <a:rPr lang="en-US" sz="2800" b="1" dirty="0"/>
              <a:t>Error</a:t>
            </a:r>
            <a:r>
              <a:rPr lang="en-US" sz="2800" dirty="0"/>
              <a:t>, but they are not the </a:t>
            </a:r>
            <a:r>
              <a:rPr lang="en-US" sz="2800" dirty="0" smtClean="0"/>
              <a:t>same. An </a:t>
            </a:r>
            <a:r>
              <a:rPr lang="en-US" sz="2800" b="1" dirty="0"/>
              <a:t>Exception</a:t>
            </a:r>
            <a:r>
              <a:rPr lang="en-US" sz="2800" dirty="0"/>
              <a:t> is a </a:t>
            </a:r>
            <a:r>
              <a:rPr lang="en-US" sz="2800" b="1" dirty="0"/>
              <a:t>small, expected problem</a:t>
            </a:r>
            <a:r>
              <a:rPr lang="en-US" sz="2800" dirty="0"/>
              <a:t> that can happen while your program is running, and you can </a:t>
            </a:r>
            <a:r>
              <a:rPr lang="en-US" sz="2800" b="1" dirty="0"/>
              <a:t>handle it in your code</a:t>
            </a:r>
            <a:r>
              <a:rPr lang="en-US" sz="2800" dirty="0"/>
              <a:t>. For example, if a user enters a wrong value or you try to divide by zero, the program can catch this problem and show a message instead of crashing. So, exceptions are </a:t>
            </a:r>
            <a:r>
              <a:rPr lang="en-US" sz="2800" b="1" dirty="0" smtClean="0"/>
              <a:t>manageable</a:t>
            </a:r>
            <a:r>
              <a:rPr lang="en-US" sz="2800" dirty="0" smtClean="0"/>
              <a:t>.</a:t>
            </a:r>
          </a:p>
          <a:p>
            <a:pPr marL="457200" indent="-457200">
              <a:buFont typeface="Arial" panose="020B0604020202020204" pitchFamily="34" charset="0"/>
              <a:buChar char="•"/>
            </a:pPr>
            <a:r>
              <a:rPr lang="en-US" sz="2800" dirty="0" smtClean="0"/>
              <a:t>An </a:t>
            </a:r>
            <a:r>
              <a:rPr lang="en-US" sz="2800" b="1" dirty="0"/>
              <a:t>Error</a:t>
            </a:r>
            <a:r>
              <a:rPr lang="en-US" sz="2800" dirty="0"/>
              <a:t> is a </a:t>
            </a:r>
            <a:r>
              <a:rPr lang="en-US" sz="2800" b="1" dirty="0"/>
              <a:t>serious problem</a:t>
            </a:r>
            <a:r>
              <a:rPr lang="en-US" sz="2800" dirty="0"/>
              <a:t> that happens due to the system or Java itself, and you usually </a:t>
            </a:r>
            <a:r>
              <a:rPr lang="en-US" sz="2800" b="1" dirty="0"/>
              <a:t>cannot handle it in your program</a:t>
            </a:r>
            <a:r>
              <a:rPr lang="en-US" sz="2800" dirty="0"/>
              <a:t>. For example, if your program uses too much memory or runs into a serious system failure, it causes an error. In such cases, the program may stop completely.</a:t>
            </a:r>
          </a:p>
          <a:p>
            <a:pPr lvl="1"/>
            <a:r>
              <a:rPr lang="en-US" sz="2800" dirty="0"/>
              <a:t>👉 Simple way to remember:</a:t>
            </a:r>
          </a:p>
          <a:p>
            <a:pPr lvl="1"/>
            <a:r>
              <a:rPr lang="en-US" sz="2800" b="1" dirty="0"/>
              <a:t>Exception = problem you can handle</a:t>
            </a:r>
            <a:endParaRPr lang="en-US" sz="2800" dirty="0"/>
          </a:p>
          <a:p>
            <a:pPr lvl="1"/>
            <a:r>
              <a:rPr lang="en-US" sz="2800" b="1" dirty="0"/>
              <a:t>Error = problem you cannot control</a:t>
            </a:r>
            <a:endParaRPr lang="en-US" sz="2800" dirty="0"/>
          </a:p>
          <a:p>
            <a:pPr lvl="1"/>
            <a:r>
              <a:rPr lang="en-US" sz="2800" dirty="0"/>
              <a:t>👉 Real-life example:</a:t>
            </a:r>
          </a:p>
          <a:p>
            <a:pPr lvl="1"/>
            <a:r>
              <a:rPr lang="en-US" sz="2800" dirty="0"/>
              <a:t>If you forget your pen in an exam → you can borrow one (Exception ✔️)</a:t>
            </a:r>
          </a:p>
          <a:p>
            <a:pPr lvl="1"/>
            <a:r>
              <a:rPr lang="en-US" sz="2800" dirty="0"/>
              <a:t>If you suddenly fall sick during the exam → you cannot continue easily (Error ❌)</a:t>
            </a:r>
          </a:p>
          <a:p>
            <a:r>
              <a:rPr lang="en-US" sz="2800" dirty="0"/>
              <a:t>So, exceptions help you make your program safe and user-friendly, while errors show that something has gone seriously wrong.</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19991912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sym typeface="Garet Bold"/>
              </a:rPr>
              <a:t> Exception vs Error</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6155531"/>
          </a:xfrm>
          <a:prstGeom prst="rect">
            <a:avLst/>
          </a:prstGeom>
        </p:spPr>
        <p:txBody>
          <a:bodyPr wrap="square" lIns="0" tIns="0" rIns="0" bIns="0" rtlCol="0" anchor="t">
            <a:spAutoFit/>
          </a:bodyPr>
          <a:lstStyle/>
          <a:p>
            <a:r>
              <a:rPr lang="en-US" sz="4000" dirty="0" smtClean="0"/>
              <a:t>The </a:t>
            </a:r>
            <a:r>
              <a:rPr lang="en-US" sz="4000" dirty="0"/>
              <a:t>java.lang.Throwable class is the root class of Java Exception hierarchy which is inherited by two subclasses: </a:t>
            </a:r>
            <a:endParaRPr lang="en-US" sz="4000" dirty="0" smtClean="0"/>
          </a:p>
          <a:p>
            <a:pPr lvl="1"/>
            <a:r>
              <a:rPr lang="en-US" sz="4000" dirty="0"/>
              <a:t>	</a:t>
            </a:r>
            <a:r>
              <a:rPr lang="en-US" sz="4000" dirty="0" smtClean="0"/>
              <a:t>1</a:t>
            </a:r>
            <a:r>
              <a:rPr lang="en-US" sz="4000" dirty="0"/>
              <a:t>. Exception - This class is used for exceptional conditions that user </a:t>
            </a:r>
            <a:r>
              <a:rPr lang="en-US" sz="4000" dirty="0" smtClean="0"/>
              <a:t>	programs </a:t>
            </a:r>
            <a:r>
              <a:rPr lang="en-US" sz="4000" dirty="0"/>
              <a:t>should catch. This is also the class that you will subclass to create </a:t>
            </a:r>
            <a:r>
              <a:rPr lang="en-US" sz="4000" dirty="0" smtClean="0"/>
              <a:t>	your </a:t>
            </a:r>
            <a:r>
              <a:rPr lang="en-US" sz="4000" dirty="0"/>
              <a:t>own custom exception types. These are </a:t>
            </a:r>
            <a:r>
              <a:rPr lang="en-US" sz="4000" b="1" dirty="0"/>
              <a:t>handled using try-catch</a:t>
            </a:r>
            <a:endParaRPr lang="en-US" sz="4000" dirty="0" smtClean="0"/>
          </a:p>
          <a:p>
            <a:r>
              <a:rPr lang="en-US" sz="4000" dirty="0"/>
              <a:t>	</a:t>
            </a:r>
            <a:r>
              <a:rPr lang="en-US" sz="4000" dirty="0" smtClean="0"/>
              <a:t>2</a:t>
            </a:r>
            <a:r>
              <a:rPr lang="en-US" sz="4000" dirty="0"/>
              <a:t>. </a:t>
            </a:r>
            <a:r>
              <a:rPr lang="en-US" sz="4000" dirty="0" smtClean="0"/>
              <a:t>Error </a:t>
            </a:r>
            <a:r>
              <a:rPr lang="en-US" sz="4000" dirty="0"/>
              <a:t>- The other branch is topped by </a:t>
            </a:r>
            <a:r>
              <a:rPr lang="en-US" sz="4000" b="1" dirty="0"/>
              <a:t>Error</a:t>
            </a:r>
            <a:r>
              <a:rPr lang="en-US" sz="4000" dirty="0"/>
              <a:t>, which defines exceptions </a:t>
            </a:r>
            <a:r>
              <a:rPr lang="en-US" sz="4000" dirty="0" smtClean="0"/>
              <a:t>	that </a:t>
            </a:r>
            <a:r>
              <a:rPr lang="en-US" sz="4000" dirty="0"/>
              <a:t>are not expected </a:t>
            </a:r>
            <a:r>
              <a:rPr lang="en-US" sz="4000" dirty="0" smtClean="0"/>
              <a:t>to be </a:t>
            </a:r>
            <a:r>
              <a:rPr lang="en-US" sz="4000" dirty="0"/>
              <a:t>caught under normal circumstances by your </a:t>
            </a:r>
            <a:r>
              <a:rPr lang="en-US" sz="4000" dirty="0" smtClean="0"/>
              <a:t>	program</a:t>
            </a:r>
            <a:r>
              <a:rPr lang="en-US" sz="4000" dirty="0"/>
              <a:t>. Exceptions of type </a:t>
            </a:r>
            <a:r>
              <a:rPr lang="en-US" sz="4000" b="1" dirty="0"/>
              <a:t>Error </a:t>
            </a:r>
            <a:r>
              <a:rPr lang="en-US" sz="4000" dirty="0"/>
              <a:t>are </a:t>
            </a:r>
            <a:r>
              <a:rPr lang="en-US" sz="4000" dirty="0" smtClean="0"/>
              <a:t>used by </a:t>
            </a:r>
            <a:r>
              <a:rPr lang="en-US" sz="4000" dirty="0"/>
              <a:t>the Java run-time system to </a:t>
            </a:r>
            <a:r>
              <a:rPr lang="en-US" sz="4000" dirty="0" smtClean="0"/>
              <a:t>	indicate </a:t>
            </a:r>
            <a:r>
              <a:rPr lang="en-US" sz="4000" dirty="0"/>
              <a:t>errors having to do with the run-time </a:t>
            </a:r>
            <a:r>
              <a:rPr lang="en-US" sz="4000" dirty="0" smtClean="0"/>
              <a:t>environment, itself. Caused 	by </a:t>
            </a:r>
            <a:r>
              <a:rPr lang="en-US" sz="4000" b="1" dirty="0"/>
              <a:t>JVM issues</a:t>
            </a:r>
            <a:r>
              <a:rPr lang="en-US" sz="4000" dirty="0"/>
              <a:t> </a:t>
            </a:r>
            <a:r>
              <a:rPr lang="en-US" sz="4000" dirty="0" smtClean="0"/>
              <a:t>and Cannot </a:t>
            </a:r>
            <a:r>
              <a:rPr lang="en-US" sz="4000" dirty="0"/>
              <a:t>usually be </a:t>
            </a:r>
            <a:r>
              <a:rPr lang="en-US" sz="4000" dirty="0" smtClean="0"/>
              <a:t>handled, non-recoverable.</a:t>
            </a:r>
            <a:endParaRPr lang="en-US" sz="40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717314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 Exception vs Error</a:t>
            </a:r>
            <a:endParaRPr lang="en-US" sz="7200" b="1" dirty="0">
              <a:solidFill>
                <a:srgbClr val="000000"/>
              </a:solidFill>
              <a:latin typeface="Garet Bold"/>
              <a:ea typeface="Garet Bold"/>
              <a:cs typeface="Garet Bold"/>
              <a:sym typeface="Garet Bold"/>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pic>
        <p:nvPicPr>
          <p:cNvPr id="1026" name="Picture 2" descr="https://tse2.mm.bing.net/th/id/OIP.DlhG_do5Hf54_Lds779QIwHaFE?pid=Api&amp;h=220&amp;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0538" y="2628900"/>
            <a:ext cx="9138209" cy="626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1609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 Exception vs Error</a:t>
            </a:r>
            <a:endParaRPr lang="en-US" sz="7200" b="1" dirty="0">
              <a:solidFill>
                <a:srgbClr val="000000"/>
              </a:solidFill>
              <a:latin typeface="Garet Bold"/>
              <a:ea typeface="Garet Bold"/>
              <a:cs typeface="Garet Bold"/>
              <a:sym typeface="Garet Bold"/>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pic>
        <p:nvPicPr>
          <p:cNvPr id="2050" name="Picture 2" descr="https://tse3.mm.bing.net/th/id/OIP.FWkRiGLDoOkB_IUjd-Uw2wHaDM?pid=Api&amp;h=220&amp;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607" y="2704948"/>
            <a:ext cx="15064297" cy="6483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9342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 Types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243928" y="2095500"/>
            <a:ext cx="17845685" cy="6401753"/>
          </a:xfrm>
          <a:prstGeom prst="rect">
            <a:avLst/>
          </a:prstGeom>
        </p:spPr>
        <p:txBody>
          <a:bodyPr wrap="square" lIns="0" tIns="0" rIns="0" bIns="0" rtlCol="0" anchor="t">
            <a:spAutoFit/>
          </a:bodyPr>
          <a:lstStyle/>
          <a:p>
            <a:r>
              <a:rPr lang="en-US" sz="3200" b="1" dirty="0" smtClean="0"/>
              <a:t>1. Checked </a:t>
            </a:r>
            <a:r>
              <a:rPr lang="en-US" sz="3200" b="1" dirty="0"/>
              <a:t>Exceptions (Compile-Time Exceptions)</a:t>
            </a:r>
          </a:p>
          <a:p>
            <a:r>
              <a:rPr lang="en-US" sz="3200" dirty="0"/>
              <a:t>Checked exceptions are those exceptions that are checked by the compiler at compile time. The programmer is forced to handle these exceptions either using a try-catch block or by declaring them using throws. These exceptions usually occur due to external conditions like file handling or database operations.</a:t>
            </a:r>
          </a:p>
          <a:p>
            <a:pPr lvl="1"/>
            <a:r>
              <a:rPr lang="en-US" sz="3200" dirty="0" smtClean="0"/>
              <a:t>Key </a:t>
            </a:r>
            <a:r>
              <a:rPr lang="en-US" sz="3200" dirty="0"/>
              <a:t>Points:</a:t>
            </a:r>
          </a:p>
          <a:p>
            <a:pPr marL="914400" lvl="1" indent="-457200">
              <a:buFont typeface="Arial" panose="020B0604020202020204" pitchFamily="34" charset="0"/>
              <a:buChar char="•"/>
            </a:pPr>
            <a:r>
              <a:rPr lang="en-US" sz="3200" dirty="0"/>
              <a:t>Occur at compile time </a:t>
            </a:r>
          </a:p>
          <a:p>
            <a:pPr marL="914400" lvl="1" indent="-457200">
              <a:buFont typeface="Arial" panose="020B0604020202020204" pitchFamily="34" charset="0"/>
              <a:buChar char="•"/>
            </a:pPr>
            <a:r>
              <a:rPr lang="en-US" sz="3200" dirty="0"/>
              <a:t>Must be handled by the programmer </a:t>
            </a:r>
          </a:p>
          <a:p>
            <a:pPr marL="914400" lvl="1" indent="-457200">
              <a:buFont typeface="Arial" panose="020B0604020202020204" pitchFamily="34" charset="0"/>
              <a:buChar char="•"/>
            </a:pPr>
            <a:r>
              <a:rPr lang="en-US" sz="3200" dirty="0"/>
              <a:t>Improve program reliability </a:t>
            </a:r>
          </a:p>
          <a:p>
            <a:pPr marL="914400" lvl="1" indent="-457200">
              <a:buFont typeface="Arial" panose="020B0604020202020204" pitchFamily="34" charset="0"/>
              <a:buChar char="•"/>
            </a:pPr>
            <a:r>
              <a:rPr lang="en-US" sz="3200" dirty="0"/>
              <a:t>Caused by external resources </a:t>
            </a:r>
          </a:p>
          <a:p>
            <a:pPr lvl="1"/>
            <a:r>
              <a:rPr lang="en-US" sz="3200" dirty="0" smtClean="0"/>
              <a:t>Examples</a:t>
            </a:r>
            <a:r>
              <a:rPr lang="en-US" sz="3200" dirty="0"/>
              <a:t>:</a:t>
            </a:r>
          </a:p>
          <a:p>
            <a:pPr marL="914400" lvl="1" indent="-457200">
              <a:buFont typeface="Arial" panose="020B0604020202020204" pitchFamily="34" charset="0"/>
              <a:buChar char="•"/>
            </a:pPr>
            <a:r>
              <a:rPr lang="en-US" sz="3200" dirty="0"/>
              <a:t>IOException </a:t>
            </a:r>
          </a:p>
          <a:p>
            <a:pPr marL="914400" lvl="1" indent="-457200">
              <a:buFont typeface="Arial" panose="020B0604020202020204" pitchFamily="34" charset="0"/>
              <a:buChar char="•"/>
            </a:pPr>
            <a:r>
              <a:rPr lang="en-US" sz="3200" dirty="0"/>
              <a:t>FileNotFoundException </a:t>
            </a:r>
          </a:p>
          <a:p>
            <a:pPr marL="914400" lvl="1" indent="-457200">
              <a:buFont typeface="Arial" panose="020B0604020202020204" pitchFamily="34" charset="0"/>
              <a:buChar char="•"/>
            </a:pPr>
            <a:r>
              <a:rPr lang="en-US" sz="3200" dirty="0"/>
              <a:t>SQLException </a:t>
            </a:r>
            <a:r>
              <a:rPr lang="en-US" sz="3200" dirty="0" smtClean="0"/>
              <a:t>  </a:t>
            </a:r>
            <a:endParaRPr lang="en-US" sz="32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15995379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 Types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289915" y="2095500"/>
            <a:ext cx="17845685" cy="6894195"/>
          </a:xfrm>
          <a:prstGeom prst="rect">
            <a:avLst/>
          </a:prstGeom>
        </p:spPr>
        <p:txBody>
          <a:bodyPr wrap="square" lIns="0" tIns="0" rIns="0" bIns="0" rtlCol="0" anchor="t">
            <a:spAutoFit/>
          </a:bodyPr>
          <a:lstStyle/>
          <a:p>
            <a:r>
              <a:rPr lang="en-US" sz="3200" b="1" dirty="0"/>
              <a:t>2. Unchecked Exceptions (Runtime Exceptions)</a:t>
            </a:r>
          </a:p>
          <a:p>
            <a:r>
              <a:rPr lang="en-US" sz="3200" dirty="0"/>
              <a:t>Unchecked exceptions occur during program execution (runtime) and are not checked by the compiler. These are mainly caused by logical or programming errors such as dividing by zero or accessing invalid memory.</a:t>
            </a:r>
          </a:p>
          <a:p>
            <a:pPr lvl="1"/>
            <a:r>
              <a:rPr lang="en-US" sz="3200" dirty="0" smtClean="0"/>
              <a:t>Key </a:t>
            </a:r>
            <a:r>
              <a:rPr lang="en-US" sz="3200" dirty="0"/>
              <a:t>Points:</a:t>
            </a:r>
          </a:p>
          <a:p>
            <a:pPr marL="914400" lvl="1" indent="-457200">
              <a:buFont typeface="Arial" panose="020B0604020202020204" pitchFamily="34" charset="0"/>
              <a:buChar char="•"/>
            </a:pPr>
            <a:r>
              <a:rPr lang="en-US" sz="3200" dirty="0"/>
              <a:t>Occur at runtime </a:t>
            </a:r>
          </a:p>
          <a:p>
            <a:pPr marL="914400" lvl="1" indent="-457200">
              <a:buFont typeface="Arial" panose="020B0604020202020204" pitchFamily="34" charset="0"/>
              <a:buChar char="•"/>
            </a:pPr>
            <a:r>
              <a:rPr lang="en-US" sz="3200" dirty="0"/>
              <a:t>Not compulsory to handle </a:t>
            </a:r>
          </a:p>
          <a:p>
            <a:pPr marL="914400" lvl="1" indent="-457200">
              <a:buFont typeface="Arial" panose="020B0604020202020204" pitchFamily="34" charset="0"/>
              <a:buChar char="•"/>
            </a:pPr>
            <a:r>
              <a:rPr lang="en-US" sz="3200" dirty="0"/>
              <a:t>Caused by programming mistakes </a:t>
            </a:r>
          </a:p>
          <a:p>
            <a:pPr marL="914400" lvl="1" indent="-457200">
              <a:buFont typeface="Arial" panose="020B0604020202020204" pitchFamily="34" charset="0"/>
              <a:buChar char="•"/>
            </a:pPr>
            <a:r>
              <a:rPr lang="en-US" sz="3200" dirty="0"/>
              <a:t>Can be avoided by proper coding </a:t>
            </a:r>
          </a:p>
          <a:p>
            <a:pPr lvl="1"/>
            <a:r>
              <a:rPr lang="en-US" sz="3200" dirty="0" smtClean="0"/>
              <a:t>Examples</a:t>
            </a:r>
            <a:r>
              <a:rPr lang="en-US" sz="3200" dirty="0"/>
              <a:t>:</a:t>
            </a:r>
          </a:p>
          <a:p>
            <a:pPr marL="914400" lvl="1" indent="-457200">
              <a:buFont typeface="Arial" panose="020B0604020202020204" pitchFamily="34" charset="0"/>
              <a:buChar char="•"/>
            </a:pPr>
            <a:r>
              <a:rPr lang="en-US" sz="3200" dirty="0"/>
              <a:t>ArithmeticException </a:t>
            </a:r>
          </a:p>
          <a:p>
            <a:pPr marL="914400" lvl="1" indent="-457200">
              <a:buFont typeface="Arial" panose="020B0604020202020204" pitchFamily="34" charset="0"/>
              <a:buChar char="•"/>
            </a:pPr>
            <a:r>
              <a:rPr lang="en-US" sz="3200" dirty="0"/>
              <a:t>NullPointerException </a:t>
            </a:r>
          </a:p>
          <a:p>
            <a:pPr marL="914400" lvl="1" indent="-457200">
              <a:buFont typeface="Arial" panose="020B0604020202020204" pitchFamily="34" charset="0"/>
              <a:buChar char="•"/>
            </a:pPr>
            <a:r>
              <a:rPr lang="en-US" sz="3200" dirty="0"/>
              <a:t>ArrayIndexOutOfBoundsException</a:t>
            </a:r>
          </a:p>
          <a:p>
            <a:pPr lvl="1"/>
            <a:r>
              <a:rPr lang="en-US" sz="3200" dirty="0" smtClean="0"/>
              <a:t>  </a:t>
            </a:r>
            <a:endParaRPr lang="en-US" sz="32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7231173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 Types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1295400" y="2857500"/>
            <a:ext cx="16002000" cy="5416868"/>
          </a:xfrm>
          <a:prstGeom prst="rect">
            <a:avLst/>
          </a:prstGeom>
        </p:spPr>
        <p:txBody>
          <a:bodyPr wrap="square" lIns="0" tIns="0" rIns="0" bIns="0" rtlCol="0" anchor="t">
            <a:spAutoFit/>
          </a:bodyPr>
          <a:lstStyle/>
          <a:p>
            <a:r>
              <a:rPr lang="en-US" sz="3200" b="1" dirty="0" smtClean="0"/>
              <a:t>3</a:t>
            </a:r>
            <a:r>
              <a:rPr lang="en-US" sz="3200" b="1" dirty="0"/>
              <a:t>. Errors</a:t>
            </a:r>
          </a:p>
          <a:p>
            <a:r>
              <a:rPr lang="en-US" sz="3200" dirty="0"/>
              <a:t>Errors are serious problems that occur in the Java Virtual Machine (JVM) and are beyond the control of the programmer. These are not meant to be handled using normal exception handling.</a:t>
            </a:r>
          </a:p>
          <a:p>
            <a:pPr lvl="1"/>
            <a:r>
              <a:rPr lang="en-US" sz="3200" dirty="0" smtClean="0"/>
              <a:t>Key </a:t>
            </a:r>
            <a:r>
              <a:rPr lang="en-US" sz="3200" dirty="0"/>
              <a:t>Points:</a:t>
            </a:r>
          </a:p>
          <a:p>
            <a:pPr marL="914400" lvl="1" indent="-457200">
              <a:buFont typeface="Arial" panose="020B0604020202020204" pitchFamily="34" charset="0"/>
              <a:buChar char="•"/>
            </a:pPr>
            <a:r>
              <a:rPr lang="en-US" sz="3200" dirty="0"/>
              <a:t>Caused by system failures </a:t>
            </a:r>
          </a:p>
          <a:p>
            <a:pPr marL="914400" lvl="1" indent="-457200">
              <a:buFont typeface="Arial" panose="020B0604020202020204" pitchFamily="34" charset="0"/>
              <a:buChar char="•"/>
            </a:pPr>
            <a:r>
              <a:rPr lang="en-US" sz="3200" dirty="0"/>
              <a:t>Cannot be handled easily </a:t>
            </a:r>
          </a:p>
          <a:p>
            <a:pPr marL="914400" lvl="1" indent="-457200">
              <a:buFont typeface="Arial" panose="020B0604020202020204" pitchFamily="34" charset="0"/>
              <a:buChar char="•"/>
            </a:pPr>
            <a:r>
              <a:rPr lang="en-US" sz="3200" dirty="0"/>
              <a:t>Rare but critical </a:t>
            </a:r>
          </a:p>
          <a:p>
            <a:pPr lvl="1"/>
            <a:r>
              <a:rPr lang="en-US" sz="3200" dirty="0" smtClean="0"/>
              <a:t>Examples</a:t>
            </a:r>
            <a:r>
              <a:rPr lang="en-US" sz="3200" dirty="0"/>
              <a:t>:</a:t>
            </a:r>
          </a:p>
          <a:p>
            <a:pPr marL="914400" lvl="1" indent="-457200">
              <a:buFont typeface="Arial" panose="020B0604020202020204" pitchFamily="34" charset="0"/>
              <a:buChar char="•"/>
            </a:pPr>
            <a:r>
              <a:rPr lang="en-US" sz="3200" dirty="0"/>
              <a:t>OutOfMemoryError </a:t>
            </a:r>
          </a:p>
          <a:p>
            <a:pPr marL="914400" lvl="1" indent="-457200">
              <a:buFont typeface="Arial" panose="020B0604020202020204" pitchFamily="34" charset="0"/>
              <a:buChar char="•"/>
            </a:pPr>
            <a:r>
              <a:rPr lang="en-US" sz="3200" dirty="0"/>
              <a:t>StackOverflowError</a:t>
            </a:r>
          </a:p>
          <a:p>
            <a:pPr lvl="1"/>
            <a:r>
              <a:rPr lang="en-US" sz="3200" dirty="0" smtClean="0"/>
              <a:t>  </a:t>
            </a:r>
            <a:endParaRPr lang="en-US" sz="32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7007171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Fundamentals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381000" y="2099996"/>
            <a:ext cx="17906999" cy="4924425"/>
          </a:xfrm>
          <a:prstGeom prst="rect">
            <a:avLst/>
          </a:prstGeom>
        </p:spPr>
        <p:txBody>
          <a:bodyPr wrap="square" lIns="0" tIns="0" rIns="0" bIns="0" rtlCol="0" anchor="t">
            <a:spAutoFit/>
          </a:bodyPr>
          <a:lstStyle/>
          <a:p>
            <a:r>
              <a:rPr lang="en-US" sz="4000" b="1" dirty="0">
                <a:solidFill>
                  <a:srgbClr val="7F0055"/>
                </a:solidFill>
                <a:latin typeface="Consolas"/>
              </a:rPr>
              <a:t>package</a:t>
            </a:r>
            <a:r>
              <a:rPr lang="en-US" sz="4000" dirty="0">
                <a:solidFill>
                  <a:srgbClr val="000000"/>
                </a:solidFill>
                <a:latin typeface="Consolas"/>
              </a:rPr>
              <a:t> exceptionhandling;</a:t>
            </a:r>
          </a:p>
          <a:p>
            <a:r>
              <a:rPr lang="en-US" sz="4000" b="1" dirty="0">
                <a:solidFill>
                  <a:srgbClr val="7F0055"/>
                </a:solidFill>
                <a:latin typeface="Consolas"/>
              </a:rPr>
              <a:t>public</a:t>
            </a:r>
            <a:r>
              <a:rPr lang="en-US" sz="4000" dirty="0">
                <a:solidFill>
                  <a:srgbClr val="000000"/>
                </a:solidFill>
                <a:latin typeface="Consolas"/>
              </a:rPr>
              <a:t> </a:t>
            </a:r>
            <a:r>
              <a:rPr lang="en-US" sz="4000" b="1" dirty="0">
                <a:solidFill>
                  <a:srgbClr val="7F0055"/>
                </a:solidFill>
                <a:latin typeface="Consolas"/>
              </a:rPr>
              <a:t>class</a:t>
            </a:r>
            <a:r>
              <a:rPr lang="en-US" sz="4000" dirty="0">
                <a:solidFill>
                  <a:srgbClr val="000000"/>
                </a:solidFill>
                <a:latin typeface="Consolas"/>
              </a:rPr>
              <a:t> E1 {</a:t>
            </a:r>
          </a:p>
          <a:p>
            <a:r>
              <a:rPr lang="en-US" sz="4000" b="1" dirty="0">
                <a:solidFill>
                  <a:srgbClr val="7F0055"/>
                </a:solidFill>
                <a:latin typeface="Consolas"/>
              </a:rPr>
              <a:t>public</a:t>
            </a:r>
            <a:r>
              <a:rPr lang="en-US" sz="4000" dirty="0">
                <a:solidFill>
                  <a:srgbClr val="000000"/>
                </a:solidFill>
                <a:latin typeface="Consolas"/>
              </a:rPr>
              <a:t> </a:t>
            </a:r>
            <a:r>
              <a:rPr lang="en-US" sz="4000" b="1" dirty="0">
                <a:solidFill>
                  <a:srgbClr val="7F0055"/>
                </a:solidFill>
                <a:latin typeface="Consolas"/>
              </a:rPr>
              <a:t>static</a:t>
            </a:r>
            <a:r>
              <a:rPr lang="en-US" sz="4000" dirty="0">
                <a:solidFill>
                  <a:srgbClr val="000000"/>
                </a:solidFill>
                <a:latin typeface="Consolas"/>
              </a:rPr>
              <a:t> </a:t>
            </a:r>
            <a:r>
              <a:rPr lang="en-US" sz="4000" b="1" dirty="0">
                <a:solidFill>
                  <a:srgbClr val="7F0055"/>
                </a:solidFill>
                <a:latin typeface="Consolas"/>
              </a:rPr>
              <a:t>void</a:t>
            </a:r>
            <a:r>
              <a:rPr lang="en-US" sz="4000" dirty="0">
                <a:solidFill>
                  <a:srgbClr val="000000"/>
                </a:solidFill>
                <a:latin typeface="Consolas"/>
              </a:rPr>
              <a:t> main(String[] </a:t>
            </a:r>
            <a:r>
              <a:rPr lang="en-US" sz="4000" dirty="0">
                <a:solidFill>
                  <a:srgbClr val="6A3E3E"/>
                </a:solidFill>
                <a:latin typeface="Consolas"/>
              </a:rPr>
              <a:t>args</a:t>
            </a:r>
            <a:r>
              <a:rPr lang="en-US" sz="4000" dirty="0">
                <a:solidFill>
                  <a:srgbClr val="000000"/>
                </a:solidFill>
                <a:latin typeface="Consolas"/>
              </a:rPr>
              <a:t>) {</a:t>
            </a:r>
          </a:p>
          <a:p>
            <a:r>
              <a:rPr lang="en-US" sz="4000" b="1" dirty="0">
                <a:solidFill>
                  <a:srgbClr val="7F0055"/>
                </a:solidFill>
                <a:latin typeface="Consolas"/>
              </a:rPr>
              <a:t>int</a:t>
            </a:r>
            <a:r>
              <a:rPr lang="en-US" sz="4000" dirty="0">
                <a:solidFill>
                  <a:srgbClr val="000000"/>
                </a:solidFill>
                <a:latin typeface="Consolas"/>
              </a:rPr>
              <a:t> </a:t>
            </a:r>
            <a:r>
              <a:rPr lang="en-US" sz="4000" dirty="0">
                <a:solidFill>
                  <a:srgbClr val="6A3E3E"/>
                </a:solidFill>
                <a:latin typeface="Consolas"/>
              </a:rPr>
              <a:t>d</a:t>
            </a:r>
            <a:r>
              <a:rPr lang="en-US" sz="4000" dirty="0">
                <a:solidFill>
                  <a:srgbClr val="000000"/>
                </a:solidFill>
                <a:latin typeface="Consolas"/>
              </a:rPr>
              <a:t> = 0;</a:t>
            </a:r>
          </a:p>
          <a:p>
            <a:r>
              <a:rPr lang="en-US" sz="4000" b="1" dirty="0">
                <a:solidFill>
                  <a:srgbClr val="7F0055"/>
                </a:solidFill>
                <a:latin typeface="Consolas"/>
              </a:rPr>
              <a:t>int</a:t>
            </a:r>
            <a:r>
              <a:rPr lang="en-US" sz="4000" dirty="0">
                <a:solidFill>
                  <a:srgbClr val="000000"/>
                </a:solidFill>
                <a:latin typeface="Consolas"/>
              </a:rPr>
              <a:t> </a:t>
            </a:r>
            <a:r>
              <a:rPr lang="en-US" sz="4000" dirty="0">
                <a:solidFill>
                  <a:srgbClr val="6A3E3E"/>
                </a:solidFill>
                <a:latin typeface="Consolas"/>
              </a:rPr>
              <a:t>a</a:t>
            </a:r>
            <a:r>
              <a:rPr lang="en-US" sz="4000" dirty="0">
                <a:solidFill>
                  <a:srgbClr val="000000"/>
                </a:solidFill>
                <a:latin typeface="Consolas"/>
              </a:rPr>
              <a:t> = 10 / </a:t>
            </a:r>
            <a:r>
              <a:rPr lang="en-US" sz="4000" dirty="0">
                <a:solidFill>
                  <a:srgbClr val="6A3E3E"/>
                </a:solidFill>
                <a:latin typeface="Consolas"/>
              </a:rPr>
              <a:t>d</a:t>
            </a:r>
            <a:r>
              <a:rPr lang="en-US" sz="4000" dirty="0">
                <a:solidFill>
                  <a:srgbClr val="000000"/>
                </a:solidFill>
                <a:latin typeface="Consolas"/>
              </a:rPr>
              <a:t>;</a:t>
            </a:r>
          </a:p>
          <a:p>
            <a:r>
              <a:rPr lang="en-US" sz="4000" dirty="0">
                <a:solidFill>
                  <a:srgbClr val="000000"/>
                </a:solidFill>
                <a:latin typeface="Consolas"/>
              </a:rPr>
              <a:t>System.</a:t>
            </a:r>
            <a:r>
              <a:rPr lang="en-US" sz="4000" b="1" i="1" dirty="0">
                <a:solidFill>
                  <a:srgbClr val="0000C0"/>
                </a:solidFill>
                <a:latin typeface="Consolas"/>
              </a:rPr>
              <a:t>out</a:t>
            </a:r>
            <a:r>
              <a:rPr lang="en-US" sz="4000" dirty="0">
                <a:solidFill>
                  <a:srgbClr val="000000"/>
                </a:solidFill>
                <a:latin typeface="Consolas"/>
              </a:rPr>
              <a:t>.println(</a:t>
            </a:r>
            <a:r>
              <a:rPr lang="en-US" sz="4000" dirty="0">
                <a:solidFill>
                  <a:srgbClr val="6A3E3E"/>
                </a:solidFill>
                <a:latin typeface="Consolas"/>
              </a:rPr>
              <a:t>a</a:t>
            </a:r>
            <a:r>
              <a:rPr lang="en-US" sz="4000" dirty="0" smtClean="0">
                <a:solidFill>
                  <a:srgbClr val="000000"/>
                </a:solidFill>
                <a:latin typeface="Consolas"/>
              </a:rPr>
              <a:t>);</a:t>
            </a:r>
          </a:p>
          <a:p>
            <a:r>
              <a:rPr lang="en-US" sz="4000" dirty="0" smtClean="0">
                <a:solidFill>
                  <a:srgbClr val="000000"/>
                </a:solidFill>
                <a:latin typeface="Consolas"/>
              </a:rPr>
              <a:t>System.out.println(“Program Ends”);}}</a:t>
            </a:r>
            <a:endParaRPr lang="en-US" sz="4000" dirty="0">
              <a:solidFill>
                <a:srgbClr val="000000"/>
              </a:solidFill>
              <a:latin typeface="Consolas"/>
            </a:endParaRPr>
          </a:p>
          <a:p>
            <a:endParaRPr lang="en-US" sz="40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8" name="Rectangle 3"/>
          <p:cNvSpPr>
            <a:spLocks noChangeArrowheads="1"/>
          </p:cNvSpPr>
          <p:nvPr/>
        </p:nvSpPr>
        <p:spPr bwMode="auto">
          <a:xfrm>
            <a:off x="513182" y="6533748"/>
            <a:ext cx="14193418" cy="25853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600" b="1" i="0" u="sng" strike="noStrike" cap="none" normalizeH="0" baseline="0" dirty="0" smtClean="0">
                <a:ln>
                  <a:noFill/>
                </a:ln>
                <a:solidFill>
                  <a:srgbClr val="FF0000"/>
                </a:solidFill>
                <a:effectLst/>
                <a:latin typeface="Consolas" pitchFamily="49" charset="0"/>
                <a:cs typeface="Arial" pitchFamily="34" charset="0"/>
              </a:rPr>
              <a:t>OUTPUT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600" b="0" i="0" u="none" strike="noStrike" cap="none" normalizeH="0" baseline="0" dirty="0" smtClean="0">
                <a:ln>
                  <a:noFill/>
                </a:ln>
                <a:solidFill>
                  <a:srgbClr val="FF0000"/>
                </a:solidFill>
                <a:effectLst/>
                <a:latin typeface="Consolas" pitchFamily="49" charset="0"/>
                <a:cs typeface="Arial" pitchFamily="34" charset="0"/>
              </a:rPr>
              <a:t>Exception in thread "main" </a:t>
            </a:r>
            <a:r>
              <a:rPr kumimoji="0" lang="en-US" altLang="en-US" sz="3600" b="0" i="0" u="sng" strike="noStrike" cap="none" normalizeH="0" baseline="0" dirty="0" smtClean="0">
                <a:ln>
                  <a:noFill/>
                </a:ln>
                <a:solidFill>
                  <a:srgbClr val="0066CC"/>
                </a:solidFill>
                <a:effectLst/>
                <a:latin typeface="Consolas" pitchFamily="49" charset="0"/>
                <a:cs typeface="Arial" pitchFamily="34" charset="0"/>
              </a:rPr>
              <a:t>java.lang.ArithmeticException</a:t>
            </a:r>
            <a:r>
              <a:rPr kumimoji="0" lang="en-US" altLang="en-US" sz="3600" b="0" i="0" u="none" strike="noStrike" cap="none" normalizeH="0" baseline="0" dirty="0" smtClean="0">
                <a:ln>
                  <a:noFill/>
                </a:ln>
                <a:solidFill>
                  <a:srgbClr val="FF0000"/>
                </a:solidFill>
                <a:effectLst/>
                <a:latin typeface="Consolas" pitchFamily="49" charset="0"/>
                <a:cs typeface="Arial" pitchFamily="34" charset="0"/>
              </a:rPr>
              <a:t>: / by zero</a:t>
            </a:r>
            <a:endParaRPr kumimoji="0" lang="en-US" altLang="en-US" sz="36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smtClean="0">
                <a:ln>
                  <a:noFill/>
                </a:ln>
                <a:solidFill>
                  <a:srgbClr val="FF0000"/>
                </a:solidFill>
                <a:effectLst/>
                <a:latin typeface="Consolas" pitchFamily="49" charset="0"/>
                <a:cs typeface="Arial" pitchFamily="34" charset="0"/>
              </a:rPr>
              <a:t>at exceptionhandling.E1.main(</a:t>
            </a:r>
            <a:r>
              <a:rPr kumimoji="0" lang="en-US" altLang="en-US" sz="3600" b="0" i="0" u="sng" strike="noStrike" cap="none" normalizeH="0" baseline="0" dirty="0" smtClean="0">
                <a:ln>
                  <a:noFill/>
                </a:ln>
                <a:solidFill>
                  <a:srgbClr val="0066CC"/>
                </a:solidFill>
                <a:effectLst/>
                <a:latin typeface="Consolas" pitchFamily="49" charset="0"/>
                <a:cs typeface="Arial" pitchFamily="34" charset="0"/>
              </a:rPr>
              <a:t>E1.java:5</a:t>
            </a:r>
            <a:r>
              <a:rPr kumimoji="0" lang="en-US" altLang="en-US" sz="3600" b="0" i="0" u="none" strike="noStrike" cap="none" normalizeH="0" baseline="0" dirty="0" smtClean="0">
                <a:ln>
                  <a:noFill/>
                </a:ln>
                <a:solidFill>
                  <a:srgbClr val="FF0000"/>
                </a:solidFill>
                <a:effectLst/>
                <a:latin typeface="Consolas" pitchFamily="49" charset="0"/>
                <a:cs typeface="Arial" pitchFamily="34" charset="0"/>
              </a:rPr>
              <a:t>)</a:t>
            </a:r>
            <a:endParaRPr kumimoji="0" lang="en-US" altLang="en-US" sz="36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05210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Fundamentals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381000" y="2099996"/>
            <a:ext cx="17906999" cy="4924425"/>
          </a:xfrm>
          <a:prstGeom prst="rect">
            <a:avLst/>
          </a:prstGeom>
        </p:spPr>
        <p:txBody>
          <a:bodyPr wrap="square" lIns="0" tIns="0" rIns="0" bIns="0" rtlCol="0" anchor="t">
            <a:spAutoFit/>
          </a:bodyPr>
          <a:lstStyle/>
          <a:p>
            <a:r>
              <a:rPr lang="en-US" sz="4000" b="1" dirty="0">
                <a:solidFill>
                  <a:srgbClr val="7F0055"/>
                </a:solidFill>
                <a:latin typeface="Consolas"/>
              </a:rPr>
              <a:t>package</a:t>
            </a:r>
            <a:r>
              <a:rPr lang="en-US" sz="4000" dirty="0">
                <a:solidFill>
                  <a:srgbClr val="000000"/>
                </a:solidFill>
                <a:latin typeface="Consolas"/>
              </a:rPr>
              <a:t> exceptionhandling;</a:t>
            </a:r>
          </a:p>
          <a:p>
            <a:r>
              <a:rPr lang="en-US" sz="4000" b="1" dirty="0">
                <a:solidFill>
                  <a:srgbClr val="7F0055"/>
                </a:solidFill>
                <a:latin typeface="Consolas"/>
              </a:rPr>
              <a:t>public</a:t>
            </a:r>
            <a:r>
              <a:rPr lang="en-US" sz="4000" dirty="0">
                <a:solidFill>
                  <a:srgbClr val="000000"/>
                </a:solidFill>
                <a:latin typeface="Consolas"/>
              </a:rPr>
              <a:t> </a:t>
            </a:r>
            <a:r>
              <a:rPr lang="en-US" sz="4000" b="1" dirty="0">
                <a:solidFill>
                  <a:srgbClr val="7F0055"/>
                </a:solidFill>
                <a:latin typeface="Consolas"/>
              </a:rPr>
              <a:t>class</a:t>
            </a:r>
            <a:r>
              <a:rPr lang="en-US" sz="4000" dirty="0">
                <a:solidFill>
                  <a:srgbClr val="000000"/>
                </a:solidFill>
                <a:latin typeface="Consolas"/>
              </a:rPr>
              <a:t> E2 {</a:t>
            </a:r>
          </a:p>
          <a:p>
            <a:r>
              <a:rPr lang="en-US" sz="4000" b="1" dirty="0">
                <a:solidFill>
                  <a:srgbClr val="7F0055"/>
                </a:solidFill>
                <a:latin typeface="Consolas"/>
              </a:rPr>
              <a:t>static</a:t>
            </a:r>
            <a:r>
              <a:rPr lang="en-US" sz="4000" dirty="0">
                <a:solidFill>
                  <a:srgbClr val="000000"/>
                </a:solidFill>
                <a:latin typeface="Consolas"/>
              </a:rPr>
              <a:t> </a:t>
            </a:r>
            <a:r>
              <a:rPr lang="en-US" sz="4000" b="1" dirty="0">
                <a:solidFill>
                  <a:srgbClr val="7F0055"/>
                </a:solidFill>
                <a:latin typeface="Consolas"/>
              </a:rPr>
              <a:t>void</a:t>
            </a:r>
            <a:r>
              <a:rPr lang="en-US" sz="4000" dirty="0">
                <a:solidFill>
                  <a:srgbClr val="000000"/>
                </a:solidFill>
                <a:latin typeface="Consolas"/>
              </a:rPr>
              <a:t> show() {</a:t>
            </a:r>
          </a:p>
          <a:p>
            <a:r>
              <a:rPr lang="en-US" sz="4000" b="1" dirty="0">
                <a:solidFill>
                  <a:srgbClr val="7F0055"/>
                </a:solidFill>
                <a:latin typeface="Consolas"/>
              </a:rPr>
              <a:t>int</a:t>
            </a:r>
            <a:r>
              <a:rPr lang="en-US" sz="4000" dirty="0">
                <a:solidFill>
                  <a:srgbClr val="000000"/>
                </a:solidFill>
                <a:latin typeface="Consolas"/>
              </a:rPr>
              <a:t> </a:t>
            </a:r>
            <a:r>
              <a:rPr lang="en-US" sz="4000" dirty="0">
                <a:solidFill>
                  <a:srgbClr val="6A3E3E"/>
                </a:solidFill>
                <a:latin typeface="Consolas"/>
              </a:rPr>
              <a:t>d</a:t>
            </a:r>
            <a:r>
              <a:rPr lang="en-US" sz="4000" dirty="0">
                <a:solidFill>
                  <a:srgbClr val="000000"/>
                </a:solidFill>
                <a:latin typeface="Consolas"/>
              </a:rPr>
              <a:t> = 0;</a:t>
            </a:r>
          </a:p>
          <a:p>
            <a:r>
              <a:rPr lang="en-US" sz="4000" b="1" dirty="0">
                <a:solidFill>
                  <a:srgbClr val="7F0055"/>
                </a:solidFill>
                <a:latin typeface="Consolas"/>
              </a:rPr>
              <a:t>int</a:t>
            </a:r>
            <a:r>
              <a:rPr lang="en-US" sz="4000" dirty="0">
                <a:solidFill>
                  <a:srgbClr val="000000"/>
                </a:solidFill>
                <a:latin typeface="Consolas"/>
              </a:rPr>
              <a:t> </a:t>
            </a:r>
            <a:r>
              <a:rPr lang="en-US" sz="4000" dirty="0">
                <a:solidFill>
                  <a:srgbClr val="6A3E3E"/>
                </a:solidFill>
                <a:latin typeface="Consolas"/>
              </a:rPr>
              <a:t>a</a:t>
            </a:r>
            <a:r>
              <a:rPr lang="en-US" sz="4000" dirty="0">
                <a:solidFill>
                  <a:srgbClr val="000000"/>
                </a:solidFill>
                <a:latin typeface="Consolas"/>
              </a:rPr>
              <a:t> = 10 / </a:t>
            </a:r>
            <a:r>
              <a:rPr lang="en-US" sz="4000" dirty="0">
                <a:solidFill>
                  <a:srgbClr val="6A3E3E"/>
                </a:solidFill>
                <a:latin typeface="Consolas"/>
              </a:rPr>
              <a:t>d</a:t>
            </a:r>
            <a:r>
              <a:rPr lang="en-US" sz="4000" dirty="0">
                <a:solidFill>
                  <a:srgbClr val="000000"/>
                </a:solidFill>
                <a:latin typeface="Consolas"/>
              </a:rPr>
              <a:t>;</a:t>
            </a:r>
          </a:p>
          <a:p>
            <a:r>
              <a:rPr lang="en-US" sz="4000" dirty="0">
                <a:solidFill>
                  <a:srgbClr val="000000"/>
                </a:solidFill>
                <a:latin typeface="Consolas"/>
              </a:rPr>
              <a:t>System.</a:t>
            </a:r>
            <a:r>
              <a:rPr lang="en-US" sz="4000" b="1" i="1" dirty="0">
                <a:solidFill>
                  <a:srgbClr val="0000C0"/>
                </a:solidFill>
                <a:latin typeface="Consolas"/>
              </a:rPr>
              <a:t>out</a:t>
            </a:r>
            <a:r>
              <a:rPr lang="en-US" sz="4000" dirty="0">
                <a:solidFill>
                  <a:srgbClr val="000000"/>
                </a:solidFill>
                <a:latin typeface="Consolas"/>
              </a:rPr>
              <a:t>.println(</a:t>
            </a:r>
            <a:r>
              <a:rPr lang="en-US" sz="4000" dirty="0">
                <a:solidFill>
                  <a:srgbClr val="6A3E3E"/>
                </a:solidFill>
                <a:latin typeface="Consolas"/>
              </a:rPr>
              <a:t>a</a:t>
            </a:r>
            <a:r>
              <a:rPr lang="en-US" sz="4000" dirty="0" smtClean="0">
                <a:solidFill>
                  <a:srgbClr val="000000"/>
                </a:solidFill>
                <a:latin typeface="Consolas"/>
              </a:rPr>
              <a:t>);}</a:t>
            </a:r>
            <a:endParaRPr lang="en-US" sz="4000" dirty="0">
              <a:solidFill>
                <a:srgbClr val="000000"/>
              </a:solidFill>
              <a:latin typeface="Consolas"/>
            </a:endParaRPr>
          </a:p>
          <a:p>
            <a:r>
              <a:rPr lang="en-US" sz="4000" b="1" dirty="0">
                <a:solidFill>
                  <a:srgbClr val="7F0055"/>
                </a:solidFill>
                <a:latin typeface="Consolas"/>
              </a:rPr>
              <a:t>public</a:t>
            </a:r>
            <a:r>
              <a:rPr lang="en-US" sz="4000" dirty="0">
                <a:solidFill>
                  <a:srgbClr val="000000"/>
                </a:solidFill>
                <a:latin typeface="Consolas"/>
              </a:rPr>
              <a:t> </a:t>
            </a:r>
            <a:r>
              <a:rPr lang="en-US" sz="4000" b="1" dirty="0">
                <a:solidFill>
                  <a:srgbClr val="7F0055"/>
                </a:solidFill>
                <a:latin typeface="Consolas"/>
              </a:rPr>
              <a:t>static</a:t>
            </a:r>
            <a:r>
              <a:rPr lang="en-US" sz="4000" dirty="0">
                <a:solidFill>
                  <a:srgbClr val="000000"/>
                </a:solidFill>
                <a:latin typeface="Consolas"/>
              </a:rPr>
              <a:t> </a:t>
            </a:r>
            <a:r>
              <a:rPr lang="en-US" sz="4000" b="1" dirty="0">
                <a:solidFill>
                  <a:srgbClr val="7F0055"/>
                </a:solidFill>
                <a:latin typeface="Consolas"/>
              </a:rPr>
              <a:t>void</a:t>
            </a:r>
            <a:r>
              <a:rPr lang="en-US" sz="4000" dirty="0">
                <a:solidFill>
                  <a:srgbClr val="000000"/>
                </a:solidFill>
                <a:latin typeface="Consolas"/>
              </a:rPr>
              <a:t> main(String[] </a:t>
            </a:r>
            <a:r>
              <a:rPr lang="en-US" sz="4000" dirty="0">
                <a:solidFill>
                  <a:srgbClr val="6A3E3E"/>
                </a:solidFill>
                <a:latin typeface="Consolas"/>
              </a:rPr>
              <a:t>args</a:t>
            </a:r>
            <a:r>
              <a:rPr lang="en-US" sz="4000" dirty="0">
                <a:solidFill>
                  <a:srgbClr val="000000"/>
                </a:solidFill>
                <a:latin typeface="Consolas"/>
              </a:rPr>
              <a:t>) {</a:t>
            </a:r>
          </a:p>
          <a:p>
            <a:r>
              <a:rPr lang="en-US" sz="4000" dirty="0">
                <a:solidFill>
                  <a:srgbClr val="000000"/>
                </a:solidFill>
                <a:latin typeface="Consolas"/>
              </a:rPr>
              <a:t>E2.</a:t>
            </a:r>
            <a:r>
              <a:rPr lang="en-US" sz="4000" i="1" dirty="0">
                <a:solidFill>
                  <a:srgbClr val="000000"/>
                </a:solidFill>
                <a:latin typeface="Consolas"/>
              </a:rPr>
              <a:t>show</a:t>
            </a:r>
            <a:r>
              <a:rPr lang="en-US" sz="4000" dirty="0" smtClean="0">
                <a:solidFill>
                  <a:srgbClr val="000000"/>
                </a:solidFill>
                <a:latin typeface="Consolas"/>
              </a:rPr>
              <a:t>();}}</a:t>
            </a:r>
            <a:endParaRPr lang="en-US" sz="4000" dirty="0">
              <a:solidFill>
                <a:srgbClr val="000000"/>
              </a:solidFill>
              <a:latin typeface="Consolas"/>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381000" y="7676571"/>
            <a:ext cx="16957799" cy="206210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sng" strike="noStrike" cap="none" normalizeH="0" baseline="0" dirty="0" smtClean="0">
                <a:ln>
                  <a:noFill/>
                </a:ln>
                <a:solidFill>
                  <a:srgbClr val="FF0000"/>
                </a:solidFill>
                <a:effectLst/>
                <a:latin typeface="Consolas" pitchFamily="49" charset="0"/>
                <a:cs typeface="Arial" pitchFamily="34" charset="0"/>
              </a:rPr>
              <a:t>OUTPUT</a:t>
            </a:r>
            <a:r>
              <a:rPr kumimoji="0" lang="en-US" altLang="en-US" sz="3200" b="1" i="0" u="sng" strike="noStrike" cap="none" normalizeH="0" dirty="0" smtClean="0">
                <a:ln>
                  <a:noFill/>
                </a:ln>
                <a:solidFill>
                  <a:srgbClr val="FF0000"/>
                </a:solidFill>
                <a:effectLst/>
                <a:latin typeface="Consolas" pitchFamily="49" charset="0"/>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Exception in thread "main" </a:t>
            </a: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java.lang.ArithmeticException</a:t>
            </a: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 / by zero</a:t>
            </a:r>
            <a:endParaRPr kumimoji="0" lang="en-US" altLang="en-US" sz="32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at exceptionhandling.E2.show(</a:t>
            </a: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E2.java:5</a:t>
            </a: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a:t>
            </a:r>
            <a:endParaRPr kumimoji="0" lang="en-US" altLang="en-US" sz="32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at exceptionhandling.E2.main(</a:t>
            </a: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E2.java:9</a:t>
            </a: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a:t>
            </a:r>
            <a:endParaRPr kumimoji="0" lang="en-US" altLang="en-US" sz="3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2630666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10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Fundamentals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381000" y="2099996"/>
            <a:ext cx="17906999" cy="8186857"/>
          </a:xfrm>
          <a:prstGeom prst="rect">
            <a:avLst/>
          </a:prstGeom>
        </p:spPr>
        <p:txBody>
          <a:bodyPr wrap="square" lIns="0" tIns="0" rIns="0" bIns="0" rtlCol="0" anchor="t">
            <a:spAutoFit/>
          </a:bodyPr>
          <a:lstStyle/>
          <a:p>
            <a:r>
              <a:rPr lang="en-US" sz="2800" b="1" dirty="0"/>
              <a:t>Step-by-Step </a:t>
            </a:r>
            <a:r>
              <a:rPr lang="en-US" sz="2800" b="1" dirty="0" smtClean="0"/>
              <a:t>Execution(Without exception handling)</a:t>
            </a:r>
            <a:endParaRPr lang="en-US" sz="2800" b="1" dirty="0"/>
          </a:p>
          <a:p>
            <a:pPr>
              <a:buFont typeface="+mj-lt"/>
              <a:buAutoNum type="arabicPeriod"/>
            </a:pPr>
            <a:r>
              <a:rPr lang="en-US" sz="2800" dirty="0"/>
              <a:t>main() method calls show() </a:t>
            </a:r>
          </a:p>
          <a:p>
            <a:pPr>
              <a:buFont typeface="+mj-lt"/>
              <a:buAutoNum type="arabicPeriod"/>
            </a:pPr>
            <a:r>
              <a:rPr lang="en-US" sz="2800" dirty="0"/>
              <a:t>Inside show(): </a:t>
            </a:r>
          </a:p>
          <a:p>
            <a:pPr marL="742950" lvl="1" indent="-285750">
              <a:buFont typeface="+mj-lt"/>
              <a:buAutoNum type="arabicPeriod"/>
            </a:pPr>
            <a:r>
              <a:rPr lang="en-US" sz="2800" dirty="0"/>
              <a:t>Variable d is assigned value 0 </a:t>
            </a:r>
          </a:p>
          <a:p>
            <a:pPr marL="742950" lvl="1" indent="-285750">
              <a:buFont typeface="+mj-lt"/>
              <a:buAutoNum type="arabicPeriod"/>
            </a:pPr>
            <a:r>
              <a:rPr lang="en-US" sz="2800" dirty="0"/>
              <a:t>Expression 10 / d is executed </a:t>
            </a:r>
          </a:p>
          <a:p>
            <a:pPr>
              <a:buFont typeface="+mj-lt"/>
              <a:buAutoNum type="arabicPeriod"/>
            </a:pPr>
            <a:r>
              <a:rPr lang="en-US" sz="2800" dirty="0"/>
              <a:t>Division by zero occurs → ArithmeticException </a:t>
            </a:r>
          </a:p>
          <a:p>
            <a:pPr>
              <a:buFont typeface="+mj-lt"/>
              <a:buAutoNum type="arabicPeriod"/>
            </a:pPr>
            <a:r>
              <a:rPr lang="en-US" sz="2800" dirty="0"/>
              <a:t>JVM: </a:t>
            </a:r>
          </a:p>
          <a:p>
            <a:pPr marL="742950" lvl="1" indent="-285750">
              <a:buFont typeface="+mj-lt"/>
              <a:buAutoNum type="arabicPeriod"/>
            </a:pPr>
            <a:r>
              <a:rPr lang="en-US" sz="2800" dirty="0"/>
              <a:t>Creates an exception object </a:t>
            </a:r>
          </a:p>
          <a:p>
            <a:pPr marL="742950" lvl="1" indent="-285750">
              <a:buFont typeface="+mj-lt"/>
              <a:buAutoNum type="arabicPeriod"/>
            </a:pPr>
            <a:r>
              <a:rPr lang="en-US" sz="2800" dirty="0"/>
              <a:t>Stops execution of current method (show()) </a:t>
            </a:r>
          </a:p>
          <a:p>
            <a:pPr marL="742950" lvl="1" indent="-285750">
              <a:buFont typeface="+mj-lt"/>
              <a:buAutoNum type="arabicPeriod"/>
            </a:pPr>
            <a:r>
              <a:rPr lang="en-US" sz="2800" dirty="0"/>
              <a:t>Searches for exception handler </a:t>
            </a:r>
            <a:r>
              <a:rPr lang="en-US" sz="2800" dirty="0" smtClean="0"/>
              <a:t>(try and catch block)</a:t>
            </a:r>
            <a:endParaRPr lang="en-US" sz="2800" dirty="0"/>
          </a:p>
          <a:p>
            <a:pPr marL="742950" lvl="1" indent="-285750">
              <a:buFont typeface="+mj-lt"/>
              <a:buAutoNum type="arabicPeriod"/>
            </a:pPr>
            <a:r>
              <a:rPr lang="en-US" sz="2800" dirty="0" smtClean="0"/>
              <a:t>No </a:t>
            </a:r>
            <a:r>
              <a:rPr lang="en-US" sz="2800" dirty="0"/>
              <a:t>try-catch block is present </a:t>
            </a:r>
            <a:endParaRPr lang="en-US" sz="2800" dirty="0" smtClean="0"/>
          </a:p>
          <a:p>
            <a:pPr marL="742950" lvl="1" indent="-285750">
              <a:buFont typeface="+mj-lt"/>
              <a:buAutoNum type="arabicPeriod"/>
            </a:pPr>
            <a:r>
              <a:rPr lang="en-US" sz="2800" dirty="0" smtClean="0"/>
              <a:t>JVM </a:t>
            </a:r>
            <a:r>
              <a:rPr lang="en-US" sz="2800" dirty="0"/>
              <a:t>cannot find a handler in show() </a:t>
            </a:r>
            <a:endParaRPr lang="en-US" sz="2800" dirty="0" smtClean="0"/>
          </a:p>
          <a:p>
            <a:pPr marL="742950" lvl="1" indent="-285750">
              <a:buFont typeface="+mj-lt"/>
              <a:buAutoNum type="arabicPeriod"/>
            </a:pPr>
            <a:r>
              <a:rPr lang="en-US" sz="2800" dirty="0" smtClean="0"/>
              <a:t>Exception </a:t>
            </a:r>
            <a:r>
              <a:rPr lang="en-US" sz="2800" dirty="0"/>
              <a:t>propagates to main() </a:t>
            </a:r>
            <a:endParaRPr lang="en-US" sz="2800" dirty="0" smtClean="0"/>
          </a:p>
          <a:p>
            <a:pPr marL="742950" lvl="1" indent="-285750">
              <a:buFont typeface="+mj-lt"/>
              <a:buAutoNum type="arabicPeriod"/>
            </a:pPr>
            <a:r>
              <a:rPr lang="en-US" sz="2800" dirty="0" smtClean="0"/>
              <a:t>Still </a:t>
            </a:r>
            <a:r>
              <a:rPr lang="en-US" sz="2800" dirty="0"/>
              <a:t>no handler → JVM terminates program </a:t>
            </a:r>
            <a:endParaRPr lang="en-US" sz="2800" dirty="0" smtClean="0"/>
          </a:p>
          <a:p>
            <a:pPr marL="742950" lvl="1" indent="-285750">
              <a:buFont typeface="+mj-lt"/>
              <a:buAutoNum type="arabicPeriod"/>
            </a:pPr>
            <a:r>
              <a:rPr lang="en-US" sz="2800" dirty="0" smtClean="0"/>
              <a:t>This </a:t>
            </a:r>
            <a:r>
              <a:rPr lang="en-US" sz="2800" dirty="0"/>
              <a:t>process is called Exception </a:t>
            </a:r>
            <a:r>
              <a:rPr lang="en-US" sz="2800" dirty="0" smtClean="0"/>
              <a:t>Propagation</a:t>
            </a:r>
            <a:endParaRPr lang="en-US" sz="2800" dirty="0"/>
          </a:p>
          <a:p>
            <a:r>
              <a:rPr lang="en-US" sz="2800" b="1" dirty="0" smtClean="0"/>
              <a:t>Exception </a:t>
            </a:r>
            <a:r>
              <a:rPr lang="en-US" sz="2800" b="1" dirty="0"/>
              <a:t>handling overcomes runtime errors by placing risky code inside a try block and handling the error in a catch block. When an exception occurs, control shifts from the try block to the catch block, preventing program termination and allowing smooth continuation of execution.</a:t>
            </a:r>
          </a:p>
          <a:p>
            <a:pPr marL="742950" lvl="1" indent="-285750">
              <a:buFont typeface="+mj-lt"/>
              <a:buAutoNum type="arabicPeriod"/>
            </a:pPr>
            <a:endParaRPr lang="en-US" sz="2800" dirty="0" smtClean="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6000747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Exception-Handling </a:t>
            </a:r>
            <a:r>
              <a:rPr lang="en-US" sz="7200" b="1" dirty="0" smtClean="0"/>
              <a:t>Keywords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381000" y="2099996"/>
            <a:ext cx="17906999" cy="615553"/>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smtClean="0"/>
              <a:t> </a:t>
            </a:r>
            <a:endParaRPr lang="en-US" sz="40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228" y="2424100"/>
            <a:ext cx="16781300" cy="6681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69513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t> try - catch syntax</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381000" y="2099996"/>
            <a:ext cx="17906999" cy="8002191"/>
          </a:xfrm>
          <a:prstGeom prst="rect">
            <a:avLst/>
          </a:prstGeom>
        </p:spPr>
        <p:txBody>
          <a:bodyPr wrap="square" lIns="0" tIns="0" rIns="0" bIns="0" rtlCol="0" anchor="t">
            <a:spAutoFit/>
          </a:bodyPr>
          <a:lstStyle/>
          <a:p>
            <a:pPr lvl="2"/>
            <a:r>
              <a:rPr lang="en-US" sz="4000" dirty="0"/>
              <a:t> </a:t>
            </a:r>
            <a:r>
              <a:rPr lang="en-US" sz="4000" dirty="0">
                <a:solidFill>
                  <a:schemeClr val="accent2">
                    <a:lumMod val="50000"/>
                  </a:schemeClr>
                </a:solidFill>
              </a:rPr>
              <a:t>try</a:t>
            </a:r>
            <a:r>
              <a:rPr lang="en-US" sz="4000" dirty="0"/>
              <a:t> { </a:t>
            </a:r>
            <a:endParaRPr lang="en-US" sz="4000" dirty="0" smtClean="0"/>
          </a:p>
          <a:p>
            <a:pPr lvl="2"/>
            <a:r>
              <a:rPr lang="en-US" sz="4000" dirty="0" smtClean="0">
                <a:solidFill>
                  <a:schemeClr val="accent3">
                    <a:lumMod val="75000"/>
                  </a:schemeClr>
                </a:solidFill>
              </a:rPr>
              <a:t>// </a:t>
            </a:r>
            <a:r>
              <a:rPr lang="en-US" sz="4000" dirty="0">
                <a:solidFill>
                  <a:schemeClr val="accent3">
                    <a:lumMod val="75000"/>
                  </a:schemeClr>
                </a:solidFill>
              </a:rPr>
              <a:t>block of code to monitor for errors</a:t>
            </a:r>
            <a:r>
              <a:rPr lang="en-US" sz="4000" dirty="0"/>
              <a:t> </a:t>
            </a:r>
            <a:endParaRPr lang="en-US" sz="4000" dirty="0" smtClean="0"/>
          </a:p>
          <a:p>
            <a:pPr lvl="2"/>
            <a:r>
              <a:rPr lang="en-US" sz="4000" dirty="0" smtClean="0"/>
              <a:t>}</a:t>
            </a:r>
          </a:p>
          <a:p>
            <a:pPr lvl="2"/>
            <a:r>
              <a:rPr lang="en-US" sz="4000" dirty="0" smtClean="0">
                <a:solidFill>
                  <a:schemeClr val="accent2">
                    <a:lumMod val="50000"/>
                  </a:schemeClr>
                </a:solidFill>
              </a:rPr>
              <a:t>catch </a:t>
            </a:r>
            <a:r>
              <a:rPr lang="en-US" sz="4000" dirty="0"/>
              <a:t>(ExceptionType1 exOb) </a:t>
            </a:r>
            <a:r>
              <a:rPr lang="en-US" sz="4000" dirty="0" smtClean="0"/>
              <a:t>{</a:t>
            </a:r>
          </a:p>
          <a:p>
            <a:pPr lvl="2"/>
            <a:r>
              <a:rPr lang="en-US" sz="4000" dirty="0" smtClean="0"/>
              <a:t> </a:t>
            </a:r>
            <a:r>
              <a:rPr lang="en-US" sz="4000" dirty="0">
                <a:solidFill>
                  <a:schemeClr val="accent3">
                    <a:lumMod val="75000"/>
                  </a:schemeClr>
                </a:solidFill>
              </a:rPr>
              <a:t>// exception handler for ExceptionType1 </a:t>
            </a:r>
            <a:endParaRPr lang="en-US" sz="4000" dirty="0" smtClean="0">
              <a:solidFill>
                <a:schemeClr val="accent3">
                  <a:lumMod val="75000"/>
                </a:schemeClr>
              </a:solidFill>
            </a:endParaRPr>
          </a:p>
          <a:p>
            <a:pPr lvl="2"/>
            <a:r>
              <a:rPr lang="en-US" sz="4000" dirty="0" smtClean="0"/>
              <a:t>}</a:t>
            </a:r>
          </a:p>
          <a:p>
            <a:pPr lvl="2"/>
            <a:r>
              <a:rPr lang="en-US" sz="4000" dirty="0" smtClean="0">
                <a:solidFill>
                  <a:schemeClr val="accent2">
                    <a:lumMod val="50000"/>
                  </a:schemeClr>
                </a:solidFill>
              </a:rPr>
              <a:t>catch</a:t>
            </a:r>
            <a:r>
              <a:rPr lang="en-US" sz="4000" dirty="0" smtClean="0"/>
              <a:t> </a:t>
            </a:r>
            <a:r>
              <a:rPr lang="en-US" sz="4000" dirty="0"/>
              <a:t>(ExceptionType2 exOb) { </a:t>
            </a:r>
            <a:endParaRPr lang="en-US" sz="4000" dirty="0" smtClean="0"/>
          </a:p>
          <a:p>
            <a:pPr lvl="2"/>
            <a:r>
              <a:rPr lang="en-US" sz="4000" dirty="0" smtClean="0">
                <a:solidFill>
                  <a:schemeClr val="accent3">
                    <a:lumMod val="75000"/>
                  </a:schemeClr>
                </a:solidFill>
              </a:rPr>
              <a:t>// </a:t>
            </a:r>
            <a:r>
              <a:rPr lang="en-US" sz="4000" dirty="0">
                <a:solidFill>
                  <a:schemeClr val="accent3">
                    <a:lumMod val="75000"/>
                  </a:schemeClr>
                </a:solidFill>
              </a:rPr>
              <a:t>exception handler for ExceptionType2 </a:t>
            </a:r>
            <a:endParaRPr lang="en-US" sz="4000" dirty="0" smtClean="0">
              <a:solidFill>
                <a:schemeClr val="accent3">
                  <a:lumMod val="75000"/>
                </a:schemeClr>
              </a:solidFill>
            </a:endParaRPr>
          </a:p>
          <a:p>
            <a:pPr lvl="2"/>
            <a:r>
              <a:rPr lang="en-US" sz="4000" dirty="0" smtClean="0"/>
              <a:t>} </a:t>
            </a:r>
          </a:p>
          <a:p>
            <a:pPr lvl="2"/>
            <a:r>
              <a:rPr lang="en-US" sz="4000" dirty="0" smtClean="0"/>
              <a:t>// </a:t>
            </a:r>
            <a:r>
              <a:rPr lang="en-US" sz="4000" dirty="0"/>
              <a:t>... </a:t>
            </a:r>
            <a:endParaRPr lang="en-US" sz="4000" dirty="0" smtClean="0"/>
          </a:p>
          <a:p>
            <a:pPr lvl="2"/>
            <a:r>
              <a:rPr lang="en-US" sz="4000" dirty="0" smtClean="0">
                <a:solidFill>
                  <a:schemeClr val="accent2">
                    <a:lumMod val="50000"/>
                  </a:schemeClr>
                </a:solidFill>
              </a:rPr>
              <a:t>finally </a:t>
            </a:r>
            <a:r>
              <a:rPr lang="en-US" sz="4000" dirty="0"/>
              <a:t>{ </a:t>
            </a:r>
            <a:endParaRPr lang="en-US" sz="4000" dirty="0" smtClean="0"/>
          </a:p>
          <a:p>
            <a:pPr lvl="2"/>
            <a:r>
              <a:rPr lang="en-US" sz="4000" dirty="0" smtClean="0">
                <a:solidFill>
                  <a:schemeClr val="accent3">
                    <a:lumMod val="75000"/>
                  </a:schemeClr>
                </a:solidFill>
              </a:rPr>
              <a:t>// </a:t>
            </a:r>
            <a:r>
              <a:rPr lang="en-US" sz="4000" dirty="0">
                <a:solidFill>
                  <a:schemeClr val="accent3">
                    <a:lumMod val="75000"/>
                  </a:schemeClr>
                </a:solidFill>
              </a:rPr>
              <a:t>block of code to be executed after try block ends </a:t>
            </a:r>
            <a:endParaRPr lang="en-US" sz="4000" dirty="0" smtClean="0">
              <a:solidFill>
                <a:schemeClr val="accent3">
                  <a:lumMod val="75000"/>
                </a:schemeClr>
              </a:solidFill>
            </a:endParaRPr>
          </a:p>
          <a:p>
            <a:pPr lvl="2"/>
            <a:r>
              <a:rPr lang="en-US" sz="4000" dirty="0" smtClean="0"/>
              <a:t>}</a:t>
            </a:r>
            <a:endParaRPr lang="en-US" sz="40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9686678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Using try and catch</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184211"/>
            <a:ext cx="16463277" cy="4308872"/>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Handle an </a:t>
            </a:r>
            <a:r>
              <a:rPr lang="en-US" sz="4000" dirty="0" smtClean="0"/>
              <a:t>exception</a:t>
            </a:r>
            <a:endParaRPr lang="en-US" sz="4000" dirty="0"/>
          </a:p>
          <a:p>
            <a:pPr marL="1028700" lvl="1" indent="-571500">
              <a:buFont typeface="Wingdings" panose="05000000000000000000" pitchFamily="2" charset="2"/>
              <a:buChar char="ü"/>
            </a:pPr>
            <a:r>
              <a:rPr lang="en-US" sz="4000" dirty="0"/>
              <a:t>First, it allows you to fix the error</a:t>
            </a:r>
            <a:r>
              <a:rPr lang="en-US" sz="4000" dirty="0" smtClean="0"/>
              <a:t>.</a:t>
            </a:r>
            <a:endParaRPr lang="en-US" sz="4000" dirty="0"/>
          </a:p>
          <a:p>
            <a:pPr marL="1028700" lvl="1" indent="-571500">
              <a:buFont typeface="Wingdings" panose="05000000000000000000" pitchFamily="2" charset="2"/>
              <a:buChar char="ü"/>
            </a:pPr>
            <a:r>
              <a:rPr lang="en-US" sz="4000" dirty="0"/>
              <a:t>Second, it prevents the program from </a:t>
            </a:r>
            <a:r>
              <a:rPr lang="en-US" sz="4000" dirty="0" smtClean="0"/>
              <a:t>automatically terminating.</a:t>
            </a:r>
            <a:endParaRPr lang="en-US" sz="4000" dirty="0"/>
          </a:p>
          <a:p>
            <a:pPr marL="571500" indent="-571500">
              <a:buFont typeface="Arial" panose="020B0604020202020204" pitchFamily="34" charset="0"/>
              <a:buChar char="•"/>
            </a:pPr>
            <a:r>
              <a:rPr lang="en-US" sz="4000" dirty="0"/>
              <a:t>To guard against and handle a run time </a:t>
            </a:r>
            <a:r>
              <a:rPr lang="en-US" sz="4000" dirty="0" smtClean="0"/>
              <a:t>error, simply </a:t>
            </a:r>
            <a:r>
              <a:rPr lang="en-US" sz="4000" dirty="0"/>
              <a:t>enclose the code that you want to </a:t>
            </a:r>
            <a:r>
              <a:rPr lang="en-US" sz="4000" dirty="0" smtClean="0"/>
              <a:t>monitor inside </a:t>
            </a:r>
            <a:r>
              <a:rPr lang="en-US" sz="4000" dirty="0"/>
              <a:t>a try block </a:t>
            </a:r>
            <a:r>
              <a:rPr lang="en-US" sz="4000" dirty="0" smtClean="0"/>
              <a:t>.</a:t>
            </a:r>
            <a:endParaRPr lang="en-US" sz="4000" dirty="0"/>
          </a:p>
          <a:p>
            <a:pPr marL="571500" indent="-571500">
              <a:buFont typeface="Arial" panose="020B0604020202020204" pitchFamily="34" charset="0"/>
              <a:buChar char="•"/>
            </a:pPr>
            <a:r>
              <a:rPr lang="en-US" sz="4000" dirty="0"/>
              <a:t>Immediately following the try block, include </a:t>
            </a:r>
            <a:r>
              <a:rPr lang="en-US" sz="4000" dirty="0" smtClean="0"/>
              <a:t>a catch </a:t>
            </a:r>
            <a:r>
              <a:rPr lang="en-US" sz="4000" dirty="0"/>
              <a:t>clause that specifies the exception type </a:t>
            </a:r>
            <a:r>
              <a:rPr lang="en-US" sz="4000" dirty="0" smtClean="0"/>
              <a:t>that you </a:t>
            </a:r>
            <a:r>
              <a:rPr lang="en-US" sz="4000" dirty="0"/>
              <a:t>wish to catch.</a:t>
            </a:r>
            <a:r>
              <a:rPr lang="en-US" sz="4000" i="1" dirty="0" smtClean="0"/>
              <a:t> </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0848200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28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Using try and catch</a:t>
            </a:r>
            <a:endParaRPr lang="en-US" sz="7200" b="1" dirty="0">
              <a:solidFill>
                <a:srgbClr val="000000"/>
              </a:solidFill>
              <a:latin typeface="Garet Bold"/>
              <a:ea typeface="Garet Bold"/>
              <a:cs typeface="Garet Bold"/>
              <a:sym typeface="Garet Bold"/>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8" name="Rectangle 7"/>
          <p:cNvSpPr/>
          <p:nvPr/>
        </p:nvSpPr>
        <p:spPr>
          <a:xfrm>
            <a:off x="1224335" y="2476500"/>
            <a:ext cx="15658841" cy="6494085"/>
          </a:xfrm>
          <a:prstGeom prst="rect">
            <a:avLst/>
          </a:prstGeom>
        </p:spPr>
        <p:txBody>
          <a:bodyPr wrap="square">
            <a:spAutoFit/>
          </a:bodyPr>
          <a:lstStyle/>
          <a:p>
            <a:pPr marL="571500" indent="-571500">
              <a:buFont typeface="Arial" panose="020B0604020202020204" pitchFamily="34" charset="0"/>
              <a:buChar char="•"/>
            </a:pPr>
            <a:r>
              <a:rPr lang="en-US" sz="3200" dirty="0" smtClean="0"/>
              <a:t>Although default exception handler provided by java runtime system is useful for debugging, you will usually want to handle an exception yourself. Its benefits are- It allows to fix error and prevents the program from automatically terminating.</a:t>
            </a:r>
          </a:p>
          <a:p>
            <a:pPr marL="571500" indent="-571500">
              <a:buFont typeface="Arial" panose="020B0604020202020204" pitchFamily="34" charset="0"/>
              <a:buChar char="•"/>
            </a:pPr>
            <a:r>
              <a:rPr lang="en-US" sz="3200" dirty="0" smtClean="0"/>
              <a:t>The catch block should be immediately following try block.</a:t>
            </a:r>
          </a:p>
          <a:p>
            <a:pPr marL="571500" indent="-571500">
              <a:buFont typeface="Arial" panose="020B0604020202020204" pitchFamily="34" charset="0"/>
              <a:buChar char="•"/>
            </a:pPr>
            <a:r>
              <a:rPr lang="en-US" sz="3200" dirty="0" smtClean="0"/>
              <a:t>Scope of catch clause is restricted to those statements specified by the immediately preceding try statement.</a:t>
            </a:r>
          </a:p>
          <a:p>
            <a:pPr marL="571500" indent="-571500">
              <a:buFont typeface="Arial" panose="020B0604020202020204" pitchFamily="34" charset="0"/>
              <a:buChar char="•"/>
            </a:pPr>
            <a:r>
              <a:rPr lang="en-US" sz="3200" dirty="0" smtClean="0"/>
              <a:t>Catch clause will only catch exception thrown  by just preceding try clause.</a:t>
            </a:r>
            <a:endParaRPr lang="en-US" sz="3200" dirty="0"/>
          </a:p>
          <a:p>
            <a:pPr marL="571500" indent="-571500">
              <a:buFont typeface="Arial" panose="020B0604020202020204" pitchFamily="34" charset="0"/>
              <a:buChar char="•"/>
            </a:pPr>
            <a:r>
              <a:rPr lang="en-US" sz="3200" dirty="0" smtClean="0"/>
              <a:t>Catch </a:t>
            </a:r>
            <a:r>
              <a:rPr lang="en-US" sz="3200" dirty="0"/>
              <a:t>statements must be surrounded by {} curly braces, they must be within </a:t>
            </a:r>
            <a:r>
              <a:rPr lang="en-US" sz="3200" dirty="0" smtClean="0"/>
              <a:t>block.</a:t>
            </a:r>
          </a:p>
          <a:p>
            <a:pPr marL="571500" indent="-571500">
              <a:buFont typeface="Arial" panose="020B0604020202020204" pitchFamily="34" charset="0"/>
              <a:buChar char="•"/>
            </a:pPr>
            <a:r>
              <a:rPr lang="en-US" sz="3200" dirty="0" smtClean="0"/>
              <a:t>Try statements must be surrounded by {} curly braces, they must be within block.</a:t>
            </a:r>
          </a:p>
          <a:p>
            <a:pPr marL="571500" indent="-571500">
              <a:buFont typeface="Arial" panose="020B0604020202020204" pitchFamily="34" charset="0"/>
              <a:buChar char="•"/>
            </a:pPr>
            <a:r>
              <a:rPr lang="en-US" sz="3200" dirty="0" smtClean="0"/>
              <a:t>When exception is thrown by any statement of try block, the control comes of try block and goes to catch block, the catch statements gets executed and control transfers to statements next to catch block(if any).</a:t>
            </a:r>
          </a:p>
          <a:p>
            <a:endParaRPr lang="en-US" sz="3200" dirty="0" smtClean="0"/>
          </a:p>
        </p:txBody>
      </p:sp>
    </p:spTree>
    <p:extLst>
      <p:ext uri="{BB962C8B-B14F-4D97-AF65-F5344CB8AC3E}">
        <p14:creationId xmlns:p14="http://schemas.microsoft.com/office/powerpoint/2010/main" val="35123753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28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Using try and catch</a:t>
            </a:r>
            <a:endParaRPr lang="en-US" sz="7200" b="1" dirty="0">
              <a:solidFill>
                <a:srgbClr val="000000"/>
              </a:solidFill>
              <a:latin typeface="Garet Bold"/>
              <a:ea typeface="Garet Bold"/>
              <a:cs typeface="Garet Bold"/>
              <a:sym typeface="Garet Bold"/>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8" name="Rectangle 7"/>
          <p:cNvSpPr/>
          <p:nvPr/>
        </p:nvSpPr>
        <p:spPr>
          <a:xfrm>
            <a:off x="1116833" y="5188598"/>
            <a:ext cx="15658841" cy="4031873"/>
          </a:xfrm>
          <a:prstGeom prst="rect">
            <a:avLst/>
          </a:prstGeom>
        </p:spPr>
        <p:txBody>
          <a:bodyPr wrap="square">
            <a:spAutoFit/>
          </a:bodyPr>
          <a:lstStyle/>
          <a:p>
            <a:pPr marL="571500" indent="-571500">
              <a:buFont typeface="Arial" panose="020B0604020202020204" pitchFamily="34" charset="0"/>
              <a:buChar char="•"/>
            </a:pPr>
            <a:r>
              <a:rPr lang="en-US" sz="3200" dirty="0" smtClean="0"/>
              <a:t>ExceptionType  - (Type of Exception)</a:t>
            </a:r>
          </a:p>
          <a:p>
            <a:pPr marL="1485900" lvl="2" indent="-571500">
              <a:buFont typeface="Wingdings" panose="05000000000000000000" pitchFamily="2" charset="2"/>
              <a:buChar char="q"/>
            </a:pPr>
            <a:r>
              <a:rPr lang="en-US" sz="3200" dirty="0" smtClean="0"/>
              <a:t>Exception is the class type of the object that the catch block will handle.</a:t>
            </a:r>
          </a:p>
          <a:p>
            <a:pPr marL="1485900" lvl="2" indent="-571500">
              <a:buFont typeface="Wingdings" panose="05000000000000000000" pitchFamily="2" charset="2"/>
              <a:buChar char="q"/>
            </a:pPr>
            <a:r>
              <a:rPr lang="en-US" sz="3200" dirty="0" smtClean="0"/>
              <a:t>It tells Java which kind of error this catch block is designed to handle.</a:t>
            </a:r>
          </a:p>
          <a:p>
            <a:pPr marL="571500" indent="-571500">
              <a:buFont typeface="Arial" panose="020B0604020202020204" pitchFamily="34" charset="0"/>
              <a:buChar char="•"/>
            </a:pPr>
            <a:r>
              <a:rPr lang="en-US" sz="3200" dirty="0" smtClean="0"/>
              <a:t>e – (Reference Variable)</a:t>
            </a:r>
          </a:p>
          <a:p>
            <a:pPr marL="1485900" lvl="2" indent="-571500">
              <a:buFont typeface="Wingdings" panose="05000000000000000000" pitchFamily="2" charset="2"/>
              <a:buChar char="q"/>
            </a:pPr>
            <a:r>
              <a:rPr lang="en-US" sz="3200" dirty="0" smtClean="0"/>
              <a:t>e is the object reference to the caught exception.</a:t>
            </a:r>
          </a:p>
          <a:p>
            <a:pPr marL="1485900" lvl="2" indent="-571500">
              <a:buFont typeface="Wingdings" panose="05000000000000000000" pitchFamily="2" charset="2"/>
              <a:buChar char="q"/>
            </a:pPr>
            <a:r>
              <a:rPr lang="en-US" sz="3200" dirty="0" smtClean="0"/>
              <a:t>When an exception occurs, Java creates an object of that exception type and passes it to the catch block.</a:t>
            </a:r>
          </a:p>
          <a:p>
            <a:pPr marL="571500" indent="-571500">
              <a:buFont typeface="Arial" panose="020B0604020202020204" pitchFamily="34" charset="0"/>
              <a:buChar char="•"/>
            </a:pPr>
            <a:r>
              <a:rPr lang="en-US" sz="3200" dirty="0" smtClean="0"/>
              <a:t>You can use e to get information about the exception. </a:t>
            </a:r>
          </a:p>
        </p:txBody>
      </p:sp>
      <p:pic>
        <p:nvPicPr>
          <p:cNvPr id="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5762"/>
          <a:stretch/>
        </p:blipFill>
        <p:spPr bwMode="auto">
          <a:xfrm>
            <a:off x="4045250" y="2309288"/>
            <a:ext cx="8534400" cy="2834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10207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Using try and catch</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184211"/>
            <a:ext cx="16463277" cy="5539978"/>
          </a:xfrm>
          <a:prstGeom prst="rect">
            <a:avLst/>
          </a:prstGeom>
        </p:spPr>
        <p:txBody>
          <a:bodyPr wrap="square" lIns="0" tIns="0" rIns="0" bIns="0" rtlCol="0" anchor="t">
            <a:spAutoFit/>
          </a:bodyPr>
          <a:lstStyle/>
          <a:p>
            <a:pPr lvl="0" fontAlgn="base">
              <a:spcBef>
                <a:spcPct val="0"/>
              </a:spcBef>
              <a:spcAft>
                <a:spcPct val="0"/>
              </a:spcAft>
            </a:pPr>
            <a:r>
              <a:rPr lang="en-US" altLang="en-US" sz="3600" b="1" dirty="0">
                <a:solidFill>
                  <a:srgbClr val="7F0055"/>
                </a:solidFill>
                <a:latin typeface="Consolas" pitchFamily="49" charset="0"/>
                <a:cs typeface="Arial" pitchFamily="34" charset="0"/>
              </a:rPr>
              <a:t>package</a:t>
            </a:r>
            <a:r>
              <a:rPr lang="en-US" altLang="en-US" sz="3600" dirty="0">
                <a:solidFill>
                  <a:srgbClr val="000000"/>
                </a:solidFill>
                <a:latin typeface="Consolas" pitchFamily="49" charset="0"/>
                <a:cs typeface="Arial" pitchFamily="34" charset="0"/>
              </a:rPr>
              <a:t> exceptionhandling;</a:t>
            </a:r>
          </a:p>
          <a:p>
            <a:pPr lvl="0" eaLnBrk="0" fontAlgn="base" hangingPunct="0">
              <a:spcBef>
                <a:spcPct val="0"/>
              </a:spcBef>
              <a:spcAft>
                <a:spcPct val="0"/>
              </a:spcAft>
            </a:pPr>
            <a:r>
              <a:rPr lang="en-US" altLang="en-US" sz="3600" b="1" dirty="0">
                <a:solidFill>
                  <a:srgbClr val="7F0055"/>
                </a:solidFill>
                <a:latin typeface="Consolas" pitchFamily="49" charset="0"/>
                <a:cs typeface="Arial" pitchFamily="34" charset="0"/>
              </a:rPr>
              <a:t>public</a:t>
            </a:r>
            <a:r>
              <a:rPr lang="en-US" altLang="en-US" sz="3600" dirty="0">
                <a:solidFill>
                  <a:srgbClr val="000000"/>
                </a:solidFill>
                <a:latin typeface="Consolas" pitchFamily="49" charset="0"/>
                <a:cs typeface="Arial" pitchFamily="34" charset="0"/>
              </a:rPr>
              <a:t> </a:t>
            </a:r>
            <a:r>
              <a:rPr lang="en-US" altLang="en-US" sz="3600" b="1" dirty="0">
                <a:solidFill>
                  <a:srgbClr val="7F0055"/>
                </a:solidFill>
                <a:latin typeface="Consolas" pitchFamily="49" charset="0"/>
                <a:cs typeface="Arial" pitchFamily="34" charset="0"/>
              </a:rPr>
              <a:t>class</a:t>
            </a:r>
            <a:r>
              <a:rPr lang="en-US" altLang="en-US" sz="3600" dirty="0">
                <a:solidFill>
                  <a:srgbClr val="000000"/>
                </a:solidFill>
                <a:latin typeface="Consolas" pitchFamily="49" charset="0"/>
                <a:cs typeface="Arial" pitchFamily="34" charset="0"/>
              </a:rPr>
              <a:t> E3 {</a:t>
            </a:r>
          </a:p>
          <a:p>
            <a:pPr lvl="0" eaLnBrk="0" fontAlgn="base" hangingPunct="0">
              <a:spcBef>
                <a:spcPct val="0"/>
              </a:spcBef>
              <a:spcAft>
                <a:spcPct val="0"/>
              </a:spcAft>
            </a:pPr>
            <a:r>
              <a:rPr lang="en-US" altLang="en-US" sz="3600" b="1" dirty="0">
                <a:solidFill>
                  <a:srgbClr val="7F0055"/>
                </a:solidFill>
                <a:latin typeface="Consolas" pitchFamily="49" charset="0"/>
                <a:cs typeface="Arial" pitchFamily="34" charset="0"/>
              </a:rPr>
              <a:t>public</a:t>
            </a:r>
            <a:r>
              <a:rPr lang="en-US" altLang="en-US" sz="3600" dirty="0">
                <a:solidFill>
                  <a:srgbClr val="000000"/>
                </a:solidFill>
                <a:latin typeface="Consolas" pitchFamily="49" charset="0"/>
                <a:cs typeface="Arial" pitchFamily="34" charset="0"/>
              </a:rPr>
              <a:t> </a:t>
            </a:r>
            <a:r>
              <a:rPr lang="en-US" altLang="en-US" sz="3600" b="1" dirty="0">
                <a:solidFill>
                  <a:srgbClr val="7F0055"/>
                </a:solidFill>
                <a:latin typeface="Consolas" pitchFamily="49" charset="0"/>
                <a:cs typeface="Arial" pitchFamily="34" charset="0"/>
              </a:rPr>
              <a:t>static</a:t>
            </a:r>
            <a:r>
              <a:rPr lang="en-US" altLang="en-US" sz="3600" dirty="0">
                <a:solidFill>
                  <a:srgbClr val="000000"/>
                </a:solidFill>
                <a:latin typeface="Consolas" pitchFamily="49" charset="0"/>
                <a:cs typeface="Arial" pitchFamily="34" charset="0"/>
              </a:rPr>
              <a:t> </a:t>
            </a:r>
            <a:r>
              <a:rPr lang="en-US" altLang="en-US" sz="3600" b="1" dirty="0">
                <a:solidFill>
                  <a:srgbClr val="7F0055"/>
                </a:solidFill>
                <a:latin typeface="Consolas" pitchFamily="49" charset="0"/>
                <a:cs typeface="Arial" pitchFamily="34" charset="0"/>
              </a:rPr>
              <a:t>void</a:t>
            </a:r>
            <a:r>
              <a:rPr lang="en-US" altLang="en-US" sz="3600" dirty="0">
                <a:solidFill>
                  <a:srgbClr val="000000"/>
                </a:solidFill>
                <a:latin typeface="Consolas" pitchFamily="49" charset="0"/>
                <a:cs typeface="Arial" pitchFamily="34" charset="0"/>
              </a:rPr>
              <a:t> main(String[] </a:t>
            </a:r>
            <a:r>
              <a:rPr lang="en-US" altLang="en-US" sz="3600" dirty="0">
                <a:solidFill>
                  <a:srgbClr val="6A3E3E"/>
                </a:solidFill>
                <a:latin typeface="Consolas" pitchFamily="49" charset="0"/>
                <a:cs typeface="Arial" pitchFamily="34" charset="0"/>
              </a:rPr>
              <a:t>args</a:t>
            </a:r>
            <a:r>
              <a:rPr lang="en-US" altLang="en-US" sz="3600" dirty="0">
                <a:solidFill>
                  <a:srgbClr val="000000"/>
                </a:solidFill>
                <a:latin typeface="Consolas" pitchFamily="49" charset="0"/>
                <a:cs typeface="Arial" pitchFamily="34" charset="0"/>
              </a:rPr>
              <a:t>) {</a:t>
            </a:r>
          </a:p>
          <a:p>
            <a:pPr lvl="0" eaLnBrk="0" fontAlgn="base" hangingPunct="0">
              <a:spcBef>
                <a:spcPct val="0"/>
              </a:spcBef>
              <a:spcAft>
                <a:spcPct val="0"/>
              </a:spcAft>
            </a:pPr>
            <a:r>
              <a:rPr lang="en-US" altLang="en-US" sz="3600" b="1" dirty="0">
                <a:solidFill>
                  <a:srgbClr val="7F0055"/>
                </a:solidFill>
                <a:latin typeface="Consolas" pitchFamily="49" charset="0"/>
                <a:cs typeface="Arial" pitchFamily="34" charset="0"/>
              </a:rPr>
              <a:t>try</a:t>
            </a:r>
            <a:r>
              <a:rPr lang="en-US" altLang="en-US" sz="3600" dirty="0">
                <a:solidFill>
                  <a:srgbClr val="000000"/>
                </a:solidFill>
                <a:latin typeface="Consolas" pitchFamily="49" charset="0"/>
                <a:cs typeface="Arial" pitchFamily="34" charset="0"/>
              </a:rPr>
              <a:t> {</a:t>
            </a:r>
          </a:p>
          <a:p>
            <a:pPr lvl="0" eaLnBrk="0" fontAlgn="base" hangingPunct="0">
              <a:spcBef>
                <a:spcPct val="0"/>
              </a:spcBef>
              <a:spcAft>
                <a:spcPct val="0"/>
              </a:spcAft>
            </a:pPr>
            <a:r>
              <a:rPr lang="en-US" altLang="en-US" sz="3600" b="1" dirty="0">
                <a:solidFill>
                  <a:srgbClr val="7F0055"/>
                </a:solidFill>
                <a:latin typeface="Consolas" pitchFamily="49" charset="0"/>
                <a:cs typeface="Arial" pitchFamily="34" charset="0"/>
              </a:rPr>
              <a:t>int</a:t>
            </a:r>
            <a:r>
              <a:rPr lang="en-US" altLang="en-US" sz="3600" dirty="0">
                <a:solidFill>
                  <a:srgbClr val="000000"/>
                </a:solidFill>
                <a:latin typeface="Consolas" pitchFamily="49" charset="0"/>
                <a:cs typeface="Arial" pitchFamily="34" charset="0"/>
              </a:rPr>
              <a:t> </a:t>
            </a:r>
            <a:r>
              <a:rPr lang="en-US" altLang="en-US" sz="3600" dirty="0">
                <a:solidFill>
                  <a:srgbClr val="6A3E3E"/>
                </a:solidFill>
                <a:latin typeface="Consolas" pitchFamily="49" charset="0"/>
                <a:cs typeface="Arial" pitchFamily="34" charset="0"/>
              </a:rPr>
              <a:t>d</a:t>
            </a:r>
            <a:r>
              <a:rPr lang="en-US" altLang="en-US" sz="3600" dirty="0">
                <a:solidFill>
                  <a:srgbClr val="000000"/>
                </a:solidFill>
                <a:latin typeface="Consolas" pitchFamily="49" charset="0"/>
                <a:cs typeface="Arial" pitchFamily="34" charset="0"/>
              </a:rPr>
              <a:t> = 0;</a:t>
            </a:r>
          </a:p>
          <a:p>
            <a:pPr lvl="0" eaLnBrk="0" fontAlgn="base" hangingPunct="0">
              <a:spcBef>
                <a:spcPct val="0"/>
              </a:spcBef>
              <a:spcAft>
                <a:spcPct val="0"/>
              </a:spcAft>
            </a:pPr>
            <a:r>
              <a:rPr lang="en-US" altLang="en-US" sz="3600" b="1" dirty="0">
                <a:solidFill>
                  <a:srgbClr val="7F0055"/>
                </a:solidFill>
                <a:latin typeface="Consolas" pitchFamily="49" charset="0"/>
                <a:cs typeface="Arial" pitchFamily="34" charset="0"/>
              </a:rPr>
              <a:t>int</a:t>
            </a:r>
            <a:r>
              <a:rPr lang="en-US" altLang="en-US" sz="3600" dirty="0">
                <a:solidFill>
                  <a:srgbClr val="000000"/>
                </a:solidFill>
                <a:latin typeface="Consolas" pitchFamily="49" charset="0"/>
                <a:cs typeface="Arial" pitchFamily="34" charset="0"/>
              </a:rPr>
              <a:t> </a:t>
            </a:r>
            <a:r>
              <a:rPr lang="en-US" altLang="en-US" sz="3600" dirty="0">
                <a:solidFill>
                  <a:srgbClr val="6A3E3E"/>
                </a:solidFill>
                <a:latin typeface="Consolas" pitchFamily="49" charset="0"/>
                <a:cs typeface="Arial" pitchFamily="34" charset="0"/>
              </a:rPr>
              <a:t>a</a:t>
            </a:r>
            <a:r>
              <a:rPr lang="en-US" altLang="en-US" sz="3600" dirty="0">
                <a:solidFill>
                  <a:srgbClr val="000000"/>
                </a:solidFill>
                <a:latin typeface="Consolas" pitchFamily="49" charset="0"/>
                <a:cs typeface="Arial" pitchFamily="34" charset="0"/>
              </a:rPr>
              <a:t> = 10 / </a:t>
            </a:r>
            <a:r>
              <a:rPr lang="en-US" altLang="en-US" sz="3600" dirty="0">
                <a:solidFill>
                  <a:srgbClr val="6A3E3E"/>
                </a:solidFill>
                <a:latin typeface="Consolas" pitchFamily="49" charset="0"/>
                <a:cs typeface="Arial" pitchFamily="34" charset="0"/>
              </a:rPr>
              <a:t>d</a:t>
            </a:r>
            <a:r>
              <a:rPr lang="en-US" altLang="en-US" sz="3600" dirty="0">
                <a:solidFill>
                  <a:srgbClr val="000000"/>
                </a:solidFill>
                <a:latin typeface="Consolas" pitchFamily="49" charset="0"/>
                <a:cs typeface="Arial" pitchFamily="34" charset="0"/>
              </a:rPr>
              <a:t>;</a:t>
            </a:r>
          </a:p>
          <a:p>
            <a:pPr lvl="0" eaLnBrk="0" fontAlgn="base" hangingPunct="0">
              <a:spcBef>
                <a:spcPct val="0"/>
              </a:spcBef>
              <a:spcAft>
                <a:spcPct val="0"/>
              </a:spcAft>
            </a:pPr>
            <a:r>
              <a:rPr lang="en-US" altLang="en-US" sz="3600" dirty="0">
                <a:solidFill>
                  <a:srgbClr val="000000"/>
                </a:solidFill>
                <a:latin typeface="Consolas" pitchFamily="49" charset="0"/>
                <a:cs typeface="Arial" pitchFamily="34" charset="0"/>
              </a:rPr>
              <a:t>System.</a:t>
            </a:r>
            <a:r>
              <a:rPr lang="en-US" altLang="en-US" sz="3600" b="1" i="1" dirty="0">
                <a:solidFill>
                  <a:srgbClr val="0000C0"/>
                </a:solidFill>
                <a:latin typeface="Consolas" pitchFamily="49" charset="0"/>
                <a:cs typeface="Arial" pitchFamily="34" charset="0"/>
              </a:rPr>
              <a:t>out</a:t>
            </a:r>
            <a:r>
              <a:rPr lang="en-US" altLang="en-US" sz="3600" dirty="0">
                <a:solidFill>
                  <a:srgbClr val="000000"/>
                </a:solidFill>
                <a:latin typeface="Consolas" pitchFamily="49" charset="0"/>
                <a:cs typeface="Arial" pitchFamily="34" charset="0"/>
              </a:rPr>
              <a:t>.println(</a:t>
            </a:r>
            <a:r>
              <a:rPr lang="en-US" altLang="en-US" sz="3600" dirty="0">
                <a:solidFill>
                  <a:srgbClr val="6A3E3E"/>
                </a:solidFill>
                <a:latin typeface="Consolas" pitchFamily="49" charset="0"/>
                <a:cs typeface="Arial" pitchFamily="34" charset="0"/>
              </a:rPr>
              <a:t>a</a:t>
            </a:r>
            <a:r>
              <a:rPr lang="en-US" altLang="en-US" sz="3600" dirty="0" smtClean="0">
                <a:solidFill>
                  <a:srgbClr val="000000"/>
                </a:solidFill>
                <a:latin typeface="Consolas" pitchFamily="49" charset="0"/>
                <a:cs typeface="Arial" pitchFamily="34" charset="0"/>
              </a:rPr>
              <a:t>);}</a:t>
            </a:r>
            <a:endParaRPr lang="en-US" altLang="en-US" sz="3600" dirty="0">
              <a:solidFill>
                <a:srgbClr val="000000"/>
              </a:solidFill>
              <a:latin typeface="Consolas" pitchFamily="49" charset="0"/>
              <a:cs typeface="Arial" pitchFamily="34" charset="0"/>
            </a:endParaRPr>
          </a:p>
          <a:p>
            <a:pPr lvl="0" eaLnBrk="0" fontAlgn="base" hangingPunct="0">
              <a:spcBef>
                <a:spcPct val="0"/>
              </a:spcBef>
              <a:spcAft>
                <a:spcPct val="0"/>
              </a:spcAft>
            </a:pPr>
            <a:r>
              <a:rPr lang="en-US" altLang="en-US" sz="3600" b="1" dirty="0">
                <a:solidFill>
                  <a:srgbClr val="7F0055"/>
                </a:solidFill>
                <a:latin typeface="Consolas" pitchFamily="49" charset="0"/>
                <a:cs typeface="Arial" pitchFamily="34" charset="0"/>
              </a:rPr>
              <a:t>catch</a:t>
            </a:r>
            <a:r>
              <a:rPr lang="en-US" altLang="en-US" sz="3600" dirty="0">
                <a:solidFill>
                  <a:srgbClr val="000000"/>
                </a:solidFill>
                <a:latin typeface="Consolas" pitchFamily="49" charset="0"/>
                <a:cs typeface="Arial" pitchFamily="34" charset="0"/>
              </a:rPr>
              <a:t> (ArithmeticException </a:t>
            </a:r>
            <a:r>
              <a:rPr lang="en-US" altLang="en-US" sz="3600" dirty="0">
                <a:solidFill>
                  <a:srgbClr val="6A3E3E"/>
                </a:solidFill>
                <a:latin typeface="Consolas" pitchFamily="49" charset="0"/>
                <a:cs typeface="Arial" pitchFamily="34" charset="0"/>
              </a:rPr>
              <a:t>e</a:t>
            </a:r>
            <a:r>
              <a:rPr lang="en-US" altLang="en-US" sz="3600" dirty="0">
                <a:solidFill>
                  <a:srgbClr val="000000"/>
                </a:solidFill>
                <a:latin typeface="Consolas" pitchFamily="49" charset="0"/>
                <a:cs typeface="Arial" pitchFamily="34" charset="0"/>
              </a:rPr>
              <a:t>) {</a:t>
            </a:r>
          </a:p>
          <a:p>
            <a:pPr lvl="0" eaLnBrk="0" fontAlgn="base" hangingPunct="0">
              <a:spcBef>
                <a:spcPct val="0"/>
              </a:spcBef>
              <a:spcAft>
                <a:spcPct val="0"/>
              </a:spcAft>
            </a:pPr>
            <a:r>
              <a:rPr lang="en-US" altLang="en-US" sz="3600" dirty="0">
                <a:solidFill>
                  <a:srgbClr val="000000"/>
                </a:solidFill>
                <a:latin typeface="Consolas" pitchFamily="49" charset="0"/>
                <a:cs typeface="Arial" pitchFamily="34" charset="0"/>
              </a:rPr>
              <a:t>System.</a:t>
            </a:r>
            <a:r>
              <a:rPr lang="en-US" altLang="en-US" sz="3600" b="1" i="1" dirty="0">
                <a:solidFill>
                  <a:srgbClr val="0000C0"/>
                </a:solidFill>
                <a:latin typeface="Consolas" pitchFamily="49" charset="0"/>
                <a:cs typeface="Arial" pitchFamily="34" charset="0"/>
              </a:rPr>
              <a:t>out</a:t>
            </a:r>
            <a:r>
              <a:rPr lang="en-US" altLang="en-US" sz="3600" dirty="0">
                <a:solidFill>
                  <a:srgbClr val="000000"/>
                </a:solidFill>
                <a:latin typeface="Consolas" pitchFamily="49" charset="0"/>
                <a:cs typeface="Arial" pitchFamily="34" charset="0"/>
              </a:rPr>
              <a:t>.println(</a:t>
            </a:r>
            <a:r>
              <a:rPr lang="en-US" altLang="en-US" sz="3600" dirty="0">
                <a:solidFill>
                  <a:srgbClr val="2A00FF"/>
                </a:solidFill>
                <a:latin typeface="Consolas" pitchFamily="49" charset="0"/>
                <a:cs typeface="Arial" pitchFamily="34" charset="0"/>
              </a:rPr>
              <a:t>"Divide by zero</a:t>
            </a:r>
            <a:r>
              <a:rPr lang="en-US" altLang="en-US" sz="3600" dirty="0" smtClean="0">
                <a:solidFill>
                  <a:srgbClr val="2A00FF"/>
                </a:solidFill>
                <a:latin typeface="Consolas" pitchFamily="49" charset="0"/>
                <a:cs typeface="Arial" pitchFamily="34" charset="0"/>
              </a:rPr>
              <a:t>"</a:t>
            </a:r>
            <a:r>
              <a:rPr lang="en-US" altLang="en-US" sz="3600" dirty="0" smtClean="0">
                <a:solidFill>
                  <a:srgbClr val="000000"/>
                </a:solidFill>
                <a:latin typeface="Consolas" pitchFamily="49" charset="0"/>
                <a:cs typeface="Arial" pitchFamily="34" charset="0"/>
              </a:rPr>
              <a:t>);}</a:t>
            </a:r>
          </a:p>
          <a:p>
            <a:pPr lvl="0" eaLnBrk="0" fontAlgn="base" hangingPunct="0">
              <a:spcBef>
                <a:spcPct val="0"/>
              </a:spcBef>
              <a:spcAft>
                <a:spcPct val="0"/>
              </a:spcAft>
            </a:pPr>
            <a:r>
              <a:rPr lang="en-US" sz="3600" dirty="0">
                <a:solidFill>
                  <a:srgbClr val="000000"/>
                </a:solidFill>
                <a:latin typeface="Consolas"/>
              </a:rPr>
              <a:t>System.</a:t>
            </a:r>
            <a:r>
              <a:rPr lang="en-US" sz="3600" b="1" i="1" dirty="0">
                <a:solidFill>
                  <a:srgbClr val="0000C0"/>
                </a:solidFill>
                <a:latin typeface="Consolas"/>
              </a:rPr>
              <a:t>out</a:t>
            </a:r>
            <a:r>
              <a:rPr lang="en-US" sz="3600" dirty="0">
                <a:solidFill>
                  <a:srgbClr val="000000"/>
                </a:solidFill>
                <a:latin typeface="Consolas"/>
              </a:rPr>
              <a:t>.println(</a:t>
            </a:r>
            <a:r>
              <a:rPr lang="en-US" sz="3600" dirty="0">
                <a:solidFill>
                  <a:srgbClr val="2A00FF"/>
                </a:solidFill>
                <a:latin typeface="Consolas"/>
              </a:rPr>
              <a:t>"After catch STATEMENT"</a:t>
            </a:r>
            <a:r>
              <a:rPr lang="en-US" sz="3600" dirty="0">
                <a:solidFill>
                  <a:srgbClr val="000000"/>
                </a:solidFill>
                <a:latin typeface="Consolas"/>
              </a:rPr>
              <a:t>);</a:t>
            </a:r>
            <a:r>
              <a:rPr lang="en-US" altLang="en-US" sz="3600" dirty="0" smtClean="0">
                <a:solidFill>
                  <a:srgbClr val="000000"/>
                </a:solidFill>
                <a:latin typeface="Consolas" pitchFamily="49" charset="0"/>
                <a:cs typeface="Arial" pitchFamily="34" charset="0"/>
              </a:rPr>
              <a:t>}}</a:t>
            </a:r>
            <a:endParaRPr lang="en-US" altLang="en-US" sz="3600" dirty="0">
              <a:solidFill>
                <a:srgbClr val="000000"/>
              </a:solidFill>
              <a:latin typeface="Consolas" pitchFamily="49" charset="0"/>
              <a:cs typeface="Arial" pitchFamily="34" charset="0"/>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433501"/>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686265" y="7818422"/>
            <a:ext cx="10515135"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sng" strike="noStrike" cap="none" normalizeH="0" baseline="0" dirty="0" smtClean="0">
                <a:ln>
                  <a:noFill/>
                </a:ln>
                <a:solidFill>
                  <a:srgbClr val="000000"/>
                </a:solidFill>
                <a:effectLst/>
                <a:latin typeface="Consolas" pitchFamily="49" charset="0"/>
                <a:cs typeface="Arial" pitchFamily="34" charset="0"/>
              </a:rPr>
              <a:t>Output:-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0" i="0" u="none" strike="noStrike" cap="none" normalizeH="0" baseline="0" dirty="0" smtClean="0">
                <a:ln>
                  <a:noFill/>
                </a:ln>
                <a:solidFill>
                  <a:srgbClr val="000000"/>
                </a:solidFill>
                <a:effectLst/>
                <a:latin typeface="Consolas" pitchFamily="49" charset="0"/>
                <a:cs typeface="Arial" pitchFamily="34" charset="0"/>
              </a:rPr>
              <a:t>Divide by zero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smtClean="0">
                <a:ln>
                  <a:noFill/>
                </a:ln>
                <a:solidFill>
                  <a:srgbClr val="000000"/>
                </a:solidFill>
                <a:effectLst/>
                <a:latin typeface="Consolas" pitchFamily="49" charset="0"/>
                <a:cs typeface="Arial" pitchFamily="34" charset="0"/>
              </a:rPr>
              <a:t>After catch STATEMENT</a:t>
            </a:r>
            <a:endParaRPr kumimoji="0" lang="en-US" altLang="en-US" sz="4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644655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Displaying a Description of an Exception</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975029" cy="738663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smtClean="0"/>
              <a:t>When an exception occurs, Java creates an object of the subclass of Throwable</a:t>
            </a:r>
            <a:r>
              <a:rPr lang="en-US" sz="4000" dirty="0"/>
              <a:t>.</a:t>
            </a:r>
            <a:endParaRPr lang="en-US" sz="4000" dirty="0" smtClean="0"/>
          </a:p>
          <a:p>
            <a:pPr marL="571500" indent="-571500">
              <a:buFont typeface="Arial" panose="020B0604020202020204" pitchFamily="34" charset="0"/>
              <a:buChar char="•"/>
            </a:pPr>
            <a:r>
              <a:rPr lang="en-US" sz="4000" dirty="0" smtClean="0"/>
              <a:t>Throwable </a:t>
            </a:r>
            <a:r>
              <a:rPr lang="en-US" sz="4000" dirty="0"/>
              <a:t>overrides the toString( ) method (defined by Object) so that it returns a </a:t>
            </a:r>
            <a:r>
              <a:rPr lang="en-US" sz="4000" dirty="0" smtClean="0"/>
              <a:t>string containing </a:t>
            </a:r>
            <a:r>
              <a:rPr lang="en-US" sz="4000" dirty="0"/>
              <a:t>a description of the exception</a:t>
            </a:r>
            <a:r>
              <a:rPr lang="en-US" sz="4000" dirty="0" smtClean="0"/>
              <a:t>.</a:t>
            </a:r>
          </a:p>
          <a:p>
            <a:pPr marL="571500" indent="-571500">
              <a:buFont typeface="Arial" panose="020B0604020202020204" pitchFamily="34" charset="0"/>
              <a:buChar char="•"/>
            </a:pPr>
            <a:r>
              <a:rPr lang="en-US" sz="4000" dirty="0" smtClean="0"/>
              <a:t>e is the  object reference, so it returns a string containing a description of  exception.</a:t>
            </a:r>
          </a:p>
          <a:p>
            <a:pPr marL="571500" indent="-571500">
              <a:buFont typeface="Arial" panose="020B0604020202020204" pitchFamily="34" charset="0"/>
              <a:buChar char="•"/>
            </a:pPr>
            <a:r>
              <a:rPr lang="en-US" sz="4000" dirty="0" smtClean="0"/>
              <a:t>You can display this description in a println( ) statement by simply passing exception as argument. </a:t>
            </a:r>
          </a:p>
          <a:p>
            <a:pPr marL="571500" indent="-571500">
              <a:buFont typeface="Arial" panose="020B0604020202020204" pitchFamily="34" charset="0"/>
              <a:buChar char="•"/>
            </a:pPr>
            <a:r>
              <a:rPr lang="en-US" sz="4000" dirty="0" smtClean="0"/>
              <a:t>If we just System.out.println(e), it actually calls e.toString internally</a:t>
            </a:r>
          </a:p>
          <a:p>
            <a:pPr marL="571500" indent="-571500">
              <a:buFont typeface="Arial" panose="020B0604020202020204" pitchFamily="34" charset="0"/>
              <a:buChar char="•"/>
            </a:pPr>
            <a:r>
              <a:rPr lang="en-US" sz="4000" dirty="0" smtClean="0"/>
              <a:t>e.getMessage( ) – Return a short description of exception</a:t>
            </a:r>
          </a:p>
          <a:p>
            <a:pPr marL="571500" indent="-571500">
              <a:buFont typeface="Arial" panose="020B0604020202020204" pitchFamily="34" charset="0"/>
              <a:buChar char="•"/>
            </a:pPr>
            <a:r>
              <a:rPr lang="en-US" sz="4000" dirty="0"/>
              <a:t>e</a:t>
            </a:r>
            <a:r>
              <a:rPr lang="en-US" sz="4000" dirty="0" smtClean="0"/>
              <a:t> or e.toString( ) – Returns exception type and description</a:t>
            </a:r>
          </a:p>
          <a:p>
            <a:pPr marL="571500" indent="-571500">
              <a:buFont typeface="Arial" panose="020B0604020202020204" pitchFamily="34" charset="0"/>
              <a:buChar char="•"/>
            </a:pPr>
            <a:r>
              <a:rPr lang="en-US" sz="4000" dirty="0" smtClean="0"/>
              <a:t>e.printStackTrace( ) – Print full stack trace as type, message and where it occurred. </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3829827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Displaying a Description of an Exception</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5170646"/>
          </a:xfrm>
          <a:prstGeom prst="rect">
            <a:avLst/>
          </a:prstGeom>
        </p:spPr>
        <p:txBody>
          <a:bodyPr wrap="square" lIns="0" tIns="0" rIns="0" bIns="0" rtlCol="0" anchor="t">
            <a:spAutoFit/>
          </a:bodyPr>
          <a:lstStyle/>
          <a:p>
            <a:r>
              <a:rPr lang="en-US" sz="2800" b="1" dirty="0">
                <a:solidFill>
                  <a:srgbClr val="7F0055"/>
                </a:solidFill>
                <a:latin typeface="Consolas"/>
              </a:rPr>
              <a:t>package</a:t>
            </a:r>
            <a:r>
              <a:rPr lang="en-US" sz="2800" dirty="0">
                <a:solidFill>
                  <a:srgbClr val="000000"/>
                </a:solidFill>
                <a:latin typeface="Consolas"/>
              </a:rPr>
              <a:t> 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displayedescription {</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p>
          <a:p>
            <a:r>
              <a:rPr lang="en-US" sz="2800" b="1" dirty="0">
                <a:solidFill>
                  <a:srgbClr val="7F0055"/>
                </a:solidFill>
                <a:latin typeface="Consolas"/>
              </a:rPr>
              <a:t>try</a:t>
            </a:r>
            <a:r>
              <a:rPr lang="en-US" sz="2800" dirty="0">
                <a:solidFill>
                  <a:srgbClr val="000000"/>
                </a:solidFill>
                <a:latin typeface="Consolas"/>
              </a:rPr>
              <a:t> {</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d</a:t>
            </a:r>
            <a:r>
              <a:rPr lang="en-US" sz="2800" dirty="0">
                <a:solidFill>
                  <a:srgbClr val="000000"/>
                </a:solidFill>
                <a:latin typeface="Consolas"/>
              </a:rPr>
              <a:t> = 0;</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a</a:t>
            </a:r>
            <a:r>
              <a:rPr lang="en-US" sz="2800" dirty="0">
                <a:solidFill>
                  <a:srgbClr val="000000"/>
                </a:solidFill>
                <a:latin typeface="Consolas"/>
              </a:rPr>
              <a:t> = 10 / </a:t>
            </a:r>
            <a:r>
              <a:rPr lang="en-US" sz="2800" dirty="0">
                <a:solidFill>
                  <a:srgbClr val="6A3E3E"/>
                </a:solidFill>
                <a:latin typeface="Consolas"/>
              </a:rPr>
              <a:t>d</a:t>
            </a:r>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6A3E3E"/>
                </a:solidFill>
                <a:latin typeface="Consolas"/>
              </a:rPr>
              <a:t>a</a:t>
            </a:r>
            <a:r>
              <a:rPr lang="en-US" sz="2800" dirty="0" smtClean="0">
                <a:solidFill>
                  <a:srgbClr val="000000"/>
                </a:solidFill>
                <a:latin typeface="Consolas"/>
              </a:rPr>
              <a:t>);}</a:t>
            </a:r>
            <a:endParaRPr lang="en-US" sz="2800" dirty="0">
              <a:solidFill>
                <a:srgbClr val="000000"/>
              </a:solidFill>
              <a:latin typeface="Consolas"/>
            </a:endParaRPr>
          </a:p>
          <a:p>
            <a:r>
              <a:rPr lang="en-US" sz="2800" b="1" dirty="0">
                <a:solidFill>
                  <a:srgbClr val="7F0055"/>
                </a:solidFill>
                <a:latin typeface="Consolas"/>
              </a:rPr>
              <a:t>catch</a:t>
            </a:r>
            <a:r>
              <a:rPr lang="en-US" sz="2800" dirty="0">
                <a:solidFill>
                  <a:srgbClr val="000000"/>
                </a:solidFill>
                <a:latin typeface="Consolas"/>
              </a:rPr>
              <a:t> (ArithmeticException </a:t>
            </a:r>
            <a:r>
              <a:rPr lang="en-US" sz="2800" dirty="0">
                <a:solidFill>
                  <a:srgbClr val="6A3E3E"/>
                </a:solidFill>
                <a:latin typeface="Consolas"/>
              </a:rPr>
              <a:t>e</a:t>
            </a:r>
            <a:r>
              <a:rPr lang="en-US" sz="2800" dirty="0">
                <a:solidFill>
                  <a:srgbClr val="000000"/>
                </a:solidFill>
                <a:latin typeface="Consolas"/>
              </a:rPr>
              <a:t>)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"Exception:"</a:t>
            </a:r>
            <a:r>
              <a:rPr lang="en-US" sz="2800" dirty="0">
                <a:solidFill>
                  <a:srgbClr val="000000"/>
                </a:solidFill>
                <a:latin typeface="Consolas"/>
              </a:rPr>
              <a:t>+</a:t>
            </a:r>
            <a:r>
              <a:rPr lang="en-US" sz="2800" dirty="0">
                <a:solidFill>
                  <a:srgbClr val="6A3E3E"/>
                </a:solidFill>
                <a:latin typeface="Consolas"/>
              </a:rPr>
              <a:t>e</a:t>
            </a:r>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t>
            </a:r>
            <a:r>
              <a:rPr lang="en-US" sz="2800" dirty="0" smtClean="0">
                <a:solidFill>
                  <a:srgbClr val="2A00FF"/>
                </a:solidFill>
                <a:latin typeface="Consolas"/>
              </a:rPr>
              <a:t>Message : "</a:t>
            </a:r>
            <a:r>
              <a:rPr lang="en-US" sz="2800" dirty="0" smtClean="0">
                <a:solidFill>
                  <a:srgbClr val="000000"/>
                </a:solidFill>
                <a:latin typeface="Consolas"/>
              </a:rPr>
              <a:t>+</a:t>
            </a:r>
            <a:r>
              <a:rPr lang="en-US" sz="2800" dirty="0">
                <a:solidFill>
                  <a:srgbClr val="6A3E3E"/>
                </a:solidFill>
                <a:latin typeface="Consolas"/>
              </a:rPr>
              <a:t>e</a:t>
            </a:r>
            <a:r>
              <a:rPr lang="en-US" sz="2800" dirty="0">
                <a:solidFill>
                  <a:srgbClr val="000000"/>
                </a:solidFill>
                <a:latin typeface="Consolas"/>
              </a:rPr>
              <a:t>.getMessage());</a:t>
            </a:r>
          </a:p>
          <a:p>
            <a:r>
              <a:rPr lang="en-US" sz="2800" dirty="0">
                <a:solidFill>
                  <a:srgbClr val="6A3E3E"/>
                </a:solidFill>
                <a:latin typeface="Consolas"/>
              </a:rPr>
              <a:t>e</a:t>
            </a:r>
            <a:r>
              <a:rPr lang="en-US" sz="2800" dirty="0">
                <a:solidFill>
                  <a:srgbClr val="000000"/>
                </a:solidFill>
                <a:latin typeface="Consolas"/>
              </a:rPr>
              <a:t>.printStackTrace</a:t>
            </a:r>
            <a:r>
              <a:rPr lang="en-US" sz="2800" dirty="0" smtClean="0">
                <a:solidFill>
                  <a:srgbClr val="000000"/>
                </a:solidFill>
                <a:latin typeface="Consolas"/>
              </a:rPr>
              <a:t>();}}}</a:t>
            </a:r>
          </a:p>
          <a:p>
            <a:endParaRPr lang="en-US" sz="2800" dirty="0" smtClean="0">
              <a:solidFill>
                <a:srgbClr val="000000"/>
              </a:solidFill>
              <a:effectLst/>
              <a:latin typeface="Consolas"/>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8" name="Rectangle 3"/>
          <p:cNvSpPr>
            <a:spLocks noChangeArrowheads="1"/>
          </p:cNvSpPr>
          <p:nvPr/>
        </p:nvSpPr>
        <p:spPr bwMode="auto">
          <a:xfrm>
            <a:off x="703371" y="7140696"/>
            <a:ext cx="16705996" cy="28315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3200" b="1" u="sng" dirty="0">
                <a:solidFill>
                  <a:srgbClr val="000000"/>
                </a:solidFill>
                <a:latin typeface="Consolas"/>
              </a:rPr>
              <a:t>OUTPUT </a:t>
            </a:r>
            <a:r>
              <a:rPr lang="en-US" sz="3200" b="1" u="sng" dirty="0" smtClean="0">
                <a:solidFill>
                  <a:srgbClr val="000000"/>
                </a:solidFill>
                <a:latin typeface="Consolas"/>
              </a:rPr>
              <a:t>:-</a:t>
            </a:r>
            <a:endParaRPr kumimoji="0" lang="en-US" altLang="en-US" sz="3200" b="1" i="0" u="sng" strike="noStrike" cap="none" normalizeH="0" baseline="0" dirty="0" smtClean="0">
              <a:ln>
                <a:noFill/>
              </a:ln>
              <a:solidFill>
                <a:srgbClr val="0066CC"/>
              </a:solidFill>
              <a:effectLst/>
              <a:latin typeface="Consolas"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Exception:java.lang.ArithmeticException</a:t>
            </a: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 / by zero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Message : / by zero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java.lang.ArithmeticException</a:t>
            </a: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 / by zero</a:t>
            </a:r>
            <a:endParaRPr kumimoji="0" lang="en-US" altLang="en-US" sz="32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at exceptionhandling.displayedescription.main(</a:t>
            </a: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displayedescription.java:6</a:t>
            </a:r>
            <a:r>
              <a:rPr kumimoji="0" lang="en-US" altLang="en-US" sz="3200" b="0" i="0" u="none" strike="noStrike" cap="none" normalizeH="0" baseline="0" dirty="0" smtClean="0">
                <a:ln>
                  <a:noFill/>
                </a:ln>
                <a:solidFill>
                  <a:srgbClr val="FF0000"/>
                </a:solidFill>
                <a:effectLst/>
                <a:latin typeface="Consolas" pitchFamily="49" charset="0"/>
                <a:cs typeface="Arial" pitchFamily="34" charset="0"/>
              </a:rPr>
              <a:t>)</a:t>
            </a:r>
            <a:endParaRPr kumimoji="0" lang="en-US" altLang="en-US" sz="32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TextBox 2"/>
          <p:cNvSpPr txBox="1"/>
          <p:nvPr/>
        </p:nvSpPr>
        <p:spPr>
          <a:xfrm>
            <a:off x="13568367" y="2606937"/>
            <a:ext cx="3352800" cy="4524315"/>
          </a:xfrm>
          <a:prstGeom prst="rect">
            <a:avLst/>
          </a:prstGeom>
          <a:noFill/>
        </p:spPr>
        <p:txBody>
          <a:bodyPr wrap="square" rtlCol="0">
            <a:spAutoFit/>
          </a:bodyPr>
          <a:lstStyle/>
          <a:p>
            <a:r>
              <a:rPr lang="en-US" sz="2400" i="1" dirty="0">
                <a:solidFill>
                  <a:schemeClr val="accent3">
                    <a:lumMod val="50000"/>
                  </a:schemeClr>
                </a:solidFill>
              </a:rPr>
              <a:t>StackTrace – When a program throws an exception and does not handle it, the runtime prints a stack trace (Exception Type, Error Message, Call Stack which contains list of functions that were called and also their order).</a:t>
            </a:r>
            <a:endParaRPr lang="en-US" sz="2400" dirty="0">
              <a:solidFill>
                <a:schemeClr val="accent3">
                  <a:lumMod val="50000"/>
                </a:schemeClr>
              </a:solidFill>
            </a:endParaRPr>
          </a:p>
          <a:p>
            <a:endParaRPr lang="en-US" sz="2400" dirty="0">
              <a:solidFill>
                <a:schemeClr val="accent3">
                  <a:lumMod val="50000"/>
                </a:schemeClr>
              </a:solidFill>
            </a:endParaRPr>
          </a:p>
        </p:txBody>
      </p:sp>
    </p:spTree>
    <p:extLst>
      <p:ext uri="{BB962C8B-B14F-4D97-AF65-F5344CB8AC3E}">
        <p14:creationId xmlns:p14="http://schemas.microsoft.com/office/powerpoint/2010/main" val="42587054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28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Exception Examples</a:t>
            </a:r>
            <a:endParaRPr lang="en-US" sz="7200" b="1" dirty="0">
              <a:solidFill>
                <a:srgbClr val="000000"/>
              </a:solidFill>
              <a:latin typeface="Garet Bold"/>
              <a:ea typeface="Garet Bold"/>
              <a:cs typeface="Garet Bold"/>
              <a:sym typeface="Garet Bold"/>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8" name="Rectangle 7"/>
          <p:cNvSpPr/>
          <p:nvPr/>
        </p:nvSpPr>
        <p:spPr>
          <a:xfrm>
            <a:off x="1224335" y="2476500"/>
            <a:ext cx="15658841" cy="4524315"/>
          </a:xfrm>
          <a:prstGeom prst="rect">
            <a:avLst/>
          </a:prstGeom>
        </p:spPr>
        <p:txBody>
          <a:bodyPr wrap="square">
            <a:spAutoFit/>
          </a:bodyPr>
          <a:lstStyle/>
          <a:p>
            <a:pPr marL="571500" indent="-571500">
              <a:buFont typeface="Arial" panose="020B0604020202020204" pitchFamily="34" charset="0"/>
              <a:buChar char="•"/>
            </a:pPr>
            <a:r>
              <a:rPr lang="en-US" sz="3200" dirty="0" smtClean="0"/>
              <a:t>Some Exception Examples are –</a:t>
            </a:r>
          </a:p>
          <a:p>
            <a:pPr marL="1143000" lvl="1" indent="-685800">
              <a:buFont typeface="Wingdings" panose="05000000000000000000" pitchFamily="2" charset="2"/>
              <a:buChar char="q"/>
            </a:pPr>
            <a:r>
              <a:rPr lang="en-US" sz="3200" dirty="0" smtClean="0"/>
              <a:t>ArithmeticException	</a:t>
            </a:r>
            <a:r>
              <a:rPr lang="en-US" sz="3200" dirty="0"/>
              <a:t> </a:t>
            </a:r>
            <a:r>
              <a:rPr lang="en-US" sz="3200" dirty="0" smtClean="0"/>
              <a:t>- Occurs when a mathematical error happens (like Divide by zero).</a:t>
            </a:r>
          </a:p>
          <a:p>
            <a:pPr marL="1143000" lvl="1" indent="-685800">
              <a:buFont typeface="Wingdings" panose="05000000000000000000" pitchFamily="2" charset="2"/>
              <a:buChar char="q"/>
            </a:pPr>
            <a:r>
              <a:rPr lang="en-US" sz="3200" dirty="0" smtClean="0"/>
              <a:t>Null</a:t>
            </a:r>
            <a:r>
              <a:rPr lang="en-US" sz="3200" dirty="0"/>
              <a:t>	</a:t>
            </a:r>
            <a:r>
              <a:rPr lang="en-US" sz="3200" dirty="0" smtClean="0"/>
              <a:t>PointerException</a:t>
            </a:r>
            <a:r>
              <a:rPr lang="en-US" sz="3200" dirty="0"/>
              <a:t> </a:t>
            </a:r>
            <a:r>
              <a:rPr lang="en-US" sz="3200" dirty="0" smtClean="0"/>
              <a:t>- Occurs when you are using a null object.</a:t>
            </a:r>
          </a:p>
          <a:p>
            <a:pPr marL="1143000" lvl="1" indent="-685800">
              <a:buFont typeface="Wingdings" panose="05000000000000000000" pitchFamily="2" charset="2"/>
              <a:buChar char="q"/>
            </a:pPr>
            <a:r>
              <a:rPr lang="en-US" sz="3200" dirty="0" smtClean="0"/>
              <a:t>ArrayIndexOutOfBoundsException</a:t>
            </a:r>
            <a:r>
              <a:rPr lang="en-US" sz="3200" dirty="0"/>
              <a:t> </a:t>
            </a:r>
            <a:r>
              <a:rPr lang="en-US" sz="3200" dirty="0" smtClean="0"/>
              <a:t>– Accessing invalid index in an array.</a:t>
            </a:r>
          </a:p>
          <a:p>
            <a:pPr marL="1143000" lvl="1" indent="-685800">
              <a:buFont typeface="Wingdings" panose="05000000000000000000" pitchFamily="2" charset="2"/>
              <a:buChar char="q"/>
            </a:pPr>
            <a:r>
              <a:rPr lang="en-US" sz="3200" dirty="0" smtClean="0"/>
              <a:t>NumberFormatException - Converting invalid string to number.</a:t>
            </a:r>
          </a:p>
          <a:p>
            <a:pPr marL="1143000" lvl="1" indent="-685800">
              <a:buFont typeface="Wingdings" panose="05000000000000000000" pitchFamily="2" charset="2"/>
              <a:buChar char="q"/>
            </a:pPr>
            <a:r>
              <a:rPr lang="en-US" sz="3200" dirty="0" smtClean="0"/>
              <a:t>StringIndexOutOfBounds – Accessing invalid index in string.</a:t>
            </a:r>
          </a:p>
          <a:p>
            <a:pPr marL="1143000" lvl="1" indent="-685800">
              <a:buFont typeface="Wingdings" panose="05000000000000000000" pitchFamily="2" charset="2"/>
              <a:buChar char="q"/>
            </a:pPr>
            <a:r>
              <a:rPr lang="en-US" sz="3200" dirty="0" smtClean="0"/>
              <a:t>ClassNotFoundException – When a class is not found during runtime.</a:t>
            </a:r>
          </a:p>
          <a:p>
            <a:pPr marL="1143000" lvl="1" indent="-685800">
              <a:buFont typeface="Wingdings" panose="05000000000000000000" pitchFamily="2" charset="2"/>
              <a:buChar char="q"/>
            </a:pPr>
            <a:r>
              <a:rPr lang="en-US" sz="3200" dirty="0" smtClean="0"/>
              <a:t>FileNotFound - File does not Exist.</a:t>
            </a:r>
          </a:p>
        </p:txBody>
      </p:sp>
    </p:spTree>
    <p:extLst>
      <p:ext uri="{BB962C8B-B14F-4D97-AF65-F5344CB8AC3E}">
        <p14:creationId xmlns:p14="http://schemas.microsoft.com/office/powerpoint/2010/main" val="28312196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Multiple catch Clauses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6771084"/>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In some cases, more than one exception could be raised by a single piece of code</a:t>
            </a:r>
            <a:r>
              <a:rPr lang="en-US" sz="4000" dirty="0" smtClean="0"/>
              <a:t>. </a:t>
            </a:r>
            <a:r>
              <a:rPr lang="en-US" sz="4000" dirty="0"/>
              <a:t>To handle this type of situation, you can specify two or more catch clauses, each catching a different type of exception. </a:t>
            </a:r>
            <a:endParaRPr lang="en-US" sz="4000" dirty="0" smtClean="0"/>
          </a:p>
          <a:p>
            <a:pPr marL="571500" indent="-571500">
              <a:buFont typeface="Arial" panose="020B0604020202020204" pitchFamily="34" charset="0"/>
              <a:buChar char="•"/>
            </a:pPr>
            <a:r>
              <a:rPr lang="en-US" sz="4000" dirty="0" smtClean="0"/>
              <a:t>Multiple Catch Clauses are used to handle different exceptions separately in one try block.</a:t>
            </a:r>
          </a:p>
          <a:p>
            <a:pPr marL="571500" indent="-571500">
              <a:buFont typeface="Arial" panose="020B0604020202020204" pitchFamily="34" charset="0"/>
              <a:buChar char="•"/>
            </a:pPr>
            <a:r>
              <a:rPr lang="en-US" sz="4000" dirty="0" smtClean="0"/>
              <a:t>Each catch block handles a specific type of exception.</a:t>
            </a:r>
          </a:p>
          <a:p>
            <a:pPr marL="571500" indent="-571500">
              <a:buFont typeface="Arial" panose="020B0604020202020204" pitchFamily="34" charset="0"/>
              <a:buChar char="•"/>
            </a:pPr>
            <a:r>
              <a:rPr lang="en-US" sz="4000" dirty="0" smtClean="0"/>
              <a:t>Only one catch block executes when an exception occurs.</a:t>
            </a:r>
            <a:endParaRPr lang="en-US" sz="4000" dirty="0"/>
          </a:p>
          <a:p>
            <a:pPr marL="571500" indent="-571500">
              <a:buFont typeface="Arial" panose="020B0604020202020204" pitchFamily="34" charset="0"/>
              <a:buChar char="•"/>
            </a:pPr>
            <a:r>
              <a:rPr lang="en-US" sz="4000" dirty="0" smtClean="0"/>
              <a:t>When </a:t>
            </a:r>
            <a:r>
              <a:rPr lang="en-US" sz="4000" dirty="0"/>
              <a:t>an exception is thrown, each catch statement is inspected in order, and the first one whose type matches that of the exception is executed. </a:t>
            </a:r>
            <a:endParaRPr lang="en-US" sz="4000" dirty="0" smtClean="0"/>
          </a:p>
          <a:p>
            <a:pPr marL="571500" indent="-571500">
              <a:buFont typeface="Arial" panose="020B0604020202020204" pitchFamily="34" charset="0"/>
              <a:buChar char="•"/>
            </a:pPr>
            <a:r>
              <a:rPr lang="en-US" sz="4000" dirty="0" smtClean="0"/>
              <a:t>After </a:t>
            </a:r>
            <a:r>
              <a:rPr lang="en-US" sz="4000" dirty="0"/>
              <a:t>one catch statement executes, the others are bypassed, and execution continues after the try/catch block</a:t>
            </a:r>
            <a:r>
              <a:rPr lang="en-US" sz="4000" i="1" dirty="0" smtClean="0"/>
              <a:t> .</a:t>
            </a:r>
            <a:endParaRPr lang="en-US" sz="40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35545332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Multiple catch Clauses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7325082"/>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smtClean="0"/>
              <a:t>Basic Syntax :-</a:t>
            </a:r>
          </a:p>
          <a:p>
            <a:r>
              <a:rPr lang="en-US" sz="4000" dirty="0"/>
              <a:t>	</a:t>
            </a:r>
            <a:r>
              <a:rPr lang="en-US" sz="2800" b="1" dirty="0">
                <a:solidFill>
                  <a:srgbClr val="7F0055"/>
                </a:solidFill>
                <a:latin typeface="Consolas"/>
              </a:rPr>
              <a:t>try</a:t>
            </a:r>
            <a:r>
              <a:rPr lang="en-US" sz="3600" dirty="0" smtClean="0"/>
              <a:t> {</a:t>
            </a:r>
          </a:p>
          <a:p>
            <a:r>
              <a:rPr lang="en-US" sz="3600" dirty="0"/>
              <a:t>	</a:t>
            </a:r>
            <a:r>
              <a:rPr lang="en-US" sz="3600" dirty="0" smtClean="0">
                <a:solidFill>
                  <a:schemeClr val="accent3">
                    <a:lumMod val="75000"/>
                  </a:schemeClr>
                </a:solidFill>
              </a:rPr>
              <a:t>// Code that might throw an exception</a:t>
            </a:r>
          </a:p>
          <a:p>
            <a:r>
              <a:rPr lang="en-US" sz="3600" dirty="0"/>
              <a:t>	</a:t>
            </a:r>
            <a:r>
              <a:rPr lang="en-US" sz="3600" dirty="0" smtClean="0"/>
              <a:t>}</a:t>
            </a:r>
          </a:p>
          <a:p>
            <a:r>
              <a:rPr lang="en-US" sz="3600" dirty="0"/>
              <a:t>	</a:t>
            </a:r>
            <a:r>
              <a:rPr lang="en-US" sz="2800" b="1" dirty="0">
                <a:solidFill>
                  <a:srgbClr val="7F0055"/>
                </a:solidFill>
                <a:latin typeface="Consolas"/>
              </a:rPr>
              <a:t>catch</a:t>
            </a:r>
            <a:r>
              <a:rPr lang="en-US" sz="3600" dirty="0" smtClean="0"/>
              <a:t> (ExceptionType1 e1){</a:t>
            </a:r>
          </a:p>
          <a:p>
            <a:r>
              <a:rPr lang="en-US" sz="3600" dirty="0" smtClean="0"/>
              <a:t>	</a:t>
            </a:r>
            <a:r>
              <a:rPr lang="en-US" sz="3600" dirty="0" smtClean="0">
                <a:solidFill>
                  <a:schemeClr val="accent3">
                    <a:lumMod val="75000"/>
                  </a:schemeClr>
                </a:solidFill>
              </a:rPr>
              <a:t>// Handle Exception 1</a:t>
            </a:r>
          </a:p>
          <a:p>
            <a:r>
              <a:rPr lang="en-US" sz="3600" dirty="0"/>
              <a:t>	</a:t>
            </a:r>
            <a:r>
              <a:rPr lang="en-US" sz="3600" dirty="0" smtClean="0"/>
              <a:t>}</a:t>
            </a:r>
          </a:p>
          <a:p>
            <a:r>
              <a:rPr lang="en-US" sz="3600" dirty="0" smtClean="0"/>
              <a:t>  	</a:t>
            </a:r>
            <a:r>
              <a:rPr lang="en-US" sz="2800" b="1" dirty="0">
                <a:solidFill>
                  <a:srgbClr val="7F0055"/>
                </a:solidFill>
                <a:latin typeface="Consolas"/>
              </a:rPr>
              <a:t>catch </a:t>
            </a:r>
            <a:r>
              <a:rPr lang="en-US" sz="3600" dirty="0"/>
              <a:t>(</a:t>
            </a:r>
            <a:r>
              <a:rPr lang="en-US" sz="3600" dirty="0" smtClean="0"/>
              <a:t>ExceptionType2 e2){</a:t>
            </a:r>
          </a:p>
          <a:p>
            <a:r>
              <a:rPr lang="en-US" sz="3600" dirty="0"/>
              <a:t>	</a:t>
            </a:r>
            <a:r>
              <a:rPr lang="en-US" sz="3600" dirty="0">
                <a:solidFill>
                  <a:schemeClr val="accent3">
                    <a:lumMod val="75000"/>
                  </a:schemeClr>
                </a:solidFill>
              </a:rPr>
              <a:t>// Handle Exception 2</a:t>
            </a:r>
            <a:endParaRPr lang="en-US" sz="3600" dirty="0" smtClean="0">
              <a:solidFill>
                <a:schemeClr val="accent3">
                  <a:lumMod val="75000"/>
                </a:schemeClr>
              </a:solidFill>
            </a:endParaRPr>
          </a:p>
          <a:p>
            <a:r>
              <a:rPr lang="en-US" sz="3600" dirty="0" smtClean="0"/>
              <a:t>	}</a:t>
            </a:r>
            <a:endParaRPr lang="en-US" sz="3600" dirty="0"/>
          </a:p>
          <a:p>
            <a:r>
              <a:rPr lang="en-US" sz="3600" dirty="0"/>
              <a:t>	</a:t>
            </a:r>
            <a:r>
              <a:rPr lang="en-US" sz="2800" b="1" dirty="0">
                <a:solidFill>
                  <a:srgbClr val="7F0055"/>
                </a:solidFill>
                <a:latin typeface="Consolas"/>
              </a:rPr>
              <a:t>catch </a:t>
            </a:r>
            <a:r>
              <a:rPr lang="en-US" sz="3600" dirty="0"/>
              <a:t>(</a:t>
            </a:r>
            <a:r>
              <a:rPr lang="en-US" sz="3600" dirty="0" smtClean="0"/>
              <a:t>ExceptionType e){</a:t>
            </a:r>
          </a:p>
          <a:p>
            <a:r>
              <a:rPr lang="en-US" sz="3600" dirty="0" smtClean="0"/>
              <a:t>	</a:t>
            </a:r>
            <a:r>
              <a:rPr lang="en-US" sz="3600" dirty="0">
                <a:solidFill>
                  <a:schemeClr val="accent3">
                    <a:lumMod val="75000"/>
                  </a:schemeClr>
                </a:solidFill>
              </a:rPr>
              <a:t>// Handle </a:t>
            </a:r>
            <a:r>
              <a:rPr lang="en-US" sz="3600" dirty="0" smtClean="0">
                <a:solidFill>
                  <a:schemeClr val="accent3">
                    <a:lumMod val="75000"/>
                  </a:schemeClr>
                </a:solidFill>
              </a:rPr>
              <a:t>any other Exception </a:t>
            </a:r>
            <a:r>
              <a:rPr lang="en-US" sz="3600" dirty="0"/>
              <a:t>	</a:t>
            </a:r>
            <a:endParaRPr lang="en-US" sz="3600" dirty="0" smtClean="0"/>
          </a:p>
          <a:p>
            <a:r>
              <a:rPr lang="en-US" sz="3600" dirty="0" smtClean="0"/>
              <a:t>	}</a:t>
            </a:r>
            <a:endParaRPr lang="en-US" sz="36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8884036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42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a:t>Multiple catch Clauses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1600201" y="2449116"/>
            <a:ext cx="14706600" cy="7325082"/>
          </a:xfrm>
          <a:prstGeom prst="rect">
            <a:avLst/>
          </a:prstGeom>
        </p:spPr>
        <p:txBody>
          <a:bodyPr wrap="square" lIns="0" tIns="0" rIns="0" bIns="0" rtlCol="0" anchor="t">
            <a:spAutoFit/>
          </a:bodyPr>
          <a:lstStyle/>
          <a:p>
            <a:r>
              <a:rPr lang="en-US" sz="2800" b="1" dirty="0">
                <a:solidFill>
                  <a:srgbClr val="7F0055"/>
                </a:solidFill>
                <a:latin typeface="Consolas"/>
              </a:rPr>
              <a:t>package</a:t>
            </a:r>
            <a:r>
              <a:rPr lang="en-US" sz="2800" dirty="0">
                <a:solidFill>
                  <a:srgbClr val="000000"/>
                </a:solidFill>
                <a:latin typeface="Consolas"/>
              </a:rPr>
              <a:t> 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multiplecatchclause {</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p>
          <a:p>
            <a:r>
              <a:rPr lang="en-US" sz="2800" b="1" dirty="0">
                <a:solidFill>
                  <a:srgbClr val="7F0055"/>
                </a:solidFill>
                <a:latin typeface="Consolas"/>
              </a:rPr>
              <a:t>try</a:t>
            </a:r>
            <a:r>
              <a:rPr lang="en-US" sz="2800" dirty="0">
                <a:solidFill>
                  <a:srgbClr val="000000"/>
                </a:solidFill>
                <a:latin typeface="Consolas"/>
              </a:rPr>
              <a:t> {</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a</a:t>
            </a:r>
            <a:r>
              <a:rPr lang="en-US" sz="2800" dirty="0">
                <a:solidFill>
                  <a:srgbClr val="000000"/>
                </a:solidFill>
                <a:latin typeface="Consolas"/>
              </a:rPr>
              <a:t> = </a:t>
            </a:r>
            <a:r>
              <a:rPr lang="en-US" sz="2800" dirty="0">
                <a:solidFill>
                  <a:srgbClr val="6A3E3E"/>
                </a:solidFill>
                <a:latin typeface="Consolas"/>
              </a:rPr>
              <a:t>0</a:t>
            </a:r>
            <a:r>
              <a:rPr lang="en-US" sz="2800" dirty="0" smtClean="0">
                <a:solidFill>
                  <a:srgbClr val="000000"/>
                </a:solidFill>
                <a:latin typeface="Consolas"/>
              </a:rPr>
              <a:t>;</a:t>
            </a:r>
            <a:endParaRPr lang="en-US" sz="2800" dirty="0">
              <a:solidFill>
                <a:srgbClr val="000000"/>
              </a:solidFill>
              <a:latin typeface="Consolas"/>
            </a:endParaRP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 = "</a:t>
            </a:r>
            <a:r>
              <a:rPr lang="en-US" sz="2800" dirty="0">
                <a:solidFill>
                  <a:srgbClr val="000000"/>
                </a:solidFill>
                <a:latin typeface="Consolas"/>
              </a:rPr>
              <a:t> + </a:t>
            </a:r>
            <a:r>
              <a:rPr lang="en-US" sz="2800" dirty="0">
                <a:solidFill>
                  <a:srgbClr val="6A3E3E"/>
                </a:solidFill>
                <a:latin typeface="Consolas"/>
              </a:rPr>
              <a:t>a</a:t>
            </a:r>
            <a:r>
              <a:rPr lang="en-US" sz="2800" dirty="0">
                <a:solidFill>
                  <a:srgbClr val="000000"/>
                </a:solidFill>
                <a:latin typeface="Consolas"/>
              </a:rPr>
              <a:t>);</a:t>
            </a:r>
          </a:p>
          <a:p>
            <a:r>
              <a:rPr lang="en-US" sz="2800" b="1" dirty="0">
                <a:solidFill>
                  <a:srgbClr val="7F0055"/>
                </a:solidFill>
                <a:latin typeface="Consolas"/>
              </a:rPr>
              <a:t>int</a:t>
            </a:r>
            <a:r>
              <a:rPr lang="en-US" sz="2800" dirty="0">
                <a:solidFill>
                  <a:srgbClr val="000000"/>
                </a:solidFill>
                <a:latin typeface="Consolas"/>
              </a:rPr>
              <a:t> </a:t>
            </a:r>
            <a:r>
              <a:rPr lang="en-US" sz="2800" u="sng" dirty="0">
                <a:solidFill>
                  <a:srgbClr val="6A3E3E"/>
                </a:solidFill>
                <a:latin typeface="Consolas"/>
              </a:rPr>
              <a:t>b</a:t>
            </a:r>
            <a:r>
              <a:rPr lang="en-US" sz="2800" dirty="0">
                <a:solidFill>
                  <a:srgbClr val="000000"/>
                </a:solidFill>
                <a:latin typeface="Consolas"/>
              </a:rPr>
              <a:t> = 42 / </a:t>
            </a:r>
            <a:r>
              <a:rPr lang="en-US" sz="2800" dirty="0">
                <a:solidFill>
                  <a:srgbClr val="6A3E3E"/>
                </a:solidFill>
                <a:latin typeface="Consolas"/>
              </a:rPr>
              <a:t>a</a:t>
            </a:r>
            <a:r>
              <a:rPr lang="en-US" sz="2800" dirty="0">
                <a:solidFill>
                  <a:srgbClr val="000000"/>
                </a:solidFill>
                <a:latin typeface="Consolas"/>
              </a:rPr>
              <a:t>;</a:t>
            </a:r>
          </a:p>
          <a:p>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c</a:t>
            </a:r>
            <a:r>
              <a:rPr lang="en-US" sz="2800" dirty="0">
                <a:solidFill>
                  <a:srgbClr val="000000"/>
                </a:solidFill>
                <a:latin typeface="Consolas"/>
              </a:rPr>
              <a:t>[] = { 1 };</a:t>
            </a:r>
          </a:p>
          <a:p>
            <a:r>
              <a:rPr lang="en-US" sz="2800" dirty="0">
                <a:solidFill>
                  <a:srgbClr val="6A3E3E"/>
                </a:solidFill>
                <a:latin typeface="Consolas"/>
              </a:rPr>
              <a:t>c</a:t>
            </a:r>
            <a:r>
              <a:rPr lang="en-US" sz="2800" dirty="0">
                <a:solidFill>
                  <a:srgbClr val="000000"/>
                </a:solidFill>
                <a:latin typeface="Consolas"/>
              </a:rPr>
              <a:t>[42] = 99;</a:t>
            </a:r>
          </a:p>
          <a:p>
            <a:r>
              <a:rPr lang="en-US" sz="2800" dirty="0">
                <a:solidFill>
                  <a:srgbClr val="000000"/>
                </a:solidFill>
                <a:latin typeface="Consolas"/>
              </a:rPr>
              <a:t>} </a:t>
            </a:r>
            <a:endParaRPr lang="en-US" sz="2800" dirty="0" smtClean="0">
              <a:solidFill>
                <a:srgbClr val="000000"/>
              </a:solidFill>
              <a:latin typeface="Consolas"/>
            </a:endParaRPr>
          </a:p>
          <a:p>
            <a:r>
              <a:rPr lang="en-US" sz="2800" b="1" dirty="0" smtClean="0">
                <a:solidFill>
                  <a:srgbClr val="7F0055"/>
                </a:solidFill>
                <a:latin typeface="Consolas"/>
              </a:rPr>
              <a:t>catch</a:t>
            </a:r>
            <a:r>
              <a:rPr lang="en-US" sz="2800" dirty="0" smtClean="0">
                <a:solidFill>
                  <a:srgbClr val="000000"/>
                </a:solidFill>
                <a:latin typeface="Consolas"/>
              </a:rPr>
              <a:t>(ArithmeticException </a:t>
            </a:r>
            <a:r>
              <a:rPr lang="en-US" sz="2800" dirty="0">
                <a:solidFill>
                  <a:srgbClr val="6A3E3E"/>
                </a:solidFill>
                <a:latin typeface="Consolas"/>
              </a:rPr>
              <a:t>e</a:t>
            </a:r>
            <a:r>
              <a:rPr lang="en-US" sz="2800" dirty="0">
                <a:solidFill>
                  <a:srgbClr val="000000"/>
                </a:solidFill>
                <a:latin typeface="Consolas"/>
              </a:rPr>
              <a:t>)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"Divide by 0: "</a:t>
            </a:r>
            <a:r>
              <a:rPr lang="en-US" sz="2800" dirty="0">
                <a:solidFill>
                  <a:srgbClr val="000000"/>
                </a:solidFill>
                <a:latin typeface="Consolas"/>
              </a:rPr>
              <a:t> + </a:t>
            </a:r>
            <a:r>
              <a:rPr lang="en-US" sz="2800" dirty="0">
                <a:solidFill>
                  <a:srgbClr val="6A3E3E"/>
                </a:solidFill>
                <a:latin typeface="Consolas"/>
              </a:rPr>
              <a:t>e</a:t>
            </a:r>
            <a:r>
              <a:rPr lang="en-US" sz="2800" dirty="0">
                <a:solidFill>
                  <a:srgbClr val="000000"/>
                </a:solidFill>
                <a:latin typeface="Consolas"/>
              </a:rPr>
              <a:t>);</a:t>
            </a:r>
          </a:p>
          <a:p>
            <a:r>
              <a:rPr lang="en-US" sz="2800" dirty="0">
                <a:solidFill>
                  <a:srgbClr val="000000"/>
                </a:solidFill>
                <a:latin typeface="Consolas"/>
              </a:rPr>
              <a:t>} </a:t>
            </a:r>
            <a:endParaRPr lang="en-US" sz="2800" dirty="0" smtClean="0">
              <a:solidFill>
                <a:srgbClr val="000000"/>
              </a:solidFill>
              <a:latin typeface="Consolas"/>
            </a:endParaRPr>
          </a:p>
          <a:p>
            <a:r>
              <a:rPr lang="en-US" sz="2800" b="1" dirty="0" smtClean="0">
                <a:solidFill>
                  <a:srgbClr val="7F0055"/>
                </a:solidFill>
                <a:latin typeface="Consolas"/>
              </a:rPr>
              <a:t>catch</a:t>
            </a:r>
            <a:r>
              <a:rPr lang="en-US" sz="2800" dirty="0" smtClean="0">
                <a:solidFill>
                  <a:srgbClr val="000000"/>
                </a:solidFill>
                <a:latin typeface="Consolas"/>
              </a:rPr>
              <a:t>(ArrayIndexOutOfBoundsException </a:t>
            </a:r>
            <a:r>
              <a:rPr lang="en-US" sz="2800" dirty="0">
                <a:solidFill>
                  <a:srgbClr val="6A3E3E"/>
                </a:solidFill>
                <a:latin typeface="Consolas"/>
              </a:rPr>
              <a:t>e</a:t>
            </a:r>
            <a:r>
              <a:rPr lang="en-US" sz="2800" dirty="0">
                <a:solidFill>
                  <a:srgbClr val="000000"/>
                </a:solidFill>
                <a:latin typeface="Consolas"/>
              </a:rPr>
              <a:t>)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"Array index oob: "</a:t>
            </a:r>
            <a:r>
              <a:rPr lang="en-US" sz="2800" dirty="0">
                <a:solidFill>
                  <a:srgbClr val="000000"/>
                </a:solidFill>
                <a:latin typeface="Consolas"/>
              </a:rPr>
              <a:t> + </a:t>
            </a:r>
            <a:r>
              <a:rPr lang="en-US" sz="2800" dirty="0">
                <a:solidFill>
                  <a:srgbClr val="6A3E3E"/>
                </a:solidFill>
                <a:latin typeface="Consolas"/>
              </a:rPr>
              <a:t>e</a:t>
            </a:r>
            <a:r>
              <a:rPr lang="en-US" sz="2800" dirty="0">
                <a:solidFill>
                  <a:srgbClr val="000000"/>
                </a:solidFill>
                <a:latin typeface="Consolas"/>
              </a:rPr>
              <a:t>);</a:t>
            </a:r>
          </a:p>
          <a:p>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"After try/catch blocks statement</a:t>
            </a:r>
            <a:r>
              <a:rPr lang="en-US" sz="2800" dirty="0" smtClean="0">
                <a:solidFill>
                  <a:srgbClr val="2A00FF"/>
                </a:solidFill>
                <a:latin typeface="Consolas"/>
              </a:rPr>
              <a:t>."</a:t>
            </a:r>
            <a:r>
              <a:rPr lang="en-US" sz="2800" dirty="0" smtClean="0">
                <a:solidFill>
                  <a:srgbClr val="000000"/>
                </a:solidFill>
                <a:latin typeface="Consolas"/>
              </a:rPr>
              <a:t>);}}</a:t>
            </a:r>
            <a:endParaRPr lang="en-US" sz="2800" dirty="0">
              <a:solidFill>
                <a:srgbClr val="000000"/>
              </a:solidFill>
              <a:effectLst/>
              <a:latin typeface="Consolas"/>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5" name="Rectangle 1"/>
          <p:cNvSpPr>
            <a:spLocks noChangeArrowheads="1"/>
          </p:cNvSpPr>
          <p:nvPr/>
        </p:nvSpPr>
        <p:spPr bwMode="auto">
          <a:xfrm>
            <a:off x="8077201" y="3757719"/>
            <a:ext cx="10058400" cy="26161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600" b="1" i="0" u="sng" strike="noStrike" cap="none" normalizeH="0" baseline="0" dirty="0" smtClean="0">
                <a:ln>
                  <a:noFill/>
                </a:ln>
                <a:solidFill>
                  <a:srgbClr val="000000"/>
                </a:solidFill>
                <a:effectLst/>
                <a:latin typeface="Consolas" pitchFamily="49" charset="0"/>
                <a:cs typeface="Arial" pitchFamily="34" charset="0"/>
              </a:rPr>
              <a:t>OUTPUT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a =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Divide by 0: </a:t>
            </a:r>
            <a:r>
              <a:rPr kumimoji="0" lang="en-US" altLang="en-US" sz="3200" b="0" i="0" u="sng" strike="noStrike" cap="none" normalizeH="0" baseline="0" dirty="0" smtClean="0">
                <a:ln>
                  <a:noFill/>
                </a:ln>
                <a:solidFill>
                  <a:srgbClr val="0066CC"/>
                </a:solidFill>
                <a:effectLst/>
                <a:latin typeface="Consolas" pitchFamily="49" charset="0"/>
                <a:cs typeface="Arial" pitchFamily="34" charset="0"/>
              </a:rPr>
              <a:t>java.lang.ArithmeticException</a:t>
            </a: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 / by zero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After try/catch blocks statement.</a:t>
            </a:r>
          </a:p>
        </p:txBody>
      </p:sp>
    </p:spTree>
    <p:extLst>
      <p:ext uri="{BB962C8B-B14F-4D97-AF65-F5344CB8AC3E}">
        <p14:creationId xmlns:p14="http://schemas.microsoft.com/office/powerpoint/2010/main" val="242902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t>Nested Try Statements </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6894195"/>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a:t>The </a:t>
            </a:r>
            <a:r>
              <a:rPr lang="en-US" sz="2800" b="1" dirty="0"/>
              <a:t>try </a:t>
            </a:r>
            <a:r>
              <a:rPr lang="en-US" sz="2800" dirty="0"/>
              <a:t>statement can be nested. That is, a </a:t>
            </a:r>
            <a:r>
              <a:rPr lang="en-US" sz="2800" b="1" dirty="0"/>
              <a:t>try </a:t>
            </a:r>
            <a:r>
              <a:rPr lang="en-US" sz="2800" dirty="0"/>
              <a:t>statement can be inside the block of another </a:t>
            </a:r>
            <a:r>
              <a:rPr lang="en-US" sz="2800" b="1" dirty="0"/>
              <a:t>try</a:t>
            </a:r>
            <a:r>
              <a:rPr lang="en-US" sz="2800" dirty="0"/>
              <a:t>. </a:t>
            </a:r>
          </a:p>
          <a:p>
            <a:pPr marL="457200" indent="-457200">
              <a:buFont typeface="Arial" panose="020B0604020202020204" pitchFamily="34" charset="0"/>
              <a:buChar char="•"/>
            </a:pPr>
            <a:r>
              <a:rPr lang="en-US" sz="2800" dirty="0"/>
              <a:t>Each time a </a:t>
            </a:r>
            <a:r>
              <a:rPr lang="en-US" sz="2800" b="1" dirty="0"/>
              <a:t>try </a:t>
            </a:r>
            <a:r>
              <a:rPr lang="en-US" sz="2800" dirty="0"/>
              <a:t>statement is entered, the context of that exception is pushed on the stack. </a:t>
            </a:r>
          </a:p>
          <a:p>
            <a:pPr marL="457200" indent="-457200">
              <a:buFont typeface="Arial" panose="020B0604020202020204" pitchFamily="34" charset="0"/>
              <a:buChar char="•"/>
            </a:pPr>
            <a:r>
              <a:rPr lang="en-US" sz="2800" dirty="0"/>
              <a:t>If an inner </a:t>
            </a:r>
            <a:r>
              <a:rPr lang="en-US" sz="2800" b="1" dirty="0"/>
              <a:t>try </a:t>
            </a:r>
            <a:r>
              <a:rPr lang="en-US" sz="2800" dirty="0"/>
              <a:t>statement does not have a </a:t>
            </a:r>
            <a:r>
              <a:rPr lang="en-US" sz="2800" b="1" dirty="0"/>
              <a:t>catch </a:t>
            </a:r>
            <a:r>
              <a:rPr lang="en-US" sz="2800" dirty="0"/>
              <a:t>handler for a particular exception, the stack is unwound and the next </a:t>
            </a:r>
            <a:r>
              <a:rPr lang="en-US" sz="2800" b="1" dirty="0"/>
              <a:t>try </a:t>
            </a:r>
            <a:r>
              <a:rPr lang="en-US" sz="2800" dirty="0"/>
              <a:t>statement’s </a:t>
            </a:r>
            <a:r>
              <a:rPr lang="en-US" sz="2800" b="1" dirty="0"/>
              <a:t>catch </a:t>
            </a:r>
            <a:r>
              <a:rPr lang="en-US" sz="2800" dirty="0"/>
              <a:t>handlers are inspected for a match.</a:t>
            </a:r>
          </a:p>
          <a:p>
            <a:pPr marL="457200" indent="-457200">
              <a:buFont typeface="Arial" panose="020B0604020202020204" pitchFamily="34" charset="0"/>
              <a:buChar char="•"/>
            </a:pPr>
            <a:r>
              <a:rPr lang="en-US" sz="2800" dirty="0"/>
              <a:t>This continues until one of the </a:t>
            </a:r>
            <a:r>
              <a:rPr lang="en-US" sz="2800" b="1" dirty="0"/>
              <a:t>catch </a:t>
            </a:r>
            <a:r>
              <a:rPr lang="en-US" sz="2800" dirty="0"/>
              <a:t>statements succeeds, or until all of the nested </a:t>
            </a:r>
            <a:r>
              <a:rPr lang="en-US" sz="2800" b="1" dirty="0"/>
              <a:t>try </a:t>
            </a:r>
            <a:r>
              <a:rPr lang="en-US" sz="2800" dirty="0"/>
              <a:t>statements are exhausted. </a:t>
            </a:r>
          </a:p>
          <a:p>
            <a:pPr marL="457200" indent="-457200">
              <a:buFont typeface="Arial" panose="020B0604020202020204" pitchFamily="34" charset="0"/>
              <a:buChar char="•"/>
            </a:pPr>
            <a:r>
              <a:rPr lang="en-US" sz="2800" dirty="0"/>
              <a:t>If no </a:t>
            </a:r>
            <a:r>
              <a:rPr lang="en-US" sz="2800" b="1" dirty="0"/>
              <a:t>catch </a:t>
            </a:r>
            <a:r>
              <a:rPr lang="en-US" sz="2800" dirty="0"/>
              <a:t>statement matches, then the Java run-time </a:t>
            </a:r>
            <a:r>
              <a:rPr lang="en-US" sz="2800" dirty="0" smtClean="0"/>
              <a:t>system.</a:t>
            </a:r>
          </a:p>
          <a:p>
            <a:pPr marL="457200" indent="-457200">
              <a:buFont typeface="Arial" panose="020B0604020202020204" pitchFamily="34" charset="0"/>
              <a:buChar char="•"/>
            </a:pPr>
            <a:r>
              <a:rPr lang="en-US" sz="2800" dirty="0" smtClean="0"/>
              <a:t>Syntax :- </a:t>
            </a:r>
            <a:endParaRPr lang="en-US" sz="2800" dirty="0"/>
          </a:p>
          <a:p>
            <a:pPr lvl="2"/>
            <a:r>
              <a:rPr lang="en-US" sz="2800" dirty="0"/>
              <a:t>try {</a:t>
            </a:r>
          </a:p>
          <a:p>
            <a:pPr lvl="5"/>
            <a:r>
              <a:rPr lang="en-US" sz="2800" dirty="0"/>
              <a:t>try { // nested try block</a:t>
            </a:r>
          </a:p>
          <a:p>
            <a:pPr lvl="5"/>
            <a:r>
              <a:rPr lang="en-US" sz="2800" dirty="0"/>
              <a:t>}</a:t>
            </a:r>
          </a:p>
          <a:p>
            <a:pPr lvl="2"/>
            <a:r>
              <a:rPr lang="en-US" sz="2800" dirty="0"/>
              <a:t>      } catch(ArrayIndexOutOfBoundsException e) {</a:t>
            </a:r>
          </a:p>
          <a:p>
            <a:pPr lvl="2"/>
            <a:r>
              <a:rPr lang="en-US" sz="2800" dirty="0" smtClean="0"/>
              <a:t>      }} </a:t>
            </a:r>
          </a:p>
          <a:p>
            <a:pPr lvl="2"/>
            <a:r>
              <a:rPr lang="en-US" sz="2800" dirty="0"/>
              <a:t> </a:t>
            </a:r>
            <a:r>
              <a:rPr lang="en-US" sz="2800" dirty="0" smtClean="0"/>
              <a:t>     catch(ArithmeticException </a:t>
            </a:r>
            <a:r>
              <a:rPr lang="en-US" sz="2800" dirty="0"/>
              <a:t>e) {</a:t>
            </a:r>
          </a:p>
          <a:p>
            <a:pPr lvl="2"/>
            <a:r>
              <a:rPr lang="en-US" sz="2800" dirty="0" smtClean="0"/>
              <a:t>      }}</a:t>
            </a:r>
            <a:endParaRPr lang="en-US" sz="2800" dirty="0"/>
          </a:p>
          <a:p>
            <a:pPr lvl="2"/>
            <a:r>
              <a:rPr lang="en-US" sz="2800" dirty="0"/>
              <a:t>}</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7607848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24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t>Nested Try Statements </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7755969"/>
          </a:xfrm>
          <a:prstGeom prst="rect">
            <a:avLst/>
          </a:prstGeom>
        </p:spPr>
        <p:txBody>
          <a:bodyPr wrap="square" lIns="0" tIns="0" rIns="0" bIns="0" rtlCol="0" anchor="t">
            <a:spAutoFit/>
          </a:bodyPr>
          <a:lstStyle/>
          <a:p>
            <a:r>
              <a:rPr lang="en-US" sz="2800" b="1" dirty="0">
                <a:solidFill>
                  <a:srgbClr val="7F0055"/>
                </a:solidFill>
                <a:latin typeface="Consolas"/>
              </a:rPr>
              <a:t>package</a:t>
            </a:r>
            <a:r>
              <a:rPr lang="en-US" sz="2800" dirty="0">
                <a:solidFill>
                  <a:srgbClr val="000000"/>
                </a:solidFill>
                <a:latin typeface="Consolas"/>
              </a:rPr>
              <a:t> 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nestedtry{</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p>
          <a:p>
            <a:r>
              <a:rPr lang="en-US" sz="2800" b="1" dirty="0">
                <a:solidFill>
                  <a:srgbClr val="7F0055"/>
                </a:solidFill>
                <a:latin typeface="Consolas"/>
              </a:rPr>
              <a:t>try</a:t>
            </a:r>
            <a:r>
              <a:rPr lang="en-US" sz="2800" dirty="0">
                <a:solidFill>
                  <a:srgbClr val="000000"/>
                </a:solidFill>
                <a:latin typeface="Consolas"/>
              </a:rPr>
              <a:t> {</a:t>
            </a:r>
          </a:p>
          <a:p>
            <a:pPr lvl="1"/>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a</a:t>
            </a:r>
            <a:r>
              <a:rPr lang="en-US" sz="2800" dirty="0">
                <a:solidFill>
                  <a:srgbClr val="000000"/>
                </a:solidFill>
                <a:latin typeface="Consolas"/>
              </a:rPr>
              <a:t>[]= {1,2,3,4,5};</a:t>
            </a:r>
          </a:p>
          <a:p>
            <a:pPr lvl="1"/>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6A3E3E"/>
                </a:solidFill>
                <a:latin typeface="Consolas"/>
              </a:rPr>
              <a:t>a</a:t>
            </a:r>
            <a:r>
              <a:rPr lang="en-US" sz="2800" dirty="0">
                <a:solidFill>
                  <a:srgbClr val="000000"/>
                </a:solidFill>
                <a:latin typeface="Consolas"/>
              </a:rPr>
              <a:t>[11]); </a:t>
            </a:r>
          </a:p>
          <a:p>
            <a:pPr lvl="2"/>
            <a:r>
              <a:rPr lang="en-US" sz="2800" b="1" dirty="0">
                <a:solidFill>
                  <a:srgbClr val="7F0055"/>
                </a:solidFill>
                <a:latin typeface="Consolas"/>
              </a:rPr>
              <a:t>try</a:t>
            </a:r>
            <a:r>
              <a:rPr lang="en-US" sz="2800" dirty="0">
                <a:solidFill>
                  <a:srgbClr val="000000"/>
                </a:solidFill>
                <a:latin typeface="Consolas"/>
              </a:rPr>
              <a:t> {</a:t>
            </a:r>
          </a:p>
          <a:p>
            <a:pPr lvl="2"/>
            <a:r>
              <a:rPr lang="en-US" sz="2800" b="1" dirty="0">
                <a:solidFill>
                  <a:srgbClr val="7F0055"/>
                </a:solidFill>
                <a:latin typeface="Consolas"/>
              </a:rPr>
              <a:t>int</a:t>
            </a:r>
            <a:r>
              <a:rPr lang="en-US" sz="2800" dirty="0">
                <a:solidFill>
                  <a:srgbClr val="000000"/>
                </a:solidFill>
                <a:latin typeface="Consolas"/>
              </a:rPr>
              <a:t> </a:t>
            </a:r>
            <a:r>
              <a:rPr lang="en-US" sz="2800" u="sng" dirty="0">
                <a:solidFill>
                  <a:srgbClr val="6A3E3E"/>
                </a:solidFill>
                <a:latin typeface="Consolas"/>
              </a:rPr>
              <a:t>x</a:t>
            </a:r>
            <a:r>
              <a:rPr lang="en-US" sz="2800" dirty="0">
                <a:solidFill>
                  <a:srgbClr val="000000"/>
                </a:solidFill>
                <a:latin typeface="Consolas"/>
              </a:rPr>
              <a:t>=</a:t>
            </a:r>
            <a:r>
              <a:rPr lang="en-US" sz="2800" dirty="0">
                <a:solidFill>
                  <a:srgbClr val="6A3E3E"/>
                </a:solidFill>
                <a:latin typeface="Consolas"/>
              </a:rPr>
              <a:t>a</a:t>
            </a:r>
            <a:r>
              <a:rPr lang="en-US" sz="2800" dirty="0">
                <a:solidFill>
                  <a:srgbClr val="000000"/>
                </a:solidFill>
                <a:latin typeface="Consolas"/>
              </a:rPr>
              <a:t>[11]/0;</a:t>
            </a:r>
          </a:p>
          <a:p>
            <a:pPr lvl="2"/>
            <a:r>
              <a:rPr lang="en-US" sz="2800" dirty="0">
                <a:solidFill>
                  <a:srgbClr val="000000"/>
                </a:solidFill>
                <a:latin typeface="Consolas"/>
              </a:rPr>
              <a:t>}</a:t>
            </a:r>
          </a:p>
          <a:p>
            <a:pPr lvl="2"/>
            <a:r>
              <a:rPr lang="en-US" sz="2800" b="1" dirty="0">
                <a:solidFill>
                  <a:srgbClr val="7F0055"/>
                </a:solidFill>
                <a:latin typeface="Consolas"/>
              </a:rPr>
              <a:t>catch</a:t>
            </a:r>
            <a:r>
              <a:rPr lang="en-US" sz="2800" dirty="0">
                <a:solidFill>
                  <a:srgbClr val="000000"/>
                </a:solidFill>
                <a:latin typeface="Consolas"/>
              </a:rPr>
              <a:t>(ArithmeticException </a:t>
            </a:r>
            <a:r>
              <a:rPr lang="en-US" sz="2800" dirty="0">
                <a:solidFill>
                  <a:srgbClr val="6A3E3E"/>
                </a:solidFill>
                <a:latin typeface="Consolas"/>
              </a:rPr>
              <a:t>e2</a:t>
            </a:r>
            <a:r>
              <a:rPr lang="en-US" sz="2800" dirty="0">
                <a:solidFill>
                  <a:srgbClr val="000000"/>
                </a:solidFill>
                <a:latin typeface="Consolas"/>
              </a:rPr>
              <a:t>){</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"Division on by zero is not posible</a:t>
            </a:r>
            <a:r>
              <a:rPr lang="en-US" sz="2800" dirty="0" smtClean="0">
                <a:solidFill>
                  <a:srgbClr val="2A00FF"/>
                </a:solidFill>
                <a:latin typeface="Consolas"/>
              </a:rPr>
              <a:t>"</a:t>
            </a:r>
            <a:r>
              <a:rPr lang="en-US" sz="2800" dirty="0" smtClean="0">
                <a:solidFill>
                  <a:srgbClr val="000000"/>
                </a:solidFill>
                <a:latin typeface="Consolas"/>
              </a:rPr>
              <a:t>);}</a:t>
            </a:r>
          </a:p>
          <a:p>
            <a:pPr lvl="2"/>
            <a:r>
              <a:rPr lang="en-US" sz="2800" dirty="0" smtClean="0">
                <a:solidFill>
                  <a:srgbClr val="000000"/>
                </a:solidFill>
                <a:latin typeface="Consolas"/>
              </a:rPr>
              <a:t>}</a:t>
            </a:r>
            <a:endParaRPr lang="en-US" sz="2800" dirty="0">
              <a:solidFill>
                <a:srgbClr val="000000"/>
              </a:solidFill>
              <a:latin typeface="Consolas"/>
            </a:endParaRPr>
          </a:p>
          <a:p>
            <a:r>
              <a:rPr lang="en-US" sz="2800" b="1" dirty="0">
                <a:solidFill>
                  <a:srgbClr val="7F0055"/>
                </a:solidFill>
                <a:latin typeface="Consolas"/>
              </a:rPr>
              <a:t>catch</a:t>
            </a:r>
            <a:r>
              <a:rPr lang="en-US" sz="2800" dirty="0">
                <a:solidFill>
                  <a:srgbClr val="000000"/>
                </a:solidFill>
                <a:latin typeface="Consolas"/>
              </a:rPr>
              <a:t>(ArrayIndexOutOfBoundsException </a:t>
            </a:r>
            <a:r>
              <a:rPr lang="en-US" sz="2800" dirty="0">
                <a:solidFill>
                  <a:srgbClr val="6A3E3E"/>
                </a:solidFill>
                <a:latin typeface="Consolas"/>
              </a:rPr>
              <a:t>e1</a:t>
            </a:r>
            <a:r>
              <a:rPr lang="en-US" sz="2800" dirty="0">
                <a:solidFill>
                  <a:srgbClr val="000000"/>
                </a:solidFill>
                <a:latin typeface="Consolas"/>
              </a:rPr>
              <a:t>) {</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"ArrayIndexOutOfBoundsException"</a:t>
            </a:r>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"Element at such index does not exist"</a:t>
            </a:r>
            <a:r>
              <a:rPr lang="en-US" sz="2800" dirty="0">
                <a:solidFill>
                  <a:srgbClr val="000000"/>
                </a:solidFill>
                <a:latin typeface="Consolas"/>
              </a:rPr>
              <a:t>);</a:t>
            </a:r>
          </a:p>
          <a:p>
            <a:r>
              <a:rPr lang="en-US" sz="2800" dirty="0">
                <a:solidFill>
                  <a:srgbClr val="000000"/>
                </a:solidFill>
                <a:latin typeface="Consolas"/>
              </a:rPr>
              <a:t>}</a:t>
            </a:r>
          </a:p>
          <a:p>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"Statement after nested try catch in executed"</a:t>
            </a:r>
            <a:r>
              <a:rPr lang="en-US" sz="2800" dirty="0">
                <a:solidFill>
                  <a:srgbClr val="000000"/>
                </a:solidFill>
                <a:latin typeface="Consolas"/>
              </a:rPr>
              <a:t>);</a:t>
            </a:r>
          </a:p>
          <a:p>
            <a:r>
              <a:rPr lang="en-US" sz="2800" dirty="0" smtClean="0">
                <a:solidFill>
                  <a:srgbClr val="000000"/>
                </a:solidFill>
                <a:latin typeface="Consolas"/>
              </a:rPr>
              <a:t>}}</a:t>
            </a:r>
            <a:endParaRPr lang="en-US" sz="2800" dirty="0">
              <a:solidFill>
                <a:srgbClr val="000000"/>
              </a:solidFill>
              <a:effectLst/>
              <a:latin typeface="Consolas"/>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8935009" y="3402657"/>
            <a:ext cx="9048191"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sng" strike="noStrike" cap="none" normalizeH="0" baseline="0" dirty="0" smtClean="0">
                <a:ln>
                  <a:noFill/>
                </a:ln>
                <a:solidFill>
                  <a:srgbClr val="000000"/>
                </a:solidFill>
                <a:effectLst/>
                <a:latin typeface="Consolas" pitchFamily="49" charset="0"/>
                <a:cs typeface="Arial" pitchFamily="34" charset="0"/>
              </a:rPr>
              <a:t>OUTPUT -</a:t>
            </a:r>
          </a:p>
          <a:p>
            <a:r>
              <a:rPr lang="en-US" sz="3200" u="sng" dirty="0">
                <a:solidFill>
                  <a:srgbClr val="0066CC"/>
                </a:solidFill>
                <a:latin typeface="Consolas"/>
              </a:rPr>
              <a:t>ArrayIndexOutOfBoundsException</a:t>
            </a:r>
            <a:endParaRPr lang="en-US" sz="3200" dirty="0">
              <a:solidFill>
                <a:srgbClr val="000000"/>
              </a:solidFill>
              <a:latin typeface="Consolas"/>
            </a:endParaRPr>
          </a:p>
          <a:p>
            <a:r>
              <a:rPr lang="en-US" sz="3200" dirty="0">
                <a:solidFill>
                  <a:srgbClr val="000000"/>
                </a:solidFill>
                <a:latin typeface="Consolas"/>
              </a:rPr>
              <a:t>Element at such index does not exist</a:t>
            </a:r>
          </a:p>
          <a:p>
            <a:r>
              <a:rPr lang="en-US" sz="3200" dirty="0">
                <a:solidFill>
                  <a:srgbClr val="000000"/>
                </a:solidFill>
                <a:latin typeface="Consolas"/>
              </a:rPr>
              <a:t>Statement after nested try catch in executed</a:t>
            </a:r>
            <a:endParaRPr lang="en-US" sz="3200" dirty="0">
              <a:solidFill>
                <a:srgbClr val="000000"/>
              </a:solidFill>
              <a:effectLst/>
              <a:latin typeface="Consolas"/>
            </a:endParaRPr>
          </a:p>
        </p:txBody>
      </p:sp>
    </p:spTree>
    <p:extLst>
      <p:ext uri="{BB962C8B-B14F-4D97-AF65-F5344CB8AC3E}">
        <p14:creationId xmlns:p14="http://schemas.microsoft.com/office/powerpoint/2010/main" val="24377028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1" y="2449116"/>
            <a:ext cx="16463277" cy="7325082"/>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smtClean="0"/>
              <a:t>Throw is used to define our own exception.</a:t>
            </a:r>
          </a:p>
          <a:p>
            <a:pPr marL="457200" indent="-457200">
              <a:buFont typeface="Arial" panose="020B0604020202020204" pitchFamily="34" charset="0"/>
              <a:buChar char="•"/>
            </a:pPr>
            <a:r>
              <a:rPr lang="en-US" sz="2800" dirty="0" smtClean="0"/>
              <a:t>The Throw keyword is used to explicitly throw an exception from a method or any block of code.</a:t>
            </a:r>
          </a:p>
          <a:p>
            <a:pPr marL="457200" indent="-457200">
              <a:buFont typeface="Arial" panose="020B0604020202020204" pitchFamily="34" charset="0"/>
              <a:buChar char="•"/>
            </a:pPr>
            <a:r>
              <a:rPr lang="en-US" sz="2800" dirty="0" smtClean="0"/>
              <a:t>The Throw keyword is mainly used to throw custom exceptions.</a:t>
            </a:r>
          </a:p>
          <a:p>
            <a:pPr marL="457200" indent="-457200">
              <a:buFont typeface="Arial" panose="020B0604020202020204" pitchFamily="34" charset="0"/>
              <a:buChar char="•"/>
            </a:pPr>
            <a:r>
              <a:rPr lang="en-US" sz="2800" dirty="0" smtClean="0"/>
              <a:t>While Java Runtime can automatically throw exceptions like ArithmeticExceptions for division by zero, Throw allows a developer to do so manually based on custom logic or business rules.</a:t>
            </a:r>
          </a:p>
          <a:p>
            <a:pPr marL="457200" indent="-457200">
              <a:buFont typeface="Arial" panose="020B0604020202020204" pitchFamily="34" charset="0"/>
              <a:buChar char="•"/>
            </a:pPr>
            <a:r>
              <a:rPr lang="en-US" sz="2800" b="1" dirty="0" smtClean="0"/>
              <a:t>Syntax – </a:t>
            </a:r>
          </a:p>
          <a:p>
            <a:pPr lvl="2"/>
            <a:r>
              <a:rPr lang="en-US" sz="2800" b="1" dirty="0" smtClean="0"/>
              <a:t>Throw new ExceptionType (“Optional Message”)</a:t>
            </a:r>
          </a:p>
          <a:p>
            <a:pPr lvl="2"/>
            <a:r>
              <a:rPr lang="en-US" sz="2800" dirty="0" smtClean="0"/>
              <a:t>ExceptionType – is a class that extendThrowable</a:t>
            </a:r>
          </a:p>
          <a:p>
            <a:pPr lvl="2"/>
            <a:r>
              <a:rPr lang="en-US" sz="2800" dirty="0" smtClean="0"/>
              <a:t>new – is used to create new object of class / subclass of throwable.</a:t>
            </a:r>
          </a:p>
          <a:p>
            <a:pPr marL="457200" indent="-457200">
              <a:buFont typeface="Arial" panose="020B0604020202020204" pitchFamily="34" charset="0"/>
              <a:buChar char="•"/>
            </a:pPr>
            <a:r>
              <a:rPr lang="en-US" sz="2800" dirty="0" smtClean="0"/>
              <a:t>Throwable Object must be an instance of java.lang.throwable  class or one of its subclasses </a:t>
            </a:r>
          </a:p>
          <a:p>
            <a:pPr marL="457200" indent="-457200">
              <a:buFont typeface="Arial" panose="020B0604020202020204" pitchFamily="34" charset="0"/>
              <a:buChar char="•"/>
            </a:pPr>
            <a:r>
              <a:rPr lang="en-US" sz="2800" dirty="0" smtClean="0"/>
              <a:t>Only objects that are instances of throwable or its subclasses can be thrown by JVM or explicitly by a throw statement. </a:t>
            </a:r>
          </a:p>
          <a:p>
            <a:pPr marL="457200" indent="-457200">
              <a:buFont typeface="Arial" panose="020B0604020202020204" pitchFamily="34" charset="0"/>
              <a:buChar char="•"/>
            </a:pPr>
            <a:r>
              <a:rPr lang="en-US" sz="2800" dirty="0" smtClean="0"/>
              <a:t>Throwable class is the superclass of all errors and exceptions in the Java.</a:t>
            </a:r>
          </a:p>
          <a:p>
            <a:pPr marL="457200" indent="-457200">
              <a:buFont typeface="Arial" panose="020B0604020202020204" pitchFamily="34" charset="0"/>
              <a:buChar char="•"/>
            </a:pPr>
            <a:r>
              <a:rPr lang="en-US" sz="2800" dirty="0" smtClean="0"/>
              <a:t>Throw is used to expilicitly throw an exception.</a:t>
            </a:r>
          </a:p>
          <a:p>
            <a:pPr marL="457200" indent="-457200">
              <a:buFont typeface="Arial" panose="020B0604020202020204" pitchFamily="34" charset="0"/>
              <a:buChar char="•"/>
            </a:pPr>
            <a:r>
              <a:rPr lang="en-US" sz="2800" dirty="0" smtClean="0"/>
              <a:t>It is used inside a method or block</a:t>
            </a:r>
          </a:p>
          <a:p>
            <a:pPr marL="457200" indent="-457200">
              <a:buFont typeface="Arial" panose="020B0604020202020204" pitchFamily="34" charset="0"/>
              <a:buChar char="•"/>
            </a:pPr>
            <a:r>
              <a:rPr lang="en-US" sz="2800" dirty="0" smtClean="0"/>
              <a:t>One one exception can be thrown at a time</a:t>
            </a:r>
          </a:p>
          <a:p>
            <a:pPr marL="457200" indent="-457200">
              <a:buFont typeface="Arial" panose="020B0604020202020204" pitchFamily="34" charset="0"/>
              <a:buChar char="•"/>
            </a:pPr>
            <a:r>
              <a:rPr lang="en-US" sz="2800" dirty="0" smtClean="0"/>
              <a:t>After throw, the program stops execution unless handled.</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655865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 Example (without try-catch)</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697616" y="2177730"/>
            <a:ext cx="15990184" cy="5601533"/>
          </a:xfrm>
          <a:prstGeom prst="rect">
            <a:avLst/>
          </a:prstGeom>
        </p:spPr>
        <p:txBody>
          <a:bodyPr wrap="square" lIns="0" tIns="0" rIns="0" bIns="0" rtlCol="0" anchor="t">
            <a:spAutoFit/>
          </a:bodyPr>
          <a:lstStyle/>
          <a:p>
            <a:r>
              <a:rPr lang="en-US" sz="2800" b="1" dirty="0" smtClean="0">
                <a:solidFill>
                  <a:srgbClr val="7F0055"/>
                </a:solidFill>
                <a:latin typeface="Consolas"/>
              </a:rPr>
              <a:t>package</a:t>
            </a:r>
            <a:r>
              <a:rPr lang="en-US" sz="2800" dirty="0" smtClean="0">
                <a:solidFill>
                  <a:srgbClr val="000000"/>
                </a:solidFill>
                <a:latin typeface="Consolas"/>
              </a:rPr>
              <a:t> </a:t>
            </a:r>
            <a:r>
              <a:rPr lang="en-US" sz="2800" dirty="0">
                <a:solidFill>
                  <a:srgbClr val="000000"/>
                </a:solidFill>
                <a:latin typeface="Consolas"/>
              </a:rPr>
              <a:t>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throw1{</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validateAge(</a:t>
            </a:r>
            <a:r>
              <a:rPr lang="en-US" sz="2800" b="1" dirty="0">
                <a:solidFill>
                  <a:srgbClr val="7F0055"/>
                </a:solidFill>
                <a:latin typeface="Consolas"/>
              </a:rPr>
              <a:t>int</a:t>
            </a:r>
            <a:r>
              <a:rPr lang="en-US" sz="2800" dirty="0">
                <a:solidFill>
                  <a:srgbClr val="000000"/>
                </a:solidFill>
                <a:latin typeface="Consolas"/>
              </a:rPr>
              <a:t> </a:t>
            </a:r>
            <a:r>
              <a:rPr lang="en-US" sz="2800" dirty="0">
                <a:solidFill>
                  <a:srgbClr val="6A3E3E"/>
                </a:solidFill>
                <a:latin typeface="Consolas"/>
              </a:rPr>
              <a:t>age</a:t>
            </a:r>
            <a:r>
              <a:rPr lang="en-US" sz="2800" dirty="0">
                <a:solidFill>
                  <a:srgbClr val="000000"/>
                </a:solidFill>
                <a:latin typeface="Consolas"/>
              </a:rPr>
              <a:t>) {</a:t>
            </a:r>
          </a:p>
          <a:p>
            <a:pPr lvl="1"/>
            <a:r>
              <a:rPr lang="en-US" sz="2800" b="1" dirty="0">
                <a:solidFill>
                  <a:srgbClr val="7F0055"/>
                </a:solidFill>
                <a:latin typeface="Consolas"/>
              </a:rPr>
              <a:t>if</a:t>
            </a:r>
            <a:r>
              <a:rPr lang="en-US" sz="2800" dirty="0">
                <a:solidFill>
                  <a:srgbClr val="000000"/>
                </a:solidFill>
                <a:latin typeface="Consolas"/>
              </a:rPr>
              <a:t> (</a:t>
            </a:r>
            <a:r>
              <a:rPr lang="en-US" sz="2800" dirty="0">
                <a:solidFill>
                  <a:srgbClr val="6A3E3E"/>
                </a:solidFill>
                <a:latin typeface="Consolas"/>
              </a:rPr>
              <a:t>age</a:t>
            </a:r>
            <a:r>
              <a:rPr lang="en-US" sz="2800" dirty="0">
                <a:solidFill>
                  <a:srgbClr val="000000"/>
                </a:solidFill>
                <a:latin typeface="Consolas"/>
              </a:rPr>
              <a:t> &lt; 18) {</a:t>
            </a:r>
          </a:p>
          <a:p>
            <a:pPr lvl="2"/>
            <a:r>
              <a:rPr lang="en-US" sz="2800" b="1" dirty="0">
                <a:solidFill>
                  <a:srgbClr val="7F0055"/>
                </a:solidFill>
                <a:latin typeface="Consolas"/>
              </a:rPr>
              <a:t>throw</a:t>
            </a:r>
            <a:r>
              <a:rPr lang="en-US" sz="2800" dirty="0">
                <a:solidFill>
                  <a:srgbClr val="000000"/>
                </a:solidFill>
                <a:latin typeface="Consolas"/>
              </a:rPr>
              <a:t> </a:t>
            </a:r>
            <a:r>
              <a:rPr lang="en-US" sz="2800" b="1" dirty="0">
                <a:solidFill>
                  <a:srgbClr val="7F0055"/>
                </a:solidFill>
                <a:latin typeface="Consolas"/>
              </a:rPr>
              <a:t>new</a:t>
            </a:r>
            <a:r>
              <a:rPr lang="en-US" sz="2800" dirty="0">
                <a:solidFill>
                  <a:srgbClr val="000000"/>
                </a:solidFill>
                <a:latin typeface="Consolas"/>
              </a:rPr>
              <a:t> </a:t>
            </a:r>
            <a:r>
              <a:rPr lang="en-US" sz="2800" dirty="0" smtClean="0">
                <a:solidFill>
                  <a:srgbClr val="000000"/>
                </a:solidFill>
                <a:latin typeface="Consolas"/>
              </a:rPr>
              <a:t>ArithmeticException(</a:t>
            </a:r>
            <a:r>
              <a:rPr lang="en-US" sz="2800" dirty="0" smtClean="0">
                <a:solidFill>
                  <a:srgbClr val="2A00FF"/>
                </a:solidFill>
                <a:latin typeface="Consolas"/>
              </a:rPr>
              <a:t>“Access denied – You must be 18+"</a:t>
            </a:r>
            <a:r>
              <a:rPr lang="en-US" sz="2800" dirty="0" smtClean="0">
                <a:solidFill>
                  <a:srgbClr val="000000"/>
                </a:solidFill>
                <a:latin typeface="Consolas"/>
              </a:rPr>
              <a:t>);</a:t>
            </a:r>
            <a:endParaRPr lang="en-US" sz="2800" dirty="0">
              <a:solidFill>
                <a:srgbClr val="000000"/>
              </a:solidFill>
              <a:latin typeface="Consolas"/>
            </a:endParaRPr>
          </a:p>
          <a:p>
            <a:pPr lvl="1"/>
            <a:r>
              <a:rPr lang="en-US" sz="2800" dirty="0">
                <a:solidFill>
                  <a:srgbClr val="000000"/>
                </a:solidFill>
                <a:latin typeface="Consolas"/>
              </a:rPr>
              <a:t>} </a:t>
            </a:r>
            <a:r>
              <a:rPr lang="en-US" sz="2800" b="1" dirty="0">
                <a:solidFill>
                  <a:srgbClr val="7F0055"/>
                </a:solidFill>
                <a:latin typeface="Consolas"/>
              </a:rPr>
              <a:t>else</a:t>
            </a:r>
            <a:r>
              <a:rPr lang="en-US" sz="2800" dirty="0">
                <a:solidFill>
                  <a:srgbClr val="000000"/>
                </a:solidFill>
                <a:latin typeface="Consolas"/>
              </a:rPr>
              <a:t> {</a:t>
            </a:r>
          </a:p>
          <a:p>
            <a:pPr lvl="1"/>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smtClean="0">
                <a:solidFill>
                  <a:srgbClr val="000000"/>
                </a:solidFill>
                <a:latin typeface="Consolas"/>
              </a:rPr>
              <a:t>(</a:t>
            </a:r>
            <a:r>
              <a:rPr lang="en-US" sz="2800" dirty="0" smtClean="0">
                <a:solidFill>
                  <a:srgbClr val="2A00FF"/>
                </a:solidFill>
                <a:latin typeface="Consolas"/>
              </a:rPr>
              <a:t>“Access granted – You are eligible"</a:t>
            </a:r>
            <a:r>
              <a:rPr lang="en-US" sz="2800" dirty="0" smtClean="0">
                <a:solidFill>
                  <a:srgbClr val="000000"/>
                </a:solidFill>
                <a:latin typeface="Consolas"/>
              </a:rPr>
              <a:t>);</a:t>
            </a:r>
            <a:endParaRPr lang="en-US" sz="2800" dirty="0">
              <a:solidFill>
                <a:srgbClr val="000000"/>
              </a:solidFill>
              <a:latin typeface="Consolas"/>
            </a:endParaRPr>
          </a:p>
          <a:p>
            <a:pPr lvl="1"/>
            <a:r>
              <a:rPr lang="en-US" sz="2800" dirty="0" smtClean="0">
                <a:solidFill>
                  <a:srgbClr val="000000"/>
                </a:solidFill>
                <a:latin typeface="Consolas"/>
              </a:rPr>
              <a:t>	}}</a:t>
            </a:r>
            <a:endParaRPr lang="en-US" sz="2800" dirty="0">
              <a:solidFill>
                <a:srgbClr val="000000"/>
              </a:solidFill>
              <a:latin typeface="Consolas"/>
            </a:endParaRP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p>
          <a:p>
            <a:pPr lvl="1"/>
            <a:r>
              <a:rPr lang="en-US" sz="2800" b="1" dirty="0" smtClean="0">
                <a:solidFill>
                  <a:srgbClr val="7F0055"/>
                </a:solidFill>
                <a:latin typeface="Consolas"/>
              </a:rPr>
              <a:t>System.out.println</a:t>
            </a:r>
            <a:r>
              <a:rPr lang="en-US" sz="2800" dirty="0" smtClean="0">
                <a:solidFill>
                  <a:srgbClr val="000000"/>
                </a:solidFill>
                <a:latin typeface="Consolas"/>
              </a:rPr>
              <a:t>(“Program Started”);</a:t>
            </a:r>
            <a:endParaRPr lang="en-US" sz="2800" dirty="0">
              <a:solidFill>
                <a:srgbClr val="000000"/>
              </a:solidFill>
              <a:latin typeface="Consolas"/>
            </a:endParaRPr>
          </a:p>
          <a:p>
            <a:pPr lvl="1"/>
            <a:r>
              <a:rPr lang="en-US" sz="2800" i="1" dirty="0" smtClean="0">
                <a:solidFill>
                  <a:srgbClr val="000000"/>
                </a:solidFill>
                <a:latin typeface="Consolas"/>
              </a:rPr>
              <a:t>validateAge</a:t>
            </a:r>
            <a:r>
              <a:rPr lang="en-US" sz="2800" dirty="0" smtClean="0">
                <a:solidFill>
                  <a:srgbClr val="000000"/>
                </a:solidFill>
                <a:latin typeface="Consolas"/>
              </a:rPr>
              <a:t>(16); </a:t>
            </a:r>
          </a:p>
          <a:p>
            <a:pPr lvl="1"/>
            <a:r>
              <a:rPr lang="en-US" sz="2800" b="1" dirty="0">
                <a:solidFill>
                  <a:srgbClr val="7F0055"/>
                </a:solidFill>
                <a:latin typeface="Consolas"/>
              </a:rPr>
              <a:t>System.out.println</a:t>
            </a:r>
            <a:r>
              <a:rPr lang="en-US" sz="2800" dirty="0">
                <a:solidFill>
                  <a:srgbClr val="000000"/>
                </a:solidFill>
                <a:latin typeface="Consolas"/>
              </a:rPr>
              <a:t>(“Program </a:t>
            </a:r>
            <a:r>
              <a:rPr lang="en-US" sz="2800" dirty="0" smtClean="0">
                <a:solidFill>
                  <a:srgbClr val="000000"/>
                </a:solidFill>
                <a:latin typeface="Consolas"/>
              </a:rPr>
              <a:t>Ended”);</a:t>
            </a:r>
            <a:endParaRPr lang="en-US" sz="2800" dirty="0">
              <a:solidFill>
                <a:srgbClr val="000000"/>
              </a:solidFill>
              <a:latin typeface="Consolas"/>
            </a:endParaRPr>
          </a:p>
          <a:p>
            <a:pPr lvl="1"/>
            <a:r>
              <a:rPr lang="en-US" sz="2800" dirty="0" smtClean="0">
                <a:solidFill>
                  <a:srgbClr val="000000"/>
                </a:solidFill>
                <a:latin typeface="Consolas"/>
              </a:rPr>
              <a:t>	}}</a:t>
            </a:r>
            <a:endParaRPr lang="en-US" sz="2800" dirty="0">
              <a:solidFill>
                <a:srgbClr val="000000"/>
              </a:solidFill>
              <a:latin typeface="Consolas"/>
            </a:endParaRP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697616" y="7621131"/>
            <a:ext cx="16575492"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1" i="0" u="sng" strike="noStrike" cap="none" normalizeH="0" baseline="0" dirty="0" smtClean="0">
                <a:ln>
                  <a:noFill/>
                </a:ln>
                <a:solidFill>
                  <a:srgbClr val="000000"/>
                </a:solidFill>
                <a:effectLst/>
                <a:latin typeface="Consolas" pitchFamily="49" charset="0"/>
                <a:cs typeface="Arial" pitchFamily="34" charset="0"/>
              </a:rPr>
              <a:t>OUTPUT</a:t>
            </a:r>
            <a:r>
              <a:rPr lang="en-US" altLang="en-US" sz="2800" b="1" dirty="0">
                <a:solidFill>
                  <a:srgbClr val="000000"/>
                </a:solidFill>
                <a:latin typeface="Consolas" pitchFamily="49" charset="0"/>
                <a:cs typeface="Arial" pitchFamily="34" charset="0"/>
              </a:rPr>
              <a:t> </a:t>
            </a:r>
            <a:r>
              <a:rPr kumimoji="0" lang="en-US" altLang="en-US" sz="2800" b="1" i="0" strike="noStrike" cap="none" normalizeH="0" dirty="0" smtClean="0">
                <a:ln>
                  <a:noFill/>
                </a:ln>
                <a:solidFill>
                  <a:srgbClr val="000000"/>
                </a:solidFill>
                <a:effectLst/>
                <a:latin typeface="Consolas" pitchFamily="49" charset="0"/>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altLang="en-US" sz="2800" baseline="0" dirty="0" smtClean="0">
                <a:solidFill>
                  <a:srgbClr val="000000"/>
                </a:solidFill>
                <a:latin typeface="Consolas" pitchFamily="49" charset="0"/>
                <a:cs typeface="Arial" pitchFamily="34" charset="0"/>
              </a:rPr>
              <a:t>Program Started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i="0" strike="noStrike" cap="none" normalizeH="0" dirty="0" smtClean="0">
                <a:ln>
                  <a:noFill/>
                </a:ln>
                <a:solidFill>
                  <a:srgbClr val="000000"/>
                </a:solidFill>
                <a:effectLst/>
                <a:latin typeface="Consolas" pitchFamily="49" charset="0"/>
                <a:cs typeface="Arial" pitchFamily="34" charset="0"/>
              </a:rPr>
              <a:t>Exception in thread “main”</a:t>
            </a:r>
          </a:p>
          <a:p>
            <a:pPr lvl="0" fontAlgn="base">
              <a:spcBef>
                <a:spcPct val="0"/>
              </a:spcBef>
              <a:spcAft>
                <a:spcPct val="0"/>
              </a:spcAft>
            </a:pPr>
            <a:r>
              <a:rPr lang="en-US" altLang="en-US" sz="2800" baseline="0" dirty="0" smtClean="0">
                <a:solidFill>
                  <a:srgbClr val="000000"/>
                </a:solidFill>
                <a:latin typeface="Consolas" pitchFamily="49" charset="0"/>
                <a:cs typeface="Arial" pitchFamily="34" charset="0"/>
              </a:rPr>
              <a:t>Java.lang.ArithmeticException</a:t>
            </a:r>
            <a:r>
              <a:rPr lang="en-US" altLang="en-US" sz="2800" dirty="0">
                <a:solidFill>
                  <a:srgbClr val="000000"/>
                </a:solidFill>
                <a:latin typeface="Consolas" pitchFamily="49" charset="0"/>
                <a:cs typeface="Arial" pitchFamily="34" charset="0"/>
              </a:rPr>
              <a:t> : Access denied – You must be 18</a:t>
            </a:r>
            <a:r>
              <a:rPr lang="en-US" altLang="en-US" sz="2800" dirty="0" smtClean="0">
                <a:solidFill>
                  <a:srgbClr val="000000"/>
                </a:solidFill>
                <a:latin typeface="Consolas" pitchFamily="49" charset="0"/>
                <a:cs typeface="Arial" pitchFamily="34" charset="0"/>
              </a:rPr>
              <a:t>+");</a:t>
            </a:r>
            <a:endParaRPr kumimoji="0" lang="en-US" altLang="en-US" sz="2800" b="0" i="0" u="none"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000000"/>
                </a:solidFill>
                <a:effectLst/>
                <a:latin typeface="Consolas" pitchFamily="49" charset="0"/>
                <a:cs typeface="Arial" pitchFamily="34" charset="0"/>
              </a:rPr>
              <a:t>Age is valid </a:t>
            </a:r>
            <a:endParaRPr kumimoji="0" lang="en-US" altLang="en-US" sz="2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527915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 Example (with try catch)</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2" y="2449116"/>
            <a:ext cx="16060628" cy="7325082"/>
          </a:xfrm>
          <a:prstGeom prst="rect">
            <a:avLst/>
          </a:prstGeom>
        </p:spPr>
        <p:txBody>
          <a:bodyPr wrap="square" lIns="0" tIns="0" rIns="0" bIns="0" rtlCol="0" anchor="t">
            <a:spAutoFit/>
          </a:bodyPr>
          <a:lstStyle/>
          <a:p>
            <a:r>
              <a:rPr lang="en-US" sz="2800" b="1" dirty="0" smtClean="0">
                <a:solidFill>
                  <a:srgbClr val="7F0055"/>
                </a:solidFill>
                <a:latin typeface="Consolas"/>
              </a:rPr>
              <a:t>package</a:t>
            </a:r>
            <a:r>
              <a:rPr lang="en-US" sz="2800" dirty="0" smtClean="0">
                <a:solidFill>
                  <a:srgbClr val="000000"/>
                </a:solidFill>
                <a:latin typeface="Consolas"/>
              </a:rPr>
              <a:t> </a:t>
            </a:r>
            <a:r>
              <a:rPr lang="en-US" sz="2800" dirty="0">
                <a:solidFill>
                  <a:srgbClr val="000000"/>
                </a:solidFill>
                <a:latin typeface="Consolas"/>
              </a:rPr>
              <a:t>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throw1{</a:t>
            </a:r>
          </a:p>
          <a:p>
            <a:pPr lvl="1"/>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a:t>
            </a:r>
            <a:r>
              <a:rPr lang="en-US" sz="2800" dirty="0" smtClean="0">
                <a:solidFill>
                  <a:srgbClr val="000000"/>
                </a:solidFill>
                <a:latin typeface="Consolas"/>
              </a:rPr>
              <a:t>checkNumber(</a:t>
            </a:r>
            <a:r>
              <a:rPr lang="en-US" sz="2800" b="1" dirty="0" smtClean="0">
                <a:solidFill>
                  <a:srgbClr val="7F0055"/>
                </a:solidFill>
                <a:latin typeface="Consolas"/>
              </a:rPr>
              <a:t>int</a:t>
            </a:r>
            <a:r>
              <a:rPr lang="en-US" sz="2800" dirty="0" smtClean="0">
                <a:solidFill>
                  <a:srgbClr val="000000"/>
                </a:solidFill>
                <a:latin typeface="Consolas"/>
              </a:rPr>
              <a:t> </a:t>
            </a:r>
            <a:r>
              <a:rPr lang="en-US" sz="2800" dirty="0" smtClean="0">
                <a:solidFill>
                  <a:srgbClr val="6A3E3E"/>
                </a:solidFill>
                <a:latin typeface="Consolas"/>
              </a:rPr>
              <a:t>num</a:t>
            </a:r>
            <a:r>
              <a:rPr lang="en-US" sz="2800" dirty="0" smtClean="0">
                <a:solidFill>
                  <a:srgbClr val="000000"/>
                </a:solidFill>
                <a:latin typeface="Consolas"/>
              </a:rPr>
              <a:t>) </a:t>
            </a:r>
            <a:r>
              <a:rPr lang="en-US" sz="2800" dirty="0">
                <a:solidFill>
                  <a:srgbClr val="000000"/>
                </a:solidFill>
                <a:latin typeface="Consolas"/>
              </a:rPr>
              <a:t>{</a:t>
            </a:r>
          </a:p>
          <a:p>
            <a:pPr lvl="2"/>
            <a:r>
              <a:rPr lang="en-US" sz="2800" b="1" dirty="0">
                <a:solidFill>
                  <a:srgbClr val="7F0055"/>
                </a:solidFill>
                <a:latin typeface="Consolas"/>
              </a:rPr>
              <a:t>if</a:t>
            </a:r>
            <a:r>
              <a:rPr lang="en-US" sz="2800" dirty="0">
                <a:solidFill>
                  <a:srgbClr val="000000"/>
                </a:solidFill>
                <a:latin typeface="Consolas"/>
              </a:rPr>
              <a:t> </a:t>
            </a:r>
            <a:r>
              <a:rPr lang="en-US" sz="2800" dirty="0" smtClean="0">
                <a:solidFill>
                  <a:srgbClr val="000000"/>
                </a:solidFill>
                <a:latin typeface="Consolas"/>
              </a:rPr>
              <a:t>(</a:t>
            </a:r>
            <a:r>
              <a:rPr lang="en-US" sz="2800" dirty="0" smtClean="0">
                <a:solidFill>
                  <a:srgbClr val="6A3E3E"/>
                </a:solidFill>
                <a:latin typeface="Consolas"/>
              </a:rPr>
              <a:t>num</a:t>
            </a:r>
            <a:r>
              <a:rPr lang="en-US" sz="2800" dirty="0" smtClean="0">
                <a:solidFill>
                  <a:srgbClr val="000000"/>
                </a:solidFill>
                <a:latin typeface="Consolas"/>
              </a:rPr>
              <a:t> </a:t>
            </a:r>
            <a:r>
              <a:rPr lang="en-US" sz="2800" dirty="0">
                <a:solidFill>
                  <a:srgbClr val="000000"/>
                </a:solidFill>
                <a:latin typeface="Consolas"/>
              </a:rPr>
              <a:t>&lt; 0</a:t>
            </a:r>
            <a:r>
              <a:rPr lang="en-US" sz="2800" dirty="0" smtClean="0">
                <a:solidFill>
                  <a:srgbClr val="000000"/>
                </a:solidFill>
                <a:latin typeface="Consolas"/>
              </a:rPr>
              <a:t>) {</a:t>
            </a:r>
          </a:p>
          <a:p>
            <a:pPr lvl="2"/>
            <a:r>
              <a:rPr lang="en-US" sz="2800" b="1" dirty="0" smtClean="0">
                <a:solidFill>
                  <a:srgbClr val="7F0055"/>
                </a:solidFill>
                <a:latin typeface="Consolas"/>
              </a:rPr>
              <a:t>throw</a:t>
            </a:r>
            <a:r>
              <a:rPr lang="en-US" sz="2800" dirty="0" smtClean="0">
                <a:solidFill>
                  <a:srgbClr val="000000"/>
                </a:solidFill>
                <a:latin typeface="Consolas"/>
              </a:rPr>
              <a:t> </a:t>
            </a:r>
            <a:r>
              <a:rPr lang="en-US" sz="2800" b="1" dirty="0" smtClean="0">
                <a:solidFill>
                  <a:srgbClr val="7F0055"/>
                </a:solidFill>
                <a:latin typeface="Consolas"/>
              </a:rPr>
              <a:t>new</a:t>
            </a:r>
            <a:r>
              <a:rPr lang="en-US" sz="2800" dirty="0" smtClean="0">
                <a:solidFill>
                  <a:srgbClr val="000000"/>
                </a:solidFill>
                <a:latin typeface="Consolas"/>
              </a:rPr>
              <a:t> IllegalArgumentException(</a:t>
            </a:r>
            <a:r>
              <a:rPr lang="en-US" sz="2800" dirty="0" smtClean="0">
                <a:solidFill>
                  <a:srgbClr val="2A00FF"/>
                </a:solidFill>
                <a:latin typeface="Consolas"/>
              </a:rPr>
              <a:t>“Number cannot be negative"</a:t>
            </a:r>
            <a:r>
              <a:rPr lang="en-US" sz="2800" dirty="0" smtClean="0">
                <a:solidFill>
                  <a:srgbClr val="000000"/>
                </a:solidFill>
                <a:latin typeface="Consolas"/>
              </a:rPr>
              <a:t>);</a:t>
            </a:r>
          </a:p>
          <a:p>
            <a:pPr lvl="2"/>
            <a:r>
              <a:rPr lang="en-US" sz="2800" dirty="0" smtClean="0">
                <a:solidFill>
                  <a:srgbClr val="000000"/>
                </a:solidFill>
                <a:latin typeface="Consolas"/>
              </a:rPr>
              <a:t>} </a:t>
            </a:r>
            <a:r>
              <a:rPr lang="en-US" sz="2800" b="1" dirty="0">
                <a:solidFill>
                  <a:srgbClr val="7F0055"/>
                </a:solidFill>
                <a:latin typeface="Consolas"/>
              </a:rPr>
              <a:t>else</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smtClean="0">
                <a:solidFill>
                  <a:srgbClr val="000000"/>
                </a:solidFill>
                <a:latin typeface="Consolas"/>
              </a:rPr>
              <a:t>(</a:t>
            </a:r>
            <a:r>
              <a:rPr lang="en-US" sz="2800" dirty="0" smtClean="0">
                <a:solidFill>
                  <a:srgbClr val="2A00FF"/>
                </a:solidFill>
                <a:latin typeface="Consolas"/>
              </a:rPr>
              <a:t>“Valid Number </a:t>
            </a:r>
            <a:r>
              <a:rPr lang="en-US" sz="2800" dirty="0">
                <a:solidFill>
                  <a:srgbClr val="2A00FF"/>
                </a:solidFill>
                <a:latin typeface="Consolas"/>
              </a:rPr>
              <a:t>"</a:t>
            </a:r>
            <a:r>
              <a:rPr lang="en-US" sz="2800" dirty="0">
                <a:solidFill>
                  <a:srgbClr val="000000"/>
                </a:solidFill>
                <a:latin typeface="Consolas"/>
              </a:rPr>
              <a:t> );</a:t>
            </a:r>
          </a:p>
          <a:p>
            <a:pPr lvl="2"/>
            <a:r>
              <a:rPr lang="en-US" sz="2800" dirty="0">
                <a:solidFill>
                  <a:srgbClr val="000000"/>
                </a:solidFill>
                <a:latin typeface="Consolas"/>
              </a:rPr>
              <a:t>}</a:t>
            </a:r>
          </a:p>
          <a:p>
            <a:pPr lvl="2"/>
            <a:r>
              <a:rPr lang="en-US" sz="2800" dirty="0" smtClean="0">
                <a:solidFill>
                  <a:srgbClr val="000000"/>
                </a:solidFill>
                <a:latin typeface="Consolas"/>
              </a:rPr>
              <a:t>}</a:t>
            </a:r>
          </a:p>
          <a:p>
            <a:pPr lvl="1"/>
            <a:r>
              <a:rPr lang="en-US" sz="2800" b="1" dirty="0" smtClean="0">
                <a:solidFill>
                  <a:srgbClr val="7F0055"/>
                </a:solidFill>
                <a:latin typeface="Consolas"/>
              </a:rPr>
              <a:t>public</a:t>
            </a:r>
            <a:r>
              <a:rPr lang="en-US" sz="2800" dirty="0" smtClean="0">
                <a:solidFill>
                  <a:srgbClr val="000000"/>
                </a:solidFill>
                <a:latin typeface="Consolas"/>
              </a:rPr>
              <a:t> </a:t>
            </a:r>
            <a:r>
              <a:rPr lang="en-US" sz="2800" b="1" dirty="0" smtClean="0">
                <a:solidFill>
                  <a:srgbClr val="7F0055"/>
                </a:solidFill>
                <a:latin typeface="Consolas"/>
              </a:rPr>
              <a:t>static</a:t>
            </a:r>
            <a:r>
              <a:rPr lang="en-US" sz="2800" dirty="0" smtClean="0">
                <a:solidFill>
                  <a:srgbClr val="000000"/>
                </a:solidFill>
                <a:latin typeface="Consolas"/>
              </a:rPr>
              <a:t> </a:t>
            </a:r>
            <a:r>
              <a:rPr lang="en-US" sz="2800" b="1" dirty="0" smtClean="0">
                <a:solidFill>
                  <a:srgbClr val="7F0055"/>
                </a:solidFill>
                <a:latin typeface="Consolas"/>
              </a:rPr>
              <a:t>void</a:t>
            </a:r>
            <a:r>
              <a:rPr lang="en-US" sz="2800" dirty="0" smtClean="0">
                <a:solidFill>
                  <a:srgbClr val="000000"/>
                </a:solidFill>
                <a:latin typeface="Consolas"/>
              </a:rPr>
              <a:t> main(String[] </a:t>
            </a:r>
            <a:r>
              <a:rPr lang="en-US" sz="2800" dirty="0" smtClean="0">
                <a:solidFill>
                  <a:srgbClr val="6A3E3E"/>
                </a:solidFill>
                <a:latin typeface="Consolas"/>
              </a:rPr>
              <a:t>args</a:t>
            </a:r>
            <a:r>
              <a:rPr lang="en-US" sz="2800" dirty="0" smtClean="0">
                <a:solidFill>
                  <a:srgbClr val="000000"/>
                </a:solidFill>
                <a:latin typeface="Consolas"/>
              </a:rPr>
              <a:t>) {</a:t>
            </a:r>
          </a:p>
          <a:p>
            <a:pPr lvl="2"/>
            <a:r>
              <a:rPr lang="en-US" sz="2800" b="1" dirty="0" smtClean="0">
                <a:solidFill>
                  <a:srgbClr val="7F0055"/>
                </a:solidFill>
                <a:latin typeface="Consolas"/>
              </a:rPr>
              <a:t>try{</a:t>
            </a:r>
          </a:p>
          <a:p>
            <a:pPr lvl="2"/>
            <a:r>
              <a:rPr lang="en-US" sz="2800" i="1" dirty="0" smtClean="0">
                <a:solidFill>
                  <a:srgbClr val="000000"/>
                </a:solidFill>
                <a:latin typeface="Consolas"/>
              </a:rPr>
              <a:t>	checkNumber</a:t>
            </a:r>
            <a:r>
              <a:rPr lang="en-US" sz="2800" dirty="0" smtClean="0">
                <a:solidFill>
                  <a:srgbClr val="000000"/>
                </a:solidFill>
                <a:latin typeface="Consolas"/>
              </a:rPr>
              <a:t>(-5); </a:t>
            </a:r>
          </a:p>
          <a:p>
            <a:pPr lvl="2"/>
            <a:r>
              <a:rPr lang="en-US" sz="2800" dirty="0" smtClean="0">
                <a:solidFill>
                  <a:srgbClr val="000000"/>
                </a:solidFill>
                <a:latin typeface="Consolas"/>
              </a:rPr>
              <a:t>} </a:t>
            </a:r>
            <a:endParaRPr lang="en-US" sz="2800" dirty="0">
              <a:solidFill>
                <a:srgbClr val="000000"/>
              </a:solidFill>
              <a:latin typeface="Consolas"/>
            </a:endParaRPr>
          </a:p>
          <a:p>
            <a:pPr lvl="2"/>
            <a:r>
              <a:rPr lang="en-US" sz="2800" b="1" dirty="0" smtClean="0">
                <a:solidFill>
                  <a:srgbClr val="7F0055"/>
                </a:solidFill>
                <a:latin typeface="Consolas"/>
              </a:rPr>
              <a:t>catch</a:t>
            </a:r>
            <a:r>
              <a:rPr lang="en-US" sz="2800" dirty="0" smtClean="0">
                <a:solidFill>
                  <a:srgbClr val="000000"/>
                </a:solidFill>
                <a:latin typeface="Consolas"/>
              </a:rPr>
              <a:t> </a:t>
            </a:r>
            <a:r>
              <a:rPr lang="en-US" sz="2800" dirty="0">
                <a:solidFill>
                  <a:srgbClr val="000000"/>
                </a:solidFill>
                <a:latin typeface="Consolas"/>
              </a:rPr>
              <a:t>(IllegalArgumentException </a:t>
            </a:r>
            <a:r>
              <a:rPr lang="en-US" sz="2800" dirty="0">
                <a:solidFill>
                  <a:srgbClr val="6A3E3E"/>
                </a:solidFill>
                <a:latin typeface="Consolas"/>
              </a:rPr>
              <a:t>e</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t>
            </a:r>
            <a:r>
              <a:rPr lang="en-US" sz="2800" dirty="0" smtClean="0">
                <a:solidFill>
                  <a:srgbClr val="2A00FF"/>
                </a:solidFill>
                <a:latin typeface="Consolas"/>
              </a:rPr>
              <a:t>Exception Caught : </a:t>
            </a:r>
            <a:r>
              <a:rPr lang="en-US" sz="2800" dirty="0">
                <a:solidFill>
                  <a:srgbClr val="2A00FF"/>
                </a:solidFill>
                <a:latin typeface="Consolas"/>
              </a:rPr>
              <a:t>"</a:t>
            </a:r>
            <a:r>
              <a:rPr lang="en-US" sz="2800" dirty="0">
                <a:solidFill>
                  <a:srgbClr val="000000"/>
                </a:solidFill>
                <a:latin typeface="Consolas"/>
              </a:rPr>
              <a:t> + </a:t>
            </a:r>
            <a:r>
              <a:rPr lang="en-US" sz="2800" dirty="0">
                <a:solidFill>
                  <a:srgbClr val="6A3E3E"/>
                </a:solidFill>
                <a:latin typeface="Consolas"/>
              </a:rPr>
              <a:t>e</a:t>
            </a:r>
            <a:r>
              <a:rPr lang="en-US" sz="2800" dirty="0">
                <a:solidFill>
                  <a:srgbClr val="000000"/>
                </a:solidFill>
                <a:latin typeface="Consolas"/>
              </a:rPr>
              <a:t>.getMessage());</a:t>
            </a:r>
          </a:p>
          <a:p>
            <a:pPr lvl="2"/>
            <a:r>
              <a:rPr lang="en-US" sz="2800" dirty="0" smtClean="0">
                <a:solidFill>
                  <a:srgbClr val="000000"/>
                </a:solidFill>
                <a:latin typeface="Consolas"/>
              </a:rPr>
              <a:t>}</a:t>
            </a:r>
            <a:endParaRPr lang="en-US" sz="2800" dirty="0"/>
          </a:p>
          <a:p>
            <a:pPr lvl="2"/>
            <a:r>
              <a:rPr lang="en-US" sz="2800" dirty="0" smtClean="0"/>
              <a:t>System.out.println(“Program continues . . . . . “); } } </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10668883" y="5143500"/>
            <a:ext cx="7258892" cy="206210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sng" strike="noStrike" cap="none" normalizeH="0" baseline="0" dirty="0" smtClean="0">
                <a:ln>
                  <a:noFill/>
                </a:ln>
                <a:solidFill>
                  <a:srgbClr val="000000"/>
                </a:solidFill>
                <a:effectLst/>
                <a:latin typeface="Consolas" pitchFamily="49" charset="0"/>
                <a:cs typeface="Arial" pitchFamily="34" charset="0"/>
              </a:rPr>
              <a:t>OUTPUT</a:t>
            </a:r>
            <a:r>
              <a:rPr lang="en-US" altLang="en-US" sz="3200" b="1" dirty="0">
                <a:solidFill>
                  <a:srgbClr val="000000"/>
                </a:solidFill>
                <a:latin typeface="Consolas" pitchFamily="49" charset="0"/>
                <a:cs typeface="Arial" pitchFamily="34" charset="0"/>
              </a:rPr>
              <a:t> </a:t>
            </a:r>
            <a:r>
              <a:rPr kumimoji="0" lang="en-US" altLang="en-US" sz="3200" b="1" i="0" strike="noStrike" cap="none" normalizeH="0" dirty="0" smtClean="0">
                <a:ln>
                  <a:noFill/>
                </a:ln>
                <a:solidFill>
                  <a:srgbClr val="000000"/>
                </a:solidFill>
                <a:effectLst/>
                <a:latin typeface="Consolas" pitchFamily="49" charset="0"/>
                <a:cs typeface="Arial" pitchFamily="34" charset="0"/>
              </a:rPr>
              <a:t>-</a:t>
            </a:r>
            <a:endParaRPr kumimoji="0" lang="en-US" altLang="en-US" sz="3200" b="1" i="0"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Exception</a:t>
            </a:r>
            <a:r>
              <a:rPr kumimoji="0" lang="en-US" altLang="en-US" sz="3200" b="0" i="0" u="none" strike="noStrike" cap="none" normalizeH="0" dirty="0" smtClean="0">
                <a:ln>
                  <a:noFill/>
                </a:ln>
                <a:solidFill>
                  <a:srgbClr val="000000"/>
                </a:solidFill>
                <a:effectLst/>
                <a:latin typeface="Consolas" pitchFamily="49" charset="0"/>
                <a:cs typeface="Arial" pitchFamily="34" charset="0"/>
              </a:rPr>
              <a:t> Caught</a:t>
            </a: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  Number cannot be negative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dirty="0" smtClean="0">
                <a:solidFill>
                  <a:srgbClr val="000000"/>
                </a:solidFill>
                <a:latin typeface="Consolas" pitchFamily="49" charset="0"/>
                <a:cs typeface="Arial" pitchFamily="34" charset="0"/>
              </a:rPr>
              <a:t>Program Continues . . . . .</a:t>
            </a:r>
            <a:endParaRPr kumimoji="0" lang="en-US" altLang="en-US" sz="3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6889742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 Example explanation  </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2" y="2449116"/>
            <a:ext cx="16060628" cy="7755969"/>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smtClean="0">
                <a:solidFill>
                  <a:srgbClr val="000000"/>
                </a:solidFill>
                <a:latin typeface="Consolas"/>
              </a:rPr>
              <a:t>Understanding the examples OF THROW :</a:t>
            </a:r>
          </a:p>
          <a:p>
            <a:pPr marL="457200" indent="-457200">
              <a:buFont typeface="Arial" panose="020B0604020202020204" pitchFamily="34" charset="0"/>
              <a:buChar char="•"/>
            </a:pPr>
            <a:r>
              <a:rPr lang="en-US" sz="2800" dirty="0" smtClean="0">
                <a:solidFill>
                  <a:srgbClr val="000000"/>
                </a:solidFill>
                <a:latin typeface="Consolas"/>
              </a:rPr>
              <a:t>Throw is used to throw an exception only with defining the name and short description of that exception. It throw and exception which is custommade , which otherwise would have not thrown by Java. We define our own exception nd throw it on our own.</a:t>
            </a:r>
          </a:p>
          <a:p>
            <a:pPr marL="457200" indent="-457200">
              <a:buFont typeface="Arial" panose="020B0604020202020204" pitchFamily="34" charset="0"/>
              <a:buChar char="•"/>
            </a:pPr>
            <a:endParaRPr lang="en-US" sz="2800" dirty="0" smtClean="0">
              <a:solidFill>
                <a:srgbClr val="000000"/>
              </a:solidFill>
              <a:latin typeface="Consolas"/>
            </a:endParaRPr>
          </a:p>
          <a:p>
            <a:pPr marL="457200" indent="-457200">
              <a:buFont typeface="Arial" panose="020B0604020202020204" pitchFamily="34" charset="0"/>
              <a:buChar char="•"/>
            </a:pPr>
            <a:r>
              <a:rPr lang="en-US" sz="2800" dirty="0" smtClean="0">
                <a:solidFill>
                  <a:srgbClr val="000000"/>
                </a:solidFill>
                <a:latin typeface="Consolas"/>
              </a:rPr>
              <a:t>1</a:t>
            </a:r>
            <a:r>
              <a:rPr lang="en-US" sz="2800" baseline="30000" dirty="0" smtClean="0">
                <a:solidFill>
                  <a:srgbClr val="000000"/>
                </a:solidFill>
                <a:latin typeface="Consolas"/>
              </a:rPr>
              <a:t>st</a:t>
            </a:r>
            <a:r>
              <a:rPr lang="en-US" sz="2800" dirty="0" smtClean="0">
                <a:solidFill>
                  <a:srgbClr val="000000"/>
                </a:solidFill>
                <a:latin typeface="Consolas"/>
              </a:rPr>
              <a:t> exmaple (Without try - catch) – Exception is thrown using throw. Not handled i.e. no try &amp; catch used, So program terminates immediately. In this case JVM , handles it and leads to abnormal termination. So the print statement after validateage(16) does not run.</a:t>
            </a:r>
          </a:p>
          <a:p>
            <a:pPr marL="457200" indent="-457200">
              <a:buFont typeface="Arial" panose="020B0604020202020204" pitchFamily="34" charset="0"/>
              <a:buChar char="•"/>
            </a:pPr>
            <a:endParaRPr lang="en-US" sz="2800" dirty="0" smtClean="0">
              <a:solidFill>
                <a:srgbClr val="000000"/>
              </a:solidFill>
              <a:latin typeface="Consolas"/>
            </a:endParaRPr>
          </a:p>
          <a:p>
            <a:pPr marL="457200" indent="-457200">
              <a:buFont typeface="Arial" panose="020B0604020202020204" pitchFamily="34" charset="0"/>
              <a:buChar char="•"/>
            </a:pPr>
            <a:r>
              <a:rPr lang="en-US" sz="2800" dirty="0" smtClean="0">
                <a:solidFill>
                  <a:srgbClr val="000000"/>
                </a:solidFill>
                <a:latin typeface="Consolas"/>
              </a:rPr>
              <a:t>2</a:t>
            </a:r>
            <a:r>
              <a:rPr lang="en-US" sz="2800" baseline="30000" dirty="0" smtClean="0">
                <a:solidFill>
                  <a:srgbClr val="000000"/>
                </a:solidFill>
                <a:latin typeface="Consolas"/>
              </a:rPr>
              <a:t>nd</a:t>
            </a:r>
            <a:r>
              <a:rPr lang="en-US" sz="2800" dirty="0" smtClean="0">
                <a:solidFill>
                  <a:srgbClr val="000000"/>
                </a:solidFill>
                <a:latin typeface="Consolas"/>
              </a:rPr>
              <a:t> example (With try – catch) – Exception is thrown using using throw. Then handled using try &amp; catch, So program continues normally. We know programs statements run normally after the last catch clause, when any one catch clause matches. In this case Catch handles it and leads to normal termination that is all statements after last cat h clause are executed. So the print statement after catch clause runs normally.</a:t>
            </a:r>
            <a:endParaRPr lang="en-US" sz="2800" dirty="0">
              <a:solidFill>
                <a:srgbClr val="000000"/>
              </a:solidFill>
              <a:latin typeface="Consolas"/>
            </a:endParaRPr>
          </a:p>
          <a:p>
            <a:r>
              <a:rPr lang="en-US" sz="2800" b="1" dirty="0" smtClean="0">
                <a:solidFill>
                  <a:srgbClr val="7F0055"/>
                </a:solidFill>
                <a:latin typeface="Consolas"/>
              </a:rPr>
              <a:t> </a:t>
            </a:r>
            <a:endParaRPr lang="en-US" sz="2800" dirty="0" smtClean="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42020691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Throws</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15812" y="2141961"/>
            <a:ext cx="16463277" cy="8186857"/>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smtClean="0"/>
              <a:t>Throws is used in method signature to pass exception responsibility to the caller.</a:t>
            </a:r>
          </a:p>
          <a:p>
            <a:pPr marL="457200" indent="-457200">
              <a:buFont typeface="Arial" panose="020B0604020202020204" pitchFamily="34" charset="0"/>
              <a:buChar char="•"/>
            </a:pPr>
            <a:r>
              <a:rPr lang="en-US" sz="2800" dirty="0" smtClean="0"/>
              <a:t>Syntax –</a:t>
            </a:r>
          </a:p>
          <a:p>
            <a:pPr lvl="2"/>
            <a:r>
              <a:rPr lang="en-US" sz="2800" dirty="0" smtClean="0"/>
              <a:t>Public void readFile ( ) throws ExceptionType {</a:t>
            </a:r>
          </a:p>
          <a:p>
            <a:pPr lvl="2"/>
            <a:r>
              <a:rPr lang="en-US" sz="2800" dirty="0" smtClean="0"/>
              <a:t>// code</a:t>
            </a:r>
          </a:p>
          <a:p>
            <a:pPr lvl="2"/>
            <a:r>
              <a:rPr lang="en-US" sz="2800" dirty="0" smtClean="0"/>
              <a:t>}</a:t>
            </a:r>
          </a:p>
          <a:p>
            <a:pPr marL="457200" indent="-457200">
              <a:buFont typeface="Arial" panose="020B0604020202020204" pitchFamily="34" charset="0"/>
              <a:buChar char="•"/>
            </a:pPr>
            <a:r>
              <a:rPr lang="en-US" sz="2800" dirty="0" smtClean="0"/>
              <a:t>It is used in method signature.</a:t>
            </a:r>
          </a:p>
          <a:p>
            <a:pPr marL="457200" indent="-457200">
              <a:buFont typeface="Arial" panose="020B0604020202020204" pitchFamily="34" charset="0"/>
              <a:buChar char="•"/>
            </a:pPr>
            <a:r>
              <a:rPr lang="en-US" sz="2800" dirty="0" smtClean="0"/>
              <a:t>It does not handle the exception</a:t>
            </a:r>
          </a:p>
          <a:p>
            <a:pPr marL="457200" indent="-457200">
              <a:buFont typeface="Arial" panose="020B0604020202020204" pitchFamily="34" charset="0"/>
              <a:buChar char="•"/>
            </a:pPr>
            <a:r>
              <a:rPr lang="en-US" sz="2800" dirty="0" smtClean="0"/>
              <a:t>It simply passes the exception to the calling method</a:t>
            </a:r>
          </a:p>
          <a:p>
            <a:pPr marL="457200" indent="-457200">
              <a:buFont typeface="Arial" panose="020B0604020202020204" pitchFamily="34" charset="0"/>
              <a:buChar char="•"/>
            </a:pPr>
            <a:r>
              <a:rPr lang="en-US" sz="2800" dirty="0" smtClean="0"/>
              <a:t>Mainly used for checked exceptions</a:t>
            </a:r>
          </a:p>
          <a:p>
            <a:pPr marL="914400" lvl="1" indent="-457200">
              <a:buFont typeface="Arial" panose="020B0604020202020204" pitchFamily="34" charset="0"/>
              <a:buChar char="•"/>
            </a:pPr>
            <a:r>
              <a:rPr lang="en-US" sz="2800" b="1" dirty="0" smtClean="0"/>
              <a:t>When using throw - </a:t>
            </a:r>
            <a:r>
              <a:rPr lang="en-US" sz="2800" dirty="0" smtClean="0"/>
              <a:t>The method threw an exception and the same method handled it.</a:t>
            </a:r>
          </a:p>
          <a:p>
            <a:pPr lvl="1"/>
            <a:r>
              <a:rPr lang="en-US" sz="2800" b="1" dirty="0" smtClean="0"/>
              <a:t>				    </a:t>
            </a:r>
            <a:r>
              <a:rPr lang="en-US" sz="2800" dirty="0" smtClean="0"/>
              <a:t>Actually exception </a:t>
            </a:r>
            <a:r>
              <a:rPr lang="en-US" sz="2800" dirty="0"/>
              <a:t>is thrown. </a:t>
            </a:r>
          </a:p>
          <a:p>
            <a:pPr lvl="8"/>
            <a:r>
              <a:rPr lang="en-US" sz="2800" dirty="0"/>
              <a:t>    Send exception to whenever method was called from. </a:t>
            </a:r>
          </a:p>
          <a:p>
            <a:pPr lvl="8"/>
            <a:r>
              <a:rPr lang="en-US" sz="2800" dirty="0"/>
              <a:t>    Create &amp; throw </a:t>
            </a:r>
            <a:r>
              <a:rPr lang="en-US" sz="2800" dirty="0" smtClean="0"/>
              <a:t>exception</a:t>
            </a:r>
            <a:endParaRPr lang="en-US" sz="2800" b="1" dirty="0" smtClean="0"/>
          </a:p>
          <a:p>
            <a:pPr marL="914400" lvl="1" indent="-457200">
              <a:buFont typeface="Arial" panose="020B0604020202020204" pitchFamily="34" charset="0"/>
              <a:buChar char="•"/>
            </a:pPr>
            <a:r>
              <a:rPr lang="en-US" sz="2800" b="1" dirty="0" smtClean="0"/>
              <a:t>When using throws – </a:t>
            </a:r>
            <a:r>
              <a:rPr lang="en-US" sz="2800" dirty="0" smtClean="0"/>
              <a:t>Now ValidateAge( ) throws the exception, main ( ) catches the exception. This is the  				     proper use of throws in method declaration.</a:t>
            </a:r>
            <a:r>
              <a:rPr lang="en-US" sz="2800" dirty="0"/>
              <a:t> </a:t>
            </a:r>
            <a:endParaRPr lang="en-US" sz="2800" dirty="0" smtClean="0"/>
          </a:p>
          <a:p>
            <a:pPr lvl="5"/>
            <a:r>
              <a:rPr lang="en-US" sz="2800" dirty="0"/>
              <a:t>	 </a:t>
            </a:r>
            <a:r>
              <a:rPr lang="en-US" sz="2800" dirty="0" smtClean="0"/>
              <a:t>      	    Only declares that exception might occur.</a:t>
            </a:r>
          </a:p>
          <a:p>
            <a:pPr lvl="5"/>
            <a:r>
              <a:rPr lang="en-US" sz="2800" dirty="0"/>
              <a:t>	</a:t>
            </a:r>
            <a:r>
              <a:rPr lang="en-US" sz="2800" dirty="0" smtClean="0"/>
              <a:t>	    This method might throw an exception.</a:t>
            </a:r>
          </a:p>
          <a:p>
            <a:pPr lvl="5"/>
            <a:r>
              <a:rPr lang="en-US" sz="2800" dirty="0"/>
              <a:t>	</a:t>
            </a:r>
            <a:r>
              <a:rPr lang="en-US" sz="2800" dirty="0" smtClean="0"/>
              <a:t>	     I am not handling it. Whoever calls it must handle it.  </a:t>
            </a:r>
          </a:p>
          <a:p>
            <a:pPr marL="914400" lvl="1" indent="-457200">
              <a:buFont typeface="Arial" panose="020B0604020202020204" pitchFamily="34" charset="0"/>
              <a:buChar char="•"/>
            </a:pPr>
            <a:endParaRPr lang="en-US" sz="2800" dirty="0" smtClean="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25313788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Throws Example </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03372" y="2449116"/>
            <a:ext cx="16060628" cy="7325082"/>
          </a:xfrm>
          <a:prstGeom prst="rect">
            <a:avLst/>
          </a:prstGeom>
        </p:spPr>
        <p:txBody>
          <a:bodyPr wrap="square" lIns="0" tIns="0" rIns="0" bIns="0" rtlCol="0" anchor="t">
            <a:spAutoFit/>
          </a:bodyPr>
          <a:lstStyle/>
          <a:p>
            <a:r>
              <a:rPr lang="en-US" sz="2800" b="1" dirty="0" smtClean="0">
                <a:solidFill>
                  <a:srgbClr val="7F0055"/>
                </a:solidFill>
                <a:latin typeface="Consolas"/>
              </a:rPr>
              <a:t>package</a:t>
            </a:r>
            <a:r>
              <a:rPr lang="en-US" sz="2800" dirty="0" smtClean="0">
                <a:solidFill>
                  <a:srgbClr val="000000"/>
                </a:solidFill>
                <a:latin typeface="Consolas"/>
              </a:rPr>
              <a:t> </a:t>
            </a:r>
            <a:r>
              <a:rPr lang="en-US" sz="2800" dirty="0">
                <a:solidFill>
                  <a:srgbClr val="000000"/>
                </a:solidFill>
                <a:latin typeface="Consolas"/>
              </a:rPr>
              <a:t>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throw1{</a:t>
            </a:r>
          </a:p>
          <a:p>
            <a:pPr lvl="1"/>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a:t>
            </a:r>
            <a:r>
              <a:rPr lang="en-US" sz="2800" dirty="0" smtClean="0">
                <a:solidFill>
                  <a:srgbClr val="000000"/>
                </a:solidFill>
                <a:latin typeface="Consolas"/>
              </a:rPr>
              <a:t>checkNumber(</a:t>
            </a:r>
            <a:r>
              <a:rPr lang="en-US" sz="2800" b="1" dirty="0" smtClean="0">
                <a:solidFill>
                  <a:srgbClr val="7F0055"/>
                </a:solidFill>
                <a:latin typeface="Consolas"/>
              </a:rPr>
              <a:t>int</a:t>
            </a:r>
            <a:r>
              <a:rPr lang="en-US" sz="2800" dirty="0" smtClean="0">
                <a:solidFill>
                  <a:srgbClr val="000000"/>
                </a:solidFill>
                <a:latin typeface="Consolas"/>
              </a:rPr>
              <a:t> </a:t>
            </a:r>
            <a:r>
              <a:rPr lang="en-US" sz="2800" dirty="0" smtClean="0">
                <a:solidFill>
                  <a:srgbClr val="6A3E3E"/>
                </a:solidFill>
                <a:latin typeface="Consolas"/>
              </a:rPr>
              <a:t>num</a:t>
            </a:r>
            <a:r>
              <a:rPr lang="en-US" sz="2800" dirty="0" smtClean="0">
                <a:solidFill>
                  <a:srgbClr val="000000"/>
                </a:solidFill>
                <a:latin typeface="Consolas"/>
              </a:rPr>
              <a:t>) </a:t>
            </a:r>
            <a:r>
              <a:rPr lang="en-US" sz="2800" b="1" dirty="0" smtClean="0">
                <a:solidFill>
                  <a:srgbClr val="7F0055"/>
                </a:solidFill>
                <a:latin typeface="Consolas"/>
              </a:rPr>
              <a:t>throw</a:t>
            </a:r>
            <a:r>
              <a:rPr lang="en-US" sz="2800" dirty="0" smtClean="0">
                <a:solidFill>
                  <a:srgbClr val="000000"/>
                </a:solidFill>
                <a:latin typeface="Consolas"/>
              </a:rPr>
              <a:t>s IllegalArgumentException</a:t>
            </a:r>
            <a:r>
              <a:rPr lang="en-US" sz="2800" dirty="0">
                <a:solidFill>
                  <a:srgbClr val="000000"/>
                </a:solidFill>
                <a:latin typeface="Consolas"/>
              </a:rPr>
              <a:t>{</a:t>
            </a:r>
          </a:p>
          <a:p>
            <a:pPr lvl="2"/>
            <a:r>
              <a:rPr lang="en-US" sz="2800" b="1" dirty="0">
                <a:solidFill>
                  <a:srgbClr val="7F0055"/>
                </a:solidFill>
                <a:latin typeface="Consolas"/>
              </a:rPr>
              <a:t>if</a:t>
            </a:r>
            <a:r>
              <a:rPr lang="en-US" sz="2800" dirty="0">
                <a:solidFill>
                  <a:srgbClr val="000000"/>
                </a:solidFill>
                <a:latin typeface="Consolas"/>
              </a:rPr>
              <a:t> </a:t>
            </a:r>
            <a:r>
              <a:rPr lang="en-US" sz="2800" dirty="0" smtClean="0">
                <a:solidFill>
                  <a:srgbClr val="000000"/>
                </a:solidFill>
                <a:latin typeface="Consolas"/>
              </a:rPr>
              <a:t>(</a:t>
            </a:r>
            <a:r>
              <a:rPr lang="en-US" sz="2800" dirty="0" smtClean="0">
                <a:solidFill>
                  <a:srgbClr val="6A3E3E"/>
                </a:solidFill>
                <a:latin typeface="Consolas"/>
              </a:rPr>
              <a:t>num</a:t>
            </a:r>
            <a:r>
              <a:rPr lang="en-US" sz="2800" dirty="0" smtClean="0">
                <a:solidFill>
                  <a:srgbClr val="000000"/>
                </a:solidFill>
                <a:latin typeface="Consolas"/>
              </a:rPr>
              <a:t> </a:t>
            </a:r>
            <a:r>
              <a:rPr lang="en-US" sz="2800" dirty="0">
                <a:solidFill>
                  <a:srgbClr val="000000"/>
                </a:solidFill>
                <a:latin typeface="Consolas"/>
              </a:rPr>
              <a:t>&lt; 0</a:t>
            </a:r>
            <a:r>
              <a:rPr lang="en-US" sz="2800" dirty="0" smtClean="0">
                <a:solidFill>
                  <a:srgbClr val="000000"/>
                </a:solidFill>
                <a:latin typeface="Consolas"/>
              </a:rPr>
              <a:t>) {</a:t>
            </a:r>
          </a:p>
          <a:p>
            <a:pPr lvl="2"/>
            <a:r>
              <a:rPr lang="en-US" sz="2800" b="1" dirty="0" smtClean="0">
                <a:solidFill>
                  <a:srgbClr val="7F0055"/>
                </a:solidFill>
                <a:latin typeface="Consolas"/>
              </a:rPr>
              <a:t>throw</a:t>
            </a:r>
            <a:r>
              <a:rPr lang="en-US" sz="2800" dirty="0" smtClean="0">
                <a:solidFill>
                  <a:srgbClr val="000000"/>
                </a:solidFill>
                <a:latin typeface="Consolas"/>
              </a:rPr>
              <a:t> </a:t>
            </a:r>
            <a:r>
              <a:rPr lang="en-US" sz="2800" b="1" dirty="0" smtClean="0">
                <a:solidFill>
                  <a:srgbClr val="7F0055"/>
                </a:solidFill>
                <a:latin typeface="Consolas"/>
              </a:rPr>
              <a:t>new</a:t>
            </a:r>
            <a:r>
              <a:rPr lang="en-US" sz="2800" dirty="0" smtClean="0">
                <a:solidFill>
                  <a:srgbClr val="000000"/>
                </a:solidFill>
                <a:latin typeface="Consolas"/>
              </a:rPr>
              <a:t> IllegalArgumentException(</a:t>
            </a:r>
            <a:r>
              <a:rPr lang="en-US" sz="2800" dirty="0" smtClean="0">
                <a:solidFill>
                  <a:srgbClr val="2A00FF"/>
                </a:solidFill>
                <a:latin typeface="Consolas"/>
              </a:rPr>
              <a:t>“Number cannot be negative"</a:t>
            </a:r>
            <a:r>
              <a:rPr lang="en-US" sz="2800" dirty="0" smtClean="0">
                <a:solidFill>
                  <a:srgbClr val="000000"/>
                </a:solidFill>
                <a:latin typeface="Consolas"/>
              </a:rPr>
              <a:t>);</a:t>
            </a:r>
          </a:p>
          <a:p>
            <a:pPr lvl="2"/>
            <a:r>
              <a:rPr lang="en-US" sz="2800" dirty="0" smtClean="0">
                <a:solidFill>
                  <a:srgbClr val="000000"/>
                </a:solidFill>
                <a:latin typeface="Consolas"/>
              </a:rPr>
              <a:t>} </a:t>
            </a:r>
            <a:r>
              <a:rPr lang="en-US" sz="2800" b="1" dirty="0">
                <a:solidFill>
                  <a:srgbClr val="7F0055"/>
                </a:solidFill>
                <a:latin typeface="Consolas"/>
              </a:rPr>
              <a:t>else</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smtClean="0">
                <a:solidFill>
                  <a:srgbClr val="000000"/>
                </a:solidFill>
                <a:latin typeface="Consolas"/>
              </a:rPr>
              <a:t>(</a:t>
            </a:r>
            <a:r>
              <a:rPr lang="en-US" sz="2800" dirty="0" smtClean="0">
                <a:solidFill>
                  <a:srgbClr val="2A00FF"/>
                </a:solidFill>
                <a:latin typeface="Consolas"/>
              </a:rPr>
              <a:t>“Valid Number </a:t>
            </a:r>
            <a:r>
              <a:rPr lang="en-US" sz="2800" dirty="0">
                <a:solidFill>
                  <a:srgbClr val="2A00FF"/>
                </a:solidFill>
                <a:latin typeface="Consolas"/>
              </a:rPr>
              <a:t>"</a:t>
            </a:r>
            <a:r>
              <a:rPr lang="en-US" sz="2800" dirty="0">
                <a:solidFill>
                  <a:srgbClr val="000000"/>
                </a:solidFill>
                <a:latin typeface="Consolas"/>
              </a:rPr>
              <a:t> );</a:t>
            </a:r>
          </a:p>
          <a:p>
            <a:pPr lvl="2"/>
            <a:r>
              <a:rPr lang="en-US" sz="2800" dirty="0">
                <a:solidFill>
                  <a:srgbClr val="000000"/>
                </a:solidFill>
                <a:latin typeface="Consolas"/>
              </a:rPr>
              <a:t>}</a:t>
            </a:r>
          </a:p>
          <a:p>
            <a:pPr lvl="2"/>
            <a:r>
              <a:rPr lang="en-US" sz="2800" dirty="0" smtClean="0">
                <a:solidFill>
                  <a:srgbClr val="000000"/>
                </a:solidFill>
                <a:latin typeface="Consolas"/>
              </a:rPr>
              <a:t>}</a:t>
            </a:r>
          </a:p>
          <a:p>
            <a:pPr lvl="1"/>
            <a:r>
              <a:rPr lang="en-US" sz="2800" b="1" dirty="0" smtClean="0">
                <a:solidFill>
                  <a:srgbClr val="7F0055"/>
                </a:solidFill>
                <a:latin typeface="Consolas"/>
              </a:rPr>
              <a:t>public</a:t>
            </a:r>
            <a:r>
              <a:rPr lang="en-US" sz="2800" dirty="0" smtClean="0">
                <a:solidFill>
                  <a:srgbClr val="000000"/>
                </a:solidFill>
                <a:latin typeface="Consolas"/>
              </a:rPr>
              <a:t> </a:t>
            </a:r>
            <a:r>
              <a:rPr lang="en-US" sz="2800" b="1" dirty="0" smtClean="0">
                <a:solidFill>
                  <a:srgbClr val="7F0055"/>
                </a:solidFill>
                <a:latin typeface="Consolas"/>
              </a:rPr>
              <a:t>static</a:t>
            </a:r>
            <a:r>
              <a:rPr lang="en-US" sz="2800" dirty="0" smtClean="0">
                <a:solidFill>
                  <a:srgbClr val="000000"/>
                </a:solidFill>
                <a:latin typeface="Consolas"/>
              </a:rPr>
              <a:t> </a:t>
            </a:r>
            <a:r>
              <a:rPr lang="en-US" sz="2800" b="1" dirty="0" smtClean="0">
                <a:solidFill>
                  <a:srgbClr val="7F0055"/>
                </a:solidFill>
                <a:latin typeface="Consolas"/>
              </a:rPr>
              <a:t>void</a:t>
            </a:r>
            <a:r>
              <a:rPr lang="en-US" sz="2800" dirty="0" smtClean="0">
                <a:solidFill>
                  <a:srgbClr val="000000"/>
                </a:solidFill>
                <a:latin typeface="Consolas"/>
              </a:rPr>
              <a:t> main(String[] </a:t>
            </a:r>
            <a:r>
              <a:rPr lang="en-US" sz="2800" dirty="0" smtClean="0">
                <a:solidFill>
                  <a:srgbClr val="6A3E3E"/>
                </a:solidFill>
                <a:latin typeface="Consolas"/>
              </a:rPr>
              <a:t>args</a:t>
            </a:r>
            <a:r>
              <a:rPr lang="en-US" sz="2800" dirty="0" smtClean="0">
                <a:solidFill>
                  <a:srgbClr val="000000"/>
                </a:solidFill>
                <a:latin typeface="Consolas"/>
              </a:rPr>
              <a:t>) {</a:t>
            </a:r>
          </a:p>
          <a:p>
            <a:pPr lvl="2"/>
            <a:r>
              <a:rPr lang="en-US" sz="2800" b="1" dirty="0" smtClean="0">
                <a:solidFill>
                  <a:srgbClr val="7F0055"/>
                </a:solidFill>
                <a:latin typeface="Consolas"/>
              </a:rPr>
              <a:t>try{</a:t>
            </a:r>
          </a:p>
          <a:p>
            <a:pPr lvl="2"/>
            <a:r>
              <a:rPr lang="en-US" sz="2800" i="1" dirty="0" smtClean="0">
                <a:solidFill>
                  <a:srgbClr val="000000"/>
                </a:solidFill>
                <a:latin typeface="Consolas"/>
              </a:rPr>
              <a:t>	checkNumber</a:t>
            </a:r>
            <a:r>
              <a:rPr lang="en-US" sz="2800" dirty="0" smtClean="0">
                <a:solidFill>
                  <a:srgbClr val="000000"/>
                </a:solidFill>
                <a:latin typeface="Consolas"/>
              </a:rPr>
              <a:t>(-5); </a:t>
            </a:r>
          </a:p>
          <a:p>
            <a:pPr lvl="2"/>
            <a:r>
              <a:rPr lang="en-US" sz="2800" dirty="0" smtClean="0">
                <a:solidFill>
                  <a:srgbClr val="000000"/>
                </a:solidFill>
                <a:latin typeface="Consolas"/>
              </a:rPr>
              <a:t>} </a:t>
            </a:r>
            <a:endParaRPr lang="en-US" sz="2800" dirty="0">
              <a:solidFill>
                <a:srgbClr val="000000"/>
              </a:solidFill>
              <a:latin typeface="Consolas"/>
            </a:endParaRPr>
          </a:p>
          <a:p>
            <a:pPr lvl="2"/>
            <a:r>
              <a:rPr lang="en-US" sz="2800" b="1" dirty="0" smtClean="0">
                <a:solidFill>
                  <a:srgbClr val="7F0055"/>
                </a:solidFill>
                <a:latin typeface="Consolas"/>
              </a:rPr>
              <a:t>catch</a:t>
            </a:r>
            <a:r>
              <a:rPr lang="en-US" sz="2800" dirty="0" smtClean="0">
                <a:solidFill>
                  <a:srgbClr val="000000"/>
                </a:solidFill>
                <a:latin typeface="Consolas"/>
              </a:rPr>
              <a:t> </a:t>
            </a:r>
            <a:r>
              <a:rPr lang="en-US" sz="2800" dirty="0">
                <a:solidFill>
                  <a:srgbClr val="000000"/>
                </a:solidFill>
                <a:latin typeface="Consolas"/>
              </a:rPr>
              <a:t>(IllegalArgumentException </a:t>
            </a:r>
            <a:r>
              <a:rPr lang="en-US" sz="2800" dirty="0">
                <a:solidFill>
                  <a:srgbClr val="6A3E3E"/>
                </a:solidFill>
                <a:latin typeface="Consolas"/>
              </a:rPr>
              <a:t>e</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a:t>
            </a:r>
            <a:r>
              <a:rPr lang="en-US" sz="2800" dirty="0" smtClean="0">
                <a:solidFill>
                  <a:srgbClr val="2A00FF"/>
                </a:solidFill>
                <a:latin typeface="Consolas"/>
              </a:rPr>
              <a:t>Exception Caught : </a:t>
            </a:r>
            <a:r>
              <a:rPr lang="en-US" sz="2800" dirty="0">
                <a:solidFill>
                  <a:srgbClr val="2A00FF"/>
                </a:solidFill>
                <a:latin typeface="Consolas"/>
              </a:rPr>
              <a:t>"</a:t>
            </a:r>
            <a:r>
              <a:rPr lang="en-US" sz="2800" dirty="0">
                <a:solidFill>
                  <a:srgbClr val="000000"/>
                </a:solidFill>
                <a:latin typeface="Consolas"/>
              </a:rPr>
              <a:t> + </a:t>
            </a:r>
            <a:r>
              <a:rPr lang="en-US" sz="2800" dirty="0">
                <a:solidFill>
                  <a:srgbClr val="6A3E3E"/>
                </a:solidFill>
                <a:latin typeface="Consolas"/>
              </a:rPr>
              <a:t>e</a:t>
            </a:r>
            <a:r>
              <a:rPr lang="en-US" sz="2800" dirty="0">
                <a:solidFill>
                  <a:srgbClr val="000000"/>
                </a:solidFill>
                <a:latin typeface="Consolas"/>
              </a:rPr>
              <a:t>.getMessage());</a:t>
            </a:r>
          </a:p>
          <a:p>
            <a:pPr lvl="2"/>
            <a:r>
              <a:rPr lang="en-US" sz="2800" dirty="0" smtClean="0">
                <a:solidFill>
                  <a:srgbClr val="000000"/>
                </a:solidFill>
                <a:latin typeface="Consolas"/>
              </a:rPr>
              <a:t>}</a:t>
            </a:r>
            <a:endParaRPr lang="en-US" sz="2800" dirty="0"/>
          </a:p>
          <a:p>
            <a:pPr lvl="2"/>
            <a:r>
              <a:rPr lang="en-US" sz="2800" dirty="0" smtClean="0"/>
              <a:t>System.out.println(“Program continues . . . . . “); } } </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10668883" y="5143500"/>
            <a:ext cx="7258892" cy="206210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sng" strike="noStrike" cap="none" normalizeH="0" baseline="0" dirty="0" smtClean="0">
                <a:ln>
                  <a:noFill/>
                </a:ln>
                <a:solidFill>
                  <a:srgbClr val="000000"/>
                </a:solidFill>
                <a:effectLst/>
                <a:latin typeface="Consolas" pitchFamily="49" charset="0"/>
                <a:cs typeface="Arial" pitchFamily="34" charset="0"/>
              </a:rPr>
              <a:t>OUTPUT</a:t>
            </a:r>
            <a:r>
              <a:rPr lang="en-US" altLang="en-US" sz="3200" b="1" dirty="0">
                <a:solidFill>
                  <a:srgbClr val="000000"/>
                </a:solidFill>
                <a:latin typeface="Consolas" pitchFamily="49" charset="0"/>
                <a:cs typeface="Arial" pitchFamily="34" charset="0"/>
              </a:rPr>
              <a:t> </a:t>
            </a:r>
            <a:r>
              <a:rPr kumimoji="0" lang="en-US" altLang="en-US" sz="3200" b="1" i="0" strike="noStrike" cap="none" normalizeH="0" dirty="0" smtClean="0">
                <a:ln>
                  <a:noFill/>
                </a:ln>
                <a:solidFill>
                  <a:srgbClr val="000000"/>
                </a:solidFill>
                <a:effectLst/>
                <a:latin typeface="Consolas" pitchFamily="49" charset="0"/>
                <a:cs typeface="Arial" pitchFamily="34" charset="0"/>
              </a:rPr>
              <a:t>-</a:t>
            </a:r>
            <a:endParaRPr kumimoji="0" lang="en-US" altLang="en-US" sz="3200" b="1" i="0" strike="noStrike" cap="none" normalizeH="0" baseline="0" dirty="0" smtClean="0">
              <a:ln>
                <a:noFill/>
              </a:ln>
              <a:solidFill>
                <a:srgbClr val="000000"/>
              </a:solidFill>
              <a:effectLst/>
              <a:latin typeface="Consolas"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Exception</a:t>
            </a:r>
            <a:r>
              <a:rPr kumimoji="0" lang="en-US" altLang="en-US" sz="3200" b="0" i="0" u="none" strike="noStrike" cap="none" normalizeH="0" dirty="0" smtClean="0">
                <a:ln>
                  <a:noFill/>
                </a:ln>
                <a:solidFill>
                  <a:srgbClr val="000000"/>
                </a:solidFill>
                <a:effectLst/>
                <a:latin typeface="Consolas" pitchFamily="49" charset="0"/>
                <a:cs typeface="Arial" pitchFamily="34" charset="0"/>
              </a:rPr>
              <a:t> Caught</a:t>
            </a: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  Number cannot be negative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dirty="0" smtClean="0">
                <a:solidFill>
                  <a:srgbClr val="000000"/>
                </a:solidFill>
                <a:latin typeface="Consolas" pitchFamily="49" charset="0"/>
                <a:cs typeface="Arial" pitchFamily="34" charset="0"/>
              </a:rPr>
              <a:t>Program Continues . . . . .</a:t>
            </a:r>
            <a:endParaRPr kumimoji="0" lang="en-US" altLang="en-US" sz="3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8802388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419100"/>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805557"/>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sym typeface="Garet Bold"/>
              </a:rPr>
              <a:t>Throws example explanation</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715812" y="2572848"/>
            <a:ext cx="16463277" cy="6463308"/>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b="1" dirty="0" smtClean="0"/>
              <a:t>Method Declaration</a:t>
            </a:r>
          </a:p>
          <a:p>
            <a:r>
              <a:rPr lang="en-US" sz="2800" dirty="0"/>
              <a:t>	</a:t>
            </a:r>
            <a:r>
              <a:rPr lang="en-US" sz="2800" dirty="0" smtClean="0"/>
              <a:t>Method </a:t>
            </a:r>
            <a:r>
              <a:rPr lang="en-US" sz="2800" dirty="0"/>
              <a:t>Declaration </a:t>
            </a:r>
            <a:r>
              <a:rPr lang="en-US" sz="2800" dirty="0" smtClean="0"/>
              <a:t>has Changed – Added </a:t>
            </a:r>
            <a:r>
              <a:rPr lang="en-US" sz="2800" b="1" dirty="0" smtClean="0">
                <a:solidFill>
                  <a:srgbClr val="7F0055"/>
                </a:solidFill>
                <a:latin typeface="Consolas"/>
              </a:rPr>
              <a:t>throws </a:t>
            </a:r>
            <a:r>
              <a:rPr lang="en-US" sz="2800" dirty="0" smtClean="0">
                <a:solidFill>
                  <a:srgbClr val="000000"/>
                </a:solidFill>
                <a:latin typeface="Consolas"/>
              </a:rPr>
              <a:t>IllegalArgumentException.</a:t>
            </a:r>
          </a:p>
          <a:p>
            <a:r>
              <a:rPr lang="en-US" sz="2800" dirty="0">
                <a:solidFill>
                  <a:srgbClr val="000000"/>
                </a:solidFill>
                <a:latin typeface="Consolas"/>
              </a:rPr>
              <a:t>	</a:t>
            </a:r>
            <a:r>
              <a:rPr lang="en-US" sz="2800" dirty="0" smtClean="0">
                <a:solidFill>
                  <a:srgbClr val="000000"/>
                </a:solidFill>
                <a:latin typeface="Consolas"/>
              </a:rPr>
              <a:t>You are declaring that this method may throw an exception.</a:t>
            </a:r>
          </a:p>
          <a:p>
            <a:r>
              <a:rPr lang="en-US" sz="2800" dirty="0">
                <a:solidFill>
                  <a:srgbClr val="000000"/>
                </a:solidFill>
                <a:latin typeface="Consolas"/>
              </a:rPr>
              <a:t>	</a:t>
            </a:r>
            <a:r>
              <a:rPr lang="en-US" sz="2800" dirty="0" smtClean="0">
                <a:solidFill>
                  <a:srgbClr val="000000"/>
                </a:solidFill>
                <a:latin typeface="Consolas"/>
              </a:rPr>
              <a:t>This is the role of throws.</a:t>
            </a:r>
          </a:p>
          <a:p>
            <a:pPr marL="457200" indent="-457200">
              <a:buFont typeface="Arial" panose="020B0604020202020204" pitchFamily="34" charset="0"/>
              <a:buChar char="•"/>
            </a:pPr>
            <a:r>
              <a:rPr lang="en-US" sz="2800" b="1" dirty="0" smtClean="0">
                <a:solidFill>
                  <a:srgbClr val="7F0055"/>
                </a:solidFill>
                <a:latin typeface="Consolas"/>
              </a:rPr>
              <a:t>throw</a:t>
            </a:r>
            <a:r>
              <a:rPr lang="en-US" sz="2800" dirty="0" smtClean="0">
                <a:solidFill>
                  <a:srgbClr val="000000"/>
                </a:solidFill>
                <a:latin typeface="Consolas"/>
              </a:rPr>
              <a:t> actually throws exception, </a:t>
            </a:r>
            <a:r>
              <a:rPr lang="en-US" sz="2800" b="1" dirty="0" smtClean="0">
                <a:solidFill>
                  <a:srgbClr val="7F0055"/>
                </a:solidFill>
                <a:latin typeface="Consolas"/>
              </a:rPr>
              <a:t>throws</a:t>
            </a:r>
            <a:r>
              <a:rPr lang="en-US" sz="2800" dirty="0" smtClean="0">
                <a:solidFill>
                  <a:srgbClr val="000000"/>
                </a:solidFill>
                <a:latin typeface="Consolas"/>
              </a:rPr>
              <a:t> declares that method may throw exception</a:t>
            </a:r>
          </a:p>
          <a:p>
            <a:pPr marL="457200" indent="-457200">
              <a:buFont typeface="Arial" panose="020B0604020202020204" pitchFamily="34" charset="0"/>
              <a:buChar char="•"/>
            </a:pPr>
            <a:r>
              <a:rPr lang="en-US" sz="2800" b="1" dirty="0" smtClean="0">
                <a:solidFill>
                  <a:srgbClr val="000000"/>
                </a:solidFill>
                <a:latin typeface="Consolas"/>
              </a:rPr>
              <a:t>Throwing Exception</a:t>
            </a:r>
            <a:r>
              <a:rPr lang="en-US" sz="2800" b="1" dirty="0" smtClean="0"/>
              <a:t>  </a:t>
            </a:r>
          </a:p>
          <a:p>
            <a:r>
              <a:rPr lang="en-US" sz="2800" dirty="0" smtClean="0"/>
              <a:t>	You are actually creating and throwing the exception.</a:t>
            </a:r>
          </a:p>
          <a:p>
            <a:r>
              <a:rPr lang="en-US" sz="2800" dirty="0" smtClean="0"/>
              <a:t>	This the role of throw.</a:t>
            </a:r>
          </a:p>
          <a:p>
            <a:pPr marL="457200" indent="-457200">
              <a:buFont typeface="Arial" panose="020B0604020202020204" pitchFamily="34" charset="0"/>
              <a:buChar char="•"/>
            </a:pPr>
            <a:r>
              <a:rPr lang="en-US" sz="2800" b="1" dirty="0" smtClean="0">
                <a:solidFill>
                  <a:srgbClr val="000000"/>
                </a:solidFill>
                <a:latin typeface="Consolas"/>
              </a:rPr>
              <a:t>Handling in main()</a:t>
            </a:r>
          </a:p>
          <a:p>
            <a:r>
              <a:rPr lang="en-US" sz="2800" b="1" dirty="0">
                <a:solidFill>
                  <a:srgbClr val="000000"/>
                </a:solidFill>
                <a:latin typeface="Consolas"/>
              </a:rPr>
              <a:t>	</a:t>
            </a:r>
            <a:r>
              <a:rPr lang="en-US" sz="2800" dirty="0" smtClean="0">
                <a:solidFill>
                  <a:srgbClr val="000000"/>
                </a:solidFill>
                <a:latin typeface="Consolas"/>
              </a:rPr>
              <a:t>Exception is caught and handled using catch clause in main method, so program 	does not terminate i.e. statements after last catch clause runs. </a:t>
            </a:r>
            <a:endParaRPr lang="en-US" sz="2800" b="1" dirty="0" smtClean="0">
              <a:solidFill>
                <a:srgbClr val="000000"/>
              </a:solidFill>
              <a:latin typeface="Consolas"/>
            </a:endParaRPr>
          </a:p>
          <a:p>
            <a:pPr marL="457200" indent="-457200">
              <a:buFont typeface="Arial" panose="020B0604020202020204" pitchFamily="34" charset="0"/>
              <a:buChar char="•"/>
            </a:pPr>
            <a:r>
              <a:rPr lang="en-US" sz="2800" b="1" dirty="0" smtClean="0">
                <a:solidFill>
                  <a:srgbClr val="000000"/>
                </a:solidFill>
                <a:latin typeface="Consolas"/>
              </a:rPr>
              <a:t>Need for throws</a:t>
            </a:r>
          </a:p>
          <a:p>
            <a:pPr marL="914400" lvl="1" indent="-457200">
              <a:buFont typeface="Wingdings" panose="05000000000000000000" pitchFamily="2" charset="2"/>
              <a:buChar char="Ø"/>
            </a:pPr>
            <a:r>
              <a:rPr lang="en-US" sz="2800" dirty="0" smtClean="0">
                <a:solidFill>
                  <a:srgbClr val="000000"/>
                </a:solidFill>
                <a:latin typeface="Consolas"/>
              </a:rPr>
              <a:t>Throws tell compiler and programmer that a method may generate an exception.</a:t>
            </a:r>
          </a:p>
          <a:p>
            <a:pPr marL="914400" lvl="1" indent="-457200">
              <a:buFont typeface="Wingdings" panose="05000000000000000000" pitchFamily="2" charset="2"/>
              <a:buChar char="Ø"/>
            </a:pPr>
            <a:r>
              <a:rPr lang="en-US" sz="2800" dirty="0" smtClean="0">
                <a:solidFill>
                  <a:srgbClr val="000000"/>
                </a:solidFill>
                <a:latin typeface="Consolas"/>
              </a:rPr>
              <a:t>When a method uses throws, it does not handle the exception itself. Instead . It passes the rwesposibility of handling to the calling method.</a:t>
            </a:r>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1968147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txBody>
          <a:bodyPr/>
          <a:lstStyle/>
          <a:p>
            <a:endParaRPr lang="en-US" sz="3600" dirty="0"/>
          </a:p>
        </p:txBody>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206375"/>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505966"/>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t>Finally</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683155" y="2199599"/>
            <a:ext cx="16463277" cy="7755969"/>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800" dirty="0" smtClean="0"/>
              <a:t>Finally </a:t>
            </a:r>
            <a:r>
              <a:rPr lang="en-US" sz="2800" dirty="0"/>
              <a:t>block of code always run whether there is an exception occurred or not</a:t>
            </a:r>
            <a:r>
              <a:rPr lang="en-US" sz="2800" dirty="0" smtClean="0"/>
              <a:t>. </a:t>
            </a:r>
          </a:p>
          <a:p>
            <a:pPr marL="457200" indent="-457200">
              <a:buFont typeface="Arial" panose="020B0604020202020204" pitchFamily="34" charset="0"/>
              <a:buChar char="•"/>
            </a:pPr>
            <a:r>
              <a:rPr lang="en-US" sz="2800" dirty="0" smtClean="0"/>
              <a:t>The finally block is used to execute important code (like cleanup) whether an exception occurs or not.</a:t>
            </a:r>
          </a:p>
          <a:p>
            <a:pPr marL="457200" indent="-457200">
              <a:buFont typeface="Arial" panose="020B0604020202020204" pitchFamily="34" charset="0"/>
              <a:buChar char="•"/>
            </a:pPr>
            <a:r>
              <a:rPr lang="en-US" sz="2800" dirty="0" smtClean="0"/>
              <a:t>Syntax –</a:t>
            </a:r>
          </a:p>
          <a:p>
            <a:pPr lvl="1"/>
            <a:r>
              <a:rPr lang="en-US" sz="2800" dirty="0"/>
              <a:t>try {</a:t>
            </a:r>
          </a:p>
          <a:p>
            <a:pPr lvl="2"/>
            <a:r>
              <a:rPr lang="en-US" sz="2800" dirty="0"/>
              <a:t>	//code to be monitored</a:t>
            </a:r>
          </a:p>
          <a:p>
            <a:pPr lvl="2"/>
            <a:r>
              <a:rPr lang="en-US" sz="2800" dirty="0"/>
              <a:t>	}</a:t>
            </a:r>
          </a:p>
          <a:p>
            <a:r>
              <a:rPr lang="en-US" sz="2800" dirty="0" smtClean="0"/>
              <a:t>	Catch(Exception </a:t>
            </a:r>
            <a:r>
              <a:rPr lang="en-US" sz="2800" dirty="0"/>
              <a:t>e){</a:t>
            </a:r>
          </a:p>
          <a:p>
            <a:pPr lvl="2"/>
            <a:r>
              <a:rPr lang="en-US" sz="2800" dirty="0"/>
              <a:t>	//handling exception</a:t>
            </a:r>
          </a:p>
          <a:p>
            <a:pPr lvl="2"/>
            <a:r>
              <a:rPr lang="en-US" sz="2800" dirty="0"/>
              <a:t>	}</a:t>
            </a:r>
          </a:p>
          <a:p>
            <a:r>
              <a:rPr lang="en-US" sz="2800" dirty="0" smtClean="0"/>
              <a:t>	Finally </a:t>
            </a:r>
            <a:r>
              <a:rPr lang="en-US" sz="2800" dirty="0"/>
              <a:t>{</a:t>
            </a:r>
          </a:p>
          <a:p>
            <a:pPr lvl="2"/>
            <a:r>
              <a:rPr lang="en-US" sz="2800" dirty="0"/>
              <a:t>	//always execute </a:t>
            </a:r>
          </a:p>
          <a:p>
            <a:pPr lvl="2"/>
            <a:r>
              <a:rPr lang="en-US" sz="2800" dirty="0"/>
              <a:t>	 }</a:t>
            </a:r>
          </a:p>
          <a:p>
            <a:pPr marL="457200" indent="-457200">
              <a:buFont typeface="Arial" panose="020B0604020202020204" pitchFamily="34" charset="0"/>
              <a:buChar char="•"/>
            </a:pPr>
            <a:endParaRPr lang="en-US" sz="2800" dirty="0" smtClean="0"/>
          </a:p>
          <a:p>
            <a:pPr marL="457200" indent="-457200">
              <a:buFont typeface="Arial" panose="020B0604020202020204" pitchFamily="34" charset="0"/>
              <a:buChar char="•"/>
            </a:pPr>
            <a:r>
              <a:rPr lang="en-US" sz="2800" dirty="0" smtClean="0"/>
              <a:t> It is always written after try and catch blocks, and is always execeuted.</a:t>
            </a:r>
          </a:p>
          <a:p>
            <a:pPr marL="457200" indent="-457200">
              <a:buFont typeface="Arial" panose="020B0604020202020204" pitchFamily="34" charset="0"/>
              <a:buChar char="•"/>
            </a:pPr>
            <a:r>
              <a:rPr lang="en-US" sz="2800" dirty="0" smtClean="0"/>
              <a:t>If not exception occurs, try block executes completely, then finally is executed </a:t>
            </a:r>
          </a:p>
          <a:p>
            <a:pPr marL="457200" indent="-457200">
              <a:buFont typeface="Arial" panose="020B0604020202020204" pitchFamily="34" charset="0"/>
              <a:buChar char="•"/>
            </a:pPr>
            <a:r>
              <a:rPr lang="en-US" sz="2800" dirty="0" smtClean="0"/>
              <a:t>Helps avoid memory or resource leakage.</a:t>
            </a:r>
            <a:endParaRPr lang="en-US" sz="2800" dirty="0"/>
          </a:p>
          <a:p>
            <a:r>
              <a:rPr lang="en-US" sz="2800" b="1" dirty="0" smtClean="0">
                <a:solidFill>
                  <a:srgbClr val="7F0055"/>
                </a:solidFill>
                <a:latin typeface="Consolas"/>
              </a:rPr>
              <a:t> </a:t>
            </a:r>
            <a:endParaRPr lang="en-US" sz="2800" dirty="0">
              <a:solidFill>
                <a:srgbClr val="000000"/>
              </a:solidFill>
              <a:latin typeface="Consolas"/>
            </a:endParaRPr>
          </a:p>
          <a:p>
            <a:pPr marL="457200" indent="-457200">
              <a:buFont typeface="Arial" panose="020B0604020202020204" pitchFamily="34" charset="0"/>
              <a:buChar char="•"/>
            </a:pPr>
            <a:endParaRPr lang="en-US" sz="28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Tree>
    <p:extLst>
      <p:ext uri="{BB962C8B-B14F-4D97-AF65-F5344CB8AC3E}">
        <p14:creationId xmlns:p14="http://schemas.microsoft.com/office/powerpoint/2010/main" val="42822740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chemeClr val="bg1">
              <a:lumMod val="95000"/>
            </a:schemeClr>
          </a:solidFill>
        </p:spPr>
        <p:txBody>
          <a:bodyPr/>
          <a:lstStyle/>
          <a:p>
            <a:endParaRPr lang="en-US" sz="3600" dirty="0"/>
          </a:p>
        </p:txBody>
      </p:sp>
      <p:sp>
        <p:nvSpPr>
          <p:cNvPr id="6" name="AutoShape 6"/>
          <p:cNvSpPr/>
          <p:nvPr/>
        </p:nvSpPr>
        <p:spPr>
          <a:xfrm>
            <a:off x="-1" y="9667483"/>
            <a:ext cx="19314367" cy="0"/>
          </a:xfrm>
          <a:prstGeom prst="line">
            <a:avLst/>
          </a:prstGeom>
          <a:ln w="44450" cap="flat">
            <a:solidFill>
              <a:srgbClr val="A6A6A6"/>
            </a:solidFill>
            <a:prstDash val="solid"/>
            <a:headEnd type="none" w="sm" len="sm"/>
            <a:tailEnd type="none" w="sm" len="sm"/>
          </a:ln>
        </p:spPr>
      </p:sp>
      <p:sp>
        <p:nvSpPr>
          <p:cNvPr id="4" name="Freeform 4"/>
          <p:cNvSpPr/>
          <p:nvPr/>
        </p:nvSpPr>
        <p:spPr>
          <a:xfrm>
            <a:off x="1007704" y="206375"/>
            <a:ext cx="16463277" cy="1676400"/>
          </a:xfrm>
          <a:custGeom>
            <a:avLst/>
            <a:gdLst/>
            <a:ahLst/>
            <a:cxnLst/>
            <a:rect l="l" t="t" r="r" b="b"/>
            <a:pathLst>
              <a:path w="1659250" h="141160">
                <a:moveTo>
                  <a:pt x="70580" y="0"/>
                </a:moveTo>
                <a:lnTo>
                  <a:pt x="1588670" y="0"/>
                </a:lnTo>
                <a:cubicBezTo>
                  <a:pt x="1607389" y="0"/>
                  <a:pt x="1625341" y="7436"/>
                  <a:pt x="1638578" y="20672"/>
                </a:cubicBezTo>
                <a:cubicBezTo>
                  <a:pt x="1651814" y="33909"/>
                  <a:pt x="1659250" y="51861"/>
                  <a:pt x="1659250" y="70580"/>
                </a:cubicBezTo>
                <a:lnTo>
                  <a:pt x="1659250" y="70580"/>
                </a:lnTo>
                <a:cubicBezTo>
                  <a:pt x="1659250" y="109560"/>
                  <a:pt x="1627650" y="141160"/>
                  <a:pt x="1588670" y="141160"/>
                </a:cubicBezTo>
                <a:lnTo>
                  <a:pt x="70580" y="141160"/>
                </a:lnTo>
                <a:cubicBezTo>
                  <a:pt x="31600" y="141160"/>
                  <a:pt x="0" y="109560"/>
                  <a:pt x="0" y="70580"/>
                </a:cubicBezTo>
                <a:lnTo>
                  <a:pt x="0" y="70580"/>
                </a:lnTo>
                <a:cubicBezTo>
                  <a:pt x="0" y="31600"/>
                  <a:pt x="31600" y="0"/>
                  <a:pt x="70580" y="0"/>
                </a:cubicBezTo>
                <a:close/>
              </a:path>
            </a:pathLst>
          </a:custGeom>
          <a:solidFill>
            <a:schemeClr val="accent2">
              <a:lumMod val="20000"/>
              <a:lumOff val="80000"/>
            </a:schemeClr>
          </a:solidFill>
          <a:ln w="19050" cap="rnd">
            <a:solidFill>
              <a:srgbClr val="000000"/>
            </a:solidFill>
            <a:prstDash val="solid"/>
            <a:round/>
          </a:ln>
        </p:spPr>
      </p:sp>
      <p:sp>
        <p:nvSpPr>
          <p:cNvPr id="7" name="AutoShape 7"/>
          <p:cNvSpPr/>
          <p:nvPr/>
        </p:nvSpPr>
        <p:spPr>
          <a:xfrm>
            <a:off x="-1" y="9867900"/>
            <a:ext cx="18288000" cy="0"/>
          </a:xfrm>
          <a:prstGeom prst="line">
            <a:avLst/>
          </a:prstGeom>
          <a:ln w="69850" cap="flat" cmpd="sng">
            <a:solidFill>
              <a:srgbClr val="A6A6A6"/>
            </a:solidFill>
            <a:prstDash val="solid"/>
            <a:headEnd type="none" w="sm" len="sm"/>
            <a:tailEnd type="none" w="sm" len="sm"/>
          </a:ln>
        </p:spPr>
      </p:sp>
      <p:sp>
        <p:nvSpPr>
          <p:cNvPr id="22" name="TextBox 22"/>
          <p:cNvSpPr txBox="1"/>
          <p:nvPr/>
        </p:nvSpPr>
        <p:spPr>
          <a:xfrm>
            <a:off x="10843131" y="4679929"/>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3" name="TextBox 23"/>
          <p:cNvSpPr txBox="1"/>
          <p:nvPr/>
        </p:nvSpPr>
        <p:spPr>
          <a:xfrm>
            <a:off x="1600200" y="505966"/>
            <a:ext cx="15392400" cy="1077218"/>
          </a:xfrm>
          <a:prstGeom prst="rect">
            <a:avLst/>
          </a:prstGeom>
        </p:spPr>
        <p:txBody>
          <a:bodyPr wrap="square" lIns="0" tIns="0" rIns="0" bIns="0" rtlCol="0" anchor="t">
            <a:spAutoFit/>
          </a:bodyPr>
          <a:lstStyle/>
          <a:p>
            <a:pPr lvl="0" algn="ctr">
              <a:lnSpc>
                <a:spcPts val="8399"/>
              </a:lnSpc>
              <a:spcBef>
                <a:spcPct val="0"/>
              </a:spcBef>
            </a:pPr>
            <a:r>
              <a:rPr lang="en-US" sz="7200" b="1" dirty="0" smtClean="0"/>
              <a:t>Finally example</a:t>
            </a:r>
            <a:endParaRPr lang="en-US" sz="7200" b="1" dirty="0">
              <a:solidFill>
                <a:srgbClr val="000000"/>
              </a:solidFill>
              <a:latin typeface="Garet Bold"/>
              <a:ea typeface="Garet Bold"/>
              <a:cs typeface="Garet Bold"/>
              <a:sym typeface="Garet Bold"/>
            </a:endParaRPr>
          </a:p>
        </p:txBody>
      </p:sp>
      <p:sp>
        <p:nvSpPr>
          <p:cNvPr id="27" name="TextBox 27"/>
          <p:cNvSpPr txBox="1"/>
          <p:nvPr/>
        </p:nvSpPr>
        <p:spPr>
          <a:xfrm>
            <a:off x="683155" y="2068242"/>
            <a:ext cx="16463277" cy="7325082"/>
          </a:xfrm>
          <a:prstGeom prst="rect">
            <a:avLst/>
          </a:prstGeom>
        </p:spPr>
        <p:txBody>
          <a:bodyPr wrap="square" lIns="0" tIns="0" rIns="0" bIns="0" rtlCol="0" anchor="t">
            <a:spAutoFit/>
          </a:bodyPr>
          <a:lstStyle/>
          <a:p>
            <a:r>
              <a:rPr lang="en-US" sz="2800" b="1" dirty="0" smtClean="0">
                <a:solidFill>
                  <a:srgbClr val="7F0055"/>
                </a:solidFill>
                <a:latin typeface="Consolas"/>
              </a:rPr>
              <a:t>package</a:t>
            </a:r>
            <a:r>
              <a:rPr lang="en-US" sz="2800" dirty="0" smtClean="0">
                <a:solidFill>
                  <a:srgbClr val="000000"/>
                </a:solidFill>
                <a:latin typeface="Consolas"/>
              </a:rPr>
              <a:t> </a:t>
            </a:r>
            <a:r>
              <a:rPr lang="en-US" sz="2800" dirty="0">
                <a:solidFill>
                  <a:srgbClr val="000000"/>
                </a:solidFill>
                <a:latin typeface="Consolas"/>
              </a:rPr>
              <a:t>exceptionhandling;</a:t>
            </a:r>
          </a:p>
          <a:p>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class</a:t>
            </a:r>
            <a:r>
              <a:rPr lang="en-US" sz="2800" dirty="0">
                <a:solidFill>
                  <a:srgbClr val="000000"/>
                </a:solidFill>
                <a:latin typeface="Consolas"/>
              </a:rPr>
              <a:t> finallyy {</a:t>
            </a:r>
          </a:p>
          <a:p>
            <a:pPr lvl="1"/>
            <a:r>
              <a:rPr lang="en-US" sz="2800" b="1" dirty="0">
                <a:solidFill>
                  <a:srgbClr val="7F0055"/>
                </a:solidFill>
                <a:latin typeface="Consolas"/>
              </a:rPr>
              <a:t>public</a:t>
            </a:r>
            <a:r>
              <a:rPr lang="en-US" sz="2800" dirty="0">
                <a:solidFill>
                  <a:srgbClr val="000000"/>
                </a:solidFill>
                <a:latin typeface="Consolas"/>
              </a:rPr>
              <a:t> </a:t>
            </a:r>
            <a:r>
              <a:rPr lang="en-US" sz="2800" b="1" dirty="0">
                <a:solidFill>
                  <a:srgbClr val="7F0055"/>
                </a:solidFill>
                <a:latin typeface="Consolas"/>
              </a:rPr>
              <a:t>static</a:t>
            </a:r>
            <a:r>
              <a:rPr lang="en-US" sz="2800" dirty="0">
                <a:solidFill>
                  <a:srgbClr val="000000"/>
                </a:solidFill>
                <a:latin typeface="Consolas"/>
              </a:rPr>
              <a:t> </a:t>
            </a:r>
            <a:r>
              <a:rPr lang="en-US" sz="2800" b="1" dirty="0">
                <a:solidFill>
                  <a:srgbClr val="7F0055"/>
                </a:solidFill>
                <a:latin typeface="Consolas"/>
              </a:rPr>
              <a:t>void</a:t>
            </a:r>
            <a:r>
              <a:rPr lang="en-US" sz="2800" dirty="0">
                <a:solidFill>
                  <a:srgbClr val="000000"/>
                </a:solidFill>
                <a:latin typeface="Consolas"/>
              </a:rPr>
              <a:t> main(String[] </a:t>
            </a:r>
            <a:r>
              <a:rPr lang="en-US" sz="2800" dirty="0">
                <a:solidFill>
                  <a:srgbClr val="6A3E3E"/>
                </a:solidFill>
                <a:latin typeface="Consolas"/>
              </a:rPr>
              <a:t>args</a:t>
            </a:r>
            <a:r>
              <a:rPr lang="en-US" sz="2800" dirty="0">
                <a:solidFill>
                  <a:srgbClr val="000000"/>
                </a:solidFill>
                <a:latin typeface="Consolas"/>
              </a:rPr>
              <a:t>) {</a:t>
            </a:r>
          </a:p>
          <a:p>
            <a:pPr lvl="2"/>
            <a:r>
              <a:rPr lang="en-US" sz="2800" b="1" dirty="0">
                <a:solidFill>
                  <a:srgbClr val="7F0055"/>
                </a:solidFill>
                <a:latin typeface="Consolas"/>
              </a:rPr>
              <a:t>try</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"Inside try block"</a:t>
            </a:r>
            <a:r>
              <a:rPr lang="en-US" sz="2800" dirty="0">
                <a:solidFill>
                  <a:srgbClr val="000000"/>
                </a:solidFill>
                <a:latin typeface="Consolas"/>
              </a:rPr>
              <a:t>);</a:t>
            </a:r>
          </a:p>
          <a:p>
            <a:pPr lvl="2"/>
            <a:r>
              <a:rPr lang="en-US" sz="2800" b="1" dirty="0">
                <a:solidFill>
                  <a:srgbClr val="7F0055"/>
                </a:solidFill>
                <a:latin typeface="Consolas"/>
              </a:rPr>
              <a:t>int</a:t>
            </a:r>
            <a:r>
              <a:rPr lang="en-US" sz="2800" dirty="0">
                <a:solidFill>
                  <a:srgbClr val="000000"/>
                </a:solidFill>
                <a:latin typeface="Consolas"/>
              </a:rPr>
              <a:t> </a:t>
            </a:r>
            <a:r>
              <a:rPr lang="en-US" sz="2800" u="sng" dirty="0">
                <a:solidFill>
                  <a:srgbClr val="6A3E3E"/>
                </a:solidFill>
                <a:latin typeface="Consolas"/>
              </a:rPr>
              <a:t>result</a:t>
            </a:r>
            <a:r>
              <a:rPr lang="en-US" sz="2800" dirty="0">
                <a:solidFill>
                  <a:srgbClr val="000000"/>
                </a:solidFill>
                <a:latin typeface="Consolas"/>
              </a:rPr>
              <a:t>=10/0;</a:t>
            </a:r>
          </a:p>
          <a:p>
            <a:pPr lvl="2"/>
            <a:r>
              <a:rPr lang="en-US" sz="2800" dirty="0">
                <a:solidFill>
                  <a:srgbClr val="000000"/>
                </a:solidFill>
                <a:latin typeface="Consolas"/>
              </a:rPr>
              <a:t>} </a:t>
            </a:r>
            <a:r>
              <a:rPr lang="en-US" sz="2800" b="1" dirty="0">
                <a:solidFill>
                  <a:srgbClr val="7F0055"/>
                </a:solidFill>
                <a:latin typeface="Consolas"/>
              </a:rPr>
              <a:t>catch</a:t>
            </a:r>
            <a:r>
              <a:rPr lang="en-US" sz="2800" dirty="0">
                <a:solidFill>
                  <a:srgbClr val="000000"/>
                </a:solidFill>
                <a:latin typeface="Consolas"/>
              </a:rPr>
              <a:t> (Exception </a:t>
            </a:r>
            <a:r>
              <a:rPr lang="en-US" sz="2800" dirty="0">
                <a:solidFill>
                  <a:srgbClr val="6A3E3E"/>
                </a:solidFill>
                <a:latin typeface="Consolas"/>
              </a:rPr>
              <a:t>e</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"Exception caught: "</a:t>
            </a:r>
            <a:r>
              <a:rPr lang="en-US" sz="2800" dirty="0">
                <a:solidFill>
                  <a:srgbClr val="000000"/>
                </a:solidFill>
                <a:latin typeface="Consolas"/>
              </a:rPr>
              <a:t> + </a:t>
            </a:r>
            <a:r>
              <a:rPr lang="en-US" sz="2800" dirty="0">
                <a:solidFill>
                  <a:srgbClr val="6A3E3E"/>
                </a:solidFill>
                <a:latin typeface="Consolas"/>
              </a:rPr>
              <a:t>e</a:t>
            </a:r>
            <a:r>
              <a:rPr lang="en-US" sz="2800" dirty="0">
                <a:solidFill>
                  <a:srgbClr val="000000"/>
                </a:solidFill>
                <a:latin typeface="Consolas"/>
              </a:rPr>
              <a:t>.getMessage());</a:t>
            </a:r>
          </a:p>
          <a:p>
            <a:pPr lvl="2"/>
            <a:r>
              <a:rPr lang="en-US" sz="2800" dirty="0">
                <a:solidFill>
                  <a:srgbClr val="000000"/>
                </a:solidFill>
                <a:latin typeface="Consolas"/>
              </a:rPr>
              <a:t>}</a:t>
            </a:r>
          </a:p>
          <a:p>
            <a:pPr lvl="2"/>
            <a:r>
              <a:rPr lang="en-US" sz="2800" b="1" dirty="0">
                <a:solidFill>
                  <a:srgbClr val="7F0055"/>
                </a:solidFill>
                <a:latin typeface="Consolas"/>
              </a:rPr>
              <a:t>finally</a:t>
            </a:r>
            <a:r>
              <a:rPr lang="en-US" sz="2800" dirty="0">
                <a:solidFill>
                  <a:srgbClr val="000000"/>
                </a:solidFill>
                <a:latin typeface="Consolas"/>
              </a:rPr>
              <a:t> {</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"Finally Block Executed"</a:t>
            </a:r>
            <a:r>
              <a:rPr lang="en-US" sz="2800" dirty="0">
                <a:solidFill>
                  <a:srgbClr val="000000"/>
                </a:solidFill>
                <a:latin typeface="Consolas"/>
              </a:rPr>
              <a:t>);</a:t>
            </a:r>
          </a:p>
          <a:p>
            <a:pPr lvl="2"/>
            <a:r>
              <a:rPr lang="en-US" sz="2800" dirty="0">
                <a:solidFill>
                  <a:srgbClr val="000000"/>
                </a:solidFill>
                <a:latin typeface="Consolas"/>
              </a:rPr>
              <a:t>}</a:t>
            </a:r>
          </a:p>
          <a:p>
            <a:pPr lvl="2"/>
            <a:r>
              <a:rPr lang="en-US" sz="2800" dirty="0">
                <a:solidFill>
                  <a:srgbClr val="000000"/>
                </a:solidFill>
                <a:latin typeface="Consolas"/>
              </a:rPr>
              <a:t>System.</a:t>
            </a:r>
            <a:r>
              <a:rPr lang="en-US" sz="2800" b="1" i="1" dirty="0">
                <a:solidFill>
                  <a:srgbClr val="0000C0"/>
                </a:solidFill>
                <a:latin typeface="Consolas"/>
              </a:rPr>
              <a:t>out</a:t>
            </a:r>
            <a:r>
              <a:rPr lang="en-US" sz="2800" dirty="0">
                <a:solidFill>
                  <a:srgbClr val="000000"/>
                </a:solidFill>
                <a:latin typeface="Consolas"/>
              </a:rPr>
              <a:t>.println(</a:t>
            </a:r>
            <a:r>
              <a:rPr lang="en-US" sz="2800" dirty="0">
                <a:solidFill>
                  <a:srgbClr val="2A00FF"/>
                </a:solidFill>
                <a:latin typeface="Consolas"/>
              </a:rPr>
              <a:t>"Program Continues........."</a:t>
            </a:r>
            <a:r>
              <a:rPr lang="en-US" sz="2800" dirty="0">
                <a:solidFill>
                  <a:srgbClr val="000000"/>
                </a:solidFill>
                <a:latin typeface="Consolas"/>
              </a:rPr>
              <a:t>);</a:t>
            </a:r>
          </a:p>
          <a:p>
            <a:pPr lvl="2"/>
            <a:r>
              <a:rPr lang="en-US" sz="2800" dirty="0" smtClean="0">
                <a:solidFill>
                  <a:srgbClr val="000000"/>
                </a:solidFill>
                <a:latin typeface="Consolas"/>
              </a:rPr>
              <a:t>} }</a:t>
            </a:r>
            <a:endParaRPr lang="en-US" sz="2800" dirty="0">
              <a:solidFill>
                <a:srgbClr val="000000"/>
              </a:solidFill>
              <a:latin typeface="Consolas"/>
            </a:endParaRPr>
          </a:p>
          <a:p>
            <a:pPr marL="457200" indent="-457200">
              <a:buFont typeface="Arial" panose="020B0604020202020204" pitchFamily="34" charset="0"/>
              <a:buChar char="•"/>
            </a:pPr>
            <a:r>
              <a:rPr lang="en-US" sz="2800" dirty="0" smtClean="0"/>
              <a:t>In this code we have used ((Exception e), instead of (ArithmeticException e) because exception is a parent class, while ArithmeticException is a child class. So simply writing Exception will handle all types of exceptions, including ArithmeticException also</a:t>
            </a:r>
            <a:endParaRPr lang="en-US" sz="2800" dirty="0"/>
          </a:p>
        </p:txBody>
      </p:sp>
      <p:sp>
        <p:nvSpPr>
          <p:cNvPr id="28" name="TextBox 28"/>
          <p:cNvSpPr txBox="1"/>
          <p:nvPr/>
        </p:nvSpPr>
        <p:spPr>
          <a:xfrm>
            <a:off x="13436290" y="4646424"/>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29" name="TextBox 29"/>
          <p:cNvSpPr txBox="1"/>
          <p:nvPr/>
        </p:nvSpPr>
        <p:spPr>
          <a:xfrm>
            <a:off x="10843131" y="7355422"/>
            <a:ext cx="2185616"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0" name="TextBox 30"/>
          <p:cNvSpPr txBox="1"/>
          <p:nvPr/>
        </p:nvSpPr>
        <p:spPr>
          <a:xfrm>
            <a:off x="13436290" y="7355422"/>
            <a:ext cx="1724078" cy="419346"/>
          </a:xfrm>
          <a:prstGeom prst="rect">
            <a:avLst/>
          </a:prstGeom>
        </p:spPr>
        <p:txBody>
          <a:bodyPr lIns="0" tIns="0" rIns="0" bIns="0" rtlCol="0" anchor="t">
            <a:spAutoFit/>
          </a:bodyPr>
          <a:lstStyle/>
          <a:p>
            <a:pPr marL="0" lvl="0" indent="0" algn="l">
              <a:lnSpc>
                <a:spcPts val="3359"/>
              </a:lnSpc>
              <a:spcBef>
                <a:spcPct val="0"/>
              </a:spcBef>
            </a:pPr>
            <a:r>
              <a:rPr lang="en-US" sz="2399" i="1" dirty="0" smtClean="0">
                <a:solidFill>
                  <a:srgbClr val="000000"/>
                </a:solidFill>
                <a:latin typeface="Garet Italics"/>
                <a:ea typeface="Garet Italics"/>
                <a:cs typeface="Garet Italics"/>
                <a:sym typeface="Garet Italics"/>
              </a:rPr>
              <a:t> </a:t>
            </a:r>
            <a:endParaRPr lang="en-US" sz="2399" i="1" dirty="0">
              <a:solidFill>
                <a:srgbClr val="000000"/>
              </a:solidFill>
              <a:latin typeface="Garet Italics"/>
              <a:ea typeface="Garet Italics"/>
              <a:cs typeface="Garet Italics"/>
              <a:sym typeface="Garet Italics"/>
            </a:endParaRPr>
          </a:p>
        </p:txBody>
      </p:sp>
      <p:sp>
        <p:nvSpPr>
          <p:cNvPr id="31" name="TextBox 31"/>
          <p:cNvSpPr txBox="1"/>
          <p:nvPr/>
        </p:nvSpPr>
        <p:spPr>
          <a:xfrm>
            <a:off x="2934278" y="6554136"/>
            <a:ext cx="6119478" cy="273152"/>
          </a:xfrm>
          <a:prstGeom prst="rect">
            <a:avLst/>
          </a:prstGeom>
        </p:spPr>
        <p:txBody>
          <a:bodyPr lIns="0" tIns="0" rIns="0" bIns="0" rtlCol="0" anchor="t">
            <a:spAutoFit/>
          </a:bodyPr>
          <a:lstStyle/>
          <a:p>
            <a:pPr marL="0" lvl="0" indent="0" algn="just">
              <a:lnSpc>
                <a:spcPts val="2240"/>
              </a:lnSpc>
              <a:spcBef>
                <a:spcPct val="0"/>
              </a:spcBef>
            </a:pPr>
            <a:r>
              <a:rPr lang="en-US" sz="1600" dirty="0" smtClean="0">
                <a:solidFill>
                  <a:srgbClr val="000000"/>
                </a:solidFill>
                <a:latin typeface="Garet"/>
                <a:ea typeface="Garet"/>
                <a:cs typeface="Garet"/>
                <a:sym typeface="Garet"/>
              </a:rPr>
              <a:t> </a:t>
            </a:r>
            <a:endParaRPr lang="en-US" sz="1600" dirty="0">
              <a:solidFill>
                <a:srgbClr val="000000"/>
              </a:solidFill>
              <a:latin typeface="Garet"/>
              <a:ea typeface="Garet"/>
              <a:cs typeface="Garet"/>
              <a:sym typeface="Garet"/>
            </a:endParaRPr>
          </a:p>
        </p:txBody>
      </p:sp>
      <p:sp>
        <p:nvSpPr>
          <p:cNvPr id="32" name="TextBox 32"/>
          <p:cNvSpPr txBox="1"/>
          <p:nvPr/>
        </p:nvSpPr>
        <p:spPr>
          <a:xfrm>
            <a:off x="8496792" y="9220200"/>
            <a:ext cx="1294416" cy="346249"/>
          </a:xfrm>
          <a:prstGeom prst="rect">
            <a:avLst/>
          </a:prstGeom>
        </p:spPr>
        <p:txBody>
          <a:bodyPr lIns="0" tIns="0" rIns="0" bIns="0" rtlCol="0" anchor="t">
            <a:spAutoFit/>
          </a:bodyPr>
          <a:lstStyle/>
          <a:p>
            <a:pPr marL="0" lvl="0" indent="0" algn="ctr">
              <a:lnSpc>
                <a:spcPts val="2800"/>
              </a:lnSpc>
              <a:spcBef>
                <a:spcPct val="0"/>
              </a:spcBef>
            </a:pPr>
            <a:r>
              <a:rPr lang="en-US" sz="2000" b="1" dirty="0" smtClean="0">
                <a:solidFill>
                  <a:srgbClr val="828181"/>
                </a:solidFill>
                <a:latin typeface="Garet Bold"/>
                <a:ea typeface="Garet Bold"/>
                <a:cs typeface="Garet Bold"/>
                <a:sym typeface="Garet Bold"/>
              </a:rPr>
              <a:t> </a:t>
            </a:r>
            <a:endParaRPr lang="en-US" sz="2000" b="1" dirty="0">
              <a:solidFill>
                <a:srgbClr val="828181"/>
              </a:solidFill>
              <a:latin typeface="Garet Bold"/>
              <a:ea typeface="Garet Bold"/>
              <a:cs typeface="Garet Bold"/>
              <a:sym typeface="Garet Bold"/>
            </a:endParaRPr>
          </a:p>
        </p:txBody>
      </p:sp>
      <p:sp>
        <p:nvSpPr>
          <p:cNvPr id="3" name="Rectangle 1"/>
          <p:cNvSpPr>
            <a:spLocks noChangeArrowheads="1"/>
          </p:cNvSpPr>
          <p:nvPr/>
        </p:nvSpPr>
        <p:spPr bwMode="auto">
          <a:xfrm>
            <a:off x="9677398" y="2114138"/>
            <a:ext cx="7469034"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sng" strike="noStrike" cap="none" normalizeH="0" baseline="0" dirty="0" smtClean="0">
                <a:ln>
                  <a:noFill/>
                </a:ln>
                <a:solidFill>
                  <a:srgbClr val="000000"/>
                </a:solidFill>
                <a:effectLst/>
                <a:latin typeface="Consolas" pitchFamily="49" charset="0"/>
                <a:cs typeface="Arial" pitchFamily="34" charset="0"/>
              </a:rPr>
              <a:t>OUTPUT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Inside try block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Exception caught: / by zero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Finally Block Executed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rgbClr val="000000"/>
                </a:solidFill>
                <a:effectLst/>
                <a:latin typeface="Consolas" pitchFamily="49" charset="0"/>
                <a:cs typeface="Arial" pitchFamily="34" charset="0"/>
              </a:rPr>
              <a:t>Program Continues.........</a:t>
            </a:r>
          </a:p>
        </p:txBody>
      </p:sp>
    </p:spTree>
    <p:extLst>
      <p:ext uri="{BB962C8B-B14F-4D97-AF65-F5344CB8AC3E}">
        <p14:creationId xmlns:p14="http://schemas.microsoft.com/office/powerpoint/2010/main" val="13213626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2469</TotalTime>
  <Words>3526</Words>
  <Application>Microsoft Office PowerPoint</Application>
  <PresentationFormat>Custom</PresentationFormat>
  <Paragraphs>666</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Consolas</vt:lpstr>
      <vt:lpstr>Garet Bold</vt:lpstr>
      <vt:lpstr>Garet</vt:lpstr>
      <vt:lpstr>Wingdings</vt:lpstr>
      <vt:lpstr>Garet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91</cp:revision>
  <dcterms:created xsi:type="dcterms:W3CDTF">2006-08-16T00:00:00Z</dcterms:created>
  <dcterms:modified xsi:type="dcterms:W3CDTF">2026-05-04T10:01:59Z</dcterms:modified>
  <dc:identifier>DAGyNv6r3lM</dc:identifier>
</cp:coreProperties>
</file>