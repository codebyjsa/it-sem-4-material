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6" r:id="rId3"/>
    <p:sldId id="280" r:id="rId4"/>
    <p:sldId id="277" r:id="rId5"/>
    <p:sldId id="278" r:id="rId6"/>
    <p:sldId id="281" r:id="rId7"/>
    <p:sldId id="279" r:id="rId8"/>
    <p:sldId id="282" r:id="rId9"/>
    <p:sldId id="283" r:id="rId10"/>
    <p:sldId id="284" r:id="rId11"/>
    <p:sldId id="285" r:id="rId12"/>
    <p:sldId id="290" r:id="rId13"/>
    <p:sldId id="286" r:id="rId14"/>
    <p:sldId id="291" r:id="rId15"/>
    <p:sldId id="288" r:id="rId16"/>
    <p:sldId id="289" r:id="rId17"/>
    <p:sldId id="287" r:id="rId18"/>
  </p:sldIdLst>
  <p:sldSz cx="18288000" cy="10287000"/>
  <p:notesSz cx="6858000" cy="9144000"/>
  <p:embeddedFontLst>
    <p:embeddedFont>
      <p:font typeface="Century Gothic Paneuropean Bold" panose="020B0604020202020204" charset="0"/>
      <p:regular r:id="rId19"/>
    </p:embeddedFont>
    <p:embeddedFont>
      <p:font typeface="Calibri" panose="020F050202020403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9" d="100"/>
          <a:sy n="49" d="100"/>
        </p:scale>
        <p:origin x="-576"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0" y="0"/>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9727" y="3086100"/>
            <a:ext cx="18297728" cy="4424288"/>
          </a:xfrm>
          <a:prstGeom prst="rect">
            <a:avLst/>
          </a:prstGeom>
          <a:solidFill>
            <a:schemeClr val="accent6">
              <a:lumMod val="40000"/>
              <a:lumOff val="60000"/>
            </a:schemeClr>
          </a:solidFill>
        </p:spPr>
        <p:txBody>
          <a:bodyPr wrap="square" lIns="0" tIns="0" rIns="0" bIns="0" rtlCol="0" anchor="t">
            <a:spAutoFit/>
          </a:bodyPr>
          <a:lstStyle/>
          <a:p>
            <a:pPr algn="ctr">
              <a:lnSpc>
                <a:spcPts val="11469"/>
              </a:lnSpc>
            </a:pPr>
            <a:r>
              <a:rPr lang="en-US" sz="8800" b="1" dirty="0" smtClean="0">
                <a:solidFill>
                  <a:schemeClr val="accent2">
                    <a:lumMod val="75000"/>
                  </a:schemeClr>
                </a:solidFill>
                <a:latin typeface="Century Gothic Paneuropean Bold"/>
                <a:ea typeface="Century Gothic Paneuropean Bold"/>
                <a:cs typeface="Century Gothic Paneuropean Bold"/>
                <a:sym typeface="Century Gothic Paneuropean Bold"/>
              </a:rPr>
              <a:t>STRING </a:t>
            </a:r>
          </a:p>
          <a:p>
            <a:pPr algn="ctr">
              <a:lnSpc>
                <a:spcPts val="11469"/>
              </a:lnSpc>
            </a:pPr>
            <a:r>
              <a:rPr lang="en-US" sz="8800" b="1" dirty="0" smtClean="0">
                <a:solidFill>
                  <a:schemeClr val="accent2">
                    <a:lumMod val="75000"/>
                  </a:schemeClr>
                </a:solidFill>
                <a:latin typeface="Century Gothic Paneuropean Bold"/>
                <a:ea typeface="Century Gothic Paneuropean Bold"/>
                <a:cs typeface="Century Gothic Paneuropean Bold"/>
                <a:sym typeface="Century Gothic Paneuropean Bold"/>
              </a:rPr>
              <a:t>HANDLING </a:t>
            </a:r>
          </a:p>
          <a:p>
            <a:pPr algn="ctr">
              <a:lnSpc>
                <a:spcPts val="11469"/>
              </a:lnSpc>
            </a:pPr>
            <a:r>
              <a:rPr lang="en-US" sz="8800" b="1" dirty="0" smtClean="0">
                <a:solidFill>
                  <a:schemeClr val="accent2">
                    <a:lumMod val="75000"/>
                  </a:schemeClr>
                </a:solidFill>
                <a:latin typeface="Century Gothic Paneuropean Bold"/>
                <a:ea typeface="Century Gothic Paneuropean Bold"/>
                <a:cs typeface="Century Gothic Paneuropean Bold"/>
                <a:sym typeface="Century Gothic Paneuropean Bold"/>
              </a:rPr>
              <a:t>IN JAVA</a:t>
            </a:r>
            <a:endParaRPr lang="en-US" sz="8800" b="1" dirty="0">
              <a:solidFill>
                <a:schemeClr val="accent2">
                  <a:lumMod val="75000"/>
                </a:schemeClr>
              </a:solidFill>
              <a:latin typeface="Century Gothic Paneuropean Bold"/>
              <a:ea typeface="Century Gothic Paneuropean Bold"/>
              <a:cs typeface="Century Gothic Paneuropean Bold"/>
              <a:sym typeface="Century Gothic Paneuropean Bold"/>
            </a:endParaRPr>
          </a:p>
        </p:txBody>
      </p:sp>
      <p:grpSp>
        <p:nvGrpSpPr>
          <p:cNvPr id="10" name="Group 5"/>
          <p:cNvGrpSpPr/>
          <p:nvPr/>
        </p:nvGrpSpPr>
        <p:grpSpPr>
          <a:xfrm>
            <a:off x="0" y="9495077"/>
            <a:ext cx="18297728" cy="821917"/>
            <a:chOff x="0" y="0"/>
            <a:chExt cx="5095428" cy="216472"/>
          </a:xfrm>
          <a:solidFill>
            <a:schemeClr val="accent3">
              <a:lumMod val="40000"/>
              <a:lumOff val="60000"/>
            </a:schemeClr>
          </a:solidFill>
        </p:grpSpPr>
        <p:sp>
          <p:nvSpPr>
            <p:cNvPr id="11"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12"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14514" y="541285"/>
            <a:ext cx="15665930" cy="1304460"/>
          </a:xfrm>
          <a:prstGeom prst="rect">
            <a:avLst/>
          </a:prstGeom>
        </p:spPr>
        <p:txBody>
          <a:bodyPr wrap="square" lIns="0" tIns="0" rIns="0" bIns="0" rtlCol="0" anchor="t">
            <a:spAutoFit/>
          </a:bodyPr>
          <a:lstStyle/>
          <a:p>
            <a:pPr algn="ctr">
              <a:lnSpc>
                <a:spcPts val="11469"/>
              </a:lnSpc>
            </a:pPr>
            <a:r>
              <a:rPr lang="en-US" sz="6000" b="1" dirty="0" smtClean="0">
                <a:solidFill>
                  <a:srgbClr val="000000"/>
                </a:solidFill>
                <a:latin typeface="Century Gothic Paneuropean Bold"/>
                <a:ea typeface="Century Gothic Paneuropean Bold"/>
                <a:cs typeface="Century Gothic Paneuropean Bold"/>
                <a:sym typeface="Century Gothic Paneuropean Bold"/>
              </a:rPr>
              <a:t>BASICS</a:t>
            </a:r>
            <a:endParaRPr lang="en-US" sz="6000" b="1" dirty="0">
              <a:solidFill>
                <a:srgbClr val="000000"/>
              </a:solidFill>
              <a:latin typeface="Century Gothic Paneuropean Bold"/>
              <a:ea typeface="Century Gothic Paneuropean Bold"/>
              <a:cs typeface="Century Gothic Paneuropean Bold"/>
              <a:sym typeface="Century Gothic Paneuropean Bold"/>
            </a:endParaRPr>
          </a:p>
        </p:txBody>
      </p:sp>
      <p:sp>
        <p:nvSpPr>
          <p:cNvPr id="9" name="TextBox 9"/>
          <p:cNvSpPr txBox="1"/>
          <p:nvPr/>
        </p:nvSpPr>
        <p:spPr>
          <a:xfrm>
            <a:off x="1142999" y="2284809"/>
            <a:ext cx="15537445" cy="6647974"/>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3600" dirty="0"/>
              <a:t>String handling in </a:t>
            </a:r>
            <a:r>
              <a:rPr lang="en-US" sz="3600" b="1" dirty="0"/>
              <a:t>Java</a:t>
            </a:r>
            <a:r>
              <a:rPr lang="en-US" sz="3600" dirty="0"/>
              <a:t> refers to the process of creating, storing, manipulating, and processing strings using different classes and methods provided by Java. A string is a sequence of characters enclosed within double quotation marks, such as names, messages, addresses, and passwords.</a:t>
            </a:r>
          </a:p>
          <a:p>
            <a:pPr marL="571500" indent="-571500">
              <a:buFont typeface="Arial" panose="020B0604020202020204" pitchFamily="34" charset="0"/>
              <a:buChar char="•"/>
            </a:pPr>
            <a:r>
              <a:rPr lang="en-US" sz="3600" dirty="0"/>
              <a:t>Strings are one of the most commonly used data types in Java because almost every program works with textual data. Java provides a powerful String class along with </a:t>
            </a:r>
            <a:r>
              <a:rPr lang="en-US" sz="3600" dirty="0" err="1"/>
              <a:t>StringBuffer</a:t>
            </a:r>
            <a:r>
              <a:rPr lang="en-US" sz="3600" dirty="0"/>
              <a:t> </a:t>
            </a:r>
            <a:r>
              <a:rPr lang="en-US" sz="3600" dirty="0" smtClean="0"/>
              <a:t> class </a:t>
            </a:r>
            <a:r>
              <a:rPr lang="en-US" sz="3600" dirty="0"/>
              <a:t>to perform various operations like concatenation, comparison, searching, replacing, and formatting of text.</a:t>
            </a:r>
          </a:p>
          <a:p>
            <a:pPr marL="571500" indent="-571500">
              <a:buFont typeface="Arial" panose="020B0604020202020204" pitchFamily="34" charset="0"/>
              <a:buChar char="•"/>
            </a:pPr>
            <a:r>
              <a:rPr lang="en-US" sz="3600" dirty="0"/>
              <a:t>Strings in Java are immutable, meaning their values cannot be changed after creation. This feature improves memory management, security, and performance. String handling is widely used in web applications, database systems, mobile apps, and software development for efficient text processing.</a:t>
            </a:r>
          </a:p>
        </p:txBody>
      </p:sp>
    </p:spTree>
    <p:extLst>
      <p:ext uri="{BB962C8B-B14F-4D97-AF65-F5344CB8AC3E}">
        <p14:creationId xmlns:p14="http://schemas.microsoft.com/office/powerpoint/2010/main" val="5980284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algn="ctr" fontAlgn="base"/>
            <a:r>
              <a:rPr lang="en-US" sz="6000" b="1" dirty="0"/>
              <a:t>Ways of Creating a Java String</a:t>
            </a:r>
          </a:p>
        </p:txBody>
      </p:sp>
      <p:sp>
        <p:nvSpPr>
          <p:cNvPr id="9" name="TextBox 9"/>
          <p:cNvSpPr txBox="1"/>
          <p:nvPr/>
        </p:nvSpPr>
        <p:spPr>
          <a:xfrm>
            <a:off x="1142999" y="2014910"/>
            <a:ext cx="15537445" cy="7755969"/>
          </a:xfrm>
          <a:prstGeom prst="rect">
            <a:avLst/>
          </a:prstGeom>
        </p:spPr>
        <p:txBody>
          <a:bodyPr wrap="square" lIns="0" tIns="0" rIns="0" bIns="0" rtlCol="0" anchor="t">
            <a:spAutoFit/>
          </a:bodyPr>
          <a:lstStyle/>
          <a:p>
            <a:pPr marL="742950" indent="-742950">
              <a:buAutoNum type="arabicPeriod"/>
            </a:pPr>
            <a:r>
              <a:rPr lang="en-US" sz="3600" b="1" dirty="0" smtClean="0"/>
              <a:t>String </a:t>
            </a:r>
            <a:r>
              <a:rPr lang="en-US" sz="3600" b="1" dirty="0"/>
              <a:t>Literal (Static Memory</a:t>
            </a:r>
            <a:r>
              <a:rPr lang="en-US" sz="3600" b="1" dirty="0" smtClean="0"/>
              <a:t>)</a:t>
            </a:r>
            <a:endParaRPr lang="en-US" sz="3600" b="1" dirty="0"/>
          </a:p>
          <a:p>
            <a:r>
              <a:rPr lang="en-US" sz="3600" dirty="0"/>
              <a:t>In </a:t>
            </a:r>
            <a:r>
              <a:rPr lang="en-US" sz="3600" b="1" dirty="0"/>
              <a:t>Java</a:t>
            </a:r>
            <a:r>
              <a:rPr lang="en-US" sz="3600" dirty="0"/>
              <a:t>, a string can be created using a </a:t>
            </a:r>
            <a:r>
              <a:rPr lang="en-US" sz="3600" b="1" dirty="0"/>
              <a:t>string literal</a:t>
            </a:r>
            <a:r>
              <a:rPr lang="en-US" sz="3600" dirty="0"/>
              <a:t>. A string literal is a string value written inside double quotation </a:t>
            </a:r>
            <a:r>
              <a:rPr lang="en-US" sz="3600" dirty="0" smtClean="0"/>
              <a:t>marks. When </a:t>
            </a:r>
            <a:r>
              <a:rPr lang="en-US" sz="3600" dirty="0"/>
              <a:t>a string literal is created, Java stores it in a special memory area called the </a:t>
            </a:r>
            <a:r>
              <a:rPr lang="en-US" sz="3600" b="1" dirty="0"/>
              <a:t>String Constant Pool (SCP)</a:t>
            </a:r>
            <a:r>
              <a:rPr lang="en-US" sz="3600" dirty="0"/>
              <a:t>. If the same string already exists in the pool, Java does not create a new object. Instead, it reuses the existing object. This makes Java more memory efficient</a:t>
            </a:r>
            <a:r>
              <a:rPr lang="en-US" sz="3600" dirty="0" smtClean="0"/>
              <a:t>.</a:t>
            </a:r>
            <a:endParaRPr lang="en-US" sz="3600" dirty="0"/>
          </a:p>
          <a:p>
            <a:r>
              <a:rPr lang="en-US" sz="3600" b="1" dirty="0" smtClean="0"/>
              <a:t>Example</a:t>
            </a:r>
            <a:endParaRPr lang="en-US" sz="3600" b="1" dirty="0"/>
          </a:p>
          <a:p>
            <a:r>
              <a:rPr lang="en-US" sz="3600" dirty="0"/>
              <a:t>class </a:t>
            </a:r>
            <a:r>
              <a:rPr lang="en-US" sz="3600" dirty="0" err="1"/>
              <a:t>StringPoolExample</a:t>
            </a:r>
            <a:r>
              <a:rPr lang="en-US" sz="3600" dirty="0"/>
              <a:t> {</a:t>
            </a:r>
            <a:br>
              <a:rPr lang="en-US" sz="3600" dirty="0"/>
            </a:br>
            <a:r>
              <a:rPr lang="en-US" sz="3600" dirty="0" smtClean="0"/>
              <a:t>public static void main(String </a:t>
            </a:r>
            <a:r>
              <a:rPr lang="en-US" sz="3600" dirty="0" err="1" smtClean="0"/>
              <a:t>args</a:t>
            </a:r>
            <a:r>
              <a:rPr lang="en-US" sz="3600" dirty="0" smtClean="0"/>
              <a:t>[]) {</a:t>
            </a:r>
            <a:br>
              <a:rPr lang="en-US" sz="3600" dirty="0" smtClean="0"/>
            </a:br>
            <a:r>
              <a:rPr lang="en-US" sz="3600" dirty="0" smtClean="0"/>
              <a:t>String </a:t>
            </a:r>
            <a:r>
              <a:rPr lang="en-US" sz="3600" dirty="0" err="1" smtClean="0"/>
              <a:t>s1</a:t>
            </a:r>
            <a:r>
              <a:rPr lang="en-US" sz="3600" dirty="0" smtClean="0"/>
              <a:t> = "Java";</a:t>
            </a:r>
            <a:br>
              <a:rPr lang="en-US" sz="3600" dirty="0" smtClean="0"/>
            </a:br>
            <a:r>
              <a:rPr lang="en-US" sz="3600" dirty="0" smtClean="0"/>
              <a:t>String </a:t>
            </a:r>
            <a:r>
              <a:rPr lang="en-US" sz="3600" dirty="0" err="1" smtClean="0"/>
              <a:t>s2</a:t>
            </a:r>
            <a:r>
              <a:rPr lang="en-US" sz="3600" dirty="0" smtClean="0"/>
              <a:t> = "Java";</a:t>
            </a:r>
            <a:br>
              <a:rPr lang="en-US" sz="3600" dirty="0" smtClean="0"/>
            </a:br>
            <a:r>
              <a:rPr lang="en-US" sz="3600" dirty="0" err="1" smtClean="0"/>
              <a:t>System.out.println</a:t>
            </a:r>
            <a:r>
              <a:rPr lang="en-US" sz="3600" dirty="0" smtClean="0"/>
              <a:t>(</a:t>
            </a:r>
            <a:r>
              <a:rPr lang="en-US" sz="3600" dirty="0" err="1" smtClean="0"/>
              <a:t>s1</a:t>
            </a:r>
            <a:r>
              <a:rPr lang="en-US" sz="3600" dirty="0" smtClean="0"/>
              <a:t> == </a:t>
            </a:r>
            <a:r>
              <a:rPr lang="en-US" sz="3600" dirty="0" err="1" smtClean="0"/>
              <a:t>s2</a:t>
            </a:r>
            <a:r>
              <a:rPr lang="en-US" sz="3600" dirty="0" smtClean="0"/>
              <a:t>);</a:t>
            </a:r>
            <a:br>
              <a:rPr lang="en-US" sz="3600" dirty="0" smtClean="0"/>
            </a:br>
            <a:r>
              <a:rPr lang="en-US" sz="3600" dirty="0" smtClean="0"/>
              <a:t>}</a:t>
            </a:r>
            <a:r>
              <a:rPr lang="en-US" sz="3600" dirty="0"/>
              <a:t/>
            </a:r>
            <a:br>
              <a:rPr lang="en-US" sz="3600" dirty="0"/>
            </a:br>
            <a:r>
              <a:rPr lang="en-US" sz="3600" dirty="0"/>
              <a:t>}</a:t>
            </a:r>
          </a:p>
        </p:txBody>
      </p:sp>
    </p:spTree>
    <p:extLst>
      <p:ext uri="{BB962C8B-B14F-4D97-AF65-F5344CB8AC3E}">
        <p14:creationId xmlns:p14="http://schemas.microsoft.com/office/powerpoint/2010/main" val="30404095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algn="ctr" fontAlgn="base"/>
            <a:r>
              <a:rPr lang="en-US" sz="6000" b="1" dirty="0"/>
              <a:t>Ways of Creating a Java String</a:t>
            </a:r>
          </a:p>
        </p:txBody>
      </p:sp>
      <p:sp>
        <p:nvSpPr>
          <p:cNvPr id="9" name="TextBox 9"/>
          <p:cNvSpPr txBox="1"/>
          <p:nvPr/>
        </p:nvSpPr>
        <p:spPr>
          <a:xfrm>
            <a:off x="1143000" y="2476500"/>
            <a:ext cx="15537445" cy="5539978"/>
          </a:xfrm>
          <a:prstGeom prst="rect">
            <a:avLst/>
          </a:prstGeom>
        </p:spPr>
        <p:txBody>
          <a:bodyPr wrap="square" lIns="0" tIns="0" rIns="0" bIns="0" rtlCol="0" anchor="t">
            <a:spAutoFit/>
          </a:bodyPr>
          <a:lstStyle/>
          <a:p>
            <a:pPr marL="742950" indent="-742950">
              <a:buAutoNum type="arabicPeriod"/>
            </a:pPr>
            <a:r>
              <a:rPr lang="en-US" sz="3600" b="1" dirty="0" smtClean="0"/>
              <a:t>String </a:t>
            </a:r>
            <a:r>
              <a:rPr lang="en-US" sz="3600" b="1" dirty="0"/>
              <a:t>Literal (Static Memory</a:t>
            </a:r>
            <a:r>
              <a:rPr lang="en-US" sz="3600" b="1" dirty="0" smtClean="0"/>
              <a:t>)</a:t>
            </a:r>
            <a:endParaRPr lang="en-US" sz="3600" b="1" dirty="0"/>
          </a:p>
          <a:p>
            <a:endParaRPr lang="en-US" sz="3600" b="1" dirty="0"/>
          </a:p>
          <a:p>
            <a:r>
              <a:rPr lang="en-US" sz="3600" dirty="0"/>
              <a:t>When </a:t>
            </a:r>
            <a:r>
              <a:rPr lang="en-US" sz="3600" dirty="0" err="1"/>
              <a:t>s1</a:t>
            </a:r>
            <a:r>
              <a:rPr lang="en-US" sz="3600" dirty="0"/>
              <a:t> is created, the string "Java" is stored in the String Constant Pool. </a:t>
            </a:r>
          </a:p>
          <a:p>
            <a:r>
              <a:rPr lang="en-US" sz="3600" dirty="0"/>
              <a:t>When </a:t>
            </a:r>
            <a:r>
              <a:rPr lang="en-US" sz="3600" dirty="0" err="1"/>
              <a:t>s2</a:t>
            </a:r>
            <a:r>
              <a:rPr lang="en-US" sz="3600" dirty="0"/>
              <a:t> is created, Java checks the pool and finds that "Java" already exists. </a:t>
            </a:r>
          </a:p>
          <a:p>
            <a:r>
              <a:rPr lang="en-US" sz="3600" dirty="0"/>
              <a:t>Instead of creating a new object, Java reuses the existing object. </a:t>
            </a:r>
          </a:p>
          <a:p>
            <a:r>
              <a:rPr lang="en-US" sz="3600" dirty="0"/>
              <a:t>Therefore, both </a:t>
            </a:r>
            <a:r>
              <a:rPr lang="en-US" sz="3600" dirty="0" err="1"/>
              <a:t>s1</a:t>
            </a:r>
            <a:r>
              <a:rPr lang="en-US" sz="3600" dirty="0"/>
              <a:t> and </a:t>
            </a:r>
            <a:r>
              <a:rPr lang="en-US" sz="3600" dirty="0" err="1"/>
              <a:t>s2</a:t>
            </a:r>
            <a:r>
              <a:rPr lang="en-US" sz="3600" dirty="0"/>
              <a:t> point to the same memory location. </a:t>
            </a:r>
            <a:endParaRPr lang="en-US" sz="3600" dirty="0" smtClean="0"/>
          </a:p>
          <a:p>
            <a:endParaRPr lang="en-US" sz="3600" dirty="0"/>
          </a:p>
          <a:p>
            <a:r>
              <a:rPr lang="en-US" sz="3600" dirty="0" err="1"/>
              <a:t>s1</a:t>
            </a:r>
            <a:r>
              <a:rPr lang="en-US" sz="3600" dirty="0"/>
              <a:t> ──┐</a:t>
            </a:r>
            <a:br>
              <a:rPr lang="en-US" sz="3600" dirty="0"/>
            </a:br>
            <a:r>
              <a:rPr lang="en-US" sz="3600" dirty="0"/>
              <a:t>├──&gt; "Java"</a:t>
            </a:r>
            <a:br>
              <a:rPr lang="en-US" sz="3600" dirty="0"/>
            </a:br>
            <a:r>
              <a:rPr lang="en-US" sz="3600" dirty="0" err="1"/>
              <a:t>s2</a:t>
            </a:r>
            <a:r>
              <a:rPr lang="en-US" sz="3600" dirty="0"/>
              <a:t> ──┘</a:t>
            </a:r>
          </a:p>
        </p:txBody>
      </p:sp>
    </p:spTree>
    <p:extLst>
      <p:ext uri="{BB962C8B-B14F-4D97-AF65-F5344CB8AC3E}">
        <p14:creationId xmlns:p14="http://schemas.microsoft.com/office/powerpoint/2010/main" val="24101187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algn="ctr" fontAlgn="base"/>
            <a:r>
              <a:rPr lang="en-US" sz="6000" b="1" dirty="0"/>
              <a:t>Ways of Creating a Java String</a:t>
            </a:r>
          </a:p>
        </p:txBody>
      </p:sp>
      <p:sp>
        <p:nvSpPr>
          <p:cNvPr id="9" name="TextBox 9"/>
          <p:cNvSpPr txBox="1"/>
          <p:nvPr/>
        </p:nvSpPr>
        <p:spPr>
          <a:xfrm>
            <a:off x="1142999" y="2284809"/>
            <a:ext cx="15537445" cy="6771084"/>
          </a:xfrm>
          <a:prstGeom prst="rect">
            <a:avLst/>
          </a:prstGeom>
        </p:spPr>
        <p:txBody>
          <a:bodyPr wrap="square" lIns="0" tIns="0" rIns="0" bIns="0" rtlCol="0" anchor="t">
            <a:spAutoFit/>
          </a:bodyPr>
          <a:lstStyle/>
          <a:p>
            <a:pPr fontAlgn="base"/>
            <a:r>
              <a:rPr lang="en-US" sz="4000" b="1" dirty="0"/>
              <a:t>2. Using new keyword (Heap Memory)</a:t>
            </a:r>
          </a:p>
          <a:p>
            <a:r>
              <a:rPr lang="en-US" sz="4000" dirty="0"/>
              <a:t>When a string is created using the new keyword, Java always creates a new object in heap memory, even if the same string already exists in the String Constant Pool.</a:t>
            </a:r>
          </a:p>
          <a:p>
            <a:r>
              <a:rPr lang="en-US" sz="4000" b="1" dirty="0"/>
              <a:t>Example:</a:t>
            </a:r>
          </a:p>
          <a:p>
            <a:r>
              <a:rPr lang="en-US" sz="4000" dirty="0"/>
              <a:t>String </a:t>
            </a:r>
            <a:r>
              <a:rPr lang="en-US" sz="4000" dirty="0" err="1"/>
              <a:t>s1</a:t>
            </a:r>
            <a:r>
              <a:rPr lang="en-US" sz="4000" dirty="0"/>
              <a:t> = new String("Hello");</a:t>
            </a:r>
            <a:br>
              <a:rPr lang="en-US" sz="4000" dirty="0"/>
            </a:br>
            <a:r>
              <a:rPr lang="en-US" sz="4000" dirty="0"/>
              <a:t>String </a:t>
            </a:r>
            <a:r>
              <a:rPr lang="en-US" sz="4000" dirty="0" err="1"/>
              <a:t>s2</a:t>
            </a:r>
            <a:r>
              <a:rPr lang="en-US" sz="4000" dirty="0"/>
              <a:t> = new String("Hello");</a:t>
            </a:r>
          </a:p>
          <a:p>
            <a:r>
              <a:rPr lang="en-US" sz="4000" b="1" dirty="0"/>
              <a:t>Explanation:</a:t>
            </a:r>
          </a:p>
          <a:p>
            <a:r>
              <a:rPr lang="en-US" sz="4000" dirty="0" err="1"/>
              <a:t>s1</a:t>
            </a:r>
            <a:r>
              <a:rPr lang="en-US" sz="4000" dirty="0"/>
              <a:t> and </a:t>
            </a:r>
            <a:r>
              <a:rPr lang="en-US" sz="4000" dirty="0" err="1"/>
              <a:t>s2</a:t>
            </a:r>
            <a:r>
              <a:rPr lang="en-US" sz="4000" dirty="0"/>
              <a:t> are created using new </a:t>
            </a:r>
          </a:p>
          <a:p>
            <a:r>
              <a:rPr lang="en-US" sz="4000" dirty="0"/>
              <a:t>Java creates two separate objects in heap memory </a:t>
            </a:r>
          </a:p>
          <a:p>
            <a:r>
              <a:rPr lang="en-US" sz="4000" dirty="0"/>
              <a:t>Therefore, both variables point to different memory locations</a:t>
            </a:r>
          </a:p>
        </p:txBody>
      </p:sp>
    </p:spTree>
    <p:extLst>
      <p:ext uri="{BB962C8B-B14F-4D97-AF65-F5344CB8AC3E}">
        <p14:creationId xmlns:p14="http://schemas.microsoft.com/office/powerpoint/2010/main" val="38621518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algn="ctr" fontAlgn="base"/>
            <a:r>
              <a:rPr lang="en-US" sz="6000" b="1" dirty="0"/>
              <a:t>Ways of Creating a Java String</a:t>
            </a:r>
          </a:p>
        </p:txBody>
      </p:sp>
      <p:sp>
        <p:nvSpPr>
          <p:cNvPr id="9" name="TextBox 9"/>
          <p:cNvSpPr txBox="1"/>
          <p:nvPr/>
        </p:nvSpPr>
        <p:spPr>
          <a:xfrm>
            <a:off x="1142999" y="2284809"/>
            <a:ext cx="13335001" cy="7755969"/>
          </a:xfrm>
          <a:prstGeom prst="rect">
            <a:avLst/>
          </a:prstGeom>
        </p:spPr>
        <p:txBody>
          <a:bodyPr wrap="square" lIns="0" tIns="0" rIns="0" bIns="0" rtlCol="0" anchor="t">
            <a:spAutoFit/>
          </a:bodyPr>
          <a:lstStyle/>
          <a:p>
            <a:pPr fontAlgn="base"/>
            <a:r>
              <a:rPr lang="en-US" sz="3600" b="1" dirty="0"/>
              <a:t>2. Using new keyword (Heap Memory)</a:t>
            </a:r>
          </a:p>
          <a:p>
            <a:r>
              <a:rPr lang="en-US" sz="3600" dirty="0"/>
              <a:t>Step 1: String </a:t>
            </a:r>
            <a:r>
              <a:rPr lang="en-US" sz="3600" dirty="0" err="1"/>
              <a:t>s1</a:t>
            </a:r>
            <a:r>
              <a:rPr lang="en-US" sz="3600" dirty="0"/>
              <a:t> = new String("Hello</a:t>
            </a:r>
            <a:r>
              <a:rPr lang="en-US" sz="3600" dirty="0" smtClean="0"/>
              <a:t>");</a:t>
            </a:r>
            <a:endParaRPr lang="en-US" sz="3600" dirty="0"/>
          </a:p>
          <a:p>
            <a:pPr lvl="1"/>
            <a:r>
              <a:rPr lang="en-US" sz="3600" dirty="0"/>
              <a:t>(a</a:t>
            </a:r>
            <a:r>
              <a:rPr lang="en-US" sz="3600" dirty="0" smtClean="0"/>
              <a:t>). </a:t>
            </a:r>
            <a:r>
              <a:rPr lang="en-US" sz="3600" dirty="0"/>
              <a:t>Check String Constant Pool</a:t>
            </a:r>
          </a:p>
          <a:p>
            <a:pPr lvl="1"/>
            <a:r>
              <a:rPr lang="en-US" sz="3600" dirty="0"/>
              <a:t>Java first checks whether "Hello" already exists in the SCP.</a:t>
            </a:r>
          </a:p>
          <a:p>
            <a:pPr lvl="1"/>
            <a:r>
              <a:rPr lang="en-US" sz="3600" dirty="0"/>
              <a:t>If not present → Java creates "Hello" in the SCP. </a:t>
            </a:r>
          </a:p>
          <a:p>
            <a:pPr lvl="1"/>
            <a:r>
              <a:rPr lang="en-US" sz="3600" dirty="0"/>
              <a:t>If already present → Java reuses it</a:t>
            </a:r>
            <a:r>
              <a:rPr lang="en-US" sz="3600" dirty="0" smtClean="0"/>
              <a:t>.</a:t>
            </a:r>
          </a:p>
          <a:p>
            <a:pPr lvl="1"/>
            <a:r>
              <a:rPr lang="en-US" sz="3600" dirty="0"/>
              <a:t>(b</a:t>
            </a:r>
            <a:r>
              <a:rPr lang="en-US" sz="3600" dirty="0" smtClean="0"/>
              <a:t>). </a:t>
            </a:r>
            <a:r>
              <a:rPr lang="en-US" sz="3600" dirty="0"/>
              <a:t>Create New Object in Heap</a:t>
            </a:r>
          </a:p>
          <a:p>
            <a:pPr lvl="1"/>
            <a:r>
              <a:rPr lang="en-US" sz="3600" dirty="0"/>
              <a:t>Because new is used, Java creates a completely new String object in heap memory</a:t>
            </a:r>
            <a:r>
              <a:rPr lang="en-US" sz="3600" dirty="0" smtClean="0"/>
              <a:t>. </a:t>
            </a:r>
          </a:p>
          <a:p>
            <a:r>
              <a:rPr lang="en-US" sz="3600" b="1" dirty="0"/>
              <a:t>Step 2: String </a:t>
            </a:r>
            <a:r>
              <a:rPr lang="en-US" sz="3600" b="1" dirty="0" err="1"/>
              <a:t>s2</a:t>
            </a:r>
            <a:r>
              <a:rPr lang="en-US" sz="3600" b="1" dirty="0"/>
              <a:t> = new String("Hello");</a:t>
            </a:r>
          </a:p>
          <a:p>
            <a:pPr lvl="1"/>
            <a:r>
              <a:rPr lang="en-US" sz="3600" dirty="0" smtClean="0"/>
              <a:t>(a).Again </a:t>
            </a:r>
            <a:r>
              <a:rPr lang="en-US" sz="3600" dirty="0"/>
              <a:t>Java checks SCP.</a:t>
            </a:r>
          </a:p>
          <a:p>
            <a:pPr lvl="1"/>
            <a:r>
              <a:rPr lang="en-US" sz="3600" dirty="0"/>
              <a:t>"Hello" already exists in </a:t>
            </a:r>
            <a:r>
              <a:rPr lang="en-US" sz="3600" dirty="0" smtClean="0"/>
              <a:t>SCP, So </a:t>
            </a:r>
            <a:r>
              <a:rPr lang="en-US" sz="3600" dirty="0"/>
              <a:t>no new SCP object is created </a:t>
            </a:r>
          </a:p>
          <a:p>
            <a:pPr lvl="1"/>
            <a:r>
              <a:rPr lang="en-US" sz="3600" dirty="0" smtClean="0"/>
              <a:t>(b). But </a:t>
            </a:r>
            <a:r>
              <a:rPr lang="en-US" sz="3600" dirty="0"/>
              <a:t>because new is used again:</a:t>
            </a:r>
          </a:p>
          <a:p>
            <a:pPr lvl="1"/>
            <a:r>
              <a:rPr lang="en-US" sz="3600" dirty="0"/>
              <a:t>Java creates another new object in heap </a:t>
            </a:r>
            <a:r>
              <a:rPr lang="en-US" sz="3600" dirty="0" smtClean="0"/>
              <a:t>memory</a:t>
            </a:r>
            <a:endParaRPr lang="en-US" sz="3600" dirty="0"/>
          </a:p>
        </p:txBody>
      </p:sp>
      <p:sp>
        <p:nvSpPr>
          <p:cNvPr id="10" name="Rectangle 9"/>
          <p:cNvSpPr/>
          <p:nvPr/>
        </p:nvSpPr>
        <p:spPr>
          <a:xfrm>
            <a:off x="13373100" y="2388140"/>
            <a:ext cx="4457700" cy="3539430"/>
          </a:xfrm>
          <a:prstGeom prst="rect">
            <a:avLst/>
          </a:prstGeom>
          <a:ln>
            <a:solidFill>
              <a:schemeClr val="tx1"/>
            </a:solidFill>
          </a:ln>
        </p:spPr>
        <p:txBody>
          <a:bodyPr wrap="square">
            <a:spAutoFit/>
          </a:bodyPr>
          <a:lstStyle/>
          <a:p>
            <a:r>
              <a:rPr lang="en-US" sz="2800" b="1" dirty="0"/>
              <a:t>String Constant Pool (SCP)</a:t>
            </a:r>
          </a:p>
          <a:p>
            <a:r>
              <a:rPr lang="en-US" sz="2800" b="1" dirty="0"/>
              <a:t>--------------------------</a:t>
            </a:r>
          </a:p>
          <a:p>
            <a:r>
              <a:rPr lang="en-US" sz="2800" b="1" dirty="0"/>
              <a:t>"Hello"</a:t>
            </a:r>
          </a:p>
          <a:p>
            <a:endParaRPr lang="en-US" sz="2800" b="1" dirty="0"/>
          </a:p>
          <a:p>
            <a:r>
              <a:rPr lang="en-US" sz="2800" b="1" dirty="0"/>
              <a:t>Heap Memory</a:t>
            </a:r>
          </a:p>
          <a:p>
            <a:r>
              <a:rPr lang="en-US" sz="2800" b="1" dirty="0"/>
              <a:t>--------------------------</a:t>
            </a:r>
          </a:p>
          <a:p>
            <a:r>
              <a:rPr lang="en-US" sz="2800" b="1" dirty="0" err="1"/>
              <a:t>Object1</a:t>
            </a:r>
            <a:r>
              <a:rPr lang="en-US" sz="2800" b="1" dirty="0"/>
              <a:t> -&gt; "Hello"   ← </a:t>
            </a:r>
            <a:r>
              <a:rPr lang="en-US" sz="2800" b="1" dirty="0" err="1"/>
              <a:t>s1</a:t>
            </a:r>
            <a:endParaRPr lang="en-US" sz="2800" b="1" dirty="0"/>
          </a:p>
          <a:p>
            <a:r>
              <a:rPr lang="en-US" sz="2800" b="1" dirty="0" err="1"/>
              <a:t>Object2</a:t>
            </a:r>
            <a:r>
              <a:rPr lang="en-US" sz="2800" b="1" dirty="0"/>
              <a:t> -&gt; "Hello"   ← </a:t>
            </a:r>
            <a:r>
              <a:rPr lang="en-US" sz="2800" b="1" dirty="0" err="1"/>
              <a:t>s2</a:t>
            </a:r>
            <a:endParaRPr lang="en-US" sz="2800" b="1" dirty="0"/>
          </a:p>
        </p:txBody>
      </p:sp>
    </p:spTree>
    <p:extLst>
      <p:ext uri="{BB962C8B-B14F-4D97-AF65-F5344CB8AC3E}">
        <p14:creationId xmlns:p14="http://schemas.microsoft.com/office/powerpoint/2010/main" val="2223855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537445" cy="8309967"/>
          </a:xfrm>
          <a:prstGeom prst="rect">
            <a:avLst/>
          </a:prstGeom>
        </p:spPr>
        <p:txBody>
          <a:bodyPr wrap="square" lIns="0" tIns="0" rIns="0" bIns="0" rtlCol="0" anchor="t">
            <a:spAutoFit/>
          </a:bodyPr>
          <a:lstStyle/>
          <a:p>
            <a:r>
              <a:rPr lang="en-US" sz="3600" dirty="0" smtClean="0"/>
              <a:t>String </a:t>
            </a:r>
            <a:r>
              <a:rPr lang="en-US" sz="3600" dirty="0"/>
              <a:t>constructors are used to create String objects in different ways</a:t>
            </a:r>
            <a:r>
              <a:rPr lang="en-US" sz="3600" dirty="0" smtClean="0"/>
              <a:t>.</a:t>
            </a:r>
          </a:p>
          <a:p>
            <a:r>
              <a:rPr lang="en-US" sz="3600" b="1" dirty="0"/>
              <a:t>1. String from char[]</a:t>
            </a:r>
          </a:p>
          <a:p>
            <a:r>
              <a:rPr lang="en-US" sz="3600" dirty="0"/>
              <a:t>This constructor creates a string from a character array. Characters stored in array are combined A new String object is created using those </a:t>
            </a:r>
            <a:r>
              <a:rPr lang="en-US" sz="3600" dirty="0" smtClean="0"/>
              <a:t>characters.</a:t>
            </a:r>
            <a:endParaRPr lang="en-US" sz="3600" dirty="0"/>
          </a:p>
          <a:p>
            <a:r>
              <a:rPr lang="en-US" sz="3600" b="1" dirty="0"/>
              <a:t>Syntax</a:t>
            </a:r>
          </a:p>
          <a:p>
            <a:r>
              <a:rPr lang="en-US" sz="3600" dirty="0"/>
              <a:t>String </a:t>
            </a:r>
            <a:r>
              <a:rPr lang="en-US" sz="3600" dirty="0" err="1"/>
              <a:t>str</a:t>
            </a:r>
            <a:r>
              <a:rPr lang="en-US" sz="3600" dirty="0"/>
              <a:t> = new String(</a:t>
            </a:r>
            <a:r>
              <a:rPr lang="en-US" sz="3600" dirty="0" err="1"/>
              <a:t>charArray</a:t>
            </a:r>
            <a:r>
              <a:rPr lang="en-US" sz="3600" dirty="0"/>
              <a:t>);</a:t>
            </a:r>
          </a:p>
          <a:p>
            <a:r>
              <a:rPr lang="en-US" sz="3600" b="1" dirty="0"/>
              <a:t>Example</a:t>
            </a:r>
          </a:p>
          <a:p>
            <a:r>
              <a:rPr lang="en-US" sz="3600" dirty="0"/>
              <a:t>public class Main {</a:t>
            </a:r>
            <a:br>
              <a:rPr lang="en-US" sz="3600" dirty="0"/>
            </a:br>
            <a:r>
              <a:rPr lang="en-US" sz="3600" dirty="0"/>
              <a:t>public static void main(String[] </a:t>
            </a:r>
            <a:r>
              <a:rPr lang="en-US" sz="3600" dirty="0" err="1"/>
              <a:t>args</a:t>
            </a:r>
            <a:r>
              <a:rPr lang="en-US" sz="3600" dirty="0"/>
              <a:t>) </a:t>
            </a:r>
            <a:r>
              <a:rPr lang="en-US" sz="3600" dirty="0" smtClean="0"/>
              <a:t>{</a:t>
            </a:r>
            <a:r>
              <a:rPr lang="en-US" sz="3600" dirty="0"/>
              <a:t/>
            </a:r>
            <a:br>
              <a:rPr lang="en-US" sz="3600" dirty="0"/>
            </a:br>
            <a:r>
              <a:rPr lang="en-US" sz="3600" dirty="0"/>
              <a:t>char </a:t>
            </a:r>
            <a:r>
              <a:rPr lang="en-US" sz="3600" dirty="0" err="1"/>
              <a:t>ch</a:t>
            </a:r>
            <a:r>
              <a:rPr lang="en-US" sz="3600" dirty="0"/>
              <a:t>[] = {'</a:t>
            </a:r>
            <a:r>
              <a:rPr lang="en-US" sz="3600" dirty="0" err="1"/>
              <a:t>H','e','l','l','o</a:t>
            </a:r>
            <a:r>
              <a:rPr lang="en-US" sz="3600" dirty="0" smtClean="0"/>
              <a:t>'};</a:t>
            </a:r>
            <a:r>
              <a:rPr lang="en-US" sz="3600" dirty="0"/>
              <a:t/>
            </a:r>
            <a:br>
              <a:rPr lang="en-US" sz="3600" dirty="0"/>
            </a:br>
            <a:r>
              <a:rPr lang="en-US" sz="3600" dirty="0"/>
              <a:t>String s = new String(</a:t>
            </a:r>
            <a:r>
              <a:rPr lang="en-US" sz="3600" dirty="0" err="1"/>
              <a:t>ch</a:t>
            </a:r>
            <a:r>
              <a:rPr lang="en-US" sz="3600" dirty="0" smtClean="0"/>
              <a:t>);</a:t>
            </a:r>
            <a:r>
              <a:rPr lang="en-US" sz="3600" dirty="0"/>
              <a:t/>
            </a:r>
            <a:br>
              <a:rPr lang="en-US" sz="3600" dirty="0"/>
            </a:br>
            <a:r>
              <a:rPr lang="en-US" sz="3600" dirty="0" err="1"/>
              <a:t>System.out.println</a:t>
            </a:r>
            <a:r>
              <a:rPr lang="en-US" sz="3600" dirty="0"/>
              <a:t>(s</a:t>
            </a:r>
            <a:r>
              <a:rPr lang="en-US" sz="3600" dirty="0" smtClean="0"/>
              <a:t>);}}</a:t>
            </a:r>
            <a:endParaRPr lang="en-US" sz="3600" dirty="0"/>
          </a:p>
          <a:p>
            <a:r>
              <a:rPr lang="en-US" sz="3600" b="1" dirty="0"/>
              <a:t>Output</a:t>
            </a:r>
          </a:p>
          <a:p>
            <a:r>
              <a:rPr lang="en-US" sz="3600" dirty="0"/>
              <a:t>Hello</a:t>
            </a:r>
          </a:p>
          <a:p>
            <a:endParaRPr lang="en-US" sz="3600" dirty="0"/>
          </a:p>
        </p:txBody>
      </p:sp>
    </p:spTree>
    <p:extLst>
      <p:ext uri="{BB962C8B-B14F-4D97-AF65-F5344CB8AC3E}">
        <p14:creationId xmlns:p14="http://schemas.microsoft.com/office/powerpoint/2010/main" val="20149907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537445" cy="7755969"/>
          </a:xfrm>
          <a:prstGeom prst="rect">
            <a:avLst/>
          </a:prstGeom>
        </p:spPr>
        <p:txBody>
          <a:bodyPr wrap="square" lIns="0" tIns="0" rIns="0" bIns="0" rtlCol="0" anchor="t">
            <a:spAutoFit/>
          </a:bodyPr>
          <a:lstStyle/>
          <a:p>
            <a:r>
              <a:rPr lang="en-US" sz="3600" b="1" dirty="0"/>
              <a:t>2. String from char[] with Range</a:t>
            </a:r>
          </a:p>
          <a:p>
            <a:r>
              <a:rPr lang="en-US" sz="3600" dirty="0"/>
              <a:t>This constructor creates a string using only a specific part of the character array.</a:t>
            </a:r>
          </a:p>
          <a:p>
            <a:r>
              <a:rPr lang="en-US" sz="3600" b="1" dirty="0"/>
              <a:t>Syntax</a:t>
            </a:r>
          </a:p>
          <a:p>
            <a:r>
              <a:rPr lang="en-US" sz="3600" dirty="0"/>
              <a:t>String </a:t>
            </a:r>
            <a:r>
              <a:rPr lang="en-US" sz="3600" dirty="0" err="1"/>
              <a:t>str</a:t>
            </a:r>
            <a:r>
              <a:rPr lang="en-US" sz="3600" dirty="0"/>
              <a:t> = new String(</a:t>
            </a:r>
            <a:r>
              <a:rPr lang="en-US" sz="3600" dirty="0" err="1"/>
              <a:t>charArray</a:t>
            </a:r>
            <a:r>
              <a:rPr lang="en-US" sz="3600" dirty="0"/>
              <a:t>, start, length);</a:t>
            </a:r>
          </a:p>
          <a:p>
            <a:r>
              <a:rPr lang="en-US" sz="3600" dirty="0"/>
              <a:t>start → starting index </a:t>
            </a:r>
          </a:p>
          <a:p>
            <a:r>
              <a:rPr lang="en-US" sz="3600" dirty="0"/>
              <a:t>length → number of characters </a:t>
            </a:r>
          </a:p>
          <a:p>
            <a:r>
              <a:rPr lang="en-US" sz="3600" b="1" dirty="0"/>
              <a:t>Example</a:t>
            </a:r>
          </a:p>
          <a:p>
            <a:r>
              <a:rPr lang="en-US" sz="3600" dirty="0"/>
              <a:t>public class Main {</a:t>
            </a:r>
            <a:br>
              <a:rPr lang="en-US" sz="3600" dirty="0"/>
            </a:br>
            <a:r>
              <a:rPr lang="en-US" sz="3600" dirty="0"/>
              <a:t>public static void main(String[] </a:t>
            </a:r>
            <a:r>
              <a:rPr lang="en-US" sz="3600" dirty="0" err="1"/>
              <a:t>args</a:t>
            </a:r>
            <a:r>
              <a:rPr lang="en-US" sz="3600" dirty="0"/>
              <a:t>) </a:t>
            </a:r>
            <a:r>
              <a:rPr lang="en-US" sz="3600" dirty="0" smtClean="0"/>
              <a:t>{</a:t>
            </a:r>
            <a:r>
              <a:rPr lang="en-US" sz="3600" dirty="0"/>
              <a:t/>
            </a:r>
            <a:br>
              <a:rPr lang="en-US" sz="3600" dirty="0"/>
            </a:br>
            <a:r>
              <a:rPr lang="en-US" sz="3600" dirty="0"/>
              <a:t>char </a:t>
            </a:r>
            <a:r>
              <a:rPr lang="en-US" sz="3600" dirty="0" err="1"/>
              <a:t>ch</a:t>
            </a:r>
            <a:r>
              <a:rPr lang="en-US" sz="3600" dirty="0"/>
              <a:t>[] = {'</a:t>
            </a:r>
            <a:r>
              <a:rPr lang="en-US" sz="3600" dirty="0" err="1"/>
              <a:t>P','r','o','g','r','a',</a:t>
            </a:r>
            <a:r>
              <a:rPr lang="en-US" sz="3600" dirty="0" err="1" smtClean="0"/>
              <a:t>'m</a:t>
            </a:r>
            <a:r>
              <a:rPr lang="en-US" sz="3600" dirty="0" smtClean="0"/>
              <a:t>'};</a:t>
            </a:r>
            <a:r>
              <a:rPr lang="en-US" sz="3600" dirty="0"/>
              <a:t/>
            </a:r>
            <a:br>
              <a:rPr lang="en-US" sz="3600" dirty="0"/>
            </a:br>
            <a:r>
              <a:rPr lang="en-US" sz="3600" dirty="0"/>
              <a:t>String s = new String(</a:t>
            </a:r>
            <a:r>
              <a:rPr lang="en-US" sz="3600" dirty="0" err="1"/>
              <a:t>ch</a:t>
            </a:r>
            <a:r>
              <a:rPr lang="en-US" sz="3600" dirty="0"/>
              <a:t>, 0, 4</a:t>
            </a:r>
            <a:r>
              <a:rPr lang="en-US" sz="3600" dirty="0" smtClean="0"/>
              <a:t>);</a:t>
            </a:r>
            <a:r>
              <a:rPr lang="en-US" sz="3600" dirty="0"/>
              <a:t/>
            </a:r>
            <a:br>
              <a:rPr lang="en-US" sz="3600" dirty="0"/>
            </a:br>
            <a:r>
              <a:rPr lang="en-US" sz="3600" dirty="0" err="1"/>
              <a:t>System.out.println</a:t>
            </a:r>
            <a:r>
              <a:rPr lang="en-US" sz="3600" dirty="0"/>
              <a:t>(s</a:t>
            </a:r>
            <a:r>
              <a:rPr lang="en-US" sz="3600" dirty="0" smtClean="0"/>
              <a:t>);}}</a:t>
            </a:r>
            <a:endParaRPr lang="en-US" sz="3600" dirty="0"/>
          </a:p>
          <a:p>
            <a:r>
              <a:rPr lang="en-US" sz="3600" b="1" dirty="0"/>
              <a:t>Output</a:t>
            </a:r>
          </a:p>
          <a:p>
            <a:r>
              <a:rPr lang="en-US" sz="3600" dirty="0" err="1" smtClean="0"/>
              <a:t>Prog</a:t>
            </a:r>
            <a:endParaRPr lang="en-US" sz="3600" dirty="0"/>
          </a:p>
        </p:txBody>
      </p:sp>
    </p:spTree>
    <p:extLst>
      <p:ext uri="{BB962C8B-B14F-4D97-AF65-F5344CB8AC3E}">
        <p14:creationId xmlns:p14="http://schemas.microsoft.com/office/powerpoint/2010/main" val="39535891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537445" cy="6647974"/>
          </a:xfrm>
          <a:prstGeom prst="rect">
            <a:avLst/>
          </a:prstGeom>
        </p:spPr>
        <p:txBody>
          <a:bodyPr wrap="square" lIns="0" tIns="0" rIns="0" bIns="0" rtlCol="0" anchor="t">
            <a:spAutoFit/>
          </a:bodyPr>
          <a:lstStyle/>
          <a:p>
            <a:r>
              <a:rPr lang="en-US" sz="3600" b="1" dirty="0"/>
              <a:t>3. String from Another String Object</a:t>
            </a:r>
          </a:p>
          <a:p>
            <a:r>
              <a:rPr lang="en-US" sz="3600" dirty="0"/>
              <a:t>This constructor creates a new string object using another string.</a:t>
            </a:r>
          </a:p>
          <a:p>
            <a:r>
              <a:rPr lang="en-US" sz="3600" b="1" dirty="0"/>
              <a:t>Syntax</a:t>
            </a:r>
          </a:p>
          <a:p>
            <a:r>
              <a:rPr lang="en-US" sz="3600" dirty="0"/>
              <a:t>String </a:t>
            </a:r>
            <a:r>
              <a:rPr lang="en-US" sz="3600" dirty="0" err="1"/>
              <a:t>s2</a:t>
            </a:r>
            <a:r>
              <a:rPr lang="en-US" sz="3600" dirty="0"/>
              <a:t> = new String(</a:t>
            </a:r>
            <a:r>
              <a:rPr lang="en-US" sz="3600" dirty="0" err="1"/>
              <a:t>s1</a:t>
            </a:r>
            <a:r>
              <a:rPr lang="en-US" sz="3600" dirty="0"/>
              <a:t>);</a:t>
            </a:r>
          </a:p>
          <a:p>
            <a:r>
              <a:rPr lang="en-US" sz="3600" b="1" dirty="0"/>
              <a:t>Example</a:t>
            </a:r>
          </a:p>
          <a:p>
            <a:r>
              <a:rPr lang="en-US" sz="3600" dirty="0"/>
              <a:t>public class Main {</a:t>
            </a:r>
            <a:br>
              <a:rPr lang="en-US" sz="3600" dirty="0"/>
            </a:br>
            <a:r>
              <a:rPr lang="en-US" sz="3600" dirty="0"/>
              <a:t>public static void main(String[] </a:t>
            </a:r>
            <a:r>
              <a:rPr lang="en-US" sz="3600" dirty="0" err="1"/>
              <a:t>args</a:t>
            </a:r>
            <a:r>
              <a:rPr lang="en-US" sz="3600" dirty="0"/>
              <a:t>) </a:t>
            </a:r>
            <a:r>
              <a:rPr lang="en-US" sz="3600" dirty="0" smtClean="0"/>
              <a:t>{</a:t>
            </a:r>
            <a:r>
              <a:rPr lang="en-US" sz="3600" dirty="0"/>
              <a:t/>
            </a:r>
            <a:br>
              <a:rPr lang="en-US" sz="3600" dirty="0"/>
            </a:br>
            <a:r>
              <a:rPr lang="en-US" sz="3600" dirty="0"/>
              <a:t>String </a:t>
            </a:r>
            <a:r>
              <a:rPr lang="en-US" sz="3600" dirty="0" err="1"/>
              <a:t>s1</a:t>
            </a:r>
            <a:r>
              <a:rPr lang="en-US" sz="3600" dirty="0"/>
              <a:t> = "Java</a:t>
            </a:r>
            <a:r>
              <a:rPr lang="en-US" sz="3600" dirty="0" smtClean="0"/>
              <a:t>";</a:t>
            </a:r>
            <a:r>
              <a:rPr lang="en-US" sz="3600" dirty="0"/>
              <a:t/>
            </a:r>
            <a:br>
              <a:rPr lang="en-US" sz="3600" dirty="0"/>
            </a:br>
            <a:r>
              <a:rPr lang="en-US" sz="3600" dirty="0"/>
              <a:t>String </a:t>
            </a:r>
            <a:r>
              <a:rPr lang="en-US" sz="3600" dirty="0" err="1"/>
              <a:t>s2</a:t>
            </a:r>
            <a:r>
              <a:rPr lang="en-US" sz="3600" dirty="0"/>
              <a:t> = new String(</a:t>
            </a:r>
            <a:r>
              <a:rPr lang="en-US" sz="3600" dirty="0" err="1"/>
              <a:t>s1</a:t>
            </a:r>
            <a:r>
              <a:rPr lang="en-US" sz="3600" dirty="0" smtClean="0"/>
              <a:t>);</a:t>
            </a:r>
            <a:r>
              <a:rPr lang="en-US" sz="3600" dirty="0"/>
              <a:t/>
            </a:r>
            <a:br>
              <a:rPr lang="en-US" sz="3600" dirty="0"/>
            </a:br>
            <a:r>
              <a:rPr lang="en-US" sz="3600" dirty="0" err="1"/>
              <a:t>System.out.println</a:t>
            </a:r>
            <a:r>
              <a:rPr lang="en-US" sz="3600" dirty="0"/>
              <a:t>(</a:t>
            </a:r>
            <a:r>
              <a:rPr lang="en-US" sz="3600" dirty="0" err="1"/>
              <a:t>s2</a:t>
            </a:r>
            <a:r>
              <a:rPr lang="en-US" sz="3600" dirty="0" smtClean="0"/>
              <a:t>);}}</a:t>
            </a:r>
            <a:endParaRPr lang="en-US" sz="3600" dirty="0"/>
          </a:p>
          <a:p>
            <a:r>
              <a:rPr lang="en-US" sz="3600" b="1" dirty="0"/>
              <a:t>Output</a:t>
            </a:r>
          </a:p>
          <a:p>
            <a:r>
              <a:rPr lang="en-US" sz="3600" dirty="0"/>
              <a:t>Java</a:t>
            </a:r>
          </a:p>
        </p:txBody>
      </p:sp>
    </p:spTree>
    <p:extLst>
      <p:ext uri="{BB962C8B-B14F-4D97-AF65-F5344CB8AC3E}">
        <p14:creationId xmlns:p14="http://schemas.microsoft.com/office/powerpoint/2010/main" val="33628915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86390" y="-6239632"/>
            <a:ext cx="1354671" cy="15098427"/>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8" y="9465083"/>
            <a:ext cx="18497703"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329526"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707253" cy="276999"/>
          </a:xfrm>
          <a:prstGeom prst="rect">
            <a:avLst/>
          </a:prstGeom>
        </p:spPr>
        <p:txBody>
          <a:bodyPr wrap="square" lIns="0" tIns="0" rIns="0" bIns="0" rtlCol="0" anchor="t">
            <a:spAutoFit/>
          </a:bodyPr>
          <a:lstStyle/>
          <a:p>
            <a:r>
              <a:rPr lang="en-US" dirty="0" smtClean="0"/>
              <a:t> </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1304849454"/>
              </p:ext>
            </p:extLst>
          </p:nvPr>
        </p:nvGraphicFramePr>
        <p:xfrm>
          <a:off x="1014512" y="2561807"/>
          <a:ext cx="15673288" cy="6036184"/>
        </p:xfrm>
        <a:graphic>
          <a:graphicData uri="http://schemas.openxmlformats.org/drawingml/2006/table">
            <a:tbl>
              <a:tblPr/>
              <a:tblGrid>
                <a:gridCol w="7836644"/>
                <a:gridCol w="7836644"/>
              </a:tblGrid>
              <a:tr h="1153114">
                <a:tc>
                  <a:txBody>
                    <a:bodyPr/>
                    <a:lstStyle/>
                    <a:p>
                      <a:r>
                        <a:rPr lang="en-US" sz="4400" dirty="0"/>
                        <a:t>Constructor</a:t>
                      </a:r>
                    </a:p>
                  </a:txBody>
                  <a:tcPr anchor="ctr">
                    <a:lnL>
                      <a:noFill/>
                    </a:lnL>
                    <a:lnR>
                      <a:noFill/>
                    </a:lnR>
                    <a:lnT>
                      <a:noFill/>
                    </a:lnT>
                    <a:lnB>
                      <a:noFill/>
                    </a:lnB>
                  </a:tcPr>
                </a:tc>
                <a:tc>
                  <a:txBody>
                    <a:bodyPr/>
                    <a:lstStyle/>
                    <a:p>
                      <a:r>
                        <a:rPr lang="en-US" sz="4400"/>
                        <a:t>Purpose</a:t>
                      </a:r>
                    </a:p>
                  </a:txBody>
                  <a:tcPr anchor="ctr">
                    <a:lnL>
                      <a:noFill/>
                    </a:lnL>
                    <a:lnR>
                      <a:noFill/>
                    </a:lnR>
                    <a:lnT>
                      <a:noFill/>
                    </a:lnT>
                    <a:lnB>
                      <a:noFill/>
                    </a:lnB>
                  </a:tcPr>
                </a:tc>
              </a:tr>
              <a:tr h="1153114">
                <a:tc>
                  <a:txBody>
                    <a:bodyPr/>
                    <a:lstStyle/>
                    <a:p>
                      <a:r>
                        <a:rPr lang="en-US" sz="4400"/>
                        <a:t>String(char[])</a:t>
                      </a:r>
                    </a:p>
                  </a:txBody>
                  <a:tcPr anchor="ctr">
                    <a:lnL>
                      <a:noFill/>
                    </a:lnL>
                    <a:lnR>
                      <a:noFill/>
                    </a:lnR>
                    <a:lnT>
                      <a:noFill/>
                    </a:lnT>
                    <a:lnB>
                      <a:noFill/>
                    </a:lnB>
                  </a:tcPr>
                </a:tc>
                <a:tc>
                  <a:txBody>
                    <a:bodyPr/>
                    <a:lstStyle/>
                    <a:p>
                      <a:r>
                        <a:rPr lang="en-US" sz="4400" dirty="0"/>
                        <a:t>Creates string from full character array</a:t>
                      </a:r>
                    </a:p>
                  </a:txBody>
                  <a:tcPr anchor="ctr">
                    <a:lnL>
                      <a:noFill/>
                    </a:lnL>
                    <a:lnR>
                      <a:noFill/>
                    </a:lnR>
                    <a:lnT>
                      <a:noFill/>
                    </a:lnT>
                    <a:lnB>
                      <a:noFill/>
                    </a:lnB>
                  </a:tcPr>
                </a:tc>
              </a:tr>
              <a:tr h="1153114">
                <a:tc>
                  <a:txBody>
                    <a:bodyPr/>
                    <a:lstStyle/>
                    <a:p>
                      <a:r>
                        <a:rPr lang="en-US" sz="4400"/>
                        <a:t>String(char[], start, length)</a:t>
                      </a:r>
                    </a:p>
                  </a:txBody>
                  <a:tcPr anchor="ctr">
                    <a:lnL>
                      <a:noFill/>
                    </a:lnL>
                    <a:lnR>
                      <a:noFill/>
                    </a:lnR>
                    <a:lnT>
                      <a:noFill/>
                    </a:lnT>
                    <a:lnB>
                      <a:noFill/>
                    </a:lnB>
                  </a:tcPr>
                </a:tc>
                <a:tc>
                  <a:txBody>
                    <a:bodyPr/>
                    <a:lstStyle/>
                    <a:p>
                      <a:r>
                        <a:rPr lang="en-US" sz="4400" dirty="0"/>
                        <a:t>Creates string from part of character array</a:t>
                      </a:r>
                    </a:p>
                  </a:txBody>
                  <a:tcPr anchor="ctr">
                    <a:lnL>
                      <a:noFill/>
                    </a:lnL>
                    <a:lnR>
                      <a:noFill/>
                    </a:lnR>
                    <a:lnT>
                      <a:noFill/>
                    </a:lnT>
                    <a:lnB>
                      <a:noFill/>
                    </a:lnB>
                  </a:tcPr>
                </a:tc>
              </a:tr>
              <a:tr h="2017950">
                <a:tc>
                  <a:txBody>
                    <a:bodyPr/>
                    <a:lstStyle/>
                    <a:p>
                      <a:r>
                        <a:rPr lang="en-US" sz="4400"/>
                        <a:t>String(String)</a:t>
                      </a:r>
                    </a:p>
                  </a:txBody>
                  <a:tcPr anchor="ctr">
                    <a:lnL>
                      <a:noFill/>
                    </a:lnL>
                    <a:lnR>
                      <a:noFill/>
                    </a:lnR>
                    <a:lnT>
                      <a:noFill/>
                    </a:lnT>
                    <a:lnB>
                      <a:noFill/>
                    </a:lnB>
                  </a:tcPr>
                </a:tc>
                <a:tc>
                  <a:txBody>
                    <a:bodyPr/>
                    <a:lstStyle/>
                    <a:p>
                      <a:r>
                        <a:rPr lang="en-US" sz="4400" dirty="0"/>
                        <a:t>Creates new string from another string object</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196720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86390" y="-6239632"/>
            <a:ext cx="1354671" cy="15098427"/>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8" y="9465083"/>
            <a:ext cx="18497703"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329526"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707253" cy="276999"/>
          </a:xfrm>
          <a:prstGeom prst="rect">
            <a:avLst/>
          </a:prstGeom>
        </p:spPr>
        <p:txBody>
          <a:bodyPr wrap="square" lIns="0" tIns="0" rIns="0" bIns="0" rtlCol="0" anchor="t">
            <a:spAutoFit/>
          </a:bodyPr>
          <a:lstStyle/>
          <a:p>
            <a:r>
              <a:rPr lang="en-US" dirty="0" smtClean="0"/>
              <a:t> </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791940083"/>
              </p:ext>
            </p:extLst>
          </p:nvPr>
        </p:nvGraphicFramePr>
        <p:xfrm>
          <a:off x="1524000" y="1986917"/>
          <a:ext cx="13107062" cy="7959000"/>
        </p:xfrm>
        <a:graphic>
          <a:graphicData uri="http://schemas.openxmlformats.org/drawingml/2006/table">
            <a:tbl>
              <a:tblPr/>
              <a:tblGrid>
                <a:gridCol w="6553531"/>
                <a:gridCol w="6553531"/>
              </a:tblGrid>
              <a:tr h="440871">
                <a:tc>
                  <a:txBody>
                    <a:bodyPr/>
                    <a:lstStyle/>
                    <a:p>
                      <a:r>
                        <a:rPr lang="en-US" sz="3200" b="1" u="sng" dirty="0"/>
                        <a:t>Method / Operator</a:t>
                      </a:r>
                    </a:p>
                  </a:txBody>
                  <a:tcPr marL="80821" marR="80821" marT="40410" marB="40410" anchor="ctr">
                    <a:lnL>
                      <a:noFill/>
                    </a:lnL>
                    <a:lnR>
                      <a:noFill/>
                    </a:lnR>
                    <a:lnT>
                      <a:noFill/>
                    </a:lnT>
                    <a:lnB>
                      <a:noFill/>
                    </a:lnB>
                  </a:tcPr>
                </a:tc>
                <a:tc>
                  <a:txBody>
                    <a:bodyPr/>
                    <a:lstStyle/>
                    <a:p>
                      <a:r>
                        <a:rPr lang="en-US" sz="3200" b="1" u="sng" dirty="0"/>
                        <a:t>Purpose</a:t>
                      </a:r>
                    </a:p>
                  </a:txBody>
                  <a:tcPr marL="80821" marR="80821" marT="40410" marB="40410" anchor="ctr">
                    <a:lnL>
                      <a:noFill/>
                    </a:lnL>
                    <a:lnR>
                      <a:noFill/>
                    </a:lnR>
                    <a:lnT>
                      <a:noFill/>
                    </a:lnT>
                    <a:lnB>
                      <a:noFill/>
                    </a:lnB>
                  </a:tcPr>
                </a:tc>
              </a:tr>
              <a:tr h="440871">
                <a:tc>
                  <a:txBody>
                    <a:bodyPr/>
                    <a:lstStyle/>
                    <a:p>
                      <a:r>
                        <a:rPr lang="en-US" sz="3200" dirty="0"/>
                        <a:t>length()</a:t>
                      </a:r>
                    </a:p>
                  </a:txBody>
                  <a:tcPr marL="80821" marR="80821" marT="40410" marB="40410" anchor="ctr">
                    <a:lnL>
                      <a:noFill/>
                    </a:lnL>
                    <a:lnR>
                      <a:noFill/>
                    </a:lnR>
                    <a:lnT>
                      <a:noFill/>
                    </a:lnT>
                    <a:lnB>
                      <a:noFill/>
                    </a:lnB>
                  </a:tcPr>
                </a:tc>
                <a:tc>
                  <a:txBody>
                    <a:bodyPr/>
                    <a:lstStyle/>
                    <a:p>
                      <a:r>
                        <a:rPr lang="en-US" sz="3200" dirty="0"/>
                        <a:t>Finds number of characters</a:t>
                      </a:r>
                    </a:p>
                  </a:txBody>
                  <a:tcPr marL="80821" marR="80821" marT="40410" marB="40410" anchor="ctr">
                    <a:lnL>
                      <a:noFill/>
                    </a:lnL>
                    <a:lnR>
                      <a:noFill/>
                    </a:lnR>
                    <a:lnT>
                      <a:noFill/>
                    </a:lnT>
                    <a:lnB>
                      <a:noFill/>
                    </a:lnB>
                  </a:tcPr>
                </a:tc>
              </a:tr>
              <a:tr h="440871">
                <a:tc>
                  <a:txBody>
                    <a:bodyPr/>
                    <a:lstStyle/>
                    <a:p>
                      <a:r>
                        <a:rPr lang="en-US" sz="3200" dirty="0" err="1"/>
                        <a:t>charAt</a:t>
                      </a:r>
                      <a:r>
                        <a:rPr lang="en-US" sz="3200" dirty="0"/>
                        <a:t>()</a:t>
                      </a:r>
                    </a:p>
                  </a:txBody>
                  <a:tcPr marL="80821" marR="80821" marT="40410" marB="40410" anchor="ctr">
                    <a:lnL>
                      <a:noFill/>
                    </a:lnL>
                    <a:lnR>
                      <a:noFill/>
                    </a:lnR>
                    <a:lnT>
                      <a:noFill/>
                    </a:lnT>
                    <a:lnB>
                      <a:noFill/>
                    </a:lnB>
                  </a:tcPr>
                </a:tc>
                <a:tc>
                  <a:txBody>
                    <a:bodyPr/>
                    <a:lstStyle/>
                    <a:p>
                      <a:r>
                        <a:rPr lang="en-US" sz="3200" dirty="0"/>
                        <a:t>Returns character at specific index</a:t>
                      </a:r>
                    </a:p>
                  </a:txBody>
                  <a:tcPr marL="80821" marR="80821" marT="40410" marB="40410" anchor="ctr">
                    <a:lnL>
                      <a:noFill/>
                    </a:lnL>
                    <a:lnR>
                      <a:noFill/>
                    </a:lnR>
                    <a:lnT>
                      <a:noFill/>
                    </a:lnT>
                    <a:lnB>
                      <a:noFill/>
                    </a:lnB>
                  </a:tcPr>
                </a:tc>
              </a:tr>
              <a:tr h="440871">
                <a:tc>
                  <a:txBody>
                    <a:bodyPr/>
                    <a:lstStyle/>
                    <a:p>
                      <a:r>
                        <a:rPr lang="en-US" sz="3200"/>
                        <a:t>concat()</a:t>
                      </a:r>
                    </a:p>
                  </a:txBody>
                  <a:tcPr marL="80821" marR="80821" marT="40410" marB="40410" anchor="ctr">
                    <a:lnL>
                      <a:noFill/>
                    </a:lnL>
                    <a:lnR>
                      <a:noFill/>
                    </a:lnR>
                    <a:lnT>
                      <a:noFill/>
                    </a:lnT>
                    <a:lnB>
                      <a:noFill/>
                    </a:lnB>
                  </a:tcPr>
                </a:tc>
                <a:tc>
                  <a:txBody>
                    <a:bodyPr/>
                    <a:lstStyle/>
                    <a:p>
                      <a:r>
                        <a:rPr lang="en-US" sz="3200"/>
                        <a:t>Joins two strings</a:t>
                      </a:r>
                    </a:p>
                  </a:txBody>
                  <a:tcPr marL="80821" marR="80821" marT="40410" marB="40410" anchor="ctr">
                    <a:lnL>
                      <a:noFill/>
                    </a:lnL>
                    <a:lnR>
                      <a:noFill/>
                    </a:lnR>
                    <a:lnT>
                      <a:noFill/>
                    </a:lnT>
                    <a:lnB>
                      <a:noFill/>
                    </a:lnB>
                  </a:tcPr>
                </a:tc>
              </a:tr>
              <a:tr h="440871">
                <a:tc>
                  <a:txBody>
                    <a:bodyPr/>
                    <a:lstStyle/>
                    <a:p>
                      <a:r>
                        <a:rPr lang="en-US" sz="3200" dirty="0" err="1"/>
                        <a:t>toUpperCase</a:t>
                      </a:r>
                      <a:r>
                        <a:rPr lang="en-US" sz="3200" dirty="0"/>
                        <a:t>()</a:t>
                      </a:r>
                    </a:p>
                  </a:txBody>
                  <a:tcPr marL="80821" marR="80821" marT="40410" marB="40410" anchor="ctr">
                    <a:lnL>
                      <a:noFill/>
                    </a:lnL>
                    <a:lnR>
                      <a:noFill/>
                    </a:lnR>
                    <a:lnT>
                      <a:noFill/>
                    </a:lnT>
                    <a:lnB>
                      <a:noFill/>
                    </a:lnB>
                  </a:tcPr>
                </a:tc>
                <a:tc>
                  <a:txBody>
                    <a:bodyPr/>
                    <a:lstStyle/>
                    <a:p>
                      <a:r>
                        <a:rPr lang="en-US" sz="3200"/>
                        <a:t>Converts string to uppercase</a:t>
                      </a:r>
                    </a:p>
                  </a:txBody>
                  <a:tcPr marL="80821" marR="80821" marT="40410" marB="40410" anchor="ctr">
                    <a:lnL>
                      <a:noFill/>
                    </a:lnL>
                    <a:lnR>
                      <a:noFill/>
                    </a:lnR>
                    <a:lnT>
                      <a:noFill/>
                    </a:lnT>
                    <a:lnB>
                      <a:noFill/>
                    </a:lnB>
                  </a:tcPr>
                </a:tc>
              </a:tr>
              <a:tr h="440871">
                <a:tc>
                  <a:txBody>
                    <a:bodyPr/>
                    <a:lstStyle/>
                    <a:p>
                      <a:r>
                        <a:rPr lang="en-US" sz="3200" dirty="0" err="1"/>
                        <a:t>toLowerCase</a:t>
                      </a:r>
                      <a:r>
                        <a:rPr lang="en-US" sz="3200" dirty="0"/>
                        <a:t>()</a:t>
                      </a:r>
                    </a:p>
                  </a:txBody>
                  <a:tcPr marL="80821" marR="80821" marT="40410" marB="40410" anchor="ctr">
                    <a:lnL>
                      <a:noFill/>
                    </a:lnL>
                    <a:lnR>
                      <a:noFill/>
                    </a:lnR>
                    <a:lnT>
                      <a:noFill/>
                    </a:lnT>
                    <a:lnB>
                      <a:noFill/>
                    </a:lnB>
                  </a:tcPr>
                </a:tc>
                <a:tc>
                  <a:txBody>
                    <a:bodyPr/>
                    <a:lstStyle/>
                    <a:p>
                      <a:r>
                        <a:rPr lang="en-US" sz="3200"/>
                        <a:t>Converts string to lowercase</a:t>
                      </a:r>
                    </a:p>
                  </a:txBody>
                  <a:tcPr marL="80821" marR="80821" marT="40410" marB="40410" anchor="ctr">
                    <a:lnL>
                      <a:noFill/>
                    </a:lnL>
                    <a:lnR>
                      <a:noFill/>
                    </a:lnR>
                    <a:lnT>
                      <a:noFill/>
                    </a:lnT>
                    <a:lnB>
                      <a:noFill/>
                    </a:lnB>
                  </a:tcPr>
                </a:tc>
              </a:tr>
              <a:tr h="440871">
                <a:tc>
                  <a:txBody>
                    <a:bodyPr/>
                    <a:lstStyle/>
                    <a:p>
                      <a:r>
                        <a:rPr lang="en-US" sz="3200" dirty="0"/>
                        <a:t>equals()</a:t>
                      </a:r>
                    </a:p>
                  </a:txBody>
                  <a:tcPr marL="80821" marR="80821" marT="40410" marB="40410" anchor="ctr">
                    <a:lnL>
                      <a:noFill/>
                    </a:lnL>
                    <a:lnR>
                      <a:noFill/>
                    </a:lnR>
                    <a:lnT>
                      <a:noFill/>
                    </a:lnT>
                    <a:lnB>
                      <a:noFill/>
                    </a:lnB>
                  </a:tcPr>
                </a:tc>
                <a:tc>
                  <a:txBody>
                    <a:bodyPr/>
                    <a:lstStyle/>
                    <a:p>
                      <a:r>
                        <a:rPr lang="en-US" sz="3200"/>
                        <a:t>Compares actual contents</a:t>
                      </a:r>
                    </a:p>
                  </a:txBody>
                  <a:tcPr marL="80821" marR="80821" marT="40410" marB="40410" anchor="ctr">
                    <a:lnL>
                      <a:noFill/>
                    </a:lnL>
                    <a:lnR>
                      <a:noFill/>
                    </a:lnR>
                    <a:lnT>
                      <a:noFill/>
                    </a:lnT>
                    <a:lnB>
                      <a:noFill/>
                    </a:lnB>
                  </a:tcPr>
                </a:tc>
              </a:tr>
              <a:tr h="440871">
                <a:tc>
                  <a:txBody>
                    <a:bodyPr/>
                    <a:lstStyle/>
                    <a:p>
                      <a:r>
                        <a:rPr lang="en-US" sz="3200"/>
                        <a:t>==</a:t>
                      </a:r>
                    </a:p>
                  </a:txBody>
                  <a:tcPr marL="80821" marR="80821" marT="40410" marB="40410" anchor="ctr">
                    <a:lnL>
                      <a:noFill/>
                    </a:lnL>
                    <a:lnR>
                      <a:noFill/>
                    </a:lnR>
                    <a:lnT>
                      <a:noFill/>
                    </a:lnT>
                    <a:lnB>
                      <a:noFill/>
                    </a:lnB>
                  </a:tcPr>
                </a:tc>
                <a:tc>
                  <a:txBody>
                    <a:bodyPr/>
                    <a:lstStyle/>
                    <a:p>
                      <a:r>
                        <a:rPr lang="en-US" sz="3200"/>
                        <a:t>Compares memory locations</a:t>
                      </a:r>
                    </a:p>
                  </a:txBody>
                  <a:tcPr marL="80821" marR="80821" marT="40410" marB="40410" anchor="ctr">
                    <a:lnL>
                      <a:noFill/>
                    </a:lnL>
                    <a:lnR>
                      <a:noFill/>
                    </a:lnR>
                    <a:lnT>
                      <a:noFill/>
                    </a:lnT>
                    <a:lnB>
                      <a:noFill/>
                    </a:lnB>
                  </a:tcPr>
                </a:tc>
              </a:tr>
              <a:tr h="440871">
                <a:tc>
                  <a:txBody>
                    <a:bodyPr/>
                    <a:lstStyle/>
                    <a:p>
                      <a:r>
                        <a:rPr lang="en-US" sz="3200"/>
                        <a:t>equalsIgnoreCase()</a:t>
                      </a:r>
                    </a:p>
                  </a:txBody>
                  <a:tcPr marL="80821" marR="80821" marT="40410" marB="40410" anchor="ctr">
                    <a:lnL>
                      <a:noFill/>
                    </a:lnL>
                    <a:lnR>
                      <a:noFill/>
                    </a:lnR>
                    <a:lnT>
                      <a:noFill/>
                    </a:lnT>
                    <a:lnB>
                      <a:noFill/>
                    </a:lnB>
                  </a:tcPr>
                </a:tc>
                <a:tc>
                  <a:txBody>
                    <a:bodyPr/>
                    <a:lstStyle/>
                    <a:p>
                      <a:r>
                        <a:rPr lang="en-US" sz="3200"/>
                        <a:t>Compares without case sensitivity</a:t>
                      </a:r>
                    </a:p>
                  </a:txBody>
                  <a:tcPr marL="80821" marR="80821" marT="40410" marB="40410" anchor="ctr">
                    <a:lnL>
                      <a:noFill/>
                    </a:lnL>
                    <a:lnR>
                      <a:noFill/>
                    </a:lnR>
                    <a:lnT>
                      <a:noFill/>
                    </a:lnT>
                    <a:lnB>
                      <a:noFill/>
                    </a:lnB>
                  </a:tcPr>
                </a:tc>
              </a:tr>
              <a:tr h="440871">
                <a:tc>
                  <a:txBody>
                    <a:bodyPr/>
                    <a:lstStyle/>
                    <a:p>
                      <a:r>
                        <a:rPr lang="en-US" sz="3200" dirty="0" err="1"/>
                        <a:t>compareTo</a:t>
                      </a:r>
                      <a:r>
                        <a:rPr lang="en-US" sz="3200" dirty="0"/>
                        <a:t>()</a:t>
                      </a:r>
                    </a:p>
                  </a:txBody>
                  <a:tcPr marL="80821" marR="80821" marT="40410" marB="40410" anchor="ctr">
                    <a:lnL>
                      <a:noFill/>
                    </a:lnL>
                    <a:lnR>
                      <a:noFill/>
                    </a:lnR>
                    <a:lnT>
                      <a:noFill/>
                    </a:lnT>
                    <a:lnB>
                      <a:noFill/>
                    </a:lnB>
                  </a:tcPr>
                </a:tc>
                <a:tc>
                  <a:txBody>
                    <a:bodyPr/>
                    <a:lstStyle/>
                    <a:p>
                      <a:r>
                        <a:rPr lang="en-US" sz="3200" dirty="0" smtClean="0"/>
                        <a:t>Unicode</a:t>
                      </a:r>
                      <a:r>
                        <a:rPr lang="en-US" sz="3200" baseline="0" dirty="0" smtClean="0"/>
                        <a:t> value of each character </a:t>
                      </a:r>
                      <a:endParaRPr lang="en-US" sz="3200" dirty="0"/>
                    </a:p>
                  </a:txBody>
                  <a:tcPr marL="80821" marR="80821" marT="40410" marB="40410" anchor="ctr">
                    <a:lnL>
                      <a:noFill/>
                    </a:lnL>
                    <a:lnR>
                      <a:noFill/>
                    </a:lnR>
                    <a:lnT>
                      <a:noFill/>
                    </a:lnT>
                    <a:lnB>
                      <a:noFill/>
                    </a:lnB>
                  </a:tcPr>
                </a:tc>
              </a:tr>
              <a:tr h="440871">
                <a:tc>
                  <a:txBody>
                    <a:bodyPr/>
                    <a:lstStyle/>
                    <a:p>
                      <a:r>
                        <a:rPr lang="en-US" sz="3200"/>
                        <a:t>contains()</a:t>
                      </a:r>
                    </a:p>
                  </a:txBody>
                  <a:tcPr marL="80821" marR="80821" marT="40410" marB="40410" anchor="ctr">
                    <a:lnL>
                      <a:noFill/>
                    </a:lnL>
                    <a:lnR>
                      <a:noFill/>
                    </a:lnR>
                    <a:lnT>
                      <a:noFill/>
                    </a:lnT>
                    <a:lnB>
                      <a:noFill/>
                    </a:lnB>
                  </a:tcPr>
                </a:tc>
                <a:tc>
                  <a:txBody>
                    <a:bodyPr/>
                    <a:lstStyle/>
                    <a:p>
                      <a:r>
                        <a:rPr lang="en-US" sz="3200"/>
                        <a:t>Checks if text exists in string</a:t>
                      </a:r>
                    </a:p>
                  </a:txBody>
                  <a:tcPr marL="80821" marR="80821" marT="40410" marB="40410" anchor="ctr">
                    <a:lnL>
                      <a:noFill/>
                    </a:lnL>
                    <a:lnR>
                      <a:noFill/>
                    </a:lnR>
                    <a:lnT>
                      <a:noFill/>
                    </a:lnT>
                    <a:lnB>
                      <a:noFill/>
                    </a:lnB>
                  </a:tcPr>
                </a:tc>
              </a:tr>
              <a:tr h="440871">
                <a:tc>
                  <a:txBody>
                    <a:bodyPr/>
                    <a:lstStyle/>
                    <a:p>
                      <a:r>
                        <a:rPr lang="en-US" sz="3200"/>
                        <a:t>startsWith()</a:t>
                      </a:r>
                    </a:p>
                  </a:txBody>
                  <a:tcPr marL="80821" marR="80821" marT="40410" marB="40410" anchor="ctr">
                    <a:lnL>
                      <a:noFill/>
                    </a:lnL>
                    <a:lnR>
                      <a:noFill/>
                    </a:lnR>
                    <a:lnT>
                      <a:noFill/>
                    </a:lnT>
                    <a:lnB>
                      <a:noFill/>
                    </a:lnB>
                  </a:tcPr>
                </a:tc>
                <a:tc>
                  <a:txBody>
                    <a:bodyPr/>
                    <a:lstStyle/>
                    <a:p>
                      <a:r>
                        <a:rPr lang="en-US" sz="3200"/>
                        <a:t>Checks starting characters</a:t>
                      </a:r>
                    </a:p>
                  </a:txBody>
                  <a:tcPr marL="80821" marR="80821" marT="40410" marB="40410" anchor="ctr">
                    <a:lnL>
                      <a:noFill/>
                    </a:lnL>
                    <a:lnR>
                      <a:noFill/>
                    </a:lnR>
                    <a:lnT>
                      <a:noFill/>
                    </a:lnT>
                    <a:lnB>
                      <a:noFill/>
                    </a:lnB>
                  </a:tcPr>
                </a:tc>
              </a:tr>
              <a:tr h="440871">
                <a:tc>
                  <a:txBody>
                    <a:bodyPr/>
                    <a:lstStyle/>
                    <a:p>
                      <a:r>
                        <a:rPr lang="en-US" sz="3200"/>
                        <a:t>endsWith()</a:t>
                      </a:r>
                    </a:p>
                  </a:txBody>
                  <a:tcPr marL="80821" marR="80821" marT="40410" marB="40410" anchor="ctr">
                    <a:lnL>
                      <a:noFill/>
                    </a:lnL>
                    <a:lnR>
                      <a:noFill/>
                    </a:lnR>
                    <a:lnT>
                      <a:noFill/>
                    </a:lnT>
                    <a:lnB>
                      <a:noFill/>
                    </a:lnB>
                  </a:tcPr>
                </a:tc>
                <a:tc>
                  <a:txBody>
                    <a:bodyPr/>
                    <a:lstStyle/>
                    <a:p>
                      <a:r>
                        <a:rPr lang="en-US" sz="3200"/>
                        <a:t>Checks ending characters</a:t>
                      </a:r>
                    </a:p>
                  </a:txBody>
                  <a:tcPr marL="80821" marR="80821" marT="40410" marB="40410" anchor="ctr">
                    <a:lnL>
                      <a:noFill/>
                    </a:lnL>
                    <a:lnR>
                      <a:noFill/>
                    </a:lnR>
                    <a:lnT>
                      <a:noFill/>
                    </a:lnT>
                    <a:lnB>
                      <a:noFill/>
                    </a:lnB>
                  </a:tcPr>
                </a:tc>
              </a:tr>
              <a:tr h="440871">
                <a:tc>
                  <a:txBody>
                    <a:bodyPr/>
                    <a:lstStyle/>
                    <a:p>
                      <a:r>
                        <a:rPr lang="en-US" sz="3200"/>
                        <a:t>indexOf()</a:t>
                      </a:r>
                    </a:p>
                  </a:txBody>
                  <a:tcPr marL="80821" marR="80821" marT="40410" marB="40410" anchor="ctr">
                    <a:lnL>
                      <a:noFill/>
                    </a:lnL>
                    <a:lnR>
                      <a:noFill/>
                    </a:lnR>
                    <a:lnT>
                      <a:noFill/>
                    </a:lnT>
                    <a:lnB>
                      <a:noFill/>
                    </a:lnB>
                  </a:tcPr>
                </a:tc>
                <a:tc>
                  <a:txBody>
                    <a:bodyPr/>
                    <a:lstStyle/>
                    <a:p>
                      <a:r>
                        <a:rPr lang="en-US" sz="3200" dirty="0"/>
                        <a:t>Finds position of character/string</a:t>
                      </a:r>
                    </a:p>
                  </a:txBody>
                  <a:tcPr marL="80821" marR="80821" marT="40410" marB="40410" anchor="ctr">
                    <a:lnL>
                      <a:noFill/>
                    </a:lnL>
                    <a:lnR>
                      <a:noFill/>
                    </a:lnR>
                    <a:lnT>
                      <a:noFill/>
                    </a:lnT>
                    <a:lnB>
                      <a:noFill/>
                    </a:lnB>
                  </a:tcPr>
                </a:tc>
              </a:tr>
            </a:tbl>
          </a:graphicData>
        </a:graphic>
      </p:graphicFrame>
    </p:spTree>
    <p:extLst>
      <p:ext uri="{BB962C8B-B14F-4D97-AF65-F5344CB8AC3E}">
        <p14:creationId xmlns:p14="http://schemas.microsoft.com/office/powerpoint/2010/main" val="17078137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progra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39108"/>
            <a:ext cx="10439400" cy="945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660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pPr fontAlgn="base"/>
            <a:r>
              <a:rPr lang="en-US" sz="6000" b="1" dirty="0" smtClean="0"/>
              <a:t>String Constructors </a:t>
            </a:r>
            <a:endParaRPr lang="en-US" sz="6000" b="1" dirty="0"/>
          </a:p>
        </p:txBody>
      </p:sp>
      <p:sp>
        <p:nvSpPr>
          <p:cNvPr id="9" name="TextBox 9"/>
          <p:cNvSpPr txBox="1"/>
          <p:nvPr/>
        </p:nvSpPr>
        <p:spPr>
          <a:xfrm>
            <a:off x="1142999" y="2284809"/>
            <a:ext cx="15537445" cy="553998"/>
          </a:xfrm>
          <a:prstGeom prst="rect">
            <a:avLst/>
          </a:prstGeom>
        </p:spPr>
        <p:txBody>
          <a:bodyPr wrap="square" lIns="0" tIns="0" rIns="0" bIns="0" rtlCol="0" anchor="t">
            <a:spAutoFit/>
          </a:bodyPr>
          <a:lstStyle/>
          <a:p>
            <a:r>
              <a:rPr lang="en-US" sz="3600" b="1" dirty="0" smtClean="0"/>
              <a:t> </a:t>
            </a:r>
            <a:endParaRPr lang="en-US" sz="3600" dirty="0"/>
          </a:p>
        </p:txBody>
      </p:sp>
      <p:graphicFrame>
        <p:nvGraphicFramePr>
          <p:cNvPr id="10" name="Table 9"/>
          <p:cNvGraphicFramePr>
            <a:graphicFrameLocks noGrp="1"/>
          </p:cNvGraphicFramePr>
          <p:nvPr>
            <p:extLst>
              <p:ext uri="{D42A27DB-BD31-4B8C-83A1-F6EECF244321}">
                <p14:modId xmlns:p14="http://schemas.microsoft.com/office/powerpoint/2010/main" val="2255243940"/>
              </p:ext>
            </p:extLst>
          </p:nvPr>
        </p:nvGraphicFramePr>
        <p:xfrm>
          <a:off x="1305737" y="2253194"/>
          <a:ext cx="14239062" cy="6896616"/>
        </p:xfrm>
        <a:graphic>
          <a:graphicData uri="http://schemas.openxmlformats.org/drawingml/2006/table">
            <a:tbl>
              <a:tblPr/>
              <a:tblGrid>
                <a:gridCol w="7119531"/>
                <a:gridCol w="7119531"/>
              </a:tblGrid>
              <a:tr h="543633">
                <a:tc>
                  <a:txBody>
                    <a:bodyPr/>
                    <a:lstStyle/>
                    <a:p>
                      <a:r>
                        <a:rPr lang="en-US" sz="3200" b="1" u="sng" kern="1200" dirty="0">
                          <a:solidFill>
                            <a:schemeClr val="tx1"/>
                          </a:solidFill>
                          <a:latin typeface="+mn-lt"/>
                          <a:ea typeface="+mn-ea"/>
                          <a:cs typeface="+mn-cs"/>
                        </a:rPr>
                        <a:t>Method</a:t>
                      </a:r>
                    </a:p>
                  </a:txBody>
                  <a:tcPr marL="87038" marR="87038" marT="43519" marB="43519" anchor="ctr">
                    <a:lnL>
                      <a:noFill/>
                    </a:lnL>
                    <a:lnR>
                      <a:noFill/>
                    </a:lnR>
                    <a:lnT>
                      <a:noFill/>
                    </a:lnT>
                    <a:lnB>
                      <a:noFill/>
                    </a:lnB>
                  </a:tcPr>
                </a:tc>
                <a:tc>
                  <a:txBody>
                    <a:bodyPr/>
                    <a:lstStyle/>
                    <a:p>
                      <a:r>
                        <a:rPr lang="en-US" sz="3200" b="1" u="sng" kern="1200" dirty="0">
                          <a:solidFill>
                            <a:schemeClr val="tx1"/>
                          </a:solidFill>
                          <a:latin typeface="+mn-lt"/>
                          <a:ea typeface="+mn-ea"/>
                          <a:cs typeface="+mn-cs"/>
                        </a:rPr>
                        <a:t>Purpose</a:t>
                      </a:r>
                    </a:p>
                  </a:txBody>
                  <a:tcPr marL="87038" marR="87038" marT="43519" marB="43519" anchor="ctr">
                    <a:lnL>
                      <a:noFill/>
                    </a:lnL>
                    <a:lnR>
                      <a:noFill/>
                    </a:lnR>
                    <a:lnT>
                      <a:noFill/>
                    </a:lnT>
                    <a:lnB>
                      <a:noFill/>
                    </a:lnB>
                  </a:tcPr>
                </a:tc>
              </a:tr>
              <a:tr h="543633">
                <a:tc>
                  <a:txBody>
                    <a:bodyPr/>
                    <a:lstStyle/>
                    <a:p>
                      <a:r>
                        <a:rPr lang="en-US" sz="3200" kern="1200" dirty="0">
                          <a:solidFill>
                            <a:schemeClr val="tx1"/>
                          </a:solidFill>
                          <a:latin typeface="+mn-lt"/>
                          <a:ea typeface="+mn-ea"/>
                          <a:cs typeface="+mn-cs"/>
                        </a:rPr>
                        <a:t>substring()</a:t>
                      </a:r>
                    </a:p>
                  </a:txBody>
                  <a:tcPr marL="87038" marR="87038" marT="43519" marB="43519" anchor="ctr">
                    <a:lnL>
                      <a:noFill/>
                    </a:lnL>
                    <a:lnR>
                      <a:noFill/>
                    </a:lnR>
                    <a:lnT>
                      <a:noFill/>
                    </a:lnT>
                    <a:lnB>
                      <a:noFill/>
                    </a:lnB>
                  </a:tcPr>
                </a:tc>
                <a:tc>
                  <a:txBody>
                    <a:bodyPr/>
                    <a:lstStyle/>
                    <a:p>
                      <a:r>
                        <a:rPr lang="en-US" sz="3200" kern="1200">
                          <a:solidFill>
                            <a:schemeClr val="tx1"/>
                          </a:solidFill>
                          <a:latin typeface="+mn-lt"/>
                          <a:ea typeface="+mn-ea"/>
                          <a:cs typeface="+mn-cs"/>
                        </a:rPr>
                        <a:t>Extracts part of string</a:t>
                      </a:r>
                    </a:p>
                  </a:txBody>
                  <a:tcPr marL="87038" marR="87038" marT="43519" marB="43519" anchor="ctr">
                    <a:lnL>
                      <a:noFill/>
                    </a:lnL>
                    <a:lnR>
                      <a:noFill/>
                    </a:lnR>
                    <a:lnT>
                      <a:noFill/>
                    </a:lnT>
                    <a:lnB>
                      <a:noFill/>
                    </a:lnB>
                  </a:tcPr>
                </a:tc>
              </a:tr>
              <a:tr h="543633">
                <a:tc>
                  <a:txBody>
                    <a:bodyPr/>
                    <a:lstStyle/>
                    <a:p>
                      <a:r>
                        <a:rPr lang="en-US" sz="3200" kern="1200" dirty="0">
                          <a:solidFill>
                            <a:schemeClr val="tx1"/>
                          </a:solidFill>
                          <a:latin typeface="+mn-lt"/>
                          <a:ea typeface="+mn-ea"/>
                          <a:cs typeface="+mn-cs"/>
                        </a:rPr>
                        <a:t>replace()</a:t>
                      </a:r>
                    </a:p>
                  </a:txBody>
                  <a:tcPr marL="87038" marR="87038" marT="43519" marB="43519" anchor="ctr">
                    <a:lnL>
                      <a:noFill/>
                    </a:lnL>
                    <a:lnR>
                      <a:noFill/>
                    </a:lnR>
                    <a:lnT>
                      <a:noFill/>
                    </a:lnT>
                    <a:lnB>
                      <a:noFill/>
                    </a:lnB>
                  </a:tcPr>
                </a:tc>
                <a:tc>
                  <a:txBody>
                    <a:bodyPr/>
                    <a:lstStyle/>
                    <a:p>
                      <a:r>
                        <a:rPr lang="en-US" sz="3200" kern="1200">
                          <a:solidFill>
                            <a:schemeClr val="tx1"/>
                          </a:solidFill>
                          <a:latin typeface="+mn-lt"/>
                          <a:ea typeface="+mn-ea"/>
                          <a:cs typeface="+mn-cs"/>
                        </a:rPr>
                        <a:t>Replaces character or word</a:t>
                      </a:r>
                    </a:p>
                  </a:txBody>
                  <a:tcPr marL="87038" marR="87038" marT="43519" marB="43519" anchor="ctr">
                    <a:lnL>
                      <a:noFill/>
                    </a:lnL>
                    <a:lnR>
                      <a:noFill/>
                    </a:lnR>
                    <a:lnT>
                      <a:noFill/>
                    </a:lnT>
                    <a:lnB>
                      <a:noFill/>
                    </a:lnB>
                  </a:tcPr>
                </a:tc>
              </a:tr>
              <a:tr h="543633">
                <a:tc>
                  <a:txBody>
                    <a:bodyPr/>
                    <a:lstStyle/>
                    <a:p>
                      <a:r>
                        <a:rPr lang="en-US" sz="3200" kern="1200" dirty="0">
                          <a:solidFill>
                            <a:schemeClr val="tx1"/>
                          </a:solidFill>
                          <a:latin typeface="+mn-lt"/>
                          <a:ea typeface="+mn-ea"/>
                          <a:cs typeface="+mn-cs"/>
                        </a:rPr>
                        <a:t>split()</a:t>
                      </a:r>
                    </a:p>
                  </a:txBody>
                  <a:tcPr marL="87038" marR="87038" marT="43519" marB="43519" anchor="ctr">
                    <a:lnL>
                      <a:noFill/>
                    </a:lnL>
                    <a:lnR>
                      <a:noFill/>
                    </a:lnR>
                    <a:lnT>
                      <a:noFill/>
                    </a:lnT>
                    <a:lnB>
                      <a:noFill/>
                    </a:lnB>
                  </a:tcPr>
                </a:tc>
                <a:tc>
                  <a:txBody>
                    <a:bodyPr/>
                    <a:lstStyle/>
                    <a:p>
                      <a:r>
                        <a:rPr lang="en-US" sz="3200" kern="1200">
                          <a:solidFill>
                            <a:schemeClr val="tx1"/>
                          </a:solidFill>
                          <a:latin typeface="+mn-lt"/>
                          <a:ea typeface="+mn-ea"/>
                          <a:cs typeface="+mn-cs"/>
                        </a:rPr>
                        <a:t>Splits string into parts</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trim()</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Removes extra spaces</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isEmpty()</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Checks whether string is empty</a:t>
                      </a:r>
                    </a:p>
                  </a:txBody>
                  <a:tcPr marL="87038" marR="87038" marT="43519" marB="43519" anchor="ctr">
                    <a:lnL>
                      <a:noFill/>
                    </a:lnL>
                    <a:lnR>
                      <a:noFill/>
                    </a:lnR>
                    <a:lnT>
                      <a:noFill/>
                    </a:lnT>
                    <a:lnB>
                      <a:noFill/>
                    </a:lnB>
                  </a:tcPr>
                </a:tc>
              </a:tr>
              <a:tr h="543633">
                <a:tc>
                  <a:txBody>
                    <a:bodyPr/>
                    <a:lstStyle/>
                    <a:p>
                      <a:r>
                        <a:rPr lang="en-US" sz="3200" kern="1200" dirty="0" err="1">
                          <a:solidFill>
                            <a:schemeClr val="tx1"/>
                          </a:solidFill>
                          <a:latin typeface="+mn-lt"/>
                          <a:ea typeface="+mn-ea"/>
                          <a:cs typeface="+mn-cs"/>
                        </a:rPr>
                        <a:t>valueOf</a:t>
                      </a:r>
                      <a:r>
                        <a:rPr lang="en-US" sz="3200" kern="1200" dirty="0">
                          <a:solidFill>
                            <a:schemeClr val="tx1"/>
                          </a:solidFill>
                          <a:latin typeface="+mn-lt"/>
                          <a:ea typeface="+mn-ea"/>
                          <a:cs typeface="+mn-cs"/>
                        </a:rPr>
                        <a:t>()</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Converts data type into string</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toString()</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Converts object into string</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matches()</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Checks pattern matching</a:t>
                      </a:r>
                    </a:p>
                  </a:txBody>
                  <a:tcPr marL="87038" marR="87038" marT="43519" marB="43519" anchor="ctr">
                    <a:lnL>
                      <a:noFill/>
                    </a:lnL>
                    <a:lnR>
                      <a:noFill/>
                    </a:lnR>
                    <a:lnT>
                      <a:noFill/>
                    </a:lnT>
                    <a:lnB>
                      <a:noFill/>
                    </a:lnB>
                  </a:tcPr>
                </a:tc>
              </a:tr>
              <a:tr h="543633">
                <a:tc>
                  <a:txBody>
                    <a:bodyPr/>
                    <a:lstStyle/>
                    <a:p>
                      <a:r>
                        <a:rPr lang="en-US" sz="3200" kern="1200" dirty="0">
                          <a:solidFill>
                            <a:schemeClr val="tx1"/>
                          </a:solidFill>
                          <a:latin typeface="+mn-lt"/>
                          <a:ea typeface="+mn-ea"/>
                          <a:cs typeface="+mn-cs"/>
                        </a:rPr>
                        <a:t>join()</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Joins multiple strings</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replaceAll()</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Replaces all matching text</a:t>
                      </a:r>
                    </a:p>
                  </a:txBody>
                  <a:tcPr marL="87038" marR="87038" marT="43519" marB="43519" anchor="ctr">
                    <a:lnL>
                      <a:noFill/>
                    </a:lnL>
                    <a:lnR>
                      <a:noFill/>
                    </a:lnR>
                    <a:lnT>
                      <a:noFill/>
                    </a:lnT>
                    <a:lnB>
                      <a:noFill/>
                    </a:lnB>
                  </a:tcPr>
                </a:tc>
              </a:tr>
              <a:tr h="543633">
                <a:tc>
                  <a:txBody>
                    <a:bodyPr/>
                    <a:lstStyle/>
                    <a:p>
                      <a:r>
                        <a:rPr lang="en-US" sz="3200" kern="1200">
                          <a:solidFill>
                            <a:schemeClr val="tx1"/>
                          </a:solidFill>
                          <a:latin typeface="+mn-lt"/>
                          <a:ea typeface="+mn-ea"/>
                          <a:cs typeface="+mn-cs"/>
                        </a:rPr>
                        <a:t>replaceFirst()</a:t>
                      </a:r>
                    </a:p>
                  </a:txBody>
                  <a:tcPr marL="87038" marR="87038" marT="43519" marB="43519" anchor="ctr">
                    <a:lnL>
                      <a:noFill/>
                    </a:lnL>
                    <a:lnR>
                      <a:noFill/>
                    </a:lnR>
                    <a:lnT>
                      <a:noFill/>
                    </a:lnT>
                    <a:lnB>
                      <a:noFill/>
                    </a:lnB>
                  </a:tcPr>
                </a:tc>
                <a:tc>
                  <a:txBody>
                    <a:bodyPr/>
                    <a:lstStyle/>
                    <a:p>
                      <a:r>
                        <a:rPr lang="en-US" sz="3200" kern="1200" dirty="0">
                          <a:solidFill>
                            <a:schemeClr val="tx1"/>
                          </a:solidFill>
                          <a:latin typeface="+mn-lt"/>
                          <a:ea typeface="+mn-ea"/>
                          <a:cs typeface="+mn-cs"/>
                        </a:rPr>
                        <a:t>Replaces first matching text</a:t>
                      </a:r>
                    </a:p>
                  </a:txBody>
                  <a:tcPr marL="87038" marR="87038" marT="43519" marB="43519" anchor="ctr">
                    <a:lnL>
                      <a:noFill/>
                    </a:lnL>
                    <a:lnR>
                      <a:noFill/>
                    </a:lnR>
                    <a:lnT>
                      <a:noFill/>
                    </a:lnT>
                    <a:lnB>
                      <a:noFill/>
                    </a:lnB>
                  </a:tcPr>
                </a:tc>
              </a:tr>
            </a:tbl>
          </a:graphicData>
        </a:graphic>
      </p:graphicFrame>
    </p:spTree>
    <p:extLst>
      <p:ext uri="{BB962C8B-B14F-4D97-AF65-F5344CB8AC3E}">
        <p14:creationId xmlns:p14="http://schemas.microsoft.com/office/powerpoint/2010/main" val="17416409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program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723900"/>
            <a:ext cx="9448800" cy="9065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06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r>
              <a:rPr lang="en-US" sz="6000" b="1" dirty="0" err="1"/>
              <a:t>StringBuffer</a:t>
            </a:r>
            <a:r>
              <a:rPr lang="en-US" sz="6000" b="1" dirty="0"/>
              <a:t> in Java</a:t>
            </a:r>
          </a:p>
        </p:txBody>
      </p:sp>
      <p:sp>
        <p:nvSpPr>
          <p:cNvPr id="9" name="TextBox 9"/>
          <p:cNvSpPr txBox="1"/>
          <p:nvPr/>
        </p:nvSpPr>
        <p:spPr>
          <a:xfrm>
            <a:off x="1143000" y="2284809"/>
            <a:ext cx="15537446" cy="7755969"/>
          </a:xfrm>
          <a:prstGeom prst="rect">
            <a:avLst/>
          </a:prstGeom>
        </p:spPr>
        <p:txBody>
          <a:bodyPr wrap="square" lIns="0" tIns="0" rIns="0" bIns="0" rtlCol="0" anchor="t">
            <a:spAutoFit/>
          </a:bodyPr>
          <a:lstStyle/>
          <a:p>
            <a:r>
              <a:rPr lang="en-US" sz="3600" dirty="0" err="1" smtClean="0"/>
              <a:t>StringBuffer</a:t>
            </a:r>
            <a:r>
              <a:rPr lang="en-US" sz="3600" dirty="0" smtClean="0"/>
              <a:t> </a:t>
            </a:r>
            <a:r>
              <a:rPr lang="en-US" sz="3600" dirty="0"/>
              <a:t>is a class in Java used to create mutable </a:t>
            </a:r>
            <a:r>
              <a:rPr lang="en-US" sz="3600" dirty="0" smtClean="0"/>
              <a:t>strings. Mutable </a:t>
            </a:r>
            <a:r>
              <a:rPr lang="en-US" sz="3600" dirty="0"/>
              <a:t>means the content of the string can be changed without creating a new object.</a:t>
            </a:r>
          </a:p>
          <a:p>
            <a:r>
              <a:rPr lang="en-US" sz="3600" dirty="0"/>
              <a:t>It is present in:</a:t>
            </a:r>
          </a:p>
          <a:p>
            <a:r>
              <a:rPr lang="en-US" sz="3600" dirty="0" err="1"/>
              <a:t>java.lang</a:t>
            </a:r>
            <a:r>
              <a:rPr lang="en-US" sz="3600" dirty="0"/>
              <a:t> </a:t>
            </a:r>
            <a:r>
              <a:rPr lang="en-US" sz="3600" dirty="0" smtClean="0"/>
              <a:t>package</a:t>
            </a:r>
          </a:p>
          <a:p>
            <a:r>
              <a:rPr lang="en-US" sz="3600" b="1" dirty="0"/>
              <a:t>Why </a:t>
            </a:r>
            <a:r>
              <a:rPr lang="en-US" sz="3600" b="1" dirty="0" err="1"/>
              <a:t>StringBuffer</a:t>
            </a:r>
            <a:r>
              <a:rPr lang="en-US" sz="3600" b="1" dirty="0"/>
              <a:t> is </a:t>
            </a:r>
            <a:r>
              <a:rPr lang="en-US" sz="3600" b="1" dirty="0" smtClean="0"/>
              <a:t>Used ????</a:t>
            </a:r>
            <a:endParaRPr lang="en-US" sz="3600" b="1" dirty="0"/>
          </a:p>
          <a:p>
            <a:r>
              <a:rPr lang="en-US" sz="3600" dirty="0"/>
              <a:t>Normal String objects are immutable.</a:t>
            </a:r>
          </a:p>
          <a:p>
            <a:r>
              <a:rPr lang="en-US" sz="3600" dirty="0" smtClean="0"/>
              <a:t>Example: String </a:t>
            </a:r>
            <a:r>
              <a:rPr lang="en-US" sz="3600" dirty="0"/>
              <a:t>s = "Java</a:t>
            </a:r>
            <a:r>
              <a:rPr lang="en-US" sz="3600" dirty="0" smtClean="0"/>
              <a:t>";</a:t>
            </a:r>
            <a:r>
              <a:rPr lang="en-US" sz="3600" dirty="0"/>
              <a:t/>
            </a:r>
            <a:br>
              <a:rPr lang="en-US" sz="3600" dirty="0"/>
            </a:br>
            <a:r>
              <a:rPr lang="en-US" sz="3600" dirty="0"/>
              <a:t>s = </a:t>
            </a:r>
            <a:r>
              <a:rPr lang="en-US" sz="3600" dirty="0" err="1"/>
              <a:t>s.concat</a:t>
            </a:r>
            <a:r>
              <a:rPr lang="en-US" sz="3600" dirty="0"/>
              <a:t>(" Programming");</a:t>
            </a:r>
          </a:p>
          <a:p>
            <a:r>
              <a:rPr lang="en-US" sz="3600" dirty="0"/>
              <a:t>A new object is created every time modification happens.</a:t>
            </a:r>
          </a:p>
          <a:p>
            <a:r>
              <a:rPr lang="en-US" sz="3600" dirty="0"/>
              <a:t>To avoid creating many objects and improve performance, Java provides:</a:t>
            </a:r>
          </a:p>
          <a:p>
            <a:r>
              <a:rPr lang="en-US" sz="3600" dirty="0" err="1" smtClean="0"/>
              <a:t>StringBuffer</a:t>
            </a:r>
            <a:endParaRPr lang="en-US" sz="3600" dirty="0" smtClean="0"/>
          </a:p>
          <a:p>
            <a:r>
              <a:rPr lang="en-US" sz="3600" b="1" dirty="0"/>
              <a:t>Creating </a:t>
            </a:r>
            <a:r>
              <a:rPr lang="en-US" sz="3600" b="1" dirty="0" err="1"/>
              <a:t>StringBuffer</a:t>
            </a:r>
            <a:r>
              <a:rPr lang="en-US" sz="3600" b="1" dirty="0"/>
              <a:t> Object</a:t>
            </a:r>
          </a:p>
          <a:p>
            <a:r>
              <a:rPr lang="en-US" sz="3600" b="1" dirty="0"/>
              <a:t>Syntax</a:t>
            </a:r>
          </a:p>
          <a:p>
            <a:r>
              <a:rPr lang="en-US" sz="3600" dirty="0" err="1"/>
              <a:t>StringBuffer</a:t>
            </a:r>
            <a:r>
              <a:rPr lang="en-US" sz="3600" dirty="0"/>
              <a:t> </a:t>
            </a:r>
            <a:r>
              <a:rPr lang="en-US" sz="3600" dirty="0" err="1"/>
              <a:t>sb</a:t>
            </a:r>
            <a:r>
              <a:rPr lang="en-US" sz="3600" dirty="0"/>
              <a:t> = new </a:t>
            </a:r>
            <a:r>
              <a:rPr lang="en-US" sz="3600" dirty="0" err="1"/>
              <a:t>StringBuffer</a:t>
            </a:r>
            <a:r>
              <a:rPr lang="en-US" sz="3600" dirty="0"/>
              <a:t>("Java</a:t>
            </a:r>
            <a:r>
              <a:rPr lang="en-US" sz="3600" dirty="0" smtClean="0"/>
              <a:t>");</a:t>
            </a:r>
            <a:endParaRPr lang="en-US" sz="3600" dirty="0"/>
          </a:p>
        </p:txBody>
      </p:sp>
    </p:spTree>
    <p:extLst>
      <p:ext uri="{BB962C8B-B14F-4D97-AF65-F5344CB8AC3E}">
        <p14:creationId xmlns:p14="http://schemas.microsoft.com/office/powerpoint/2010/main" val="21868505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804778" y="-6158019"/>
            <a:ext cx="1354671" cy="14935201"/>
            <a:chOff x="0" y="0"/>
            <a:chExt cx="284633" cy="778715"/>
          </a:xfrm>
          <a:solidFill>
            <a:schemeClr val="accent3">
              <a:lumMod val="20000"/>
              <a:lumOff val="80000"/>
            </a:schemeClr>
          </a:solidFill>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grpFill/>
            <a:ln w="38100">
              <a:solidFill>
                <a:schemeClr val="tx1"/>
              </a:solidFill>
            </a:ln>
          </p:spPr>
        </p:sp>
        <p:sp>
          <p:nvSpPr>
            <p:cNvPr id="4" name="TextBox 4"/>
            <p:cNvSpPr txBox="1"/>
            <p:nvPr/>
          </p:nvSpPr>
          <p:spPr>
            <a:xfrm>
              <a:off x="0" y="-38100"/>
              <a:ext cx="284633" cy="816815"/>
            </a:xfrm>
            <a:prstGeom prst="rect">
              <a:avLst/>
            </a:prstGeom>
            <a:grpFill/>
            <a:ln w="38100">
              <a:solidFill>
                <a:schemeClr val="tx1"/>
              </a:solidFill>
            </a:ln>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727" y="9465083"/>
            <a:ext cx="18297728" cy="821917"/>
            <a:chOff x="0" y="0"/>
            <a:chExt cx="5095428" cy="216472"/>
          </a:xfrm>
          <a:solidFill>
            <a:schemeClr val="accent3">
              <a:lumMod val="40000"/>
              <a:lumOff val="60000"/>
            </a:schemeClr>
          </a:solidFill>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grpFill/>
            <a:ln w="85725" cap="rnd">
              <a:solidFill>
                <a:srgbClr val="494848"/>
              </a:solidFill>
              <a:prstDash val="solid"/>
              <a:round/>
            </a:ln>
          </p:spPr>
        </p:sp>
        <p:sp>
          <p:nvSpPr>
            <p:cNvPr id="7" name="TextBox 7"/>
            <p:cNvSpPr txBox="1"/>
            <p:nvPr/>
          </p:nvSpPr>
          <p:spPr>
            <a:xfrm>
              <a:off x="0" y="-38100"/>
              <a:ext cx="5095428" cy="254572"/>
            </a:xfrm>
            <a:prstGeom prst="rect">
              <a:avLst/>
            </a:prstGeom>
            <a:grpFill/>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42999" y="847917"/>
            <a:ext cx="15163801" cy="923330"/>
          </a:xfrm>
          <a:prstGeom prst="rect">
            <a:avLst/>
          </a:prstGeom>
        </p:spPr>
        <p:txBody>
          <a:bodyPr wrap="square" lIns="0" tIns="0" rIns="0" bIns="0" rtlCol="0" anchor="t">
            <a:spAutoFit/>
          </a:bodyPr>
          <a:lstStyle/>
          <a:p>
            <a:r>
              <a:rPr lang="en-US" sz="6000" b="1" dirty="0" err="1"/>
              <a:t>StringBuffer</a:t>
            </a:r>
            <a:r>
              <a:rPr lang="en-US" sz="6000" b="1" dirty="0"/>
              <a:t> in Java</a:t>
            </a:r>
          </a:p>
        </p:txBody>
      </p:sp>
      <p:sp>
        <p:nvSpPr>
          <p:cNvPr id="9" name="TextBox 9"/>
          <p:cNvSpPr txBox="1"/>
          <p:nvPr/>
        </p:nvSpPr>
        <p:spPr>
          <a:xfrm>
            <a:off x="1142999" y="2284809"/>
            <a:ext cx="15537445" cy="553998"/>
          </a:xfrm>
          <a:prstGeom prst="rect">
            <a:avLst/>
          </a:prstGeom>
        </p:spPr>
        <p:txBody>
          <a:bodyPr wrap="square" lIns="0" tIns="0" rIns="0" bIns="0" rtlCol="0" anchor="t">
            <a:spAutoFit/>
          </a:bodyPr>
          <a:lstStyle/>
          <a:p>
            <a:r>
              <a:rPr lang="en-US" sz="3600" dirty="0" smtClean="0"/>
              <a:t> </a:t>
            </a:r>
            <a:endParaRPr lang="en-US" sz="3600" dirty="0"/>
          </a:p>
        </p:txBody>
      </p:sp>
      <p:graphicFrame>
        <p:nvGraphicFramePr>
          <p:cNvPr id="10" name="Table 9"/>
          <p:cNvGraphicFramePr>
            <a:graphicFrameLocks noGrp="1"/>
          </p:cNvGraphicFramePr>
          <p:nvPr>
            <p:extLst>
              <p:ext uri="{D42A27DB-BD31-4B8C-83A1-F6EECF244321}">
                <p14:modId xmlns:p14="http://schemas.microsoft.com/office/powerpoint/2010/main" val="3599126156"/>
              </p:ext>
            </p:extLst>
          </p:nvPr>
        </p:nvGraphicFramePr>
        <p:xfrm>
          <a:off x="1032345" y="2543166"/>
          <a:ext cx="15648098" cy="6410338"/>
        </p:xfrm>
        <a:graphic>
          <a:graphicData uri="http://schemas.openxmlformats.org/drawingml/2006/table">
            <a:tbl>
              <a:tblPr/>
              <a:tblGrid>
                <a:gridCol w="7824049"/>
                <a:gridCol w="7824049"/>
              </a:tblGrid>
              <a:tr h="582758">
                <a:tc>
                  <a:txBody>
                    <a:bodyPr/>
                    <a:lstStyle/>
                    <a:p>
                      <a:pPr marL="0" algn="l" defTabSz="914400" rtl="0" eaLnBrk="1" latinLnBrk="0" hangingPunct="1"/>
                      <a:r>
                        <a:rPr lang="en-US" sz="3200" b="1" u="sng" kern="1200" dirty="0">
                          <a:solidFill>
                            <a:schemeClr val="tx1"/>
                          </a:solidFill>
                          <a:latin typeface="+mn-lt"/>
                          <a:ea typeface="+mn-ea"/>
                          <a:cs typeface="+mn-cs"/>
                        </a:rPr>
                        <a:t>Method</a:t>
                      </a:r>
                    </a:p>
                  </a:txBody>
                  <a:tcPr anchor="ctr">
                    <a:lnL>
                      <a:noFill/>
                    </a:lnL>
                    <a:lnR>
                      <a:noFill/>
                    </a:lnR>
                    <a:lnT>
                      <a:noFill/>
                    </a:lnT>
                    <a:lnB>
                      <a:noFill/>
                    </a:lnB>
                  </a:tcPr>
                </a:tc>
                <a:tc>
                  <a:txBody>
                    <a:bodyPr/>
                    <a:lstStyle/>
                    <a:p>
                      <a:pPr marL="0" algn="l" defTabSz="914400" rtl="0" eaLnBrk="1" latinLnBrk="0" hangingPunct="1"/>
                      <a:r>
                        <a:rPr lang="en-US" sz="3200" b="1" u="sng" kern="1200" dirty="0">
                          <a:solidFill>
                            <a:schemeClr val="tx1"/>
                          </a:solidFill>
                          <a:latin typeface="+mn-lt"/>
                          <a:ea typeface="+mn-ea"/>
                          <a:cs typeface="+mn-cs"/>
                        </a:rPr>
                        <a:t>Purpose</a:t>
                      </a:r>
                    </a:p>
                  </a:txBody>
                  <a:tcPr anchor="ctr">
                    <a:lnL>
                      <a:noFill/>
                    </a:lnL>
                    <a:lnR>
                      <a:noFill/>
                    </a:lnR>
                    <a:lnT>
                      <a:noFill/>
                    </a:lnT>
                    <a:lnB>
                      <a:noFill/>
                    </a:lnB>
                  </a:tcPr>
                </a:tc>
              </a:tr>
              <a:tr h="582758">
                <a:tc>
                  <a:txBody>
                    <a:bodyPr/>
                    <a:lstStyle/>
                    <a:p>
                      <a:pPr marL="0" algn="l" defTabSz="914400" rtl="0" eaLnBrk="1" latinLnBrk="0" hangingPunct="1"/>
                      <a:r>
                        <a:rPr lang="en-US" sz="3200" kern="1200" dirty="0">
                          <a:solidFill>
                            <a:schemeClr val="tx1"/>
                          </a:solidFill>
                          <a:latin typeface="+mn-lt"/>
                          <a:ea typeface="+mn-ea"/>
                          <a:cs typeface="+mn-cs"/>
                        </a:rPr>
                        <a:t>append()</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Adds text at end</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insert()</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Inserts text</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replace()</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Replaces text</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delete()</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Deletes part of string</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reverse()</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Reverses string</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capacity()</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Returns buffer capacity</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length()</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Returns length</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charAt()</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Returns character</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setCharAt()</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Changes character</a:t>
                      </a:r>
                    </a:p>
                  </a:txBody>
                  <a:tcPr anchor="ctr">
                    <a:lnL>
                      <a:noFill/>
                    </a:lnL>
                    <a:lnR>
                      <a:noFill/>
                    </a:lnR>
                    <a:lnT>
                      <a:noFill/>
                    </a:lnT>
                    <a:lnB>
                      <a:noFill/>
                    </a:lnB>
                  </a:tcPr>
                </a:tc>
              </a:tr>
              <a:tr h="582758">
                <a:tc>
                  <a:txBody>
                    <a:bodyPr/>
                    <a:lstStyle/>
                    <a:p>
                      <a:pPr marL="0" algn="l" defTabSz="914400" rtl="0" eaLnBrk="1" latinLnBrk="0" hangingPunct="1"/>
                      <a:r>
                        <a:rPr lang="en-US" sz="3200" kern="1200">
                          <a:solidFill>
                            <a:schemeClr val="tx1"/>
                          </a:solidFill>
                          <a:latin typeface="+mn-lt"/>
                          <a:ea typeface="+mn-ea"/>
                          <a:cs typeface="+mn-cs"/>
                        </a:rPr>
                        <a:t>substring()</a:t>
                      </a:r>
                    </a:p>
                  </a:txBody>
                  <a:tcPr anchor="ctr">
                    <a:lnL>
                      <a:noFill/>
                    </a:lnL>
                    <a:lnR>
                      <a:noFill/>
                    </a:lnR>
                    <a:lnT>
                      <a:noFill/>
                    </a:lnT>
                    <a:lnB>
                      <a:noFill/>
                    </a:lnB>
                  </a:tcPr>
                </a:tc>
                <a:tc>
                  <a:txBody>
                    <a:bodyPr/>
                    <a:lstStyle/>
                    <a:p>
                      <a:pPr marL="0" algn="l" defTabSz="914400" rtl="0" eaLnBrk="1" latinLnBrk="0" hangingPunct="1"/>
                      <a:r>
                        <a:rPr lang="en-US" sz="3200" kern="1200" dirty="0">
                          <a:solidFill>
                            <a:schemeClr val="tx1"/>
                          </a:solidFill>
                          <a:latin typeface="+mn-lt"/>
                          <a:ea typeface="+mn-ea"/>
                          <a:cs typeface="+mn-cs"/>
                        </a:rPr>
                        <a:t>Extracts substring</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6646407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Desktop\program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71500"/>
            <a:ext cx="10134600" cy="9400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352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992</Words>
  <Application>Microsoft Office PowerPoint</Application>
  <PresentationFormat>Custom</PresentationFormat>
  <Paragraphs>185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 Paneuropean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38</cp:revision>
  <dcterms:created xsi:type="dcterms:W3CDTF">2006-08-16T00:00:00Z</dcterms:created>
  <dcterms:modified xsi:type="dcterms:W3CDTF">2026-05-08T04:45:28Z</dcterms:modified>
  <dc:identifier>DAGyNv6r3lM</dc:identifier>
</cp:coreProperties>
</file>