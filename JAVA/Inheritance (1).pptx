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9"/>
  </p:notesMasterIdLst>
  <p:sldIdLst>
    <p:sldId id="256" r:id="rId2"/>
    <p:sldId id="276" r:id="rId3"/>
    <p:sldId id="259" r:id="rId4"/>
    <p:sldId id="284" r:id="rId5"/>
    <p:sldId id="275" r:id="rId6"/>
    <p:sldId id="278" r:id="rId7"/>
    <p:sldId id="279" r:id="rId8"/>
    <p:sldId id="285" r:id="rId9"/>
    <p:sldId id="286" r:id="rId10"/>
    <p:sldId id="280" r:id="rId11"/>
    <p:sldId id="287" r:id="rId12"/>
    <p:sldId id="288" r:id="rId13"/>
    <p:sldId id="281" r:id="rId14"/>
    <p:sldId id="289" r:id="rId15"/>
    <p:sldId id="290" r:id="rId16"/>
    <p:sldId id="282" r:id="rId17"/>
    <p:sldId id="291" r:id="rId18"/>
    <p:sldId id="265" r:id="rId19"/>
    <p:sldId id="292" r:id="rId20"/>
    <p:sldId id="267" r:id="rId21"/>
    <p:sldId id="263" r:id="rId22"/>
    <p:sldId id="293" r:id="rId23"/>
    <p:sldId id="294" r:id="rId24"/>
    <p:sldId id="277" r:id="rId25"/>
    <p:sldId id="295" r:id="rId26"/>
    <p:sldId id="296" r:id="rId27"/>
    <p:sldId id="283" r:id="rId28"/>
    <p:sldId id="297" r:id="rId29"/>
    <p:sldId id="298" r:id="rId30"/>
    <p:sldId id="264" r:id="rId31"/>
    <p:sldId id="299" r:id="rId32"/>
    <p:sldId id="300" r:id="rId33"/>
    <p:sldId id="274" r:id="rId34"/>
    <p:sldId id="302" r:id="rId35"/>
    <p:sldId id="304" r:id="rId36"/>
    <p:sldId id="305" r:id="rId37"/>
    <p:sldId id="306" r:id="rId38"/>
    <p:sldId id="301" r:id="rId39"/>
    <p:sldId id="303" r:id="rId40"/>
    <p:sldId id="307" r:id="rId41"/>
    <p:sldId id="308" r:id="rId42"/>
    <p:sldId id="311" r:id="rId43"/>
    <p:sldId id="312" r:id="rId44"/>
    <p:sldId id="313" r:id="rId45"/>
    <p:sldId id="314" r:id="rId46"/>
    <p:sldId id="309" r:id="rId47"/>
    <p:sldId id="310" r:id="rId48"/>
  </p:sldIdLst>
  <p:sldSz cx="18288000" cy="10287000"/>
  <p:notesSz cx="6858000" cy="9144000"/>
  <p:embeddedFontLst>
    <p:embeddedFont>
      <p:font typeface="Consolas" panose="020B0609020204030204" pitchFamily="49" charset="0"/>
      <p:regular r:id="rId50"/>
      <p:bold r:id="rId51"/>
      <p:italic r:id="rId52"/>
      <p:boldItalic r:id="rId53"/>
    </p:embeddedFont>
    <p:embeddedFont>
      <p:font typeface="Calibri" panose="020F0502020204030204" pitchFamily="34" charset="0"/>
      <p:regular r:id="rId54"/>
      <p:bold r:id="rId55"/>
      <p:italic r:id="rId56"/>
      <p:boldItalic r:id="rId57"/>
    </p:embeddedFont>
    <p:embeddedFont>
      <p:font typeface="Century Gothic Paneuropean Bold" panose="020B0604020202020204" charset="0"/>
      <p:regular r:id="rId58"/>
    </p:embeddedFont>
    <p:embeddedFont>
      <p:font typeface="Century Gothic Paneuropean" panose="020B0604020202020204" charset="0"/>
      <p:regular r:id="rId5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22" autoAdjust="0"/>
  </p:normalViewPr>
  <p:slideViewPr>
    <p:cSldViewPr>
      <p:cViewPr>
        <p:scale>
          <a:sx n="49" d="100"/>
          <a:sy n="49" d="100"/>
        </p:scale>
        <p:origin x="-600" y="-2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1.fntdata"/><Relationship Id="rId55" Type="http://schemas.openxmlformats.org/officeDocument/2006/relationships/font" Target="fonts/font6.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font" Target="fonts/font5.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font" Target="fonts/font8.fntdata"/><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EF0E41E-E6F7-419B-B463-3E5498820190}" type="datetimeFigureOut">
              <a:rPr lang="en-US" smtClean="0"/>
              <a:t>4/8/2026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F9CB4D5-4C1F-4C51-BCB5-B54860A7AF40}" type="slidenum">
              <a:rPr lang="en-US" smtClean="0"/>
              <a:t>‹#›</a:t>
            </a:fld>
            <a:endParaRPr lang="en-US" dirty="0"/>
          </a:p>
        </p:txBody>
      </p:sp>
    </p:spTree>
    <p:extLst>
      <p:ext uri="{BB962C8B-B14F-4D97-AF65-F5344CB8AC3E}">
        <p14:creationId xmlns:p14="http://schemas.microsoft.com/office/powerpoint/2010/main" val="369234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9CB4D5-4C1F-4C51-BCB5-B54860A7AF40}" type="slidenum">
              <a:rPr lang="en-US" smtClean="0"/>
              <a:t>28</a:t>
            </a:fld>
            <a:endParaRPr lang="en-US" dirty="0"/>
          </a:p>
        </p:txBody>
      </p:sp>
    </p:spTree>
    <p:extLst>
      <p:ext uri="{BB962C8B-B14F-4D97-AF65-F5344CB8AC3E}">
        <p14:creationId xmlns:p14="http://schemas.microsoft.com/office/powerpoint/2010/main" val="14318465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9CB4D5-4C1F-4C51-BCB5-B54860A7AF40}" type="slidenum">
              <a:rPr lang="en-US" smtClean="0"/>
              <a:t>29</a:t>
            </a:fld>
            <a:endParaRPr lang="en-US" dirty="0"/>
          </a:p>
        </p:txBody>
      </p:sp>
    </p:spTree>
    <p:extLst>
      <p:ext uri="{BB962C8B-B14F-4D97-AF65-F5344CB8AC3E}">
        <p14:creationId xmlns:p14="http://schemas.microsoft.com/office/powerpoint/2010/main" val="1431846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4/8/2026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rot="10800000">
            <a:off x="0" y="0"/>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9727" y="3086100"/>
            <a:ext cx="18297728" cy="4424288"/>
          </a:xfrm>
          <a:prstGeom prst="rect">
            <a:avLst/>
          </a:prstGeom>
          <a:solidFill>
            <a:schemeClr val="accent6">
              <a:lumMod val="40000"/>
              <a:lumOff val="60000"/>
            </a:schemeClr>
          </a:solidFill>
        </p:spPr>
        <p:txBody>
          <a:bodyPr wrap="square" lIns="0" tIns="0" rIns="0" bIns="0" rtlCol="0" anchor="t">
            <a:spAutoFit/>
          </a:bodyPr>
          <a:lstStyle/>
          <a:p>
            <a:pPr algn="ctr">
              <a:lnSpc>
                <a:spcPts val="11469"/>
              </a:lnSpc>
            </a:pPr>
            <a:endParaRPr lang="en-US" sz="8800" b="1" dirty="0" smtClean="0">
              <a:solidFill>
                <a:schemeClr val="accent2">
                  <a:lumMod val="75000"/>
                </a:schemeClr>
              </a:solidFill>
              <a:latin typeface="Century Gothic Paneuropean Bold"/>
              <a:ea typeface="Century Gothic Paneuropean Bold"/>
              <a:cs typeface="Century Gothic Paneuropean Bold"/>
              <a:sym typeface="Century Gothic Paneuropean Bold"/>
            </a:endParaRPr>
          </a:p>
          <a:p>
            <a:pPr algn="ctr">
              <a:lnSpc>
                <a:spcPts val="11469"/>
              </a:lnSpc>
            </a:pPr>
            <a:r>
              <a:rPr lang="en-US" sz="9600" b="1" dirty="0" smtClean="0">
                <a:solidFill>
                  <a:schemeClr val="accent2">
                    <a:lumMod val="75000"/>
                  </a:schemeClr>
                </a:solidFill>
                <a:latin typeface="Century Gothic Paneuropean Bold"/>
                <a:ea typeface="Century Gothic Paneuropean Bold"/>
                <a:cs typeface="Century Gothic Paneuropean Bold"/>
                <a:sym typeface="Century Gothic Paneuropean Bold"/>
              </a:rPr>
              <a:t>INHERITANCE</a:t>
            </a:r>
          </a:p>
          <a:p>
            <a:pPr algn="ctr">
              <a:lnSpc>
                <a:spcPts val="11469"/>
              </a:lnSpc>
            </a:pPr>
            <a:endParaRPr lang="en-US" sz="8800" b="1" dirty="0">
              <a:solidFill>
                <a:schemeClr val="accent2">
                  <a:lumMod val="75000"/>
                </a:schemeClr>
              </a:solidFill>
              <a:latin typeface="Century Gothic Paneuropean Bold"/>
              <a:ea typeface="Century Gothic Paneuropean Bold"/>
              <a:cs typeface="Century Gothic Paneuropean Bold"/>
              <a:sym typeface="Century Gothic Paneuropean Bold"/>
            </a:endParaRPr>
          </a:p>
        </p:txBody>
      </p:sp>
      <p:grpSp>
        <p:nvGrpSpPr>
          <p:cNvPr id="10" name="Group 5"/>
          <p:cNvGrpSpPr/>
          <p:nvPr/>
        </p:nvGrpSpPr>
        <p:grpSpPr>
          <a:xfrm>
            <a:off x="0" y="9495077"/>
            <a:ext cx="18297728" cy="821917"/>
            <a:chOff x="0" y="0"/>
            <a:chExt cx="5095428" cy="216472"/>
          </a:xfrm>
          <a:solidFill>
            <a:schemeClr val="accent3">
              <a:lumMod val="40000"/>
              <a:lumOff val="60000"/>
            </a:schemeClr>
          </a:solidFill>
        </p:grpSpPr>
        <p:sp>
          <p:nvSpPr>
            <p:cNvPr id="11"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12"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INHERITANCE BASICS</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142999" y="2634574"/>
            <a:ext cx="15537445" cy="4924425"/>
          </a:xfrm>
          <a:prstGeom prst="rect">
            <a:avLst/>
          </a:prstGeom>
        </p:spPr>
        <p:txBody>
          <a:bodyPr wrap="square" lIns="0" tIns="0" rIns="0" bIns="0" rtlCol="0" anchor="t">
            <a:spAutoFit/>
          </a:bodyPr>
          <a:lstStyle/>
          <a:p>
            <a:pPr marL="571500" indent="-571500">
              <a:buFont typeface="Arial" panose="020B0604020202020204" pitchFamily="34" charset="0"/>
              <a:buChar char="•"/>
            </a:pPr>
            <a:r>
              <a:rPr lang="en-US" sz="4000" b="1" dirty="0" smtClean="0"/>
              <a:t>Inheritance </a:t>
            </a:r>
            <a:r>
              <a:rPr lang="en-US" sz="4000" b="1" dirty="0"/>
              <a:t>in java </a:t>
            </a:r>
            <a:r>
              <a:rPr lang="en-US" sz="4000" dirty="0"/>
              <a:t>is a mechanism in which </a:t>
            </a:r>
            <a:r>
              <a:rPr lang="en-US" sz="4000" dirty="0" smtClean="0"/>
              <a:t>one class </a:t>
            </a:r>
            <a:r>
              <a:rPr lang="en-US" sz="4000" dirty="0"/>
              <a:t>acquires all the properties and behaviors of parent </a:t>
            </a:r>
            <a:r>
              <a:rPr lang="en-US" sz="4000" dirty="0" smtClean="0"/>
              <a:t>class. </a:t>
            </a:r>
            <a:endParaRPr lang="en-US" sz="4000" dirty="0"/>
          </a:p>
          <a:p>
            <a:pPr marL="571500" indent="-571500">
              <a:buFont typeface="Arial" panose="020B0604020202020204" pitchFamily="34" charset="0"/>
              <a:buChar char="•"/>
            </a:pPr>
            <a:r>
              <a:rPr lang="en-US" sz="4000" dirty="0" smtClean="0"/>
              <a:t>The </a:t>
            </a:r>
            <a:r>
              <a:rPr lang="en-US" sz="4000" dirty="0"/>
              <a:t>idea behind inheritance in java is that you can create new classes that are built upon existing classes. When you inherit from an existing class, you can reuse methods and fields of parent class, and you can add new methods and fields also. </a:t>
            </a:r>
          </a:p>
          <a:p>
            <a:pPr marL="571500" indent="-571500">
              <a:buFont typeface="Arial" panose="020B0604020202020204" pitchFamily="34" charset="0"/>
              <a:buChar char="•"/>
            </a:pPr>
            <a:r>
              <a:rPr lang="en-US" sz="4000" dirty="0" smtClean="0"/>
              <a:t>Inheritance </a:t>
            </a:r>
            <a:r>
              <a:rPr lang="en-US" sz="4000" dirty="0"/>
              <a:t>represents the </a:t>
            </a:r>
            <a:r>
              <a:rPr lang="en-US" sz="4000" b="1" dirty="0"/>
              <a:t>IS-A relationship</a:t>
            </a:r>
            <a:r>
              <a:rPr lang="en-US" sz="4000" dirty="0"/>
              <a:t>, also known as </a:t>
            </a:r>
            <a:r>
              <a:rPr lang="en-US" sz="4000" i="1" dirty="0"/>
              <a:t>parent-child </a:t>
            </a:r>
            <a:r>
              <a:rPr lang="en-US" sz="4000" dirty="0"/>
              <a:t>relationship. </a:t>
            </a:r>
          </a:p>
        </p:txBody>
      </p:sp>
    </p:spTree>
    <p:extLst>
      <p:ext uri="{BB962C8B-B14F-4D97-AF65-F5344CB8AC3E}">
        <p14:creationId xmlns:p14="http://schemas.microsoft.com/office/powerpoint/2010/main" val="59802841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INHERITANCE BASICS</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142999" y="2634574"/>
            <a:ext cx="15537445" cy="6771084"/>
          </a:xfrm>
          <a:prstGeom prst="rect">
            <a:avLst/>
          </a:prstGeom>
        </p:spPr>
        <p:txBody>
          <a:bodyPr wrap="square" lIns="0" tIns="0" rIns="0" bIns="0" rtlCol="0" anchor="t">
            <a:spAutoFit/>
          </a:bodyPr>
          <a:lstStyle/>
          <a:p>
            <a:r>
              <a:rPr lang="en-US" sz="4000" b="1" dirty="0"/>
              <a:t>Terms used in Inheritance</a:t>
            </a:r>
          </a:p>
          <a:p>
            <a:r>
              <a:rPr lang="en-US" sz="4000" dirty="0"/>
              <a:t>o </a:t>
            </a:r>
            <a:r>
              <a:rPr lang="en-US" sz="4000" b="1" dirty="0"/>
              <a:t>Class: </a:t>
            </a:r>
            <a:r>
              <a:rPr lang="en-US" sz="4000" dirty="0"/>
              <a:t>A class is a group of objects which have common properties. It is a</a:t>
            </a:r>
          </a:p>
          <a:p>
            <a:r>
              <a:rPr lang="en-US" sz="4000" dirty="0"/>
              <a:t>template or blueprint from which objects are created.</a:t>
            </a:r>
          </a:p>
          <a:p>
            <a:r>
              <a:rPr lang="en-US" sz="4000" dirty="0"/>
              <a:t>o </a:t>
            </a:r>
            <a:r>
              <a:rPr lang="en-US" sz="4000" b="1" dirty="0"/>
              <a:t>Sub Class/Child Class: </a:t>
            </a:r>
            <a:r>
              <a:rPr lang="en-US" sz="4000" dirty="0"/>
              <a:t>Subclass is a class which inherits the other class. It</a:t>
            </a:r>
          </a:p>
          <a:p>
            <a:r>
              <a:rPr lang="en-US" sz="4000" dirty="0"/>
              <a:t>is also called a derived class, extended class, or child class.</a:t>
            </a:r>
          </a:p>
          <a:p>
            <a:r>
              <a:rPr lang="en-US" sz="4000" dirty="0"/>
              <a:t>o </a:t>
            </a:r>
            <a:r>
              <a:rPr lang="en-US" sz="4000" b="1" dirty="0"/>
              <a:t>Super Class/Parent Class: </a:t>
            </a:r>
            <a:r>
              <a:rPr lang="en-US" sz="4000" dirty="0"/>
              <a:t>Superclass is the class from where a subclass</a:t>
            </a:r>
          </a:p>
          <a:p>
            <a:r>
              <a:rPr lang="en-US" sz="4000" dirty="0"/>
              <a:t>inherits the features. It is also called a base class or a parent class.</a:t>
            </a:r>
          </a:p>
          <a:p>
            <a:r>
              <a:rPr lang="en-US" sz="4000" dirty="0"/>
              <a:t>o </a:t>
            </a:r>
            <a:r>
              <a:rPr lang="en-US" sz="4000" b="1" dirty="0"/>
              <a:t>Reusability: </a:t>
            </a:r>
            <a:r>
              <a:rPr lang="en-US" sz="4000" dirty="0"/>
              <a:t>As the name </a:t>
            </a:r>
            <a:r>
              <a:rPr lang="en-US" sz="4000" dirty="0" smtClean="0"/>
              <a:t>specifies</a:t>
            </a:r>
            <a:r>
              <a:rPr lang="en-US" sz="4000" dirty="0"/>
              <a:t>, reusability is a mechanism which</a:t>
            </a:r>
          </a:p>
          <a:p>
            <a:r>
              <a:rPr lang="en-US" sz="4000" dirty="0"/>
              <a:t>facilitates you to reuse the </a:t>
            </a:r>
            <a:r>
              <a:rPr lang="en-US" sz="4000" dirty="0" smtClean="0"/>
              <a:t>fields </a:t>
            </a:r>
            <a:r>
              <a:rPr lang="en-US" sz="4000" dirty="0"/>
              <a:t>and methods of the existing class when </a:t>
            </a:r>
            <a:r>
              <a:rPr lang="en-US" sz="4000" dirty="0" smtClean="0"/>
              <a:t>you create </a:t>
            </a:r>
            <a:r>
              <a:rPr lang="en-US" sz="4000" dirty="0"/>
              <a:t>a new class. You can use the same </a:t>
            </a:r>
            <a:r>
              <a:rPr lang="en-US" sz="4000" dirty="0" smtClean="0"/>
              <a:t>fields </a:t>
            </a:r>
            <a:r>
              <a:rPr lang="en-US" sz="4000" dirty="0"/>
              <a:t>and methods already </a:t>
            </a:r>
            <a:r>
              <a:rPr lang="en-US" sz="4000" dirty="0" smtClean="0"/>
              <a:t>defined in </a:t>
            </a:r>
            <a:r>
              <a:rPr lang="en-US" sz="4000" dirty="0"/>
              <a:t>the previous class.</a:t>
            </a:r>
          </a:p>
        </p:txBody>
      </p:sp>
    </p:spTree>
    <p:extLst>
      <p:ext uri="{BB962C8B-B14F-4D97-AF65-F5344CB8AC3E}">
        <p14:creationId xmlns:p14="http://schemas.microsoft.com/office/powerpoint/2010/main" val="35980694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INHERITANCE BASICS</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713390" y="2292915"/>
            <a:ext cx="15967055" cy="8002191"/>
          </a:xfrm>
          <a:prstGeom prst="rect">
            <a:avLst/>
          </a:prstGeom>
        </p:spPr>
        <p:txBody>
          <a:bodyPr wrap="square" lIns="0" tIns="0" rIns="0" bIns="0" rtlCol="0" anchor="t">
            <a:spAutoFit/>
          </a:bodyPr>
          <a:lstStyle/>
          <a:p>
            <a:pPr marL="571500" indent="-571500" fontAlgn="base">
              <a:buFont typeface="Arial" panose="020B0604020202020204" pitchFamily="34" charset="0"/>
              <a:buChar char="•"/>
            </a:pPr>
            <a:r>
              <a:rPr lang="en-US" sz="4000" b="1" dirty="0" smtClean="0"/>
              <a:t>Code </a:t>
            </a:r>
            <a:r>
              <a:rPr lang="en-US" sz="4000" b="1" dirty="0"/>
              <a:t>Reusability:</a:t>
            </a:r>
            <a:r>
              <a:rPr lang="en-US" sz="4000" dirty="0"/>
              <a:t> Inheritance allows for code reuse and reduces the amount of code that needs to be written. The subclass can reuse the properties and methods of the superclass, reducing duplication of code.</a:t>
            </a:r>
          </a:p>
          <a:p>
            <a:pPr marL="571500" indent="-571500" fontAlgn="base">
              <a:buFont typeface="Arial" panose="020B0604020202020204" pitchFamily="34" charset="0"/>
              <a:buChar char="•"/>
            </a:pPr>
            <a:r>
              <a:rPr lang="en-US" sz="4000" b="1" dirty="0"/>
              <a:t>Abstraction: </a:t>
            </a:r>
            <a:r>
              <a:rPr lang="en-US" sz="4000" dirty="0"/>
              <a:t>Inheritance allows for the creation of abstract classes that define a common interface for a group of related classes. This promotes abstraction and encapsulation, making the code easier to maintain and extend.</a:t>
            </a:r>
          </a:p>
          <a:p>
            <a:pPr marL="571500" indent="-571500" fontAlgn="base">
              <a:buFont typeface="Arial" panose="020B0604020202020204" pitchFamily="34" charset="0"/>
              <a:buChar char="•"/>
            </a:pPr>
            <a:r>
              <a:rPr lang="en-US" sz="4000" b="1" dirty="0"/>
              <a:t>Class Hierarchy: </a:t>
            </a:r>
            <a:r>
              <a:rPr lang="en-US" sz="4000" dirty="0"/>
              <a:t>Inheritance allows for the creation of a class hierarchy, which can be used to model real-world objects and their relationships.</a:t>
            </a:r>
          </a:p>
          <a:p>
            <a:pPr marL="571500" indent="-571500" fontAlgn="base">
              <a:buFont typeface="Arial" panose="020B0604020202020204" pitchFamily="34" charset="0"/>
              <a:buChar char="•"/>
            </a:pPr>
            <a:r>
              <a:rPr lang="en-US" sz="4000" b="1" dirty="0"/>
              <a:t>Polymorphism: </a:t>
            </a:r>
            <a:r>
              <a:rPr lang="en-US" sz="4000" dirty="0"/>
              <a:t>Inheritance allows for polymorphism, which is the ability of an object to take on multiple forms. Subclasses can override the methods of the superclass, which allows them to change their behavior in different ways.</a:t>
            </a:r>
          </a:p>
        </p:txBody>
      </p:sp>
    </p:spTree>
    <p:extLst>
      <p:ext uri="{BB962C8B-B14F-4D97-AF65-F5344CB8AC3E}">
        <p14:creationId xmlns:p14="http://schemas.microsoft.com/office/powerpoint/2010/main" val="42469541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INHERITANCE BASICS</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142999" y="2634574"/>
            <a:ext cx="15537445" cy="6155531"/>
          </a:xfrm>
          <a:prstGeom prst="rect">
            <a:avLst/>
          </a:prstGeom>
        </p:spPr>
        <p:txBody>
          <a:bodyPr wrap="square" lIns="0" tIns="0" rIns="0" bIns="0" rtlCol="0" anchor="t">
            <a:spAutoFit/>
          </a:bodyPr>
          <a:lstStyle/>
          <a:p>
            <a:r>
              <a:rPr lang="en-US" sz="4000" b="1" dirty="0" smtClean="0"/>
              <a:t>Syntax </a:t>
            </a:r>
            <a:r>
              <a:rPr lang="en-US" sz="4000" b="1" dirty="0"/>
              <a:t>of Java Inheritance </a:t>
            </a:r>
            <a:endParaRPr lang="en-US" sz="4000" dirty="0"/>
          </a:p>
          <a:p>
            <a:r>
              <a:rPr lang="en-US" sz="4000" dirty="0"/>
              <a:t>class Subclass-name extends Superclass-name </a:t>
            </a:r>
          </a:p>
          <a:p>
            <a:r>
              <a:rPr lang="en-US" sz="4000" dirty="0"/>
              <a:t>{ </a:t>
            </a:r>
          </a:p>
          <a:p>
            <a:r>
              <a:rPr lang="en-US" sz="4000" dirty="0"/>
              <a:t>//methods and fields </a:t>
            </a:r>
          </a:p>
          <a:p>
            <a:r>
              <a:rPr lang="en-US" sz="4000" dirty="0"/>
              <a:t>} </a:t>
            </a:r>
          </a:p>
          <a:p>
            <a:r>
              <a:rPr lang="en-US" sz="4000" dirty="0"/>
              <a:t>•The </a:t>
            </a:r>
            <a:r>
              <a:rPr lang="en-US" sz="4000" b="1" dirty="0"/>
              <a:t>extends keyword </a:t>
            </a:r>
            <a:r>
              <a:rPr lang="en-US" sz="4000" dirty="0"/>
              <a:t>indicates that you are making a new class that derives from an existing class. The meaning of "extends" is to increase the functionality. </a:t>
            </a:r>
          </a:p>
          <a:p>
            <a:r>
              <a:rPr lang="en-US" sz="4000" dirty="0"/>
              <a:t>•In the terminology of Java, a class which is inherited is called parent or super class and the new class is called child or subclass. </a:t>
            </a:r>
          </a:p>
        </p:txBody>
      </p:sp>
    </p:spTree>
    <p:extLst>
      <p:ext uri="{BB962C8B-B14F-4D97-AF65-F5344CB8AC3E}">
        <p14:creationId xmlns:p14="http://schemas.microsoft.com/office/powerpoint/2010/main" val="323479625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INHERITANCE BASICS</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142999" y="2634574"/>
            <a:ext cx="15537445" cy="4924425"/>
          </a:xfrm>
          <a:prstGeom prst="rect">
            <a:avLst/>
          </a:prstGeom>
        </p:spPr>
        <p:txBody>
          <a:bodyPr wrap="square" lIns="0" tIns="0" rIns="0" bIns="0" rtlCol="0" anchor="t">
            <a:spAutoFit/>
          </a:bodyPr>
          <a:lstStyle/>
          <a:p>
            <a:r>
              <a:rPr lang="en-US" sz="4000" b="1" dirty="0" smtClean="0"/>
              <a:t>Types </a:t>
            </a:r>
            <a:r>
              <a:rPr lang="en-US" sz="4000" b="1" dirty="0"/>
              <a:t>of inheritance in java </a:t>
            </a:r>
            <a:endParaRPr lang="en-US" sz="4000" dirty="0"/>
          </a:p>
          <a:p>
            <a:r>
              <a:rPr lang="en-US" sz="4000" dirty="0"/>
              <a:t>•On the basis of class, there can be three types of inheritance in java</a:t>
            </a:r>
            <a:r>
              <a:rPr lang="en-US" sz="4000" dirty="0" smtClean="0"/>
              <a:t>:</a:t>
            </a:r>
          </a:p>
          <a:p>
            <a:pPr marL="1943100" lvl="3" indent="-571500">
              <a:buFont typeface="Wingdings" panose="05000000000000000000" pitchFamily="2" charset="2"/>
              <a:buChar char="q"/>
            </a:pPr>
            <a:r>
              <a:rPr lang="en-US" sz="4000" dirty="0" smtClean="0"/>
              <a:t> Single Inheritance</a:t>
            </a:r>
          </a:p>
          <a:p>
            <a:pPr marL="1943100" lvl="3" indent="-571500">
              <a:buFont typeface="Wingdings" panose="05000000000000000000" pitchFamily="2" charset="2"/>
              <a:buChar char="q"/>
            </a:pPr>
            <a:r>
              <a:rPr lang="en-US" sz="4000" dirty="0"/>
              <a:t>M</a:t>
            </a:r>
            <a:r>
              <a:rPr lang="en-US" sz="4000" dirty="0" smtClean="0"/>
              <a:t>ultilevel Inheritance</a:t>
            </a:r>
          </a:p>
          <a:p>
            <a:pPr marL="1943100" lvl="3" indent="-571500">
              <a:buFont typeface="Wingdings" panose="05000000000000000000" pitchFamily="2" charset="2"/>
              <a:buChar char="q"/>
            </a:pPr>
            <a:r>
              <a:rPr lang="en-US" sz="4000" dirty="0"/>
              <a:t>H</a:t>
            </a:r>
            <a:r>
              <a:rPr lang="en-US" sz="4000" dirty="0" smtClean="0"/>
              <a:t>ierarchical Inheritance</a:t>
            </a:r>
            <a:endParaRPr lang="en-US" sz="4000" dirty="0"/>
          </a:p>
          <a:p>
            <a:r>
              <a:rPr lang="en-US" sz="4000" dirty="0"/>
              <a:t>•In java programming,  Java does not support </a:t>
            </a:r>
            <a:r>
              <a:rPr lang="en-US" sz="4000" dirty="0" smtClean="0"/>
              <a:t>Multiple &amp; Hybrid Inheritance </a:t>
            </a:r>
            <a:r>
              <a:rPr lang="en-US" sz="4000" dirty="0"/>
              <a:t>with classes </a:t>
            </a:r>
            <a:r>
              <a:rPr lang="en-US" sz="4000" dirty="0" smtClean="0"/>
              <a:t>directly. Multiple </a:t>
            </a:r>
            <a:r>
              <a:rPr lang="en-US" sz="4000" dirty="0"/>
              <a:t>and hybrid inheritance is supported through interface </a:t>
            </a:r>
            <a:r>
              <a:rPr lang="en-US" sz="4000" dirty="0" smtClean="0"/>
              <a:t>only . </a:t>
            </a:r>
            <a:r>
              <a:rPr lang="en-US" sz="4000" dirty="0"/>
              <a:t>We will learn about interfaces later. </a:t>
            </a:r>
          </a:p>
        </p:txBody>
      </p:sp>
    </p:spTree>
    <p:extLst>
      <p:ext uri="{BB962C8B-B14F-4D97-AF65-F5344CB8AC3E}">
        <p14:creationId xmlns:p14="http://schemas.microsoft.com/office/powerpoint/2010/main" val="16499776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847916"/>
            <a:ext cx="15665930" cy="923330"/>
          </a:xfrm>
          <a:prstGeom prst="rect">
            <a:avLst/>
          </a:prstGeom>
        </p:spPr>
        <p:txBody>
          <a:bodyPr wrap="square" lIns="0" tIns="0" rIns="0" bIns="0" rtlCol="0" anchor="t">
            <a:spAutoFit/>
          </a:bodyPr>
          <a:lstStyle/>
          <a:p>
            <a:pPr algn="ctr"/>
            <a:r>
              <a:rPr lang="en-US" sz="6000" b="1" dirty="0" smtClean="0"/>
              <a:t>SINGLE INHERITANCE </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142999" y="2634574"/>
            <a:ext cx="11887201" cy="6155531"/>
          </a:xfrm>
          <a:prstGeom prst="rect">
            <a:avLst/>
          </a:prstGeom>
        </p:spPr>
        <p:txBody>
          <a:bodyPr wrap="square" lIns="0" tIns="0" rIns="0" bIns="0" rtlCol="0" anchor="t">
            <a:spAutoFit/>
          </a:bodyPr>
          <a:lstStyle/>
          <a:p>
            <a:r>
              <a:rPr lang="en-US" sz="4000" b="1" dirty="0" smtClean="0"/>
              <a:t>Single Inheritance in java </a:t>
            </a:r>
            <a:endParaRPr lang="en-US" sz="4000" dirty="0" smtClean="0"/>
          </a:p>
          <a:p>
            <a:pPr marL="571500" indent="-571500">
              <a:buFont typeface="Arial" panose="020B0604020202020204" pitchFamily="34" charset="0"/>
              <a:buChar char="•"/>
            </a:pPr>
            <a:r>
              <a:rPr lang="en-US" sz="4000" dirty="0" smtClean="0"/>
              <a:t>In </a:t>
            </a:r>
            <a:r>
              <a:rPr lang="en-US" sz="4000" dirty="0"/>
              <a:t>single inheritance, a sub-class is derived from only one super class. It inherits the properties and behavior of a single-parent class. Sometimes, it is also known as simple </a:t>
            </a:r>
            <a:r>
              <a:rPr lang="en-US" sz="4000" dirty="0" smtClean="0"/>
              <a:t>inheritance.</a:t>
            </a:r>
          </a:p>
          <a:p>
            <a:pPr marL="571500" indent="-571500">
              <a:buFont typeface="Arial" panose="020B0604020202020204" pitchFamily="34" charset="0"/>
              <a:buChar char="•"/>
            </a:pPr>
            <a:r>
              <a:rPr lang="en-US" sz="4000" dirty="0" smtClean="0"/>
              <a:t>Single Inheritance = One child, one parent.</a:t>
            </a:r>
          </a:p>
          <a:p>
            <a:pPr marL="571500" indent="-571500">
              <a:buFont typeface="Arial" panose="020B0604020202020204" pitchFamily="34" charset="0"/>
              <a:buChar char="•"/>
            </a:pPr>
            <a:r>
              <a:rPr lang="en-US" sz="4000" dirty="0" smtClean="0"/>
              <a:t> Implemented using extends keyword.</a:t>
            </a:r>
          </a:p>
          <a:p>
            <a:pPr marL="571500" indent="-571500">
              <a:buFont typeface="Arial" panose="020B0604020202020204" pitchFamily="34" charset="0"/>
              <a:buChar char="•"/>
            </a:pPr>
            <a:r>
              <a:rPr lang="en-US" sz="4000" dirty="0" smtClean="0"/>
              <a:t>Helps in achieving code reusability and hierarchical structure in Java OPP.</a:t>
            </a:r>
          </a:p>
          <a:p>
            <a:r>
              <a:rPr lang="en-US" sz="4000" dirty="0" smtClean="0"/>
              <a:t> </a:t>
            </a:r>
            <a:endParaRPr lang="en-US" sz="4000" dirty="0"/>
          </a:p>
        </p:txBody>
      </p:sp>
      <p:sp>
        <p:nvSpPr>
          <p:cNvPr id="10" name="AutoShape 2" descr="https://images.shiksha.com/mediadata/images/articles/1708511865phpdetr6z.jpe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pic>
        <p:nvPicPr>
          <p:cNvPr id="1028" name="Picture 4" descr="https://images.shiksha.com/mediadata/images/articles/1708511865phpdetr6z.jpeg"/>
          <p:cNvPicPr>
            <a:picLocks noChangeAspect="1" noChangeArrowheads="1"/>
          </p:cNvPicPr>
          <p:nvPr/>
        </p:nvPicPr>
        <p:blipFill rotWithShape="1">
          <a:blip r:embed="rId2">
            <a:extLst>
              <a:ext uri="{28A0092B-C50C-407E-A947-70E740481C1C}">
                <a14:useLocalDpi xmlns:a14="http://schemas.microsoft.com/office/drawing/2010/main" val="0"/>
              </a:ext>
            </a:extLst>
          </a:blip>
          <a:srcRect l="16283" t="7087" r="17656" b="10021"/>
          <a:stretch/>
        </p:blipFill>
        <p:spPr bwMode="auto">
          <a:xfrm>
            <a:off x="13030200" y="2781300"/>
            <a:ext cx="4777092" cy="632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408258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847916"/>
            <a:ext cx="15665930" cy="923330"/>
          </a:xfrm>
          <a:prstGeom prst="rect">
            <a:avLst/>
          </a:prstGeom>
        </p:spPr>
        <p:txBody>
          <a:bodyPr wrap="square" lIns="0" tIns="0" rIns="0" bIns="0" rtlCol="0" anchor="t">
            <a:spAutoFit/>
          </a:bodyPr>
          <a:lstStyle/>
          <a:p>
            <a:pPr algn="ctr"/>
            <a:r>
              <a:rPr lang="en-US" sz="6000" b="1" dirty="0" smtClean="0"/>
              <a:t>SINGLE INHERITANCE </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142999" y="2634574"/>
            <a:ext cx="15163801" cy="5539978"/>
          </a:xfrm>
          <a:prstGeom prst="rect">
            <a:avLst/>
          </a:prstGeom>
        </p:spPr>
        <p:txBody>
          <a:bodyPr wrap="square" lIns="0" tIns="0" rIns="0" bIns="0" rtlCol="0" anchor="t">
            <a:spAutoFit/>
          </a:bodyPr>
          <a:lstStyle/>
          <a:p>
            <a:r>
              <a:rPr lang="en-US" sz="4000" b="1" dirty="0" smtClean="0"/>
              <a:t>Single Inheritance Syntax</a:t>
            </a:r>
            <a:endParaRPr lang="en-US" sz="4000" dirty="0" smtClean="0"/>
          </a:p>
          <a:p>
            <a:endParaRPr lang="en-US" sz="4000" dirty="0" smtClean="0"/>
          </a:p>
          <a:p>
            <a:r>
              <a:rPr lang="en-US" sz="4000" dirty="0" smtClean="0">
                <a:solidFill>
                  <a:schemeClr val="accent2">
                    <a:lumMod val="75000"/>
                  </a:schemeClr>
                </a:solidFill>
              </a:rPr>
              <a:t>class</a:t>
            </a:r>
            <a:r>
              <a:rPr lang="en-US" sz="4000" dirty="0" smtClean="0"/>
              <a:t> </a:t>
            </a:r>
            <a:r>
              <a:rPr lang="en-US" sz="4000" dirty="0" smtClean="0">
                <a:solidFill>
                  <a:schemeClr val="tx2">
                    <a:lumMod val="75000"/>
                  </a:schemeClr>
                </a:solidFill>
              </a:rPr>
              <a:t>Parent</a:t>
            </a:r>
            <a:r>
              <a:rPr lang="en-US" sz="4000" dirty="0" smtClean="0"/>
              <a:t> {</a:t>
            </a:r>
          </a:p>
          <a:p>
            <a:r>
              <a:rPr lang="en-US" sz="4000" dirty="0" smtClean="0"/>
              <a:t>	</a:t>
            </a:r>
            <a:r>
              <a:rPr lang="en-US" sz="4000" dirty="0" smtClean="0">
                <a:solidFill>
                  <a:schemeClr val="bg1">
                    <a:lumMod val="50000"/>
                  </a:schemeClr>
                </a:solidFill>
              </a:rPr>
              <a:t>// fields and methods of parent class</a:t>
            </a:r>
          </a:p>
          <a:p>
            <a:r>
              <a:rPr lang="en-US" sz="4000" dirty="0" smtClean="0"/>
              <a:t>}</a:t>
            </a:r>
          </a:p>
          <a:p>
            <a:r>
              <a:rPr lang="en-US" sz="4000" dirty="0" smtClean="0">
                <a:solidFill>
                  <a:schemeClr val="accent2">
                    <a:lumMod val="75000"/>
                  </a:schemeClr>
                </a:solidFill>
              </a:rPr>
              <a:t>class</a:t>
            </a:r>
            <a:r>
              <a:rPr lang="en-US" sz="4000" dirty="0" smtClean="0"/>
              <a:t> </a:t>
            </a:r>
            <a:r>
              <a:rPr lang="en-US" sz="4000" dirty="0" smtClean="0">
                <a:solidFill>
                  <a:schemeClr val="tx2">
                    <a:lumMod val="75000"/>
                  </a:schemeClr>
                </a:solidFill>
              </a:rPr>
              <a:t>Child</a:t>
            </a:r>
            <a:r>
              <a:rPr lang="en-US" sz="4000" dirty="0" smtClean="0"/>
              <a:t> </a:t>
            </a:r>
            <a:r>
              <a:rPr lang="en-US" sz="4000" dirty="0" smtClean="0">
                <a:solidFill>
                  <a:schemeClr val="accent2">
                    <a:lumMod val="75000"/>
                  </a:schemeClr>
                </a:solidFill>
              </a:rPr>
              <a:t>extends</a:t>
            </a:r>
            <a:r>
              <a:rPr lang="en-US" sz="4000" dirty="0" smtClean="0"/>
              <a:t> </a:t>
            </a:r>
            <a:r>
              <a:rPr lang="en-US" sz="4000" dirty="0" smtClean="0">
                <a:solidFill>
                  <a:schemeClr val="tx2">
                    <a:lumMod val="75000"/>
                  </a:schemeClr>
                </a:solidFill>
              </a:rPr>
              <a:t>Parent</a:t>
            </a:r>
            <a:r>
              <a:rPr lang="en-US" sz="4000" dirty="0" smtClean="0"/>
              <a:t> {</a:t>
            </a:r>
          </a:p>
          <a:p>
            <a:r>
              <a:rPr lang="en-US" sz="4000" dirty="0" smtClean="0"/>
              <a:t>	</a:t>
            </a:r>
            <a:r>
              <a:rPr lang="en-US" sz="4000" dirty="0" smtClean="0">
                <a:solidFill>
                  <a:schemeClr val="bg1">
                    <a:lumMod val="50000"/>
                  </a:schemeClr>
                </a:solidFill>
              </a:rPr>
              <a:t>//fields and methods of child</a:t>
            </a:r>
            <a:endParaRPr lang="en-US" sz="4000" dirty="0">
              <a:solidFill>
                <a:schemeClr val="bg1">
                  <a:lumMod val="50000"/>
                </a:schemeClr>
              </a:solidFill>
            </a:endParaRPr>
          </a:p>
          <a:p>
            <a:r>
              <a:rPr lang="en-US" sz="4000" dirty="0" smtClean="0"/>
              <a:t>} </a:t>
            </a:r>
          </a:p>
          <a:p>
            <a:r>
              <a:rPr lang="en-US" sz="4000" dirty="0" smtClean="0"/>
              <a:t> </a:t>
            </a:r>
            <a:endParaRPr lang="en-US" sz="4000" dirty="0"/>
          </a:p>
        </p:txBody>
      </p:sp>
      <p:sp>
        <p:nvSpPr>
          <p:cNvPr id="10" name="AutoShape 2" descr="https://images.shiksha.com/mediadata/images/articles/1708511865phpdetr6z.jpe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35755067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847916"/>
            <a:ext cx="15665930" cy="923330"/>
          </a:xfrm>
          <a:prstGeom prst="rect">
            <a:avLst/>
          </a:prstGeom>
        </p:spPr>
        <p:txBody>
          <a:bodyPr wrap="square" lIns="0" tIns="0" rIns="0" bIns="0" rtlCol="0" anchor="t">
            <a:spAutoFit/>
          </a:bodyPr>
          <a:lstStyle/>
          <a:p>
            <a:pPr algn="ctr"/>
            <a:r>
              <a:rPr lang="en-US" sz="6000" b="1" dirty="0" smtClean="0"/>
              <a:t>SINGLE INHERITANCE Example </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25863" y="2208716"/>
            <a:ext cx="10023137" cy="8125301"/>
          </a:xfrm>
          <a:prstGeom prst="rect">
            <a:avLst/>
          </a:prstGeom>
        </p:spPr>
        <p:txBody>
          <a:bodyPr wrap="square" lIns="0" tIns="0" rIns="0" bIns="0" rtlCol="0" anchor="t">
            <a:spAutoFit/>
          </a:bodyPr>
          <a:lstStyle/>
          <a:p>
            <a:r>
              <a:rPr lang="en-US" sz="3600" b="1" baseline="-25000" dirty="0" smtClean="0"/>
              <a:t> </a:t>
            </a:r>
            <a:r>
              <a:rPr lang="en-US" sz="3600" b="1" baseline="-25000" dirty="0">
                <a:solidFill>
                  <a:srgbClr val="7F0055"/>
                </a:solidFill>
                <a:latin typeface="Consolas"/>
              </a:rPr>
              <a:t>class</a:t>
            </a:r>
            <a:r>
              <a:rPr lang="en-US" sz="3600" baseline="-25000" dirty="0">
                <a:solidFill>
                  <a:srgbClr val="000000"/>
                </a:solidFill>
                <a:latin typeface="Consolas"/>
              </a:rPr>
              <a:t> A{</a:t>
            </a:r>
          </a:p>
          <a:p>
            <a:r>
              <a:rPr lang="en-US" sz="3600" b="1" baseline="-25000" dirty="0">
                <a:solidFill>
                  <a:srgbClr val="7F0055"/>
                </a:solidFill>
                <a:latin typeface="Consolas"/>
              </a:rPr>
              <a:t>int</a:t>
            </a:r>
            <a:r>
              <a:rPr lang="en-US" sz="3600" baseline="-25000" dirty="0">
                <a:solidFill>
                  <a:srgbClr val="000000"/>
                </a:solidFill>
                <a:latin typeface="Consolas"/>
              </a:rPr>
              <a:t> </a:t>
            </a:r>
            <a:r>
              <a:rPr lang="en-US" sz="3600" baseline="-25000" dirty="0">
                <a:solidFill>
                  <a:srgbClr val="0000C0"/>
                </a:solidFill>
                <a:latin typeface="Consolas"/>
              </a:rPr>
              <a:t>i</a:t>
            </a:r>
            <a:r>
              <a:rPr lang="en-US" sz="3600" baseline="-25000" dirty="0">
                <a:solidFill>
                  <a:srgbClr val="000000"/>
                </a:solidFill>
                <a:latin typeface="Consolas"/>
              </a:rPr>
              <a:t>, </a:t>
            </a:r>
            <a:r>
              <a:rPr lang="en-US" sz="3600" baseline="-25000" dirty="0">
                <a:solidFill>
                  <a:srgbClr val="0000C0"/>
                </a:solidFill>
                <a:latin typeface="Consolas"/>
              </a:rPr>
              <a:t>j</a:t>
            </a:r>
            <a:r>
              <a:rPr lang="en-US" sz="3600" baseline="-25000" dirty="0">
                <a:solidFill>
                  <a:srgbClr val="000000"/>
                </a:solidFill>
                <a:latin typeface="Consolas"/>
              </a:rPr>
              <a:t>;</a:t>
            </a:r>
          </a:p>
          <a:p>
            <a:r>
              <a:rPr lang="en-US" sz="3600" b="1" baseline="-25000" dirty="0">
                <a:solidFill>
                  <a:srgbClr val="7F0055"/>
                </a:solidFill>
                <a:latin typeface="Consolas"/>
              </a:rPr>
              <a:t>void</a:t>
            </a:r>
            <a:r>
              <a:rPr lang="en-US" sz="3600" baseline="-25000" dirty="0">
                <a:solidFill>
                  <a:srgbClr val="000000"/>
                </a:solidFill>
                <a:latin typeface="Consolas"/>
              </a:rPr>
              <a:t> show() {</a:t>
            </a:r>
          </a:p>
          <a:p>
            <a:r>
              <a:rPr lang="en-US" sz="3600" baseline="-25000" dirty="0">
                <a:solidFill>
                  <a:srgbClr val="000000"/>
                </a:solidFill>
                <a:latin typeface="Consolas"/>
              </a:rPr>
              <a:t>System.</a:t>
            </a:r>
            <a:r>
              <a:rPr lang="en-US" sz="3600" b="1" i="1" baseline="-25000" dirty="0">
                <a:solidFill>
                  <a:srgbClr val="0000C0"/>
                </a:solidFill>
                <a:latin typeface="Consolas"/>
              </a:rPr>
              <a:t>out</a:t>
            </a:r>
            <a:r>
              <a:rPr lang="en-US" sz="3600" baseline="-25000" dirty="0">
                <a:solidFill>
                  <a:srgbClr val="000000"/>
                </a:solidFill>
                <a:latin typeface="Consolas"/>
              </a:rPr>
              <a:t>.println(</a:t>
            </a:r>
            <a:r>
              <a:rPr lang="en-US" sz="3600" baseline="-25000" dirty="0">
                <a:solidFill>
                  <a:srgbClr val="2A00FF"/>
                </a:solidFill>
                <a:latin typeface="Consolas"/>
              </a:rPr>
              <a:t>"i ="</a:t>
            </a:r>
            <a:r>
              <a:rPr lang="en-US" sz="3600" baseline="-25000" dirty="0">
                <a:solidFill>
                  <a:srgbClr val="000000"/>
                </a:solidFill>
                <a:latin typeface="Consolas"/>
              </a:rPr>
              <a:t>+</a:t>
            </a:r>
            <a:r>
              <a:rPr lang="en-US" sz="3600" baseline="-25000" dirty="0">
                <a:solidFill>
                  <a:srgbClr val="0000C0"/>
                </a:solidFill>
                <a:latin typeface="Consolas"/>
              </a:rPr>
              <a:t>i</a:t>
            </a:r>
            <a:r>
              <a:rPr lang="en-US" sz="3600" baseline="-25000" dirty="0">
                <a:solidFill>
                  <a:srgbClr val="000000"/>
                </a:solidFill>
                <a:latin typeface="Consolas"/>
              </a:rPr>
              <a:t> +</a:t>
            </a:r>
            <a:r>
              <a:rPr lang="en-US" sz="3600" baseline="-25000" dirty="0">
                <a:solidFill>
                  <a:srgbClr val="2A00FF"/>
                </a:solidFill>
                <a:latin typeface="Consolas"/>
              </a:rPr>
              <a:t>" "</a:t>
            </a:r>
            <a:r>
              <a:rPr lang="en-US" sz="3600" baseline="-25000" dirty="0">
                <a:solidFill>
                  <a:srgbClr val="000000"/>
                </a:solidFill>
                <a:latin typeface="Consolas"/>
              </a:rPr>
              <a:t>+</a:t>
            </a:r>
            <a:r>
              <a:rPr lang="en-US" sz="3600" baseline="-25000" dirty="0">
                <a:solidFill>
                  <a:srgbClr val="2A00FF"/>
                </a:solidFill>
                <a:latin typeface="Consolas"/>
              </a:rPr>
              <a:t>"j ="</a:t>
            </a:r>
            <a:r>
              <a:rPr lang="en-US" sz="3600" baseline="-25000" dirty="0">
                <a:solidFill>
                  <a:srgbClr val="000000"/>
                </a:solidFill>
                <a:latin typeface="Consolas"/>
              </a:rPr>
              <a:t>+</a:t>
            </a:r>
            <a:r>
              <a:rPr lang="en-US" sz="3600" baseline="-25000" dirty="0">
                <a:solidFill>
                  <a:srgbClr val="0000C0"/>
                </a:solidFill>
                <a:latin typeface="Consolas"/>
              </a:rPr>
              <a:t>j</a:t>
            </a:r>
            <a:r>
              <a:rPr lang="en-US" sz="3600" baseline="-25000" dirty="0" smtClean="0">
                <a:solidFill>
                  <a:srgbClr val="000000"/>
                </a:solidFill>
                <a:latin typeface="Consolas"/>
              </a:rPr>
              <a:t>);}}</a:t>
            </a:r>
            <a:endParaRPr lang="en-US" sz="3600" baseline="-25000" dirty="0">
              <a:solidFill>
                <a:srgbClr val="000000"/>
              </a:solidFill>
              <a:latin typeface="Consolas"/>
            </a:endParaRPr>
          </a:p>
          <a:p>
            <a:r>
              <a:rPr lang="en-US" sz="3600" b="1" baseline="-25000" dirty="0">
                <a:solidFill>
                  <a:srgbClr val="7F0055"/>
                </a:solidFill>
                <a:latin typeface="Consolas"/>
              </a:rPr>
              <a:t>class</a:t>
            </a:r>
            <a:r>
              <a:rPr lang="en-US" sz="3600" baseline="-25000" dirty="0">
                <a:solidFill>
                  <a:srgbClr val="000000"/>
                </a:solidFill>
                <a:latin typeface="Consolas"/>
              </a:rPr>
              <a:t> B </a:t>
            </a:r>
            <a:r>
              <a:rPr lang="en-US" sz="3600" b="1" baseline="-25000" dirty="0">
                <a:solidFill>
                  <a:srgbClr val="7F0055"/>
                </a:solidFill>
                <a:latin typeface="Consolas"/>
              </a:rPr>
              <a:t>extends</a:t>
            </a:r>
            <a:r>
              <a:rPr lang="en-US" sz="3600" baseline="-25000" dirty="0">
                <a:solidFill>
                  <a:srgbClr val="000000"/>
                </a:solidFill>
                <a:latin typeface="Consolas"/>
              </a:rPr>
              <a:t> A{</a:t>
            </a:r>
          </a:p>
          <a:p>
            <a:r>
              <a:rPr lang="en-US" sz="3600" b="1" baseline="-25000" dirty="0">
                <a:solidFill>
                  <a:srgbClr val="7F0055"/>
                </a:solidFill>
                <a:latin typeface="Consolas"/>
              </a:rPr>
              <a:t>int</a:t>
            </a:r>
            <a:r>
              <a:rPr lang="en-US" sz="3600" baseline="-25000" dirty="0">
                <a:solidFill>
                  <a:srgbClr val="000000"/>
                </a:solidFill>
                <a:latin typeface="Consolas"/>
              </a:rPr>
              <a:t> </a:t>
            </a:r>
            <a:r>
              <a:rPr lang="en-US" sz="3600" baseline="-25000" dirty="0">
                <a:solidFill>
                  <a:srgbClr val="0000C0"/>
                </a:solidFill>
                <a:latin typeface="Consolas"/>
              </a:rPr>
              <a:t>k</a:t>
            </a:r>
            <a:r>
              <a:rPr lang="en-US" sz="3600" baseline="-25000" dirty="0">
                <a:solidFill>
                  <a:srgbClr val="000000"/>
                </a:solidFill>
                <a:latin typeface="Consolas"/>
              </a:rPr>
              <a:t>,</a:t>
            </a:r>
            <a:r>
              <a:rPr lang="en-US" sz="3600" baseline="-25000" dirty="0">
                <a:solidFill>
                  <a:srgbClr val="0000C0"/>
                </a:solidFill>
                <a:latin typeface="Consolas"/>
              </a:rPr>
              <a:t>l</a:t>
            </a:r>
            <a:r>
              <a:rPr lang="en-US" sz="3600" baseline="-25000" dirty="0">
                <a:solidFill>
                  <a:srgbClr val="000000"/>
                </a:solidFill>
                <a:latin typeface="Consolas"/>
              </a:rPr>
              <a:t>;</a:t>
            </a:r>
          </a:p>
          <a:p>
            <a:r>
              <a:rPr lang="en-US" sz="3600" b="1" baseline="-25000" dirty="0">
                <a:solidFill>
                  <a:srgbClr val="7F0055"/>
                </a:solidFill>
                <a:latin typeface="Consolas"/>
              </a:rPr>
              <a:t>void</a:t>
            </a:r>
            <a:r>
              <a:rPr lang="en-US" sz="3600" baseline="-25000" dirty="0">
                <a:solidFill>
                  <a:srgbClr val="000000"/>
                </a:solidFill>
                <a:latin typeface="Consolas"/>
              </a:rPr>
              <a:t> sum() {</a:t>
            </a:r>
          </a:p>
          <a:p>
            <a:r>
              <a:rPr lang="en-US" sz="3600" baseline="-25000" dirty="0">
                <a:solidFill>
                  <a:srgbClr val="000000"/>
                </a:solidFill>
                <a:latin typeface="Consolas"/>
              </a:rPr>
              <a:t>System.</a:t>
            </a:r>
            <a:r>
              <a:rPr lang="en-US" sz="3600" b="1" i="1" baseline="-25000" dirty="0">
                <a:solidFill>
                  <a:srgbClr val="0000C0"/>
                </a:solidFill>
                <a:latin typeface="Consolas"/>
              </a:rPr>
              <a:t>out</a:t>
            </a:r>
            <a:r>
              <a:rPr lang="en-US" sz="3600" baseline="-25000" dirty="0">
                <a:solidFill>
                  <a:srgbClr val="000000"/>
                </a:solidFill>
                <a:latin typeface="Consolas"/>
              </a:rPr>
              <a:t>.println(</a:t>
            </a:r>
            <a:r>
              <a:rPr lang="en-US" sz="3600" baseline="-25000" dirty="0">
                <a:solidFill>
                  <a:srgbClr val="2A00FF"/>
                </a:solidFill>
                <a:latin typeface="Consolas"/>
              </a:rPr>
              <a:t>"i ="</a:t>
            </a:r>
            <a:r>
              <a:rPr lang="en-US" sz="3600" baseline="-25000" dirty="0">
                <a:solidFill>
                  <a:srgbClr val="000000"/>
                </a:solidFill>
                <a:latin typeface="Consolas"/>
              </a:rPr>
              <a:t>+</a:t>
            </a:r>
            <a:r>
              <a:rPr lang="en-US" sz="3600" baseline="-25000" dirty="0">
                <a:solidFill>
                  <a:srgbClr val="0000C0"/>
                </a:solidFill>
                <a:latin typeface="Consolas"/>
              </a:rPr>
              <a:t>i</a:t>
            </a:r>
            <a:r>
              <a:rPr lang="en-US" sz="3600" baseline="-25000" dirty="0">
                <a:solidFill>
                  <a:srgbClr val="000000"/>
                </a:solidFill>
                <a:latin typeface="Consolas"/>
              </a:rPr>
              <a:t> +</a:t>
            </a:r>
            <a:r>
              <a:rPr lang="en-US" sz="3600" baseline="-25000" dirty="0">
                <a:solidFill>
                  <a:srgbClr val="2A00FF"/>
                </a:solidFill>
                <a:latin typeface="Consolas"/>
              </a:rPr>
              <a:t>" "</a:t>
            </a:r>
            <a:r>
              <a:rPr lang="en-US" sz="3600" baseline="-25000" dirty="0">
                <a:solidFill>
                  <a:srgbClr val="000000"/>
                </a:solidFill>
                <a:latin typeface="Consolas"/>
              </a:rPr>
              <a:t>+</a:t>
            </a:r>
            <a:r>
              <a:rPr lang="en-US" sz="3600" baseline="-25000" dirty="0">
                <a:solidFill>
                  <a:srgbClr val="2A00FF"/>
                </a:solidFill>
                <a:latin typeface="Consolas"/>
              </a:rPr>
              <a:t>"j = "</a:t>
            </a:r>
            <a:r>
              <a:rPr lang="en-US" sz="3600" baseline="-25000" dirty="0">
                <a:solidFill>
                  <a:srgbClr val="000000"/>
                </a:solidFill>
                <a:latin typeface="Consolas"/>
              </a:rPr>
              <a:t>+</a:t>
            </a:r>
            <a:r>
              <a:rPr lang="en-US" sz="3600" baseline="-25000" dirty="0">
                <a:solidFill>
                  <a:srgbClr val="0000C0"/>
                </a:solidFill>
                <a:latin typeface="Consolas"/>
              </a:rPr>
              <a:t>j</a:t>
            </a:r>
            <a:r>
              <a:rPr lang="en-US" sz="3600" baseline="-25000" dirty="0">
                <a:solidFill>
                  <a:srgbClr val="000000"/>
                </a:solidFill>
                <a:latin typeface="Consolas"/>
              </a:rPr>
              <a:t> +</a:t>
            </a:r>
            <a:r>
              <a:rPr lang="en-US" sz="3600" baseline="-25000" dirty="0">
                <a:solidFill>
                  <a:srgbClr val="2A00FF"/>
                </a:solidFill>
                <a:latin typeface="Consolas"/>
              </a:rPr>
              <a:t>" k ="</a:t>
            </a:r>
            <a:r>
              <a:rPr lang="en-US" sz="3600" baseline="-25000" dirty="0">
                <a:solidFill>
                  <a:srgbClr val="000000"/>
                </a:solidFill>
                <a:latin typeface="Consolas"/>
              </a:rPr>
              <a:t>+</a:t>
            </a:r>
            <a:r>
              <a:rPr lang="en-US" sz="3600" baseline="-25000" dirty="0">
                <a:solidFill>
                  <a:srgbClr val="0000C0"/>
                </a:solidFill>
                <a:latin typeface="Consolas"/>
              </a:rPr>
              <a:t>k</a:t>
            </a:r>
            <a:r>
              <a:rPr lang="en-US" sz="3600" baseline="-25000" dirty="0">
                <a:solidFill>
                  <a:srgbClr val="000000"/>
                </a:solidFill>
                <a:latin typeface="Consolas"/>
              </a:rPr>
              <a:t>);</a:t>
            </a:r>
          </a:p>
          <a:p>
            <a:r>
              <a:rPr lang="en-US" sz="3600" b="1" baseline="-25000" dirty="0">
                <a:solidFill>
                  <a:srgbClr val="7F0055"/>
                </a:solidFill>
                <a:latin typeface="Consolas"/>
              </a:rPr>
              <a:t>int</a:t>
            </a:r>
            <a:r>
              <a:rPr lang="en-US" sz="3600" baseline="-25000" dirty="0">
                <a:solidFill>
                  <a:srgbClr val="000000"/>
                </a:solidFill>
                <a:latin typeface="Consolas"/>
              </a:rPr>
              <a:t> </a:t>
            </a:r>
            <a:r>
              <a:rPr lang="en-US" sz="3600" baseline="-25000" dirty="0">
                <a:solidFill>
                  <a:srgbClr val="6A3E3E"/>
                </a:solidFill>
                <a:latin typeface="Consolas"/>
              </a:rPr>
              <a:t>sum</a:t>
            </a:r>
            <a:r>
              <a:rPr lang="en-US" sz="3600" baseline="-25000" dirty="0">
                <a:solidFill>
                  <a:srgbClr val="000000"/>
                </a:solidFill>
                <a:latin typeface="Consolas"/>
              </a:rPr>
              <a:t>=</a:t>
            </a:r>
            <a:r>
              <a:rPr lang="en-US" sz="3600" baseline="-25000" dirty="0">
                <a:solidFill>
                  <a:srgbClr val="0000C0"/>
                </a:solidFill>
                <a:latin typeface="Consolas"/>
              </a:rPr>
              <a:t>i</a:t>
            </a:r>
            <a:r>
              <a:rPr lang="en-US" sz="3600" baseline="-25000" dirty="0">
                <a:solidFill>
                  <a:srgbClr val="000000"/>
                </a:solidFill>
                <a:latin typeface="Consolas"/>
              </a:rPr>
              <a:t>+</a:t>
            </a:r>
            <a:r>
              <a:rPr lang="en-US" sz="3600" baseline="-25000" dirty="0">
                <a:solidFill>
                  <a:srgbClr val="0000C0"/>
                </a:solidFill>
                <a:latin typeface="Consolas"/>
              </a:rPr>
              <a:t>j</a:t>
            </a:r>
            <a:r>
              <a:rPr lang="en-US" sz="3600" baseline="-25000" dirty="0">
                <a:solidFill>
                  <a:srgbClr val="000000"/>
                </a:solidFill>
                <a:latin typeface="Consolas"/>
              </a:rPr>
              <a:t>+</a:t>
            </a:r>
            <a:r>
              <a:rPr lang="en-US" sz="3600" baseline="-25000" dirty="0">
                <a:solidFill>
                  <a:srgbClr val="0000C0"/>
                </a:solidFill>
                <a:latin typeface="Consolas"/>
              </a:rPr>
              <a:t>k</a:t>
            </a:r>
            <a:r>
              <a:rPr lang="en-US" sz="3600" baseline="-25000" dirty="0">
                <a:solidFill>
                  <a:srgbClr val="000000"/>
                </a:solidFill>
                <a:latin typeface="Consolas"/>
              </a:rPr>
              <a:t>;</a:t>
            </a:r>
          </a:p>
          <a:p>
            <a:r>
              <a:rPr lang="en-US" sz="3600" baseline="-25000" dirty="0">
                <a:solidFill>
                  <a:srgbClr val="000000"/>
                </a:solidFill>
                <a:latin typeface="Consolas"/>
              </a:rPr>
              <a:t>System.</a:t>
            </a:r>
            <a:r>
              <a:rPr lang="en-US" sz="3600" b="1" i="1" baseline="-25000" dirty="0">
                <a:solidFill>
                  <a:srgbClr val="0000C0"/>
                </a:solidFill>
                <a:latin typeface="Consolas"/>
              </a:rPr>
              <a:t>out</a:t>
            </a:r>
            <a:r>
              <a:rPr lang="en-US" sz="3600" baseline="-25000" dirty="0">
                <a:solidFill>
                  <a:srgbClr val="000000"/>
                </a:solidFill>
                <a:latin typeface="Consolas"/>
              </a:rPr>
              <a:t>.println(</a:t>
            </a:r>
            <a:r>
              <a:rPr lang="en-US" sz="3600" baseline="-25000" dirty="0">
                <a:solidFill>
                  <a:srgbClr val="2A00FF"/>
                </a:solidFill>
                <a:latin typeface="Consolas"/>
              </a:rPr>
              <a:t>"Sum ="</a:t>
            </a:r>
            <a:r>
              <a:rPr lang="en-US" sz="3600" baseline="-25000" dirty="0">
                <a:solidFill>
                  <a:srgbClr val="000000"/>
                </a:solidFill>
                <a:latin typeface="Consolas"/>
              </a:rPr>
              <a:t>+</a:t>
            </a:r>
            <a:r>
              <a:rPr lang="en-US" sz="3600" baseline="-25000" dirty="0">
                <a:solidFill>
                  <a:srgbClr val="6A3E3E"/>
                </a:solidFill>
                <a:latin typeface="Consolas"/>
              </a:rPr>
              <a:t>sum</a:t>
            </a:r>
            <a:r>
              <a:rPr lang="en-US" sz="3600" baseline="-25000" dirty="0" smtClean="0">
                <a:solidFill>
                  <a:srgbClr val="000000"/>
                </a:solidFill>
                <a:latin typeface="Consolas"/>
              </a:rPr>
              <a:t>);}}</a:t>
            </a:r>
            <a:endParaRPr lang="en-US" sz="3600" baseline="-25000" dirty="0">
              <a:solidFill>
                <a:srgbClr val="000000"/>
              </a:solidFill>
              <a:latin typeface="Consolas"/>
            </a:endParaRPr>
          </a:p>
          <a:p>
            <a:r>
              <a:rPr lang="en-US" sz="3600" b="1" baseline="-25000" dirty="0">
                <a:solidFill>
                  <a:srgbClr val="7F0055"/>
                </a:solidFill>
                <a:latin typeface="Consolas"/>
              </a:rPr>
              <a:t>public</a:t>
            </a:r>
            <a:r>
              <a:rPr lang="en-US" sz="3600" baseline="-25000" dirty="0">
                <a:solidFill>
                  <a:srgbClr val="000000"/>
                </a:solidFill>
                <a:latin typeface="Consolas"/>
              </a:rPr>
              <a:t> </a:t>
            </a:r>
            <a:r>
              <a:rPr lang="en-US" sz="3600" b="1" baseline="-25000" dirty="0">
                <a:solidFill>
                  <a:srgbClr val="7F0055"/>
                </a:solidFill>
                <a:latin typeface="Consolas"/>
              </a:rPr>
              <a:t>class</a:t>
            </a:r>
            <a:r>
              <a:rPr lang="en-US" sz="3600" baseline="-25000" dirty="0">
                <a:solidFill>
                  <a:srgbClr val="000000"/>
                </a:solidFill>
                <a:latin typeface="Consolas"/>
              </a:rPr>
              <a:t> type1 {</a:t>
            </a:r>
          </a:p>
          <a:p>
            <a:r>
              <a:rPr lang="en-US" sz="3600" b="1" baseline="-25000" dirty="0">
                <a:solidFill>
                  <a:srgbClr val="7F0055"/>
                </a:solidFill>
                <a:latin typeface="Consolas"/>
              </a:rPr>
              <a:t>public</a:t>
            </a:r>
            <a:r>
              <a:rPr lang="en-US" sz="3600" baseline="-25000" dirty="0">
                <a:solidFill>
                  <a:srgbClr val="000000"/>
                </a:solidFill>
                <a:latin typeface="Consolas"/>
              </a:rPr>
              <a:t> </a:t>
            </a:r>
            <a:r>
              <a:rPr lang="en-US" sz="3600" b="1" baseline="-25000" dirty="0">
                <a:solidFill>
                  <a:srgbClr val="7F0055"/>
                </a:solidFill>
                <a:latin typeface="Consolas"/>
              </a:rPr>
              <a:t>static</a:t>
            </a:r>
            <a:r>
              <a:rPr lang="en-US" sz="3600" baseline="-25000" dirty="0">
                <a:solidFill>
                  <a:srgbClr val="000000"/>
                </a:solidFill>
                <a:latin typeface="Consolas"/>
              </a:rPr>
              <a:t> </a:t>
            </a:r>
            <a:r>
              <a:rPr lang="en-US" sz="3600" b="1" baseline="-25000" dirty="0">
                <a:solidFill>
                  <a:srgbClr val="7F0055"/>
                </a:solidFill>
                <a:latin typeface="Consolas"/>
              </a:rPr>
              <a:t>void</a:t>
            </a:r>
            <a:r>
              <a:rPr lang="en-US" sz="3600" baseline="-25000" dirty="0">
                <a:solidFill>
                  <a:srgbClr val="000000"/>
                </a:solidFill>
                <a:latin typeface="Consolas"/>
              </a:rPr>
              <a:t> main(String[] </a:t>
            </a:r>
            <a:r>
              <a:rPr lang="en-US" sz="3600" baseline="-25000" dirty="0">
                <a:solidFill>
                  <a:srgbClr val="6A3E3E"/>
                </a:solidFill>
                <a:latin typeface="Consolas"/>
              </a:rPr>
              <a:t>args</a:t>
            </a:r>
            <a:r>
              <a:rPr lang="en-US" sz="3600" baseline="-25000" dirty="0">
                <a:solidFill>
                  <a:srgbClr val="000000"/>
                </a:solidFill>
                <a:latin typeface="Consolas"/>
              </a:rPr>
              <a:t>) {</a:t>
            </a:r>
          </a:p>
          <a:p>
            <a:r>
              <a:rPr lang="en-US" sz="3600" baseline="-25000" dirty="0">
                <a:solidFill>
                  <a:srgbClr val="000000"/>
                </a:solidFill>
                <a:latin typeface="Consolas"/>
              </a:rPr>
              <a:t>A </a:t>
            </a:r>
            <a:r>
              <a:rPr lang="en-US" sz="3600" baseline="-25000" dirty="0">
                <a:solidFill>
                  <a:srgbClr val="6A3E3E"/>
                </a:solidFill>
                <a:latin typeface="Consolas"/>
              </a:rPr>
              <a:t>obj1</a:t>
            </a:r>
            <a:r>
              <a:rPr lang="en-US" sz="3600" baseline="-25000" dirty="0">
                <a:solidFill>
                  <a:srgbClr val="000000"/>
                </a:solidFill>
                <a:latin typeface="Consolas"/>
              </a:rPr>
              <a:t> = </a:t>
            </a:r>
            <a:r>
              <a:rPr lang="en-US" sz="3600" b="1" baseline="-25000" dirty="0">
                <a:solidFill>
                  <a:srgbClr val="7F0055"/>
                </a:solidFill>
                <a:latin typeface="Consolas"/>
              </a:rPr>
              <a:t>new</a:t>
            </a:r>
            <a:r>
              <a:rPr lang="en-US" sz="3600" baseline="-25000" dirty="0">
                <a:solidFill>
                  <a:srgbClr val="000000"/>
                </a:solidFill>
                <a:latin typeface="Consolas"/>
              </a:rPr>
              <a:t> A();</a:t>
            </a:r>
          </a:p>
          <a:p>
            <a:r>
              <a:rPr lang="en-US" sz="3600" baseline="-25000" dirty="0">
                <a:solidFill>
                  <a:srgbClr val="6A3E3E"/>
                </a:solidFill>
                <a:latin typeface="Consolas"/>
              </a:rPr>
              <a:t>obj1</a:t>
            </a:r>
            <a:r>
              <a:rPr lang="en-US" sz="3600" baseline="-25000" dirty="0">
                <a:solidFill>
                  <a:srgbClr val="000000"/>
                </a:solidFill>
                <a:latin typeface="Consolas"/>
              </a:rPr>
              <a:t>.</a:t>
            </a:r>
            <a:r>
              <a:rPr lang="en-US" sz="3600" baseline="-25000" dirty="0">
                <a:solidFill>
                  <a:srgbClr val="0000C0"/>
                </a:solidFill>
                <a:latin typeface="Consolas"/>
              </a:rPr>
              <a:t>i</a:t>
            </a:r>
            <a:r>
              <a:rPr lang="en-US" sz="3600" baseline="-25000" dirty="0">
                <a:solidFill>
                  <a:srgbClr val="000000"/>
                </a:solidFill>
                <a:latin typeface="Consolas"/>
              </a:rPr>
              <a:t>=85;</a:t>
            </a:r>
          </a:p>
          <a:p>
            <a:r>
              <a:rPr lang="en-US" sz="3600" baseline="-25000" dirty="0">
                <a:solidFill>
                  <a:srgbClr val="6A3E3E"/>
                </a:solidFill>
                <a:latin typeface="Consolas"/>
              </a:rPr>
              <a:t>obj1</a:t>
            </a:r>
            <a:r>
              <a:rPr lang="en-US" sz="3600" baseline="-25000" dirty="0">
                <a:solidFill>
                  <a:srgbClr val="000000"/>
                </a:solidFill>
                <a:latin typeface="Consolas"/>
              </a:rPr>
              <a:t>.</a:t>
            </a:r>
            <a:r>
              <a:rPr lang="en-US" sz="3600" baseline="-25000" dirty="0">
                <a:solidFill>
                  <a:srgbClr val="0000C0"/>
                </a:solidFill>
                <a:latin typeface="Consolas"/>
              </a:rPr>
              <a:t>j</a:t>
            </a:r>
            <a:r>
              <a:rPr lang="en-US" sz="3600" baseline="-25000" dirty="0">
                <a:solidFill>
                  <a:srgbClr val="000000"/>
                </a:solidFill>
                <a:latin typeface="Consolas"/>
              </a:rPr>
              <a:t>=12;</a:t>
            </a:r>
          </a:p>
          <a:p>
            <a:r>
              <a:rPr lang="en-US" sz="3600" baseline="-25000" dirty="0">
                <a:solidFill>
                  <a:srgbClr val="6A3E3E"/>
                </a:solidFill>
                <a:latin typeface="Consolas"/>
              </a:rPr>
              <a:t>obj1</a:t>
            </a:r>
            <a:r>
              <a:rPr lang="en-US" sz="3600" baseline="-25000" dirty="0">
                <a:solidFill>
                  <a:srgbClr val="000000"/>
                </a:solidFill>
                <a:latin typeface="Consolas"/>
              </a:rPr>
              <a:t>.show();</a:t>
            </a:r>
          </a:p>
          <a:p>
            <a:r>
              <a:rPr lang="en-US" sz="3600" baseline="-25000" dirty="0">
                <a:solidFill>
                  <a:srgbClr val="000000"/>
                </a:solidFill>
                <a:latin typeface="Consolas"/>
              </a:rPr>
              <a:t>B </a:t>
            </a:r>
            <a:r>
              <a:rPr lang="en-US" sz="3600" baseline="-25000" dirty="0">
                <a:solidFill>
                  <a:srgbClr val="6A3E3E"/>
                </a:solidFill>
                <a:latin typeface="Consolas"/>
              </a:rPr>
              <a:t>obj2</a:t>
            </a:r>
            <a:r>
              <a:rPr lang="en-US" sz="3600" baseline="-25000" dirty="0">
                <a:solidFill>
                  <a:srgbClr val="000000"/>
                </a:solidFill>
                <a:latin typeface="Consolas"/>
              </a:rPr>
              <a:t> = </a:t>
            </a:r>
            <a:r>
              <a:rPr lang="en-US" sz="3600" b="1" baseline="-25000" dirty="0">
                <a:solidFill>
                  <a:srgbClr val="7F0055"/>
                </a:solidFill>
                <a:latin typeface="Consolas"/>
              </a:rPr>
              <a:t>new</a:t>
            </a:r>
            <a:r>
              <a:rPr lang="en-US" sz="3600" baseline="-25000" dirty="0">
                <a:solidFill>
                  <a:srgbClr val="000000"/>
                </a:solidFill>
                <a:latin typeface="Consolas"/>
              </a:rPr>
              <a:t> B();</a:t>
            </a:r>
          </a:p>
          <a:p>
            <a:r>
              <a:rPr lang="en-US" sz="3600" baseline="-25000" dirty="0">
                <a:solidFill>
                  <a:srgbClr val="6A3E3E"/>
                </a:solidFill>
                <a:latin typeface="Consolas"/>
              </a:rPr>
              <a:t>obj2</a:t>
            </a:r>
            <a:r>
              <a:rPr lang="en-US" sz="3600" baseline="-25000" dirty="0">
                <a:solidFill>
                  <a:srgbClr val="000000"/>
                </a:solidFill>
                <a:latin typeface="Consolas"/>
              </a:rPr>
              <a:t>.</a:t>
            </a:r>
            <a:r>
              <a:rPr lang="en-US" sz="3600" baseline="-25000" dirty="0">
                <a:solidFill>
                  <a:srgbClr val="0000C0"/>
                </a:solidFill>
                <a:latin typeface="Consolas"/>
              </a:rPr>
              <a:t>k</a:t>
            </a:r>
            <a:r>
              <a:rPr lang="en-US" sz="3600" baseline="-25000" dirty="0">
                <a:solidFill>
                  <a:srgbClr val="000000"/>
                </a:solidFill>
                <a:latin typeface="Consolas"/>
              </a:rPr>
              <a:t>=62;</a:t>
            </a:r>
          </a:p>
          <a:p>
            <a:r>
              <a:rPr lang="en-US" sz="3600" baseline="-25000" dirty="0">
                <a:solidFill>
                  <a:srgbClr val="6A3E3E"/>
                </a:solidFill>
                <a:latin typeface="Consolas"/>
              </a:rPr>
              <a:t>obj2</a:t>
            </a:r>
            <a:r>
              <a:rPr lang="en-US" sz="3600" baseline="-25000" dirty="0">
                <a:solidFill>
                  <a:srgbClr val="000000"/>
                </a:solidFill>
                <a:latin typeface="Consolas"/>
              </a:rPr>
              <a:t>.</a:t>
            </a:r>
            <a:r>
              <a:rPr lang="en-US" sz="3600" baseline="-25000" dirty="0">
                <a:solidFill>
                  <a:srgbClr val="0000C0"/>
                </a:solidFill>
                <a:latin typeface="Consolas"/>
              </a:rPr>
              <a:t>i</a:t>
            </a:r>
            <a:r>
              <a:rPr lang="en-US" sz="3600" baseline="-25000" dirty="0">
                <a:solidFill>
                  <a:srgbClr val="000000"/>
                </a:solidFill>
                <a:latin typeface="Consolas"/>
              </a:rPr>
              <a:t>=22;</a:t>
            </a:r>
          </a:p>
          <a:p>
            <a:r>
              <a:rPr lang="en-US" sz="3600" baseline="-25000" dirty="0">
                <a:solidFill>
                  <a:srgbClr val="6A3E3E"/>
                </a:solidFill>
                <a:latin typeface="Consolas"/>
              </a:rPr>
              <a:t>obj2</a:t>
            </a:r>
            <a:r>
              <a:rPr lang="en-US" sz="3600" baseline="-25000" dirty="0">
                <a:solidFill>
                  <a:srgbClr val="000000"/>
                </a:solidFill>
                <a:latin typeface="Consolas"/>
              </a:rPr>
              <a:t>.</a:t>
            </a:r>
            <a:r>
              <a:rPr lang="en-US" sz="3600" baseline="-25000" dirty="0">
                <a:solidFill>
                  <a:srgbClr val="0000C0"/>
                </a:solidFill>
                <a:latin typeface="Consolas"/>
              </a:rPr>
              <a:t>j</a:t>
            </a:r>
            <a:r>
              <a:rPr lang="en-US" sz="3600" baseline="-25000" dirty="0">
                <a:solidFill>
                  <a:srgbClr val="000000"/>
                </a:solidFill>
                <a:latin typeface="Consolas"/>
              </a:rPr>
              <a:t>=90;</a:t>
            </a:r>
          </a:p>
          <a:p>
            <a:r>
              <a:rPr lang="en-US" sz="3600" baseline="-25000" dirty="0">
                <a:solidFill>
                  <a:srgbClr val="6A3E3E"/>
                </a:solidFill>
                <a:latin typeface="Consolas"/>
              </a:rPr>
              <a:t>obj2</a:t>
            </a:r>
            <a:r>
              <a:rPr lang="en-US" sz="3600" baseline="-25000" dirty="0">
                <a:solidFill>
                  <a:srgbClr val="000000"/>
                </a:solidFill>
                <a:latin typeface="Consolas"/>
              </a:rPr>
              <a:t>.sum</a:t>
            </a:r>
            <a:r>
              <a:rPr lang="en-US" sz="3600" baseline="-25000" dirty="0" smtClean="0">
                <a:solidFill>
                  <a:srgbClr val="000000"/>
                </a:solidFill>
                <a:latin typeface="Consolas"/>
              </a:rPr>
              <a:t>();}}</a:t>
            </a:r>
            <a:endParaRPr lang="en-US" sz="3600" baseline="-25000" dirty="0">
              <a:solidFill>
                <a:srgbClr val="000000"/>
              </a:solidFill>
              <a:latin typeface="Consolas"/>
            </a:endParaRPr>
          </a:p>
          <a:p>
            <a:endParaRPr lang="en-US" sz="3600" baseline="-25000" dirty="0"/>
          </a:p>
        </p:txBody>
      </p:sp>
      <p:sp>
        <p:nvSpPr>
          <p:cNvPr id="10" name="AutoShape 2" descr="https://images.shiksha.com/mediadata/images/articles/1708511865phpdetr6z.jpe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2" name="Rectangle 11"/>
          <p:cNvSpPr/>
          <p:nvPr/>
        </p:nvSpPr>
        <p:spPr>
          <a:xfrm>
            <a:off x="11049000" y="2400300"/>
            <a:ext cx="5486400" cy="3046988"/>
          </a:xfrm>
          <a:prstGeom prst="rect">
            <a:avLst/>
          </a:prstGeom>
          <a:ln w="190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n w="28575">
                <a:solidFill>
                  <a:schemeClr val="accent2">
                    <a:lumMod val="75000"/>
                  </a:schemeClr>
                </a:solidFill>
              </a:ln>
            </a:endParaRPr>
          </a:p>
        </p:txBody>
      </p:sp>
      <p:sp>
        <p:nvSpPr>
          <p:cNvPr id="11" name="Rectangle 10"/>
          <p:cNvSpPr/>
          <p:nvPr/>
        </p:nvSpPr>
        <p:spPr>
          <a:xfrm>
            <a:off x="11049000" y="2400300"/>
            <a:ext cx="5486400" cy="3046988"/>
          </a:xfrm>
          <a:prstGeom prst="rect">
            <a:avLst/>
          </a:prstGeom>
          <a:ln w="28575">
            <a:solidFill>
              <a:schemeClr val="tx1"/>
            </a:solidFill>
          </a:ln>
        </p:spPr>
        <p:txBody>
          <a:bodyPr wrap="square">
            <a:spAutoFit/>
          </a:bodyPr>
          <a:lstStyle/>
          <a:p>
            <a:r>
              <a:rPr lang="en-US" sz="4800" dirty="0" smtClean="0">
                <a:ln w="3175">
                  <a:noFill/>
                </a:ln>
              </a:rPr>
              <a:t>OUTPUT :</a:t>
            </a:r>
          </a:p>
          <a:p>
            <a:r>
              <a:rPr lang="en-US" sz="4800" dirty="0" smtClean="0">
                <a:ln w="3175">
                  <a:noFill/>
                </a:ln>
              </a:rPr>
              <a:t>i </a:t>
            </a:r>
            <a:r>
              <a:rPr lang="en-US" sz="4800" dirty="0">
                <a:ln w="3175">
                  <a:noFill/>
                </a:ln>
              </a:rPr>
              <a:t>=85 j =12</a:t>
            </a:r>
          </a:p>
          <a:p>
            <a:r>
              <a:rPr lang="en-US" sz="4800" dirty="0">
                <a:ln w="3175">
                  <a:noFill/>
                </a:ln>
              </a:rPr>
              <a:t>i =22 j = 90 k =62</a:t>
            </a:r>
          </a:p>
          <a:p>
            <a:r>
              <a:rPr lang="en-US" sz="4800" dirty="0">
                <a:ln w="3175">
                  <a:noFill/>
                </a:ln>
              </a:rPr>
              <a:t>Sum =174</a:t>
            </a:r>
          </a:p>
        </p:txBody>
      </p:sp>
    </p:spTree>
    <p:extLst>
      <p:ext uri="{BB962C8B-B14F-4D97-AF65-F5344CB8AC3E}">
        <p14:creationId xmlns:p14="http://schemas.microsoft.com/office/powerpoint/2010/main" val="285831677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MULTILEVEL INHERITANCE</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4" y="2386268"/>
            <a:ext cx="11734801" cy="7386638"/>
          </a:xfrm>
          <a:prstGeom prst="rect">
            <a:avLst/>
          </a:prstGeom>
        </p:spPr>
        <p:txBody>
          <a:bodyPr wrap="square" lIns="0" tIns="0" rIns="0" bIns="0" rtlCol="0" anchor="t">
            <a:spAutoFit/>
          </a:bodyPr>
          <a:lstStyle/>
          <a:p>
            <a:r>
              <a:rPr lang="en-US" sz="4000" b="1" dirty="0" smtClean="0"/>
              <a:t>Multilevel Inheritance </a:t>
            </a:r>
            <a:r>
              <a:rPr lang="en-US" sz="4000" b="1" dirty="0"/>
              <a:t>in java </a:t>
            </a:r>
            <a:endParaRPr lang="en-US" sz="4000" dirty="0"/>
          </a:p>
          <a:p>
            <a:pPr marL="571500" indent="-571500">
              <a:buFont typeface="Arial" panose="020B0604020202020204" pitchFamily="34" charset="0"/>
              <a:buChar char="•"/>
            </a:pPr>
            <a:r>
              <a:rPr lang="en-US" sz="4000" dirty="0"/>
              <a:t>In Multilevel Inheritance, a derived class will be inheriting a base class and as well as the derived class also acts as the base class for other classes</a:t>
            </a:r>
            <a:r>
              <a:rPr lang="en-US" sz="4000" dirty="0" smtClean="0"/>
              <a:t>.</a:t>
            </a:r>
          </a:p>
          <a:p>
            <a:pPr marL="571500" indent="-571500">
              <a:buFont typeface="Arial" panose="020B0604020202020204" pitchFamily="34" charset="0"/>
              <a:buChar char="•"/>
            </a:pPr>
            <a:r>
              <a:rPr lang="en-US" sz="4000" dirty="0" smtClean="0"/>
              <a:t>Multilevel Inheritance is </a:t>
            </a:r>
            <a:r>
              <a:rPr lang="en-US" sz="4000" dirty="0"/>
              <a:t>a feature that allows a class to inherit properties and </a:t>
            </a:r>
            <a:r>
              <a:rPr lang="en-US" sz="4000" dirty="0" smtClean="0"/>
              <a:t>behavior </a:t>
            </a:r>
            <a:r>
              <a:rPr lang="en-US" sz="4000" dirty="0"/>
              <a:t>from another class, which in turn inherits from another class, forming a "chain" of inheritance</a:t>
            </a:r>
            <a:r>
              <a:rPr lang="en-US" sz="4000" dirty="0" smtClean="0"/>
              <a:t>.</a:t>
            </a:r>
          </a:p>
          <a:p>
            <a:pPr marL="571500" indent="-571500">
              <a:buFont typeface="Arial" panose="020B0604020202020204" pitchFamily="34" charset="0"/>
              <a:buChar char="•"/>
            </a:pPr>
            <a:r>
              <a:rPr lang="en-US" sz="4000" dirty="0" smtClean="0"/>
              <a:t>Real life example : Grandfather        Father        Child</a:t>
            </a:r>
          </a:p>
          <a:p>
            <a:r>
              <a:rPr lang="en-US" sz="4000" dirty="0" smtClean="0"/>
              <a:t>	The child inherits traits from both the father and 	grandfather.</a:t>
            </a:r>
          </a:p>
          <a:p>
            <a:pPr marL="571500" indent="-571500">
              <a:buFont typeface="Arial" panose="020B0604020202020204" pitchFamily="34" charset="0"/>
              <a:buChar char="•"/>
            </a:pPr>
            <a:r>
              <a:rPr lang="en-US" sz="4000" dirty="0" smtClean="0"/>
              <a:t>Follows “is-a relationship”, C is B, is A.</a:t>
            </a:r>
          </a:p>
        </p:txBody>
      </p:sp>
      <p:cxnSp>
        <p:nvCxnSpPr>
          <p:cNvPr id="11" name="Straight Arrow Connector 10"/>
          <p:cNvCxnSpPr/>
          <p:nvPr/>
        </p:nvCxnSpPr>
        <p:spPr>
          <a:xfrm>
            <a:off x="8060175" y="7564066"/>
            <a:ext cx="609600" cy="0"/>
          </a:xfrm>
          <a:prstGeom prst="straightConnector1">
            <a:avLst/>
          </a:prstGeom>
          <a:ln w="76200">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10363200" y="7581900"/>
            <a:ext cx="609600" cy="0"/>
          </a:xfrm>
          <a:prstGeom prst="straightConnector1">
            <a:avLst/>
          </a:prstGeom>
          <a:ln w="76200">
            <a:tailEnd type="arrow"/>
          </a:ln>
        </p:spPr>
        <p:style>
          <a:lnRef idx="1">
            <a:schemeClr val="accent1"/>
          </a:lnRef>
          <a:fillRef idx="0">
            <a:schemeClr val="accent1"/>
          </a:fillRef>
          <a:effectRef idx="0">
            <a:schemeClr val="accent1"/>
          </a:effectRef>
          <a:fontRef idx="minor">
            <a:schemeClr val="tx1"/>
          </a:fontRef>
        </p:style>
      </p:cxnSp>
      <p:pic>
        <p:nvPicPr>
          <p:cNvPr id="2050" name="Picture 2" descr="https://images.shiksha.com/mediadata/images/articles/1708515820phpMhijh2.jpeg"/>
          <p:cNvPicPr>
            <a:picLocks noChangeAspect="1" noChangeArrowheads="1"/>
          </p:cNvPicPr>
          <p:nvPr/>
        </p:nvPicPr>
        <p:blipFill rotWithShape="1">
          <a:blip r:embed="rId2">
            <a:extLst>
              <a:ext uri="{28A0092B-C50C-407E-A947-70E740481C1C}">
                <a14:useLocalDpi xmlns:a14="http://schemas.microsoft.com/office/drawing/2010/main" val="0"/>
              </a:ext>
            </a:extLst>
          </a:blip>
          <a:srcRect l="18389" r="24164"/>
          <a:stretch/>
        </p:blipFill>
        <p:spPr bwMode="auto">
          <a:xfrm>
            <a:off x="13487400" y="2660443"/>
            <a:ext cx="3886200" cy="66591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62270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MULTILEVEL INHERITANCE</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4" y="2386268"/>
            <a:ext cx="11734801" cy="6771084"/>
          </a:xfrm>
          <a:prstGeom prst="rect">
            <a:avLst/>
          </a:prstGeom>
        </p:spPr>
        <p:txBody>
          <a:bodyPr wrap="square" lIns="0" tIns="0" rIns="0" bIns="0" rtlCol="0" anchor="t">
            <a:spAutoFit/>
          </a:bodyPr>
          <a:lstStyle/>
          <a:p>
            <a:r>
              <a:rPr lang="en-US" sz="4000" b="1" dirty="0" smtClean="0"/>
              <a:t>Multilevel Inheritance Syntax</a:t>
            </a:r>
          </a:p>
          <a:p>
            <a:endParaRPr lang="en-US" sz="4000" b="1" dirty="0" smtClean="0"/>
          </a:p>
          <a:p>
            <a:r>
              <a:rPr lang="en-US" sz="4000" dirty="0">
                <a:solidFill>
                  <a:schemeClr val="accent2">
                    <a:lumMod val="75000"/>
                  </a:schemeClr>
                </a:solidFill>
              </a:rPr>
              <a:t>class</a:t>
            </a:r>
            <a:r>
              <a:rPr lang="en-US" sz="4000" dirty="0"/>
              <a:t> </a:t>
            </a:r>
            <a:r>
              <a:rPr lang="en-US" sz="4000" dirty="0" smtClean="0">
                <a:solidFill>
                  <a:schemeClr val="tx2">
                    <a:lumMod val="75000"/>
                  </a:schemeClr>
                </a:solidFill>
              </a:rPr>
              <a:t>Grandparent</a:t>
            </a:r>
            <a:r>
              <a:rPr lang="en-US" sz="4000" dirty="0" smtClean="0"/>
              <a:t> </a:t>
            </a:r>
            <a:r>
              <a:rPr lang="en-US" sz="4000" dirty="0"/>
              <a:t>{</a:t>
            </a:r>
          </a:p>
          <a:p>
            <a:r>
              <a:rPr lang="en-US" sz="4000" dirty="0"/>
              <a:t>	</a:t>
            </a:r>
            <a:r>
              <a:rPr lang="en-US" sz="4000" dirty="0">
                <a:solidFill>
                  <a:schemeClr val="bg1">
                    <a:lumMod val="50000"/>
                  </a:schemeClr>
                </a:solidFill>
              </a:rPr>
              <a:t>// fields and methods of </a:t>
            </a:r>
            <a:r>
              <a:rPr lang="en-US" sz="4000" dirty="0" smtClean="0">
                <a:solidFill>
                  <a:schemeClr val="bg1">
                    <a:lumMod val="50000"/>
                  </a:schemeClr>
                </a:solidFill>
              </a:rPr>
              <a:t>Grandparent </a:t>
            </a:r>
            <a:r>
              <a:rPr lang="en-US" sz="4000" dirty="0">
                <a:solidFill>
                  <a:schemeClr val="bg1">
                    <a:lumMod val="50000"/>
                  </a:schemeClr>
                </a:solidFill>
              </a:rPr>
              <a:t>class</a:t>
            </a:r>
          </a:p>
          <a:p>
            <a:r>
              <a:rPr lang="en-US" sz="4000" dirty="0"/>
              <a:t>}</a:t>
            </a:r>
          </a:p>
          <a:p>
            <a:r>
              <a:rPr lang="en-US" sz="4000" dirty="0">
                <a:solidFill>
                  <a:schemeClr val="accent2">
                    <a:lumMod val="75000"/>
                  </a:schemeClr>
                </a:solidFill>
              </a:rPr>
              <a:t>class</a:t>
            </a:r>
            <a:r>
              <a:rPr lang="en-US" sz="4000" dirty="0"/>
              <a:t> </a:t>
            </a:r>
            <a:r>
              <a:rPr lang="en-US" sz="4000" dirty="0" smtClean="0">
                <a:solidFill>
                  <a:schemeClr val="tx2">
                    <a:lumMod val="75000"/>
                  </a:schemeClr>
                </a:solidFill>
              </a:rPr>
              <a:t>Parent</a:t>
            </a:r>
            <a:r>
              <a:rPr lang="en-US" sz="4000" dirty="0" smtClean="0"/>
              <a:t> </a:t>
            </a:r>
            <a:r>
              <a:rPr lang="en-US" sz="4000" dirty="0">
                <a:solidFill>
                  <a:schemeClr val="accent2">
                    <a:lumMod val="75000"/>
                  </a:schemeClr>
                </a:solidFill>
              </a:rPr>
              <a:t>extends</a:t>
            </a:r>
            <a:r>
              <a:rPr lang="en-US" sz="4000" dirty="0"/>
              <a:t> </a:t>
            </a:r>
            <a:r>
              <a:rPr lang="en-US" sz="4000" dirty="0" smtClean="0">
                <a:solidFill>
                  <a:schemeClr val="tx2">
                    <a:lumMod val="75000"/>
                  </a:schemeClr>
                </a:solidFill>
              </a:rPr>
              <a:t>Grandparent</a:t>
            </a:r>
            <a:r>
              <a:rPr lang="en-US" sz="4000" dirty="0" smtClean="0"/>
              <a:t> </a:t>
            </a:r>
            <a:r>
              <a:rPr lang="en-US" sz="4000" dirty="0"/>
              <a:t>{</a:t>
            </a:r>
          </a:p>
          <a:p>
            <a:r>
              <a:rPr lang="en-US" sz="4000" dirty="0"/>
              <a:t>	</a:t>
            </a:r>
            <a:r>
              <a:rPr lang="en-US" sz="4000" dirty="0">
                <a:solidFill>
                  <a:schemeClr val="bg1">
                    <a:lumMod val="50000"/>
                  </a:schemeClr>
                </a:solidFill>
              </a:rPr>
              <a:t>//fields and methods of </a:t>
            </a:r>
            <a:r>
              <a:rPr lang="en-US" sz="4000" dirty="0" smtClean="0">
                <a:solidFill>
                  <a:schemeClr val="bg1">
                    <a:lumMod val="50000"/>
                  </a:schemeClr>
                </a:solidFill>
              </a:rPr>
              <a:t>Parent Class</a:t>
            </a:r>
            <a:endParaRPr lang="en-US" sz="4000" dirty="0">
              <a:solidFill>
                <a:schemeClr val="bg1">
                  <a:lumMod val="50000"/>
                </a:schemeClr>
              </a:solidFill>
            </a:endParaRPr>
          </a:p>
          <a:p>
            <a:r>
              <a:rPr lang="en-US" sz="4000" dirty="0" smtClean="0"/>
              <a:t>}</a:t>
            </a:r>
          </a:p>
          <a:p>
            <a:r>
              <a:rPr lang="en-US" sz="4000" dirty="0">
                <a:solidFill>
                  <a:schemeClr val="accent2">
                    <a:lumMod val="75000"/>
                  </a:schemeClr>
                </a:solidFill>
              </a:rPr>
              <a:t>class</a:t>
            </a:r>
            <a:r>
              <a:rPr lang="en-US" sz="4000" dirty="0"/>
              <a:t> </a:t>
            </a:r>
            <a:r>
              <a:rPr lang="en-US" sz="4000" dirty="0" smtClean="0">
                <a:solidFill>
                  <a:schemeClr val="tx2">
                    <a:lumMod val="75000"/>
                  </a:schemeClr>
                </a:solidFill>
              </a:rPr>
              <a:t>Child</a:t>
            </a:r>
            <a:r>
              <a:rPr lang="en-US" sz="4000" dirty="0" smtClean="0"/>
              <a:t> </a:t>
            </a:r>
            <a:r>
              <a:rPr lang="en-US" sz="4000" dirty="0">
                <a:solidFill>
                  <a:schemeClr val="accent2">
                    <a:lumMod val="75000"/>
                  </a:schemeClr>
                </a:solidFill>
              </a:rPr>
              <a:t>extends</a:t>
            </a:r>
            <a:r>
              <a:rPr lang="en-US" sz="4000" dirty="0"/>
              <a:t> </a:t>
            </a:r>
            <a:r>
              <a:rPr lang="en-US" sz="4000" dirty="0">
                <a:solidFill>
                  <a:schemeClr val="tx2">
                    <a:lumMod val="75000"/>
                  </a:schemeClr>
                </a:solidFill>
              </a:rPr>
              <a:t>P</a:t>
            </a:r>
            <a:r>
              <a:rPr lang="en-US" sz="4000" dirty="0" smtClean="0">
                <a:solidFill>
                  <a:schemeClr val="tx2">
                    <a:lumMod val="75000"/>
                  </a:schemeClr>
                </a:solidFill>
              </a:rPr>
              <a:t>arent</a:t>
            </a:r>
            <a:r>
              <a:rPr lang="en-US" sz="4000" dirty="0" smtClean="0"/>
              <a:t> </a:t>
            </a:r>
            <a:r>
              <a:rPr lang="en-US" sz="4000" dirty="0"/>
              <a:t>{</a:t>
            </a:r>
          </a:p>
          <a:p>
            <a:r>
              <a:rPr lang="en-US" sz="4000" dirty="0"/>
              <a:t>	</a:t>
            </a:r>
            <a:r>
              <a:rPr lang="en-US" sz="4000" dirty="0">
                <a:solidFill>
                  <a:schemeClr val="bg1">
                    <a:lumMod val="50000"/>
                  </a:schemeClr>
                </a:solidFill>
              </a:rPr>
              <a:t>//fields and methods of </a:t>
            </a:r>
            <a:r>
              <a:rPr lang="en-US" sz="4000" dirty="0" smtClean="0">
                <a:solidFill>
                  <a:schemeClr val="bg1">
                    <a:lumMod val="50000"/>
                  </a:schemeClr>
                </a:solidFill>
              </a:rPr>
              <a:t> Child </a:t>
            </a:r>
            <a:r>
              <a:rPr lang="en-US" sz="4000" dirty="0">
                <a:solidFill>
                  <a:schemeClr val="bg1">
                    <a:lumMod val="50000"/>
                  </a:schemeClr>
                </a:solidFill>
              </a:rPr>
              <a:t>Class</a:t>
            </a:r>
          </a:p>
          <a:p>
            <a:r>
              <a:rPr lang="en-US" sz="4000" dirty="0" smtClean="0"/>
              <a:t>}</a:t>
            </a:r>
            <a:endParaRPr lang="en-US" sz="4000" dirty="0"/>
          </a:p>
        </p:txBody>
      </p:sp>
    </p:spTree>
    <p:extLst>
      <p:ext uri="{BB962C8B-B14F-4D97-AF65-F5344CB8AC3E}">
        <p14:creationId xmlns:p14="http://schemas.microsoft.com/office/powerpoint/2010/main" val="187878418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MULTILEVEL INHERITANCE</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533400" y="2177683"/>
            <a:ext cx="10339285" cy="7755969"/>
          </a:xfrm>
          <a:prstGeom prst="rect">
            <a:avLst/>
          </a:prstGeom>
        </p:spPr>
        <p:txBody>
          <a:bodyPr wrap="square" lIns="0" tIns="0" rIns="0" bIns="0" rtlCol="0" anchor="t">
            <a:spAutoFit/>
          </a:bodyPr>
          <a:lstStyle/>
          <a:p>
            <a:r>
              <a:rPr lang="en-US" sz="2800" b="1" dirty="0">
                <a:solidFill>
                  <a:srgbClr val="7F0055"/>
                </a:solidFill>
                <a:latin typeface="Consolas"/>
              </a:rPr>
              <a:t>class</a:t>
            </a:r>
            <a:r>
              <a:rPr lang="en-US" sz="2800" dirty="0">
                <a:solidFill>
                  <a:srgbClr val="000000"/>
                </a:solidFill>
                <a:latin typeface="Consolas"/>
              </a:rPr>
              <a:t> </a:t>
            </a:r>
            <a:r>
              <a:rPr lang="en-US" sz="2800" u="sng" dirty="0">
                <a:solidFill>
                  <a:srgbClr val="000000"/>
                </a:solidFill>
                <a:latin typeface="Consolas"/>
              </a:rPr>
              <a:t>A</a:t>
            </a:r>
            <a:r>
              <a:rPr lang="en-US" sz="2800" dirty="0">
                <a:solidFill>
                  <a:srgbClr val="000000"/>
                </a:solidFill>
                <a:latin typeface="Consolas"/>
              </a:rPr>
              <a:t>{</a:t>
            </a:r>
          </a:p>
          <a:p>
            <a:r>
              <a:rPr lang="en-US" sz="2800" b="1" dirty="0">
                <a:solidFill>
                  <a:srgbClr val="7F0055"/>
                </a:solidFill>
                <a:latin typeface="Consolas"/>
              </a:rPr>
              <a:t>int</a:t>
            </a:r>
            <a:r>
              <a:rPr lang="en-US" sz="2800" dirty="0">
                <a:solidFill>
                  <a:srgbClr val="000000"/>
                </a:solidFill>
                <a:latin typeface="Consolas"/>
              </a:rPr>
              <a:t> </a:t>
            </a:r>
            <a:r>
              <a:rPr lang="en-US" sz="2800" dirty="0">
                <a:solidFill>
                  <a:srgbClr val="0000C0"/>
                </a:solidFill>
                <a:latin typeface="Consolas"/>
              </a:rPr>
              <a:t>i</a:t>
            </a:r>
            <a:r>
              <a:rPr lang="en-US" sz="2800" dirty="0">
                <a:solidFill>
                  <a:srgbClr val="000000"/>
                </a:solidFill>
                <a:latin typeface="Consolas"/>
              </a:rPr>
              <a:t>, </a:t>
            </a:r>
            <a:r>
              <a:rPr lang="en-US" sz="2800" dirty="0">
                <a:solidFill>
                  <a:srgbClr val="0000C0"/>
                </a:solidFill>
                <a:latin typeface="Consolas"/>
              </a:rPr>
              <a:t>j</a:t>
            </a:r>
            <a:r>
              <a:rPr lang="en-US" sz="2800" dirty="0">
                <a:solidFill>
                  <a:srgbClr val="000000"/>
                </a:solidFill>
                <a:latin typeface="Consolas"/>
              </a:rPr>
              <a:t>;</a:t>
            </a:r>
          </a:p>
          <a:p>
            <a:r>
              <a:rPr lang="en-US" sz="2800" b="1" dirty="0">
                <a:solidFill>
                  <a:srgbClr val="7F0055"/>
                </a:solidFill>
                <a:latin typeface="Consolas"/>
              </a:rPr>
              <a:t>void</a:t>
            </a:r>
            <a:r>
              <a:rPr lang="en-US" sz="2800" dirty="0">
                <a:solidFill>
                  <a:srgbClr val="000000"/>
                </a:solidFill>
                <a:latin typeface="Consolas"/>
              </a:rPr>
              <a:t> show() {</a:t>
            </a:r>
          </a:p>
          <a:p>
            <a:r>
              <a:rPr lang="en-US" sz="2800" dirty="0">
                <a:solidFill>
                  <a:srgbClr val="000000"/>
                </a:solidFill>
                <a:latin typeface="Consolas"/>
              </a:rPr>
              <a:t>System.</a:t>
            </a:r>
            <a:r>
              <a:rPr lang="en-US" sz="2800" b="1" i="1" dirty="0">
                <a:solidFill>
                  <a:srgbClr val="0000C0"/>
                </a:solidFill>
                <a:latin typeface="Consolas"/>
              </a:rPr>
              <a:t>out</a:t>
            </a:r>
            <a:r>
              <a:rPr lang="en-US" sz="2800" dirty="0">
                <a:solidFill>
                  <a:srgbClr val="000000"/>
                </a:solidFill>
                <a:latin typeface="Consolas"/>
              </a:rPr>
              <a:t>.println(</a:t>
            </a:r>
            <a:r>
              <a:rPr lang="en-US" sz="2800" dirty="0">
                <a:solidFill>
                  <a:srgbClr val="2A00FF"/>
                </a:solidFill>
                <a:latin typeface="Consolas"/>
              </a:rPr>
              <a:t>"i ="</a:t>
            </a:r>
            <a:r>
              <a:rPr lang="en-US" sz="2800" dirty="0">
                <a:solidFill>
                  <a:srgbClr val="000000"/>
                </a:solidFill>
                <a:latin typeface="Consolas"/>
              </a:rPr>
              <a:t>+</a:t>
            </a:r>
            <a:r>
              <a:rPr lang="en-US" sz="2800" dirty="0">
                <a:solidFill>
                  <a:srgbClr val="0000C0"/>
                </a:solidFill>
                <a:latin typeface="Consolas"/>
              </a:rPr>
              <a:t>i</a:t>
            </a:r>
            <a:r>
              <a:rPr lang="en-US" sz="2800" dirty="0">
                <a:solidFill>
                  <a:srgbClr val="000000"/>
                </a:solidFill>
                <a:latin typeface="Consolas"/>
              </a:rPr>
              <a:t> +</a:t>
            </a:r>
            <a:r>
              <a:rPr lang="en-US" sz="2800" dirty="0">
                <a:solidFill>
                  <a:srgbClr val="2A00FF"/>
                </a:solidFill>
                <a:latin typeface="Consolas"/>
              </a:rPr>
              <a:t>" "</a:t>
            </a:r>
            <a:r>
              <a:rPr lang="en-US" sz="2800" dirty="0">
                <a:solidFill>
                  <a:srgbClr val="000000"/>
                </a:solidFill>
                <a:latin typeface="Consolas"/>
              </a:rPr>
              <a:t>+</a:t>
            </a:r>
            <a:r>
              <a:rPr lang="en-US" sz="2800" dirty="0">
                <a:solidFill>
                  <a:srgbClr val="2A00FF"/>
                </a:solidFill>
                <a:latin typeface="Consolas"/>
              </a:rPr>
              <a:t>"j ="</a:t>
            </a:r>
            <a:r>
              <a:rPr lang="en-US" sz="2800" dirty="0">
                <a:solidFill>
                  <a:srgbClr val="000000"/>
                </a:solidFill>
                <a:latin typeface="Consolas"/>
              </a:rPr>
              <a:t>+</a:t>
            </a:r>
            <a:r>
              <a:rPr lang="en-US" sz="2800" dirty="0">
                <a:solidFill>
                  <a:srgbClr val="0000C0"/>
                </a:solidFill>
                <a:latin typeface="Consolas"/>
              </a:rPr>
              <a:t>j</a:t>
            </a:r>
            <a:r>
              <a:rPr lang="en-US" sz="2800" dirty="0" smtClean="0">
                <a:solidFill>
                  <a:srgbClr val="000000"/>
                </a:solidFill>
                <a:latin typeface="Consolas"/>
              </a:rPr>
              <a:t>);}}</a:t>
            </a:r>
            <a:endParaRPr lang="en-US" sz="2800" dirty="0">
              <a:solidFill>
                <a:srgbClr val="000000"/>
              </a:solidFill>
              <a:latin typeface="Consolas"/>
            </a:endParaRPr>
          </a:p>
          <a:p>
            <a:r>
              <a:rPr lang="en-US" sz="2800" b="1" dirty="0">
                <a:solidFill>
                  <a:srgbClr val="7F0055"/>
                </a:solidFill>
                <a:latin typeface="Consolas"/>
              </a:rPr>
              <a:t>class</a:t>
            </a:r>
            <a:r>
              <a:rPr lang="en-US" sz="2800" dirty="0">
                <a:solidFill>
                  <a:srgbClr val="000000"/>
                </a:solidFill>
                <a:latin typeface="Consolas"/>
              </a:rPr>
              <a:t> </a:t>
            </a:r>
            <a:r>
              <a:rPr lang="en-US" sz="2800" u="sng" dirty="0">
                <a:solidFill>
                  <a:srgbClr val="000000"/>
                </a:solidFill>
                <a:latin typeface="Consolas"/>
              </a:rPr>
              <a:t>B</a:t>
            </a:r>
            <a:r>
              <a:rPr lang="en-US" sz="2800" dirty="0">
                <a:solidFill>
                  <a:srgbClr val="000000"/>
                </a:solidFill>
                <a:latin typeface="Consolas"/>
              </a:rPr>
              <a:t> </a:t>
            </a:r>
            <a:r>
              <a:rPr lang="en-US" sz="2800" b="1" dirty="0">
                <a:solidFill>
                  <a:srgbClr val="7F0055"/>
                </a:solidFill>
                <a:latin typeface="Consolas"/>
              </a:rPr>
              <a:t>extends</a:t>
            </a:r>
            <a:r>
              <a:rPr lang="en-US" sz="2800" dirty="0">
                <a:solidFill>
                  <a:srgbClr val="000000"/>
                </a:solidFill>
                <a:latin typeface="Consolas"/>
              </a:rPr>
              <a:t> A{</a:t>
            </a:r>
          </a:p>
          <a:p>
            <a:r>
              <a:rPr lang="en-US" sz="2800" b="1" dirty="0">
                <a:solidFill>
                  <a:srgbClr val="7F0055"/>
                </a:solidFill>
                <a:latin typeface="Consolas"/>
              </a:rPr>
              <a:t>int</a:t>
            </a:r>
            <a:r>
              <a:rPr lang="en-US" sz="2800" dirty="0">
                <a:solidFill>
                  <a:srgbClr val="000000"/>
                </a:solidFill>
                <a:latin typeface="Consolas"/>
              </a:rPr>
              <a:t> </a:t>
            </a:r>
            <a:r>
              <a:rPr lang="en-US" sz="2800" dirty="0">
                <a:solidFill>
                  <a:srgbClr val="0000C0"/>
                </a:solidFill>
                <a:latin typeface="Consolas"/>
              </a:rPr>
              <a:t>k</a:t>
            </a:r>
            <a:r>
              <a:rPr lang="en-US" sz="2800" dirty="0">
                <a:solidFill>
                  <a:srgbClr val="000000"/>
                </a:solidFill>
                <a:latin typeface="Consolas"/>
              </a:rPr>
              <a:t>,</a:t>
            </a:r>
            <a:r>
              <a:rPr lang="en-US" sz="2800" dirty="0">
                <a:solidFill>
                  <a:srgbClr val="0000C0"/>
                </a:solidFill>
                <a:latin typeface="Consolas"/>
              </a:rPr>
              <a:t>l</a:t>
            </a:r>
            <a:r>
              <a:rPr lang="en-US" sz="2800" dirty="0">
                <a:solidFill>
                  <a:srgbClr val="000000"/>
                </a:solidFill>
                <a:latin typeface="Consolas"/>
              </a:rPr>
              <a:t>;</a:t>
            </a:r>
          </a:p>
          <a:p>
            <a:r>
              <a:rPr lang="en-US" sz="2800" b="1" dirty="0">
                <a:solidFill>
                  <a:srgbClr val="7F0055"/>
                </a:solidFill>
                <a:latin typeface="Consolas"/>
              </a:rPr>
              <a:t>void</a:t>
            </a:r>
            <a:r>
              <a:rPr lang="en-US" sz="2800" dirty="0">
                <a:solidFill>
                  <a:srgbClr val="000000"/>
                </a:solidFill>
                <a:latin typeface="Consolas"/>
              </a:rPr>
              <a:t> sum() {</a:t>
            </a:r>
          </a:p>
          <a:p>
            <a:r>
              <a:rPr lang="en-US" sz="2800" dirty="0">
                <a:solidFill>
                  <a:srgbClr val="000000"/>
                </a:solidFill>
                <a:latin typeface="Consolas"/>
              </a:rPr>
              <a:t>System.</a:t>
            </a:r>
            <a:r>
              <a:rPr lang="en-US" sz="2800" b="1" i="1" dirty="0">
                <a:solidFill>
                  <a:srgbClr val="0000C0"/>
                </a:solidFill>
                <a:latin typeface="Consolas"/>
              </a:rPr>
              <a:t>out</a:t>
            </a:r>
            <a:r>
              <a:rPr lang="en-US" sz="2800" dirty="0">
                <a:solidFill>
                  <a:srgbClr val="000000"/>
                </a:solidFill>
                <a:latin typeface="Consolas"/>
              </a:rPr>
              <a:t>.println(</a:t>
            </a:r>
            <a:r>
              <a:rPr lang="en-US" sz="2800" dirty="0">
                <a:solidFill>
                  <a:srgbClr val="2A00FF"/>
                </a:solidFill>
                <a:latin typeface="Consolas"/>
              </a:rPr>
              <a:t>"i ="</a:t>
            </a:r>
            <a:r>
              <a:rPr lang="en-US" sz="2800" dirty="0">
                <a:solidFill>
                  <a:srgbClr val="000000"/>
                </a:solidFill>
                <a:latin typeface="Consolas"/>
              </a:rPr>
              <a:t>+</a:t>
            </a:r>
            <a:r>
              <a:rPr lang="en-US" sz="2800" dirty="0">
                <a:solidFill>
                  <a:srgbClr val="0000C0"/>
                </a:solidFill>
                <a:latin typeface="Consolas"/>
              </a:rPr>
              <a:t>i</a:t>
            </a:r>
            <a:r>
              <a:rPr lang="en-US" sz="2800" dirty="0">
                <a:solidFill>
                  <a:srgbClr val="000000"/>
                </a:solidFill>
                <a:latin typeface="Consolas"/>
              </a:rPr>
              <a:t> +</a:t>
            </a:r>
            <a:r>
              <a:rPr lang="en-US" sz="2800" dirty="0">
                <a:solidFill>
                  <a:srgbClr val="2A00FF"/>
                </a:solidFill>
                <a:latin typeface="Consolas"/>
              </a:rPr>
              <a:t>" "</a:t>
            </a:r>
            <a:r>
              <a:rPr lang="en-US" sz="2800" dirty="0">
                <a:solidFill>
                  <a:srgbClr val="000000"/>
                </a:solidFill>
                <a:latin typeface="Consolas"/>
              </a:rPr>
              <a:t>+</a:t>
            </a:r>
            <a:r>
              <a:rPr lang="en-US" sz="2800" dirty="0">
                <a:solidFill>
                  <a:srgbClr val="2A00FF"/>
                </a:solidFill>
                <a:latin typeface="Consolas"/>
              </a:rPr>
              <a:t>"j = "</a:t>
            </a:r>
            <a:r>
              <a:rPr lang="en-US" sz="2800" dirty="0">
                <a:solidFill>
                  <a:srgbClr val="000000"/>
                </a:solidFill>
                <a:latin typeface="Consolas"/>
              </a:rPr>
              <a:t>+</a:t>
            </a:r>
            <a:r>
              <a:rPr lang="en-US" sz="2800" dirty="0">
                <a:solidFill>
                  <a:srgbClr val="0000C0"/>
                </a:solidFill>
                <a:latin typeface="Consolas"/>
              </a:rPr>
              <a:t>j</a:t>
            </a:r>
            <a:r>
              <a:rPr lang="en-US" sz="2800" dirty="0">
                <a:solidFill>
                  <a:srgbClr val="000000"/>
                </a:solidFill>
                <a:latin typeface="Consolas"/>
              </a:rPr>
              <a:t> +</a:t>
            </a:r>
            <a:r>
              <a:rPr lang="en-US" sz="2800" dirty="0">
                <a:solidFill>
                  <a:srgbClr val="2A00FF"/>
                </a:solidFill>
                <a:latin typeface="Consolas"/>
              </a:rPr>
              <a:t>" k ="</a:t>
            </a:r>
            <a:r>
              <a:rPr lang="en-US" sz="2800" dirty="0">
                <a:solidFill>
                  <a:srgbClr val="000000"/>
                </a:solidFill>
                <a:latin typeface="Consolas"/>
              </a:rPr>
              <a:t>+</a:t>
            </a:r>
            <a:r>
              <a:rPr lang="en-US" sz="2800" dirty="0">
                <a:solidFill>
                  <a:srgbClr val="0000C0"/>
                </a:solidFill>
                <a:latin typeface="Consolas"/>
              </a:rPr>
              <a:t>k</a:t>
            </a:r>
            <a:r>
              <a:rPr lang="en-US" sz="2800" dirty="0">
                <a:solidFill>
                  <a:srgbClr val="000000"/>
                </a:solidFill>
                <a:latin typeface="Consolas"/>
              </a:rPr>
              <a:t>);</a:t>
            </a:r>
          </a:p>
          <a:p>
            <a:r>
              <a:rPr lang="en-US" sz="2800" b="1" dirty="0">
                <a:solidFill>
                  <a:srgbClr val="7F0055"/>
                </a:solidFill>
                <a:latin typeface="Consolas"/>
              </a:rPr>
              <a:t>int</a:t>
            </a:r>
            <a:r>
              <a:rPr lang="en-US" sz="2800" dirty="0">
                <a:solidFill>
                  <a:srgbClr val="000000"/>
                </a:solidFill>
                <a:latin typeface="Consolas"/>
              </a:rPr>
              <a:t> </a:t>
            </a:r>
            <a:r>
              <a:rPr lang="en-US" sz="2800" dirty="0">
                <a:solidFill>
                  <a:srgbClr val="6A3E3E"/>
                </a:solidFill>
                <a:latin typeface="Consolas"/>
              </a:rPr>
              <a:t>sum</a:t>
            </a:r>
            <a:r>
              <a:rPr lang="en-US" sz="2800" dirty="0">
                <a:solidFill>
                  <a:srgbClr val="000000"/>
                </a:solidFill>
                <a:latin typeface="Consolas"/>
              </a:rPr>
              <a:t>=</a:t>
            </a:r>
            <a:r>
              <a:rPr lang="en-US" sz="2800" dirty="0">
                <a:solidFill>
                  <a:srgbClr val="0000C0"/>
                </a:solidFill>
                <a:latin typeface="Consolas"/>
              </a:rPr>
              <a:t>i</a:t>
            </a:r>
            <a:r>
              <a:rPr lang="en-US" sz="2800" dirty="0">
                <a:solidFill>
                  <a:srgbClr val="000000"/>
                </a:solidFill>
                <a:latin typeface="Consolas"/>
              </a:rPr>
              <a:t>+</a:t>
            </a:r>
            <a:r>
              <a:rPr lang="en-US" sz="2800" dirty="0">
                <a:solidFill>
                  <a:srgbClr val="0000C0"/>
                </a:solidFill>
                <a:latin typeface="Consolas"/>
              </a:rPr>
              <a:t>j</a:t>
            </a:r>
            <a:r>
              <a:rPr lang="en-US" sz="2800" dirty="0">
                <a:solidFill>
                  <a:srgbClr val="000000"/>
                </a:solidFill>
                <a:latin typeface="Consolas"/>
              </a:rPr>
              <a:t>+</a:t>
            </a:r>
            <a:r>
              <a:rPr lang="en-US" sz="2800" dirty="0">
                <a:solidFill>
                  <a:srgbClr val="0000C0"/>
                </a:solidFill>
                <a:latin typeface="Consolas"/>
              </a:rPr>
              <a:t>k</a:t>
            </a:r>
            <a:r>
              <a:rPr lang="en-US" sz="2800" dirty="0">
                <a:solidFill>
                  <a:srgbClr val="000000"/>
                </a:solidFill>
                <a:latin typeface="Consolas"/>
              </a:rPr>
              <a:t>;</a:t>
            </a:r>
          </a:p>
          <a:p>
            <a:r>
              <a:rPr lang="en-US" sz="2800" dirty="0">
                <a:solidFill>
                  <a:srgbClr val="000000"/>
                </a:solidFill>
                <a:latin typeface="Consolas"/>
              </a:rPr>
              <a:t>System.</a:t>
            </a:r>
            <a:r>
              <a:rPr lang="en-US" sz="2800" b="1" i="1" dirty="0">
                <a:solidFill>
                  <a:srgbClr val="0000C0"/>
                </a:solidFill>
                <a:latin typeface="Consolas"/>
              </a:rPr>
              <a:t>out</a:t>
            </a:r>
            <a:r>
              <a:rPr lang="en-US" sz="2800" dirty="0">
                <a:solidFill>
                  <a:srgbClr val="000000"/>
                </a:solidFill>
                <a:latin typeface="Consolas"/>
              </a:rPr>
              <a:t>.println(</a:t>
            </a:r>
            <a:r>
              <a:rPr lang="en-US" sz="2800" dirty="0">
                <a:solidFill>
                  <a:srgbClr val="2A00FF"/>
                </a:solidFill>
                <a:latin typeface="Consolas"/>
              </a:rPr>
              <a:t>"Sum ="</a:t>
            </a:r>
            <a:r>
              <a:rPr lang="en-US" sz="2800" dirty="0">
                <a:solidFill>
                  <a:srgbClr val="000000"/>
                </a:solidFill>
                <a:latin typeface="Consolas"/>
              </a:rPr>
              <a:t>+</a:t>
            </a:r>
            <a:r>
              <a:rPr lang="en-US" sz="2800" dirty="0">
                <a:solidFill>
                  <a:srgbClr val="6A3E3E"/>
                </a:solidFill>
                <a:latin typeface="Consolas"/>
              </a:rPr>
              <a:t>sum</a:t>
            </a:r>
            <a:r>
              <a:rPr lang="en-US" sz="2800" dirty="0" smtClean="0">
                <a:solidFill>
                  <a:srgbClr val="000000"/>
                </a:solidFill>
                <a:latin typeface="Consolas"/>
              </a:rPr>
              <a:t>);}}</a:t>
            </a:r>
            <a:endParaRPr lang="en-US" sz="2800" dirty="0">
              <a:solidFill>
                <a:srgbClr val="000000"/>
              </a:solidFill>
              <a:latin typeface="Consolas"/>
            </a:endParaRPr>
          </a:p>
          <a:p>
            <a:r>
              <a:rPr lang="en-US" sz="2800" b="1" dirty="0">
                <a:solidFill>
                  <a:srgbClr val="7F0055"/>
                </a:solidFill>
                <a:latin typeface="Consolas"/>
              </a:rPr>
              <a:t>class</a:t>
            </a:r>
            <a:r>
              <a:rPr lang="en-US" sz="2800" dirty="0">
                <a:solidFill>
                  <a:srgbClr val="000000"/>
                </a:solidFill>
                <a:latin typeface="Consolas"/>
              </a:rPr>
              <a:t> C </a:t>
            </a:r>
            <a:r>
              <a:rPr lang="en-US" sz="2800" b="1" dirty="0">
                <a:solidFill>
                  <a:srgbClr val="7F0055"/>
                </a:solidFill>
                <a:latin typeface="Consolas"/>
              </a:rPr>
              <a:t>extends</a:t>
            </a:r>
            <a:r>
              <a:rPr lang="en-US" sz="2800" dirty="0">
                <a:solidFill>
                  <a:srgbClr val="000000"/>
                </a:solidFill>
                <a:latin typeface="Consolas"/>
              </a:rPr>
              <a:t> B{</a:t>
            </a:r>
          </a:p>
          <a:p>
            <a:r>
              <a:rPr lang="en-US" sz="2800" b="1" dirty="0">
                <a:solidFill>
                  <a:srgbClr val="7F0055"/>
                </a:solidFill>
                <a:latin typeface="Consolas"/>
              </a:rPr>
              <a:t>void</a:t>
            </a:r>
            <a:r>
              <a:rPr lang="en-US" sz="2800" dirty="0">
                <a:solidFill>
                  <a:srgbClr val="000000"/>
                </a:solidFill>
                <a:latin typeface="Consolas"/>
              </a:rPr>
              <a:t> product() {</a:t>
            </a:r>
          </a:p>
          <a:p>
            <a:r>
              <a:rPr lang="en-US" sz="2800" b="1" dirty="0">
                <a:solidFill>
                  <a:srgbClr val="7F0055"/>
                </a:solidFill>
                <a:latin typeface="Consolas"/>
              </a:rPr>
              <a:t>int</a:t>
            </a:r>
            <a:r>
              <a:rPr lang="en-US" sz="2800" dirty="0">
                <a:solidFill>
                  <a:srgbClr val="000000"/>
                </a:solidFill>
                <a:latin typeface="Consolas"/>
              </a:rPr>
              <a:t> </a:t>
            </a:r>
            <a:r>
              <a:rPr lang="en-US" sz="2800" dirty="0">
                <a:solidFill>
                  <a:srgbClr val="6A3E3E"/>
                </a:solidFill>
                <a:latin typeface="Consolas"/>
              </a:rPr>
              <a:t>product</a:t>
            </a:r>
            <a:r>
              <a:rPr lang="en-US" sz="2800" dirty="0">
                <a:solidFill>
                  <a:srgbClr val="000000"/>
                </a:solidFill>
                <a:latin typeface="Consolas"/>
              </a:rPr>
              <a:t> =</a:t>
            </a:r>
            <a:r>
              <a:rPr lang="en-US" sz="2800" dirty="0">
                <a:solidFill>
                  <a:srgbClr val="0000C0"/>
                </a:solidFill>
                <a:latin typeface="Consolas"/>
              </a:rPr>
              <a:t>i</a:t>
            </a:r>
            <a:r>
              <a:rPr lang="en-US" sz="2800" dirty="0">
                <a:solidFill>
                  <a:srgbClr val="000000"/>
                </a:solidFill>
                <a:latin typeface="Consolas"/>
              </a:rPr>
              <a:t>*</a:t>
            </a:r>
            <a:r>
              <a:rPr lang="en-US" sz="2800" dirty="0">
                <a:solidFill>
                  <a:srgbClr val="0000C0"/>
                </a:solidFill>
                <a:latin typeface="Consolas"/>
              </a:rPr>
              <a:t>j</a:t>
            </a:r>
            <a:r>
              <a:rPr lang="en-US" sz="2800" dirty="0">
                <a:solidFill>
                  <a:srgbClr val="000000"/>
                </a:solidFill>
                <a:latin typeface="Consolas"/>
              </a:rPr>
              <a:t>*</a:t>
            </a:r>
            <a:r>
              <a:rPr lang="en-US" sz="2800" dirty="0">
                <a:solidFill>
                  <a:srgbClr val="0000C0"/>
                </a:solidFill>
                <a:latin typeface="Consolas"/>
              </a:rPr>
              <a:t>k</a:t>
            </a:r>
            <a:r>
              <a:rPr lang="en-US" sz="2800" dirty="0">
                <a:solidFill>
                  <a:srgbClr val="000000"/>
                </a:solidFill>
                <a:latin typeface="Consolas"/>
              </a:rPr>
              <a:t>;</a:t>
            </a:r>
          </a:p>
          <a:p>
            <a:r>
              <a:rPr lang="en-US" sz="2800" dirty="0">
                <a:solidFill>
                  <a:srgbClr val="000000"/>
                </a:solidFill>
                <a:latin typeface="Consolas"/>
              </a:rPr>
              <a:t>System.</a:t>
            </a:r>
            <a:r>
              <a:rPr lang="en-US" sz="2800" b="1" i="1" dirty="0">
                <a:solidFill>
                  <a:srgbClr val="0000C0"/>
                </a:solidFill>
                <a:latin typeface="Consolas"/>
              </a:rPr>
              <a:t>out</a:t>
            </a:r>
            <a:r>
              <a:rPr lang="en-US" sz="2800" dirty="0">
                <a:solidFill>
                  <a:srgbClr val="000000"/>
                </a:solidFill>
                <a:latin typeface="Consolas"/>
              </a:rPr>
              <a:t>.println(</a:t>
            </a:r>
            <a:r>
              <a:rPr lang="en-US" sz="2800" dirty="0">
                <a:solidFill>
                  <a:srgbClr val="2A00FF"/>
                </a:solidFill>
                <a:latin typeface="Consolas"/>
              </a:rPr>
              <a:t>"Product ="</a:t>
            </a:r>
            <a:r>
              <a:rPr lang="en-US" sz="2800" dirty="0">
                <a:solidFill>
                  <a:srgbClr val="000000"/>
                </a:solidFill>
                <a:latin typeface="Consolas"/>
              </a:rPr>
              <a:t>+</a:t>
            </a:r>
            <a:r>
              <a:rPr lang="en-US" sz="2800" dirty="0">
                <a:solidFill>
                  <a:srgbClr val="6A3E3E"/>
                </a:solidFill>
                <a:latin typeface="Consolas"/>
              </a:rPr>
              <a:t>product</a:t>
            </a:r>
            <a:r>
              <a:rPr lang="en-US" sz="2800" dirty="0" smtClean="0">
                <a:solidFill>
                  <a:srgbClr val="000000"/>
                </a:solidFill>
                <a:latin typeface="Consolas"/>
              </a:rPr>
              <a:t>);}}</a:t>
            </a:r>
          </a:p>
          <a:p>
            <a:r>
              <a:rPr lang="en-US" sz="2800" b="1" dirty="0">
                <a:solidFill>
                  <a:srgbClr val="7F0055"/>
                </a:solidFill>
                <a:latin typeface="Consolas"/>
              </a:rPr>
              <a:t>public</a:t>
            </a:r>
            <a:r>
              <a:rPr lang="en-US" sz="2800" dirty="0">
                <a:solidFill>
                  <a:srgbClr val="000000"/>
                </a:solidFill>
                <a:latin typeface="Consolas"/>
              </a:rPr>
              <a:t> </a:t>
            </a:r>
            <a:r>
              <a:rPr lang="en-US" sz="2800" b="1" dirty="0">
                <a:solidFill>
                  <a:srgbClr val="7F0055"/>
                </a:solidFill>
                <a:latin typeface="Consolas"/>
              </a:rPr>
              <a:t>class</a:t>
            </a:r>
            <a:r>
              <a:rPr lang="en-US" sz="2800" dirty="0">
                <a:solidFill>
                  <a:srgbClr val="000000"/>
                </a:solidFill>
                <a:latin typeface="Consolas"/>
              </a:rPr>
              <a:t> type2 {</a:t>
            </a:r>
          </a:p>
          <a:p>
            <a:r>
              <a:rPr lang="en-US" sz="2800" b="1" dirty="0">
                <a:solidFill>
                  <a:srgbClr val="7F0055"/>
                </a:solidFill>
                <a:latin typeface="Consolas"/>
              </a:rPr>
              <a:t>public</a:t>
            </a:r>
            <a:r>
              <a:rPr lang="en-US" sz="2800" dirty="0">
                <a:solidFill>
                  <a:srgbClr val="000000"/>
                </a:solidFill>
                <a:latin typeface="Consolas"/>
              </a:rPr>
              <a:t> </a:t>
            </a:r>
            <a:r>
              <a:rPr lang="en-US" sz="2800" b="1" dirty="0">
                <a:solidFill>
                  <a:srgbClr val="7F0055"/>
                </a:solidFill>
                <a:latin typeface="Consolas"/>
              </a:rPr>
              <a:t>static</a:t>
            </a:r>
            <a:r>
              <a:rPr lang="en-US" sz="2800" dirty="0">
                <a:solidFill>
                  <a:srgbClr val="000000"/>
                </a:solidFill>
                <a:latin typeface="Consolas"/>
              </a:rPr>
              <a:t> </a:t>
            </a:r>
            <a:r>
              <a:rPr lang="en-US" sz="2800" b="1" dirty="0">
                <a:solidFill>
                  <a:srgbClr val="7F0055"/>
                </a:solidFill>
                <a:latin typeface="Consolas"/>
              </a:rPr>
              <a:t>void</a:t>
            </a:r>
            <a:r>
              <a:rPr lang="en-US" sz="2800" dirty="0">
                <a:solidFill>
                  <a:srgbClr val="000000"/>
                </a:solidFill>
                <a:latin typeface="Consolas"/>
              </a:rPr>
              <a:t> main(String[] </a:t>
            </a:r>
            <a:r>
              <a:rPr lang="en-US" sz="2800" dirty="0">
                <a:solidFill>
                  <a:srgbClr val="6A3E3E"/>
                </a:solidFill>
                <a:latin typeface="Consolas"/>
              </a:rPr>
              <a:t>args</a:t>
            </a:r>
            <a:r>
              <a:rPr lang="en-US" sz="2800" dirty="0">
                <a:solidFill>
                  <a:srgbClr val="000000"/>
                </a:solidFill>
                <a:latin typeface="Consolas"/>
              </a:rPr>
              <a:t>) </a:t>
            </a:r>
            <a:r>
              <a:rPr lang="en-US" sz="2800" dirty="0" smtClean="0">
                <a:solidFill>
                  <a:srgbClr val="000000"/>
                </a:solidFill>
                <a:latin typeface="Consolas"/>
              </a:rPr>
              <a:t>{</a:t>
            </a:r>
          </a:p>
          <a:p>
            <a:r>
              <a:rPr lang="en-US" sz="2800" dirty="0">
                <a:solidFill>
                  <a:srgbClr val="000000"/>
                </a:solidFill>
                <a:latin typeface="Consolas"/>
              </a:rPr>
              <a:t>A </a:t>
            </a:r>
            <a:r>
              <a:rPr lang="en-US" sz="2800" dirty="0">
                <a:solidFill>
                  <a:srgbClr val="6A3E3E"/>
                </a:solidFill>
                <a:latin typeface="Consolas"/>
              </a:rPr>
              <a:t>obj1</a:t>
            </a:r>
            <a:r>
              <a:rPr lang="en-US" sz="2800" dirty="0">
                <a:solidFill>
                  <a:srgbClr val="000000"/>
                </a:solidFill>
                <a:latin typeface="Consolas"/>
              </a:rPr>
              <a:t> = </a:t>
            </a:r>
            <a:r>
              <a:rPr lang="en-US" sz="2800" b="1" dirty="0">
                <a:solidFill>
                  <a:srgbClr val="7F0055"/>
                </a:solidFill>
                <a:latin typeface="Consolas"/>
              </a:rPr>
              <a:t>new</a:t>
            </a:r>
            <a:r>
              <a:rPr lang="en-US" sz="2800" dirty="0">
                <a:solidFill>
                  <a:srgbClr val="000000"/>
                </a:solidFill>
                <a:latin typeface="Consolas"/>
              </a:rPr>
              <a:t> A();</a:t>
            </a:r>
          </a:p>
          <a:p>
            <a:r>
              <a:rPr lang="en-US" sz="2800" dirty="0">
                <a:solidFill>
                  <a:srgbClr val="6A3E3E"/>
                </a:solidFill>
                <a:latin typeface="Consolas"/>
              </a:rPr>
              <a:t>obj1</a:t>
            </a:r>
            <a:r>
              <a:rPr lang="en-US" sz="2800" dirty="0">
                <a:solidFill>
                  <a:srgbClr val="000000"/>
                </a:solidFill>
                <a:latin typeface="Consolas"/>
              </a:rPr>
              <a:t>.</a:t>
            </a:r>
            <a:r>
              <a:rPr lang="en-US" sz="2800" dirty="0">
                <a:solidFill>
                  <a:srgbClr val="0000C0"/>
                </a:solidFill>
                <a:latin typeface="Consolas"/>
              </a:rPr>
              <a:t>i</a:t>
            </a:r>
            <a:r>
              <a:rPr lang="en-US" sz="2800" dirty="0">
                <a:solidFill>
                  <a:srgbClr val="000000"/>
                </a:solidFill>
                <a:latin typeface="Consolas"/>
              </a:rPr>
              <a:t>=85</a:t>
            </a:r>
            <a:r>
              <a:rPr lang="en-US" sz="2800" dirty="0" smtClean="0">
                <a:solidFill>
                  <a:srgbClr val="000000"/>
                </a:solidFill>
                <a:latin typeface="Consolas"/>
              </a:rPr>
              <a:t>;</a:t>
            </a:r>
            <a:endParaRPr lang="en-US" sz="2800" dirty="0">
              <a:solidFill>
                <a:srgbClr val="000000"/>
              </a:solidFill>
              <a:latin typeface="Consolas"/>
            </a:endParaRPr>
          </a:p>
        </p:txBody>
      </p:sp>
      <p:sp>
        <p:nvSpPr>
          <p:cNvPr id="12" name="Rectangle 11"/>
          <p:cNvSpPr/>
          <p:nvPr/>
        </p:nvSpPr>
        <p:spPr>
          <a:xfrm>
            <a:off x="10872685" y="2171700"/>
            <a:ext cx="9144000" cy="5262979"/>
          </a:xfrm>
          <a:prstGeom prst="rect">
            <a:avLst/>
          </a:prstGeom>
        </p:spPr>
        <p:txBody>
          <a:bodyPr>
            <a:spAutoFit/>
          </a:bodyPr>
          <a:lstStyle/>
          <a:p>
            <a:r>
              <a:rPr lang="en-US" sz="2800" dirty="0" smtClean="0">
                <a:solidFill>
                  <a:srgbClr val="6A3E3E"/>
                </a:solidFill>
                <a:latin typeface="Consolas"/>
              </a:rPr>
              <a:t>obj1</a:t>
            </a:r>
            <a:r>
              <a:rPr lang="en-US" sz="2800" dirty="0" smtClean="0">
                <a:solidFill>
                  <a:srgbClr val="000000"/>
                </a:solidFill>
                <a:latin typeface="Consolas"/>
              </a:rPr>
              <a:t>.</a:t>
            </a:r>
            <a:r>
              <a:rPr lang="en-US" sz="2800" dirty="0" smtClean="0">
                <a:solidFill>
                  <a:srgbClr val="0000C0"/>
                </a:solidFill>
                <a:latin typeface="Consolas"/>
              </a:rPr>
              <a:t>j</a:t>
            </a:r>
            <a:r>
              <a:rPr lang="en-US" sz="2800" dirty="0" smtClean="0">
                <a:solidFill>
                  <a:srgbClr val="000000"/>
                </a:solidFill>
                <a:latin typeface="Consolas"/>
              </a:rPr>
              <a:t>=12;</a:t>
            </a:r>
          </a:p>
          <a:p>
            <a:r>
              <a:rPr lang="en-US" sz="2800" dirty="0" smtClean="0">
                <a:solidFill>
                  <a:srgbClr val="6A3E3E"/>
                </a:solidFill>
                <a:latin typeface="Consolas"/>
              </a:rPr>
              <a:t>obj1</a:t>
            </a:r>
            <a:r>
              <a:rPr lang="en-US" sz="2800" dirty="0" smtClean="0">
                <a:solidFill>
                  <a:srgbClr val="000000"/>
                </a:solidFill>
                <a:latin typeface="Consolas"/>
              </a:rPr>
              <a:t>.show();</a:t>
            </a:r>
          </a:p>
          <a:p>
            <a:r>
              <a:rPr lang="en-US" sz="2800" dirty="0" smtClean="0">
                <a:solidFill>
                  <a:srgbClr val="000000"/>
                </a:solidFill>
                <a:latin typeface="Consolas"/>
              </a:rPr>
              <a:t>B </a:t>
            </a:r>
            <a:r>
              <a:rPr lang="en-US" sz="2800" dirty="0" smtClean="0">
                <a:solidFill>
                  <a:srgbClr val="6A3E3E"/>
                </a:solidFill>
                <a:latin typeface="Consolas"/>
              </a:rPr>
              <a:t>obj2</a:t>
            </a:r>
            <a:r>
              <a:rPr lang="en-US" sz="2800" dirty="0" smtClean="0">
                <a:solidFill>
                  <a:srgbClr val="000000"/>
                </a:solidFill>
                <a:latin typeface="Consolas"/>
              </a:rPr>
              <a:t> = </a:t>
            </a:r>
            <a:r>
              <a:rPr lang="en-US" sz="2800" b="1" dirty="0" smtClean="0">
                <a:solidFill>
                  <a:srgbClr val="7F0055"/>
                </a:solidFill>
                <a:latin typeface="Consolas"/>
              </a:rPr>
              <a:t>new</a:t>
            </a:r>
            <a:r>
              <a:rPr lang="en-US" sz="2800" dirty="0" smtClean="0">
                <a:solidFill>
                  <a:srgbClr val="000000"/>
                </a:solidFill>
                <a:latin typeface="Consolas"/>
              </a:rPr>
              <a:t> B();</a:t>
            </a:r>
          </a:p>
          <a:p>
            <a:r>
              <a:rPr lang="en-US" sz="2800" dirty="0" smtClean="0">
                <a:solidFill>
                  <a:srgbClr val="6A3E3E"/>
                </a:solidFill>
                <a:latin typeface="Consolas"/>
              </a:rPr>
              <a:t>obj2</a:t>
            </a:r>
            <a:r>
              <a:rPr lang="en-US" sz="2800" dirty="0" smtClean="0">
                <a:solidFill>
                  <a:srgbClr val="000000"/>
                </a:solidFill>
                <a:latin typeface="Consolas"/>
              </a:rPr>
              <a:t>.</a:t>
            </a:r>
            <a:r>
              <a:rPr lang="en-US" sz="2800" dirty="0" smtClean="0">
                <a:solidFill>
                  <a:srgbClr val="0000C0"/>
                </a:solidFill>
                <a:latin typeface="Consolas"/>
              </a:rPr>
              <a:t>k</a:t>
            </a:r>
            <a:r>
              <a:rPr lang="en-US" sz="2800" dirty="0" smtClean="0">
                <a:solidFill>
                  <a:srgbClr val="000000"/>
                </a:solidFill>
                <a:latin typeface="Consolas"/>
              </a:rPr>
              <a:t>=62;</a:t>
            </a:r>
          </a:p>
          <a:p>
            <a:r>
              <a:rPr lang="en-US" sz="2800" dirty="0" smtClean="0">
                <a:solidFill>
                  <a:srgbClr val="6A3E3E"/>
                </a:solidFill>
                <a:latin typeface="Consolas"/>
              </a:rPr>
              <a:t>obj2</a:t>
            </a:r>
            <a:r>
              <a:rPr lang="en-US" sz="2800" dirty="0" smtClean="0">
                <a:solidFill>
                  <a:srgbClr val="000000"/>
                </a:solidFill>
                <a:latin typeface="Consolas"/>
              </a:rPr>
              <a:t>.</a:t>
            </a:r>
            <a:r>
              <a:rPr lang="en-US" sz="2800" dirty="0" smtClean="0">
                <a:solidFill>
                  <a:srgbClr val="0000C0"/>
                </a:solidFill>
                <a:latin typeface="Consolas"/>
              </a:rPr>
              <a:t>i</a:t>
            </a:r>
            <a:r>
              <a:rPr lang="en-US" sz="2800" dirty="0" smtClean="0">
                <a:solidFill>
                  <a:srgbClr val="000000"/>
                </a:solidFill>
                <a:latin typeface="Consolas"/>
              </a:rPr>
              <a:t>=22;</a:t>
            </a:r>
          </a:p>
          <a:p>
            <a:r>
              <a:rPr lang="en-US" sz="2800" dirty="0" smtClean="0">
                <a:solidFill>
                  <a:srgbClr val="6A3E3E"/>
                </a:solidFill>
                <a:latin typeface="Consolas"/>
              </a:rPr>
              <a:t>obj2</a:t>
            </a:r>
            <a:r>
              <a:rPr lang="en-US" sz="2800" dirty="0" smtClean="0">
                <a:solidFill>
                  <a:srgbClr val="000000"/>
                </a:solidFill>
                <a:latin typeface="Consolas"/>
              </a:rPr>
              <a:t>.</a:t>
            </a:r>
            <a:r>
              <a:rPr lang="en-US" sz="2800" dirty="0" smtClean="0">
                <a:solidFill>
                  <a:srgbClr val="0000C0"/>
                </a:solidFill>
                <a:latin typeface="Consolas"/>
              </a:rPr>
              <a:t>j</a:t>
            </a:r>
            <a:r>
              <a:rPr lang="en-US" sz="2800" dirty="0" smtClean="0">
                <a:solidFill>
                  <a:srgbClr val="000000"/>
                </a:solidFill>
                <a:latin typeface="Consolas"/>
              </a:rPr>
              <a:t>=90;</a:t>
            </a:r>
          </a:p>
          <a:p>
            <a:r>
              <a:rPr lang="en-US" sz="2800" dirty="0" smtClean="0">
                <a:solidFill>
                  <a:srgbClr val="6A3E3E"/>
                </a:solidFill>
                <a:latin typeface="Consolas"/>
              </a:rPr>
              <a:t>obj2</a:t>
            </a:r>
            <a:r>
              <a:rPr lang="en-US" sz="2800" dirty="0" smtClean="0">
                <a:solidFill>
                  <a:srgbClr val="000000"/>
                </a:solidFill>
                <a:latin typeface="Consolas"/>
              </a:rPr>
              <a:t>.sum();</a:t>
            </a:r>
          </a:p>
          <a:p>
            <a:r>
              <a:rPr lang="en-US" sz="2800" dirty="0" smtClean="0">
                <a:solidFill>
                  <a:srgbClr val="000000"/>
                </a:solidFill>
                <a:latin typeface="Consolas"/>
              </a:rPr>
              <a:t>C </a:t>
            </a:r>
            <a:r>
              <a:rPr lang="en-US" sz="2800" dirty="0" smtClean="0">
                <a:solidFill>
                  <a:srgbClr val="6A3E3E"/>
                </a:solidFill>
                <a:latin typeface="Consolas"/>
              </a:rPr>
              <a:t>obj3</a:t>
            </a:r>
            <a:r>
              <a:rPr lang="en-US" sz="2800" dirty="0" smtClean="0">
                <a:solidFill>
                  <a:srgbClr val="000000"/>
                </a:solidFill>
                <a:latin typeface="Consolas"/>
              </a:rPr>
              <a:t> =</a:t>
            </a:r>
            <a:r>
              <a:rPr lang="en-US" sz="2800" b="1" dirty="0" smtClean="0">
                <a:solidFill>
                  <a:srgbClr val="7F0055"/>
                </a:solidFill>
                <a:latin typeface="Consolas"/>
              </a:rPr>
              <a:t>new</a:t>
            </a:r>
            <a:r>
              <a:rPr lang="en-US" sz="2800" dirty="0" smtClean="0">
                <a:solidFill>
                  <a:srgbClr val="000000"/>
                </a:solidFill>
                <a:latin typeface="Consolas"/>
              </a:rPr>
              <a:t> C();</a:t>
            </a:r>
          </a:p>
          <a:p>
            <a:r>
              <a:rPr lang="en-US" sz="2800" dirty="0" smtClean="0">
                <a:solidFill>
                  <a:srgbClr val="6A3E3E"/>
                </a:solidFill>
                <a:latin typeface="Consolas"/>
              </a:rPr>
              <a:t>obj3</a:t>
            </a:r>
            <a:r>
              <a:rPr lang="en-US" sz="2800" dirty="0" smtClean="0">
                <a:solidFill>
                  <a:srgbClr val="000000"/>
                </a:solidFill>
                <a:latin typeface="Consolas"/>
              </a:rPr>
              <a:t>.</a:t>
            </a:r>
            <a:r>
              <a:rPr lang="en-US" sz="2800" dirty="0" smtClean="0">
                <a:solidFill>
                  <a:srgbClr val="0000C0"/>
                </a:solidFill>
                <a:latin typeface="Consolas"/>
              </a:rPr>
              <a:t>i</a:t>
            </a:r>
            <a:r>
              <a:rPr lang="en-US" sz="2800" dirty="0" smtClean="0">
                <a:solidFill>
                  <a:srgbClr val="000000"/>
                </a:solidFill>
                <a:latin typeface="Consolas"/>
              </a:rPr>
              <a:t>=11;</a:t>
            </a:r>
          </a:p>
          <a:p>
            <a:r>
              <a:rPr lang="en-US" sz="2800" dirty="0" smtClean="0">
                <a:solidFill>
                  <a:srgbClr val="6A3E3E"/>
                </a:solidFill>
                <a:latin typeface="Consolas"/>
              </a:rPr>
              <a:t>obj3</a:t>
            </a:r>
            <a:r>
              <a:rPr lang="en-US" sz="2800" dirty="0" smtClean="0">
                <a:solidFill>
                  <a:srgbClr val="000000"/>
                </a:solidFill>
                <a:latin typeface="Consolas"/>
              </a:rPr>
              <a:t>.</a:t>
            </a:r>
            <a:r>
              <a:rPr lang="en-US" sz="2800" dirty="0" smtClean="0">
                <a:solidFill>
                  <a:srgbClr val="0000C0"/>
                </a:solidFill>
                <a:latin typeface="Consolas"/>
              </a:rPr>
              <a:t>j</a:t>
            </a:r>
            <a:r>
              <a:rPr lang="en-US" sz="2800" dirty="0" smtClean="0">
                <a:solidFill>
                  <a:srgbClr val="000000"/>
                </a:solidFill>
                <a:latin typeface="Consolas"/>
              </a:rPr>
              <a:t>=22;</a:t>
            </a:r>
          </a:p>
          <a:p>
            <a:r>
              <a:rPr lang="en-US" sz="2800" dirty="0" smtClean="0">
                <a:solidFill>
                  <a:srgbClr val="6A3E3E"/>
                </a:solidFill>
                <a:latin typeface="Consolas"/>
              </a:rPr>
              <a:t>obj3</a:t>
            </a:r>
            <a:r>
              <a:rPr lang="en-US" sz="2800" dirty="0" smtClean="0">
                <a:solidFill>
                  <a:srgbClr val="000000"/>
                </a:solidFill>
                <a:latin typeface="Consolas"/>
              </a:rPr>
              <a:t>.</a:t>
            </a:r>
            <a:r>
              <a:rPr lang="en-US" sz="2800" dirty="0" smtClean="0">
                <a:solidFill>
                  <a:srgbClr val="0000C0"/>
                </a:solidFill>
                <a:latin typeface="Consolas"/>
              </a:rPr>
              <a:t>k</a:t>
            </a:r>
            <a:r>
              <a:rPr lang="en-US" sz="2800" dirty="0" smtClean="0">
                <a:solidFill>
                  <a:srgbClr val="000000"/>
                </a:solidFill>
                <a:latin typeface="Consolas"/>
              </a:rPr>
              <a:t>=33;</a:t>
            </a:r>
          </a:p>
          <a:p>
            <a:r>
              <a:rPr lang="en-US" sz="2800" dirty="0" smtClean="0">
                <a:solidFill>
                  <a:srgbClr val="6A3E3E"/>
                </a:solidFill>
                <a:latin typeface="Consolas"/>
              </a:rPr>
              <a:t>obj3</a:t>
            </a:r>
            <a:r>
              <a:rPr lang="en-US" sz="2800" dirty="0" smtClean="0">
                <a:solidFill>
                  <a:srgbClr val="000000"/>
                </a:solidFill>
                <a:latin typeface="Consolas"/>
              </a:rPr>
              <a:t>.product();}}</a:t>
            </a:r>
            <a:endParaRPr lang="en-US" sz="2800" dirty="0">
              <a:solidFill>
                <a:srgbClr val="000000"/>
              </a:solidFill>
              <a:effectLst/>
              <a:latin typeface="Consolas"/>
            </a:endParaRPr>
          </a:p>
        </p:txBody>
      </p:sp>
      <p:sp>
        <p:nvSpPr>
          <p:cNvPr id="13" name="Rectangle 12"/>
          <p:cNvSpPr/>
          <p:nvPr/>
        </p:nvSpPr>
        <p:spPr>
          <a:xfrm>
            <a:off x="10900247" y="7441707"/>
            <a:ext cx="5254153" cy="2862322"/>
          </a:xfrm>
          <a:prstGeom prst="rect">
            <a:avLst/>
          </a:prstGeom>
        </p:spPr>
        <p:txBody>
          <a:bodyPr wrap="square">
            <a:spAutoFit/>
          </a:bodyPr>
          <a:lstStyle/>
          <a:p>
            <a:r>
              <a:rPr lang="en-US" sz="3600" b="1" u="sng" dirty="0" smtClean="0"/>
              <a:t>OUTPUT –</a:t>
            </a:r>
          </a:p>
          <a:p>
            <a:r>
              <a:rPr lang="pl-PL" sz="3600" dirty="0" smtClean="0"/>
              <a:t>i </a:t>
            </a:r>
            <a:r>
              <a:rPr lang="pl-PL" sz="3600" dirty="0"/>
              <a:t>=85 j =12</a:t>
            </a:r>
          </a:p>
          <a:p>
            <a:r>
              <a:rPr lang="pl-PL" sz="3600" dirty="0"/>
              <a:t>i =22 j = 90 k =62</a:t>
            </a:r>
          </a:p>
          <a:p>
            <a:r>
              <a:rPr lang="pl-PL" sz="3600" dirty="0"/>
              <a:t>Sum =174</a:t>
            </a:r>
          </a:p>
          <a:p>
            <a:r>
              <a:rPr lang="pl-PL" sz="3600" dirty="0"/>
              <a:t>Product =7986</a:t>
            </a:r>
          </a:p>
        </p:txBody>
      </p:sp>
    </p:spTree>
    <p:extLst>
      <p:ext uri="{BB962C8B-B14F-4D97-AF65-F5344CB8AC3E}">
        <p14:creationId xmlns:p14="http://schemas.microsoft.com/office/powerpoint/2010/main" val="68355391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474763"/>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HIERARCHICAL INHERITANCE</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142999" y="2634574"/>
            <a:ext cx="15537445" cy="6771084"/>
          </a:xfrm>
          <a:prstGeom prst="rect">
            <a:avLst/>
          </a:prstGeom>
        </p:spPr>
        <p:txBody>
          <a:bodyPr wrap="square" lIns="0" tIns="0" rIns="0" bIns="0" rtlCol="0" anchor="t">
            <a:spAutoFit/>
          </a:bodyPr>
          <a:lstStyle/>
          <a:p>
            <a:r>
              <a:rPr lang="en-US" sz="4000" b="1" dirty="0" smtClean="0"/>
              <a:t>Hierarchical Inheritance </a:t>
            </a:r>
            <a:r>
              <a:rPr lang="en-US" sz="4000" b="1" dirty="0"/>
              <a:t>in java </a:t>
            </a:r>
            <a:endParaRPr lang="en-US" sz="4000" dirty="0"/>
          </a:p>
          <a:p>
            <a:pPr marL="571500" indent="-571500">
              <a:buFont typeface="Arial" panose="020B0604020202020204" pitchFamily="34" charset="0"/>
              <a:buChar char="•"/>
            </a:pPr>
            <a:r>
              <a:rPr lang="en-US" sz="4000" dirty="0"/>
              <a:t>In hierarchical inheritance, more than one subclass is inherited from a single base class. i.e. more than one derived class is created from a single base class. </a:t>
            </a:r>
            <a:endParaRPr lang="en-US" sz="4000" dirty="0" smtClean="0"/>
          </a:p>
          <a:p>
            <a:pPr marL="571500" indent="-571500">
              <a:buFont typeface="Arial" panose="020B0604020202020204" pitchFamily="34" charset="0"/>
              <a:buChar char="•"/>
            </a:pPr>
            <a:r>
              <a:rPr lang="en-US" sz="4000" dirty="0" smtClean="0"/>
              <a:t>Hierarchical </a:t>
            </a:r>
            <a:r>
              <a:rPr lang="en-US" sz="4000" dirty="0"/>
              <a:t>inheritance in </a:t>
            </a:r>
            <a:r>
              <a:rPr lang="en-US" sz="4000" b="1" dirty="0"/>
              <a:t>Java</a:t>
            </a:r>
            <a:r>
              <a:rPr lang="en-US" sz="4000" dirty="0"/>
              <a:t> is a type of inheritance where </a:t>
            </a:r>
            <a:r>
              <a:rPr lang="en-US" sz="4000" b="1" dirty="0"/>
              <a:t>multiple subclasses inherit from a single parent (superclass)</a:t>
            </a:r>
            <a:r>
              <a:rPr lang="en-US" sz="4000" dirty="0"/>
              <a:t>. In other words, one parent class acts as the base, and multiple child classes extend it.</a:t>
            </a:r>
            <a:endParaRPr lang="en-US" sz="4000" dirty="0" smtClean="0"/>
          </a:p>
          <a:p>
            <a:pPr marL="571500" indent="-571500">
              <a:buFont typeface="Arial" panose="020B0604020202020204" pitchFamily="34" charset="0"/>
              <a:buChar char="•"/>
            </a:pPr>
            <a:r>
              <a:rPr lang="en-US" sz="4000" dirty="0"/>
              <a:t>Hierarchical inheritance in Java is a type of inheritance where multiple subclasses inherit from a single superclass. This creates a tree-like structure where the superclass is at the top, and multiple child classes branch out from it. </a:t>
            </a:r>
          </a:p>
        </p:txBody>
      </p:sp>
    </p:spTree>
    <p:extLst>
      <p:ext uri="{BB962C8B-B14F-4D97-AF65-F5344CB8AC3E}">
        <p14:creationId xmlns:p14="http://schemas.microsoft.com/office/powerpoint/2010/main" val="122926871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474763"/>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HIERARCHICAL INHERITANCE</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142999" y="2324100"/>
            <a:ext cx="15537445" cy="3077766"/>
          </a:xfrm>
          <a:prstGeom prst="rect">
            <a:avLst/>
          </a:prstGeom>
        </p:spPr>
        <p:txBody>
          <a:bodyPr wrap="square" lIns="0" tIns="0" rIns="0" bIns="0" rtlCol="0" anchor="t">
            <a:spAutoFit/>
          </a:bodyPr>
          <a:lstStyle/>
          <a:p>
            <a:pPr marL="571500" indent="-571500">
              <a:buFont typeface="Arial" panose="020B0604020202020204" pitchFamily="34" charset="0"/>
              <a:buChar char="•"/>
            </a:pPr>
            <a:r>
              <a:rPr lang="en-US" sz="4000" b="1" dirty="0"/>
              <a:t>One superclass, multiple subclasses</a:t>
            </a:r>
            <a:r>
              <a:rPr lang="en-US" sz="4000" b="1" dirty="0" smtClean="0"/>
              <a:t>. </a:t>
            </a:r>
          </a:p>
          <a:p>
            <a:pPr marL="571500" indent="-571500">
              <a:buFont typeface="Arial" panose="020B0604020202020204" pitchFamily="34" charset="0"/>
              <a:buChar char="•"/>
            </a:pPr>
            <a:r>
              <a:rPr lang="en-US" sz="4000" b="1" dirty="0" smtClean="0"/>
              <a:t>Each </a:t>
            </a:r>
            <a:r>
              <a:rPr lang="en-US" sz="4000" b="1" dirty="0"/>
              <a:t>subclass inherits the properties and methods of the parent class, but can also define its own behavior</a:t>
            </a:r>
            <a:r>
              <a:rPr lang="en-US" sz="4000" b="1" dirty="0" smtClean="0"/>
              <a:t>. </a:t>
            </a:r>
          </a:p>
          <a:p>
            <a:pPr marL="571500" indent="-571500">
              <a:buFont typeface="Arial" panose="020B0604020202020204" pitchFamily="34" charset="0"/>
              <a:buChar char="•"/>
            </a:pPr>
            <a:r>
              <a:rPr lang="en-US" sz="4000" b="1" dirty="0" smtClean="0"/>
              <a:t>Useful </a:t>
            </a:r>
            <a:r>
              <a:rPr lang="en-US" sz="4000" b="1" dirty="0"/>
              <a:t>when several classes share common functionality (from the parent) but also need unique behaviors.</a:t>
            </a:r>
            <a:endParaRPr lang="en-US" sz="4000" dirty="0"/>
          </a:p>
        </p:txBody>
      </p:sp>
      <p:pic>
        <p:nvPicPr>
          <p:cNvPr id="5122" name="Picture 2" descr="https://images.shiksha.com/mediadata/images/articles/1708515843phpFgg6P4.jpeg"/>
          <p:cNvPicPr>
            <a:picLocks noChangeAspect="1" noChangeArrowheads="1"/>
          </p:cNvPicPr>
          <p:nvPr/>
        </p:nvPicPr>
        <p:blipFill rotWithShape="1">
          <a:blip r:embed="rId2">
            <a:extLst>
              <a:ext uri="{28A0092B-C50C-407E-A947-70E740481C1C}">
                <a14:useLocalDpi xmlns:a14="http://schemas.microsoft.com/office/drawing/2010/main" val="0"/>
              </a:ext>
            </a:extLst>
          </a:blip>
          <a:srcRect l="5812" t="12358" r="3667" b="17081"/>
          <a:stretch/>
        </p:blipFill>
        <p:spPr bwMode="auto">
          <a:xfrm>
            <a:off x="3782351" y="5294555"/>
            <a:ext cx="9399523" cy="40258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049849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474763"/>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HIERARCHICAL INHERITANCE</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78756" y="2083331"/>
            <a:ext cx="8060382" cy="7017306"/>
          </a:xfrm>
          <a:prstGeom prst="rect">
            <a:avLst/>
          </a:prstGeom>
        </p:spPr>
        <p:txBody>
          <a:bodyPr wrap="square" lIns="0" tIns="0" rIns="0" bIns="0" rtlCol="0" anchor="t">
            <a:spAutoFit/>
          </a:bodyPr>
          <a:lstStyle/>
          <a:p>
            <a:r>
              <a:rPr lang="en-US" sz="2400" b="1" dirty="0">
                <a:solidFill>
                  <a:srgbClr val="7F0055"/>
                </a:solidFill>
                <a:latin typeface="Consolas"/>
              </a:rPr>
              <a:t>class</a:t>
            </a:r>
            <a:r>
              <a:rPr lang="en-US" sz="2400" dirty="0">
                <a:solidFill>
                  <a:srgbClr val="000000"/>
                </a:solidFill>
                <a:latin typeface="Consolas"/>
              </a:rPr>
              <a:t> P{</a:t>
            </a:r>
          </a:p>
          <a:p>
            <a:r>
              <a:rPr lang="en-US" sz="2400" b="1" dirty="0">
                <a:solidFill>
                  <a:srgbClr val="7F0055"/>
                </a:solidFill>
                <a:latin typeface="Consolas"/>
              </a:rPr>
              <a:t>int</a:t>
            </a:r>
            <a:r>
              <a:rPr lang="en-US" sz="2400" dirty="0">
                <a:solidFill>
                  <a:srgbClr val="000000"/>
                </a:solidFill>
                <a:latin typeface="Consolas"/>
              </a:rPr>
              <a:t> </a:t>
            </a:r>
            <a:r>
              <a:rPr lang="en-US" sz="2400" dirty="0">
                <a:solidFill>
                  <a:srgbClr val="0000C0"/>
                </a:solidFill>
                <a:latin typeface="Consolas"/>
              </a:rPr>
              <a:t>i</a:t>
            </a:r>
            <a:r>
              <a:rPr lang="en-US" sz="2400" dirty="0">
                <a:solidFill>
                  <a:srgbClr val="000000"/>
                </a:solidFill>
                <a:latin typeface="Consolas"/>
              </a:rPr>
              <a:t>, </a:t>
            </a:r>
            <a:r>
              <a:rPr lang="en-US" sz="2400" dirty="0">
                <a:solidFill>
                  <a:srgbClr val="0000C0"/>
                </a:solidFill>
                <a:latin typeface="Consolas"/>
              </a:rPr>
              <a:t>j</a:t>
            </a:r>
            <a:r>
              <a:rPr lang="en-US" sz="2400" dirty="0">
                <a:solidFill>
                  <a:srgbClr val="000000"/>
                </a:solidFill>
                <a:latin typeface="Consolas"/>
              </a:rPr>
              <a:t>;</a:t>
            </a:r>
          </a:p>
          <a:p>
            <a:r>
              <a:rPr lang="en-US" sz="2400" b="1" dirty="0">
                <a:solidFill>
                  <a:srgbClr val="7F0055"/>
                </a:solidFill>
                <a:latin typeface="Consolas"/>
              </a:rPr>
              <a:t>void</a:t>
            </a:r>
            <a:r>
              <a:rPr lang="en-US" sz="2400" dirty="0">
                <a:solidFill>
                  <a:srgbClr val="000000"/>
                </a:solidFill>
                <a:latin typeface="Consolas"/>
              </a:rPr>
              <a:t> show() {</a:t>
            </a:r>
          </a:p>
          <a:p>
            <a:r>
              <a:rPr lang="en-US" sz="2400" dirty="0">
                <a:solidFill>
                  <a:srgbClr val="000000"/>
                </a:solidFill>
                <a:latin typeface="Consolas"/>
              </a:rPr>
              <a:t>System.</a:t>
            </a:r>
            <a:r>
              <a:rPr lang="en-US" sz="2400" b="1" i="1" dirty="0">
                <a:solidFill>
                  <a:srgbClr val="0000C0"/>
                </a:solidFill>
                <a:latin typeface="Consolas"/>
              </a:rPr>
              <a:t>out</a:t>
            </a:r>
            <a:r>
              <a:rPr lang="en-US" sz="2400" dirty="0">
                <a:solidFill>
                  <a:srgbClr val="000000"/>
                </a:solidFill>
                <a:latin typeface="Consolas"/>
              </a:rPr>
              <a:t>.println(</a:t>
            </a:r>
            <a:r>
              <a:rPr lang="en-US" sz="2400" dirty="0">
                <a:solidFill>
                  <a:srgbClr val="2A00FF"/>
                </a:solidFill>
                <a:latin typeface="Consolas"/>
              </a:rPr>
              <a:t>"i ="</a:t>
            </a:r>
            <a:r>
              <a:rPr lang="en-US" sz="2400" dirty="0">
                <a:solidFill>
                  <a:srgbClr val="000000"/>
                </a:solidFill>
                <a:latin typeface="Consolas"/>
              </a:rPr>
              <a:t>+</a:t>
            </a:r>
            <a:r>
              <a:rPr lang="en-US" sz="2400" dirty="0">
                <a:solidFill>
                  <a:srgbClr val="0000C0"/>
                </a:solidFill>
                <a:latin typeface="Consolas"/>
              </a:rPr>
              <a:t>i</a:t>
            </a:r>
            <a:r>
              <a:rPr lang="en-US" sz="2400" dirty="0">
                <a:solidFill>
                  <a:srgbClr val="000000"/>
                </a:solidFill>
                <a:latin typeface="Consolas"/>
              </a:rPr>
              <a:t> +</a:t>
            </a:r>
            <a:r>
              <a:rPr lang="en-US" sz="2400" dirty="0">
                <a:solidFill>
                  <a:srgbClr val="2A00FF"/>
                </a:solidFill>
                <a:latin typeface="Consolas"/>
              </a:rPr>
              <a:t>" "</a:t>
            </a:r>
            <a:r>
              <a:rPr lang="en-US" sz="2400" dirty="0">
                <a:solidFill>
                  <a:srgbClr val="000000"/>
                </a:solidFill>
                <a:latin typeface="Consolas"/>
              </a:rPr>
              <a:t>+</a:t>
            </a:r>
            <a:r>
              <a:rPr lang="en-US" sz="2400" dirty="0">
                <a:solidFill>
                  <a:srgbClr val="2A00FF"/>
                </a:solidFill>
                <a:latin typeface="Consolas"/>
              </a:rPr>
              <a:t>"j ="</a:t>
            </a:r>
            <a:r>
              <a:rPr lang="en-US" sz="2400" dirty="0">
                <a:solidFill>
                  <a:srgbClr val="000000"/>
                </a:solidFill>
                <a:latin typeface="Consolas"/>
              </a:rPr>
              <a:t>+</a:t>
            </a:r>
            <a:r>
              <a:rPr lang="en-US" sz="2400" dirty="0">
                <a:solidFill>
                  <a:srgbClr val="0000C0"/>
                </a:solidFill>
                <a:latin typeface="Consolas"/>
              </a:rPr>
              <a:t>j</a:t>
            </a:r>
            <a:r>
              <a:rPr lang="en-US" sz="2400" dirty="0" smtClean="0">
                <a:solidFill>
                  <a:srgbClr val="000000"/>
                </a:solidFill>
                <a:latin typeface="Consolas"/>
              </a:rPr>
              <a:t>);}}</a:t>
            </a:r>
            <a:endParaRPr lang="en-US" sz="2400" dirty="0">
              <a:solidFill>
                <a:srgbClr val="000000"/>
              </a:solidFill>
              <a:latin typeface="Consolas"/>
            </a:endParaRPr>
          </a:p>
          <a:p>
            <a:r>
              <a:rPr lang="en-US" sz="2400" b="1" dirty="0">
                <a:solidFill>
                  <a:srgbClr val="7F0055"/>
                </a:solidFill>
                <a:latin typeface="Consolas"/>
              </a:rPr>
              <a:t>class</a:t>
            </a:r>
            <a:r>
              <a:rPr lang="en-US" sz="2400" dirty="0">
                <a:solidFill>
                  <a:srgbClr val="000000"/>
                </a:solidFill>
                <a:latin typeface="Consolas"/>
              </a:rPr>
              <a:t> Q </a:t>
            </a:r>
            <a:r>
              <a:rPr lang="en-US" sz="2400" b="1" dirty="0">
                <a:solidFill>
                  <a:srgbClr val="7F0055"/>
                </a:solidFill>
                <a:latin typeface="Consolas"/>
              </a:rPr>
              <a:t>extends</a:t>
            </a:r>
            <a:r>
              <a:rPr lang="en-US" sz="2400" dirty="0">
                <a:solidFill>
                  <a:srgbClr val="000000"/>
                </a:solidFill>
                <a:latin typeface="Consolas"/>
              </a:rPr>
              <a:t> P{ </a:t>
            </a:r>
          </a:p>
          <a:p>
            <a:r>
              <a:rPr lang="en-US" sz="2400" b="1" dirty="0">
                <a:solidFill>
                  <a:srgbClr val="7F0055"/>
                </a:solidFill>
                <a:latin typeface="Consolas"/>
              </a:rPr>
              <a:t>void</a:t>
            </a:r>
            <a:r>
              <a:rPr lang="en-US" sz="2400" dirty="0">
                <a:solidFill>
                  <a:srgbClr val="000000"/>
                </a:solidFill>
                <a:latin typeface="Consolas"/>
              </a:rPr>
              <a:t> sum() {</a:t>
            </a:r>
          </a:p>
          <a:p>
            <a:r>
              <a:rPr lang="en-US" sz="2400" b="1" dirty="0">
                <a:solidFill>
                  <a:srgbClr val="7F0055"/>
                </a:solidFill>
                <a:latin typeface="Consolas"/>
              </a:rPr>
              <a:t>int</a:t>
            </a:r>
            <a:r>
              <a:rPr lang="en-US" sz="2400" dirty="0">
                <a:solidFill>
                  <a:srgbClr val="000000"/>
                </a:solidFill>
                <a:latin typeface="Consolas"/>
              </a:rPr>
              <a:t> </a:t>
            </a:r>
            <a:r>
              <a:rPr lang="en-US" sz="2400" dirty="0">
                <a:solidFill>
                  <a:srgbClr val="6A3E3E"/>
                </a:solidFill>
                <a:latin typeface="Consolas"/>
              </a:rPr>
              <a:t>sum</a:t>
            </a:r>
            <a:r>
              <a:rPr lang="en-US" sz="2400" dirty="0">
                <a:solidFill>
                  <a:srgbClr val="000000"/>
                </a:solidFill>
                <a:latin typeface="Consolas"/>
              </a:rPr>
              <a:t>=</a:t>
            </a:r>
            <a:r>
              <a:rPr lang="en-US" sz="2400" dirty="0">
                <a:solidFill>
                  <a:srgbClr val="0000C0"/>
                </a:solidFill>
                <a:latin typeface="Consolas"/>
              </a:rPr>
              <a:t>i</a:t>
            </a:r>
            <a:r>
              <a:rPr lang="en-US" sz="2400" dirty="0">
                <a:solidFill>
                  <a:srgbClr val="000000"/>
                </a:solidFill>
                <a:latin typeface="Consolas"/>
              </a:rPr>
              <a:t>+</a:t>
            </a:r>
            <a:r>
              <a:rPr lang="en-US" sz="2400" dirty="0">
                <a:solidFill>
                  <a:srgbClr val="0000C0"/>
                </a:solidFill>
                <a:latin typeface="Consolas"/>
              </a:rPr>
              <a:t>j</a:t>
            </a:r>
            <a:r>
              <a:rPr lang="en-US" sz="2400" dirty="0">
                <a:solidFill>
                  <a:srgbClr val="000000"/>
                </a:solidFill>
                <a:latin typeface="Consolas"/>
              </a:rPr>
              <a:t>;</a:t>
            </a:r>
          </a:p>
          <a:p>
            <a:r>
              <a:rPr lang="en-US" sz="2400" dirty="0">
                <a:solidFill>
                  <a:srgbClr val="000000"/>
                </a:solidFill>
                <a:latin typeface="Consolas"/>
              </a:rPr>
              <a:t>System.</a:t>
            </a:r>
            <a:r>
              <a:rPr lang="en-US" sz="2400" b="1" i="1" dirty="0">
                <a:solidFill>
                  <a:srgbClr val="0000C0"/>
                </a:solidFill>
                <a:latin typeface="Consolas"/>
              </a:rPr>
              <a:t>out</a:t>
            </a:r>
            <a:r>
              <a:rPr lang="en-US" sz="2400" dirty="0">
                <a:solidFill>
                  <a:srgbClr val="000000"/>
                </a:solidFill>
                <a:latin typeface="Consolas"/>
              </a:rPr>
              <a:t>.println(</a:t>
            </a:r>
            <a:r>
              <a:rPr lang="en-US" sz="2400" dirty="0">
                <a:solidFill>
                  <a:srgbClr val="2A00FF"/>
                </a:solidFill>
                <a:latin typeface="Consolas"/>
              </a:rPr>
              <a:t>"Sum ="</a:t>
            </a:r>
            <a:r>
              <a:rPr lang="en-US" sz="2400" dirty="0">
                <a:solidFill>
                  <a:srgbClr val="000000"/>
                </a:solidFill>
                <a:latin typeface="Consolas"/>
              </a:rPr>
              <a:t>+</a:t>
            </a:r>
            <a:r>
              <a:rPr lang="en-US" sz="2400" dirty="0">
                <a:solidFill>
                  <a:srgbClr val="6A3E3E"/>
                </a:solidFill>
                <a:latin typeface="Consolas"/>
              </a:rPr>
              <a:t>sum</a:t>
            </a:r>
            <a:r>
              <a:rPr lang="en-US" sz="2400" dirty="0" smtClean="0">
                <a:solidFill>
                  <a:srgbClr val="000000"/>
                </a:solidFill>
                <a:latin typeface="Consolas"/>
              </a:rPr>
              <a:t>);}}</a:t>
            </a:r>
            <a:endParaRPr lang="en-US" sz="2400" dirty="0">
              <a:solidFill>
                <a:srgbClr val="000000"/>
              </a:solidFill>
              <a:latin typeface="Consolas"/>
            </a:endParaRPr>
          </a:p>
          <a:p>
            <a:r>
              <a:rPr lang="en-US" sz="2400" b="1" dirty="0">
                <a:solidFill>
                  <a:srgbClr val="7F0055"/>
                </a:solidFill>
                <a:latin typeface="Consolas"/>
              </a:rPr>
              <a:t>class</a:t>
            </a:r>
            <a:r>
              <a:rPr lang="en-US" sz="2400" dirty="0">
                <a:solidFill>
                  <a:srgbClr val="000000"/>
                </a:solidFill>
                <a:latin typeface="Consolas"/>
              </a:rPr>
              <a:t> R </a:t>
            </a:r>
            <a:r>
              <a:rPr lang="en-US" sz="2400" b="1" dirty="0">
                <a:solidFill>
                  <a:srgbClr val="7F0055"/>
                </a:solidFill>
                <a:latin typeface="Consolas"/>
              </a:rPr>
              <a:t>extends</a:t>
            </a:r>
            <a:r>
              <a:rPr lang="en-US" sz="2400" dirty="0">
                <a:solidFill>
                  <a:srgbClr val="000000"/>
                </a:solidFill>
                <a:latin typeface="Consolas"/>
              </a:rPr>
              <a:t> P{</a:t>
            </a:r>
          </a:p>
          <a:p>
            <a:r>
              <a:rPr lang="en-US" sz="2400" b="1" dirty="0">
                <a:solidFill>
                  <a:srgbClr val="7F0055"/>
                </a:solidFill>
                <a:latin typeface="Consolas"/>
              </a:rPr>
              <a:t>void</a:t>
            </a:r>
            <a:r>
              <a:rPr lang="en-US" sz="2400" dirty="0">
                <a:solidFill>
                  <a:srgbClr val="000000"/>
                </a:solidFill>
                <a:latin typeface="Consolas"/>
              </a:rPr>
              <a:t> product() {</a:t>
            </a:r>
          </a:p>
          <a:p>
            <a:r>
              <a:rPr lang="en-US" sz="2400" b="1" dirty="0">
                <a:solidFill>
                  <a:srgbClr val="7F0055"/>
                </a:solidFill>
                <a:latin typeface="Consolas"/>
              </a:rPr>
              <a:t>int</a:t>
            </a:r>
            <a:r>
              <a:rPr lang="en-US" sz="2400" dirty="0">
                <a:solidFill>
                  <a:srgbClr val="000000"/>
                </a:solidFill>
                <a:latin typeface="Consolas"/>
              </a:rPr>
              <a:t> </a:t>
            </a:r>
            <a:r>
              <a:rPr lang="en-US" sz="2400" dirty="0">
                <a:solidFill>
                  <a:srgbClr val="6A3E3E"/>
                </a:solidFill>
                <a:latin typeface="Consolas"/>
              </a:rPr>
              <a:t>product</a:t>
            </a:r>
            <a:r>
              <a:rPr lang="en-US" sz="2400" dirty="0">
                <a:solidFill>
                  <a:srgbClr val="000000"/>
                </a:solidFill>
                <a:latin typeface="Consolas"/>
              </a:rPr>
              <a:t> =</a:t>
            </a:r>
            <a:r>
              <a:rPr lang="en-US" sz="2400" dirty="0">
                <a:solidFill>
                  <a:srgbClr val="0000C0"/>
                </a:solidFill>
                <a:latin typeface="Consolas"/>
              </a:rPr>
              <a:t>i</a:t>
            </a:r>
            <a:r>
              <a:rPr lang="en-US" sz="2400" dirty="0">
                <a:solidFill>
                  <a:srgbClr val="000000"/>
                </a:solidFill>
                <a:latin typeface="Consolas"/>
              </a:rPr>
              <a:t>*</a:t>
            </a:r>
            <a:r>
              <a:rPr lang="en-US" sz="2400" dirty="0">
                <a:solidFill>
                  <a:srgbClr val="0000C0"/>
                </a:solidFill>
                <a:latin typeface="Consolas"/>
              </a:rPr>
              <a:t>j</a:t>
            </a:r>
            <a:r>
              <a:rPr lang="en-US" sz="2400" dirty="0">
                <a:solidFill>
                  <a:srgbClr val="000000"/>
                </a:solidFill>
                <a:latin typeface="Consolas"/>
              </a:rPr>
              <a:t>;</a:t>
            </a:r>
          </a:p>
          <a:p>
            <a:r>
              <a:rPr lang="en-US" sz="2400" dirty="0">
                <a:solidFill>
                  <a:srgbClr val="000000"/>
                </a:solidFill>
                <a:latin typeface="Consolas"/>
              </a:rPr>
              <a:t>System.</a:t>
            </a:r>
            <a:r>
              <a:rPr lang="en-US" sz="2400" b="1" i="1" dirty="0">
                <a:solidFill>
                  <a:srgbClr val="0000C0"/>
                </a:solidFill>
                <a:latin typeface="Consolas"/>
              </a:rPr>
              <a:t>out</a:t>
            </a:r>
            <a:r>
              <a:rPr lang="en-US" sz="2400" dirty="0">
                <a:solidFill>
                  <a:srgbClr val="000000"/>
                </a:solidFill>
                <a:latin typeface="Consolas"/>
              </a:rPr>
              <a:t>.println(</a:t>
            </a:r>
            <a:r>
              <a:rPr lang="en-US" sz="2400" dirty="0">
                <a:solidFill>
                  <a:srgbClr val="2A00FF"/>
                </a:solidFill>
                <a:latin typeface="Consolas"/>
              </a:rPr>
              <a:t>"Product ="</a:t>
            </a:r>
            <a:r>
              <a:rPr lang="en-US" sz="2400" dirty="0">
                <a:solidFill>
                  <a:srgbClr val="000000"/>
                </a:solidFill>
                <a:latin typeface="Consolas"/>
              </a:rPr>
              <a:t>+</a:t>
            </a:r>
            <a:r>
              <a:rPr lang="en-US" sz="2400" dirty="0">
                <a:solidFill>
                  <a:srgbClr val="6A3E3E"/>
                </a:solidFill>
                <a:latin typeface="Consolas"/>
              </a:rPr>
              <a:t>product</a:t>
            </a:r>
            <a:r>
              <a:rPr lang="en-US" sz="2400" dirty="0" smtClean="0">
                <a:solidFill>
                  <a:srgbClr val="000000"/>
                </a:solidFill>
                <a:latin typeface="Consolas"/>
              </a:rPr>
              <a:t>);}}</a:t>
            </a:r>
          </a:p>
          <a:p>
            <a:r>
              <a:rPr lang="en-US" sz="2400" b="1" dirty="0">
                <a:solidFill>
                  <a:srgbClr val="7F0055"/>
                </a:solidFill>
                <a:latin typeface="Consolas"/>
              </a:rPr>
              <a:t>public</a:t>
            </a:r>
            <a:r>
              <a:rPr lang="en-US" sz="2400" dirty="0">
                <a:solidFill>
                  <a:srgbClr val="000000"/>
                </a:solidFill>
                <a:latin typeface="Consolas"/>
              </a:rPr>
              <a:t> </a:t>
            </a:r>
            <a:r>
              <a:rPr lang="en-US" sz="2400" b="1" dirty="0">
                <a:solidFill>
                  <a:srgbClr val="7F0055"/>
                </a:solidFill>
                <a:latin typeface="Consolas"/>
              </a:rPr>
              <a:t>class</a:t>
            </a:r>
            <a:r>
              <a:rPr lang="en-US" sz="2400" dirty="0">
                <a:solidFill>
                  <a:srgbClr val="000000"/>
                </a:solidFill>
                <a:latin typeface="Consolas"/>
              </a:rPr>
              <a:t> type3 {</a:t>
            </a:r>
          </a:p>
          <a:p>
            <a:r>
              <a:rPr lang="en-US" sz="2400" b="1" dirty="0">
                <a:solidFill>
                  <a:srgbClr val="7F0055"/>
                </a:solidFill>
                <a:latin typeface="Consolas"/>
              </a:rPr>
              <a:t>public</a:t>
            </a:r>
            <a:r>
              <a:rPr lang="en-US" sz="2400" dirty="0">
                <a:solidFill>
                  <a:srgbClr val="000000"/>
                </a:solidFill>
                <a:latin typeface="Consolas"/>
              </a:rPr>
              <a:t> </a:t>
            </a:r>
            <a:r>
              <a:rPr lang="en-US" sz="2400" b="1" dirty="0">
                <a:solidFill>
                  <a:srgbClr val="7F0055"/>
                </a:solidFill>
                <a:latin typeface="Consolas"/>
              </a:rPr>
              <a:t>static</a:t>
            </a:r>
            <a:r>
              <a:rPr lang="en-US" sz="2400" dirty="0">
                <a:solidFill>
                  <a:srgbClr val="000000"/>
                </a:solidFill>
                <a:latin typeface="Consolas"/>
              </a:rPr>
              <a:t> </a:t>
            </a:r>
            <a:r>
              <a:rPr lang="en-US" sz="2400" b="1" dirty="0">
                <a:solidFill>
                  <a:srgbClr val="7F0055"/>
                </a:solidFill>
                <a:latin typeface="Consolas"/>
              </a:rPr>
              <a:t>void</a:t>
            </a:r>
            <a:r>
              <a:rPr lang="en-US" sz="2400" dirty="0">
                <a:solidFill>
                  <a:srgbClr val="000000"/>
                </a:solidFill>
                <a:latin typeface="Consolas"/>
              </a:rPr>
              <a:t> main(String[] </a:t>
            </a:r>
            <a:r>
              <a:rPr lang="en-US" sz="2400" dirty="0">
                <a:solidFill>
                  <a:srgbClr val="6A3E3E"/>
                </a:solidFill>
                <a:latin typeface="Consolas"/>
              </a:rPr>
              <a:t>args</a:t>
            </a:r>
            <a:r>
              <a:rPr lang="en-US" sz="2400" dirty="0">
                <a:solidFill>
                  <a:srgbClr val="000000"/>
                </a:solidFill>
                <a:latin typeface="Consolas"/>
              </a:rPr>
              <a:t>) {</a:t>
            </a:r>
          </a:p>
          <a:p>
            <a:r>
              <a:rPr lang="en-US" sz="2400" dirty="0">
                <a:solidFill>
                  <a:srgbClr val="000000"/>
                </a:solidFill>
                <a:latin typeface="Consolas"/>
              </a:rPr>
              <a:t>P </a:t>
            </a:r>
            <a:r>
              <a:rPr lang="en-US" sz="2400" dirty="0">
                <a:solidFill>
                  <a:srgbClr val="6A3E3E"/>
                </a:solidFill>
                <a:latin typeface="Consolas"/>
              </a:rPr>
              <a:t>obj1</a:t>
            </a:r>
            <a:r>
              <a:rPr lang="en-US" sz="2400" dirty="0">
                <a:solidFill>
                  <a:srgbClr val="000000"/>
                </a:solidFill>
                <a:latin typeface="Consolas"/>
              </a:rPr>
              <a:t> = </a:t>
            </a:r>
            <a:r>
              <a:rPr lang="en-US" sz="2400" b="1" dirty="0">
                <a:solidFill>
                  <a:srgbClr val="7F0055"/>
                </a:solidFill>
                <a:latin typeface="Consolas"/>
              </a:rPr>
              <a:t>new</a:t>
            </a:r>
            <a:r>
              <a:rPr lang="en-US" sz="2400" dirty="0">
                <a:solidFill>
                  <a:srgbClr val="000000"/>
                </a:solidFill>
                <a:latin typeface="Consolas"/>
              </a:rPr>
              <a:t> P();</a:t>
            </a:r>
          </a:p>
          <a:p>
            <a:r>
              <a:rPr lang="en-US" sz="2400" dirty="0">
                <a:solidFill>
                  <a:srgbClr val="6A3E3E"/>
                </a:solidFill>
                <a:latin typeface="Consolas"/>
              </a:rPr>
              <a:t>obj1</a:t>
            </a:r>
            <a:r>
              <a:rPr lang="en-US" sz="2400" dirty="0">
                <a:solidFill>
                  <a:srgbClr val="000000"/>
                </a:solidFill>
                <a:latin typeface="Consolas"/>
              </a:rPr>
              <a:t>.</a:t>
            </a:r>
            <a:r>
              <a:rPr lang="en-US" sz="2400" dirty="0">
                <a:solidFill>
                  <a:srgbClr val="0000C0"/>
                </a:solidFill>
                <a:latin typeface="Consolas"/>
              </a:rPr>
              <a:t>i</a:t>
            </a:r>
            <a:r>
              <a:rPr lang="en-US" sz="2400" dirty="0">
                <a:solidFill>
                  <a:srgbClr val="000000"/>
                </a:solidFill>
                <a:latin typeface="Consolas"/>
              </a:rPr>
              <a:t>=10;</a:t>
            </a:r>
          </a:p>
          <a:p>
            <a:r>
              <a:rPr lang="en-US" sz="2400" dirty="0">
                <a:solidFill>
                  <a:srgbClr val="6A3E3E"/>
                </a:solidFill>
                <a:latin typeface="Consolas"/>
              </a:rPr>
              <a:t>obj1</a:t>
            </a:r>
            <a:r>
              <a:rPr lang="en-US" sz="2400" dirty="0">
                <a:solidFill>
                  <a:srgbClr val="000000"/>
                </a:solidFill>
                <a:latin typeface="Consolas"/>
              </a:rPr>
              <a:t>.</a:t>
            </a:r>
            <a:r>
              <a:rPr lang="en-US" sz="2400" dirty="0">
                <a:solidFill>
                  <a:srgbClr val="0000C0"/>
                </a:solidFill>
                <a:latin typeface="Consolas"/>
              </a:rPr>
              <a:t>j</a:t>
            </a:r>
            <a:r>
              <a:rPr lang="en-US" sz="2400" dirty="0">
                <a:solidFill>
                  <a:srgbClr val="000000"/>
                </a:solidFill>
                <a:latin typeface="Consolas"/>
              </a:rPr>
              <a:t>=10;</a:t>
            </a:r>
          </a:p>
          <a:p>
            <a:r>
              <a:rPr lang="en-US" sz="2400" dirty="0">
                <a:solidFill>
                  <a:srgbClr val="6A3E3E"/>
                </a:solidFill>
                <a:latin typeface="Consolas"/>
              </a:rPr>
              <a:t>obj1</a:t>
            </a:r>
            <a:r>
              <a:rPr lang="en-US" sz="2400" dirty="0">
                <a:solidFill>
                  <a:srgbClr val="000000"/>
                </a:solidFill>
                <a:latin typeface="Consolas"/>
              </a:rPr>
              <a:t>.show(); </a:t>
            </a:r>
          </a:p>
          <a:p>
            <a:r>
              <a:rPr lang="en-US" sz="2400" dirty="0">
                <a:solidFill>
                  <a:srgbClr val="000000"/>
                </a:solidFill>
                <a:latin typeface="Consolas"/>
              </a:rPr>
              <a:t>Q </a:t>
            </a:r>
            <a:r>
              <a:rPr lang="en-US" sz="2400" dirty="0">
                <a:solidFill>
                  <a:srgbClr val="6A3E3E"/>
                </a:solidFill>
                <a:latin typeface="Consolas"/>
              </a:rPr>
              <a:t>obj2</a:t>
            </a:r>
            <a:r>
              <a:rPr lang="en-US" sz="2400" dirty="0">
                <a:solidFill>
                  <a:srgbClr val="000000"/>
                </a:solidFill>
                <a:latin typeface="Consolas"/>
              </a:rPr>
              <a:t> = </a:t>
            </a:r>
            <a:r>
              <a:rPr lang="en-US" sz="2400" b="1" dirty="0">
                <a:solidFill>
                  <a:srgbClr val="7F0055"/>
                </a:solidFill>
                <a:latin typeface="Consolas"/>
              </a:rPr>
              <a:t>new</a:t>
            </a:r>
            <a:r>
              <a:rPr lang="en-US" sz="2400" dirty="0">
                <a:solidFill>
                  <a:srgbClr val="000000"/>
                </a:solidFill>
                <a:latin typeface="Consolas"/>
              </a:rPr>
              <a:t> Q</a:t>
            </a:r>
            <a:r>
              <a:rPr lang="en-US" sz="2400" dirty="0" smtClean="0">
                <a:solidFill>
                  <a:srgbClr val="000000"/>
                </a:solidFill>
                <a:latin typeface="Consolas"/>
              </a:rPr>
              <a:t>();</a:t>
            </a:r>
            <a:endParaRPr lang="en-US" sz="2400" dirty="0">
              <a:solidFill>
                <a:srgbClr val="000000"/>
              </a:solidFill>
              <a:latin typeface="Consolas"/>
            </a:endParaRPr>
          </a:p>
        </p:txBody>
      </p:sp>
      <p:sp>
        <p:nvSpPr>
          <p:cNvPr id="12" name="Rectangle 11"/>
          <p:cNvSpPr/>
          <p:nvPr/>
        </p:nvSpPr>
        <p:spPr>
          <a:xfrm>
            <a:off x="9144001" y="2158189"/>
            <a:ext cx="9144000" cy="3416320"/>
          </a:xfrm>
          <a:prstGeom prst="rect">
            <a:avLst/>
          </a:prstGeom>
        </p:spPr>
        <p:txBody>
          <a:bodyPr>
            <a:spAutoFit/>
          </a:bodyPr>
          <a:lstStyle/>
          <a:p>
            <a:r>
              <a:rPr lang="en-US" sz="2400" dirty="0">
                <a:solidFill>
                  <a:srgbClr val="6A3E3E"/>
                </a:solidFill>
                <a:latin typeface="Consolas"/>
              </a:rPr>
              <a:t>obj2</a:t>
            </a:r>
            <a:r>
              <a:rPr lang="en-US" sz="2400" dirty="0">
                <a:solidFill>
                  <a:srgbClr val="000000"/>
                </a:solidFill>
                <a:latin typeface="Consolas"/>
              </a:rPr>
              <a:t>.</a:t>
            </a:r>
            <a:r>
              <a:rPr lang="en-US" sz="2400" dirty="0">
                <a:solidFill>
                  <a:srgbClr val="0000C0"/>
                </a:solidFill>
                <a:latin typeface="Consolas"/>
              </a:rPr>
              <a:t>i</a:t>
            </a:r>
            <a:r>
              <a:rPr lang="en-US" sz="2400" dirty="0">
                <a:solidFill>
                  <a:srgbClr val="000000"/>
                </a:solidFill>
                <a:latin typeface="Consolas"/>
              </a:rPr>
              <a:t>=20;</a:t>
            </a:r>
          </a:p>
          <a:p>
            <a:r>
              <a:rPr lang="en-US" sz="2400" dirty="0">
                <a:solidFill>
                  <a:srgbClr val="6A3E3E"/>
                </a:solidFill>
                <a:latin typeface="Consolas"/>
              </a:rPr>
              <a:t>obj2</a:t>
            </a:r>
            <a:r>
              <a:rPr lang="en-US" sz="2400" dirty="0">
                <a:solidFill>
                  <a:srgbClr val="000000"/>
                </a:solidFill>
                <a:latin typeface="Consolas"/>
              </a:rPr>
              <a:t>.</a:t>
            </a:r>
            <a:r>
              <a:rPr lang="en-US" sz="2400" dirty="0">
                <a:solidFill>
                  <a:srgbClr val="0000C0"/>
                </a:solidFill>
                <a:latin typeface="Consolas"/>
              </a:rPr>
              <a:t>j</a:t>
            </a:r>
            <a:r>
              <a:rPr lang="en-US" sz="2400" dirty="0">
                <a:solidFill>
                  <a:srgbClr val="000000"/>
                </a:solidFill>
                <a:latin typeface="Consolas"/>
              </a:rPr>
              <a:t>=20;</a:t>
            </a:r>
          </a:p>
          <a:p>
            <a:r>
              <a:rPr lang="en-US" sz="2400" dirty="0">
                <a:solidFill>
                  <a:srgbClr val="6A3E3E"/>
                </a:solidFill>
                <a:latin typeface="Consolas"/>
              </a:rPr>
              <a:t>obj2</a:t>
            </a:r>
            <a:r>
              <a:rPr lang="en-US" sz="2400" dirty="0">
                <a:solidFill>
                  <a:srgbClr val="000000"/>
                </a:solidFill>
                <a:latin typeface="Consolas"/>
              </a:rPr>
              <a:t>.sum(); </a:t>
            </a:r>
            <a:endParaRPr lang="en-US" sz="2400" dirty="0" smtClean="0">
              <a:solidFill>
                <a:srgbClr val="6A3E3E"/>
              </a:solidFill>
              <a:latin typeface="Consolas"/>
            </a:endParaRPr>
          </a:p>
          <a:p>
            <a:r>
              <a:rPr lang="en-US" sz="2400" dirty="0" smtClean="0">
                <a:solidFill>
                  <a:srgbClr val="6A3E3E"/>
                </a:solidFill>
                <a:latin typeface="Consolas"/>
              </a:rPr>
              <a:t>obj2</a:t>
            </a:r>
            <a:r>
              <a:rPr lang="en-US" sz="2400" dirty="0" smtClean="0">
                <a:solidFill>
                  <a:srgbClr val="000000"/>
                </a:solidFill>
                <a:latin typeface="Consolas"/>
              </a:rPr>
              <a:t>.sum</a:t>
            </a:r>
            <a:r>
              <a:rPr lang="en-US" sz="2400" dirty="0">
                <a:solidFill>
                  <a:srgbClr val="000000"/>
                </a:solidFill>
                <a:latin typeface="Consolas"/>
              </a:rPr>
              <a:t>(); </a:t>
            </a:r>
          </a:p>
          <a:p>
            <a:r>
              <a:rPr lang="en-US" sz="2400" dirty="0" smtClean="0">
                <a:solidFill>
                  <a:srgbClr val="000000"/>
                </a:solidFill>
                <a:latin typeface="Consolas"/>
              </a:rPr>
              <a:t>R </a:t>
            </a:r>
            <a:r>
              <a:rPr lang="en-US" sz="2400" dirty="0" smtClean="0">
                <a:solidFill>
                  <a:srgbClr val="6A3E3E"/>
                </a:solidFill>
                <a:latin typeface="Consolas"/>
              </a:rPr>
              <a:t>obj3</a:t>
            </a:r>
            <a:r>
              <a:rPr lang="en-US" sz="2400" dirty="0" smtClean="0">
                <a:solidFill>
                  <a:srgbClr val="000000"/>
                </a:solidFill>
                <a:latin typeface="Consolas"/>
              </a:rPr>
              <a:t> </a:t>
            </a:r>
            <a:r>
              <a:rPr lang="en-US" sz="2400" dirty="0">
                <a:solidFill>
                  <a:srgbClr val="000000"/>
                </a:solidFill>
                <a:latin typeface="Consolas"/>
              </a:rPr>
              <a:t>=</a:t>
            </a:r>
            <a:r>
              <a:rPr lang="en-US" sz="2400" b="1" dirty="0">
                <a:solidFill>
                  <a:srgbClr val="7F0055"/>
                </a:solidFill>
                <a:latin typeface="Consolas"/>
              </a:rPr>
              <a:t>new</a:t>
            </a:r>
            <a:r>
              <a:rPr lang="en-US" sz="2400" dirty="0">
                <a:solidFill>
                  <a:srgbClr val="000000"/>
                </a:solidFill>
                <a:latin typeface="Consolas"/>
              </a:rPr>
              <a:t> R();</a:t>
            </a:r>
          </a:p>
          <a:p>
            <a:r>
              <a:rPr lang="en-US" sz="2400" dirty="0">
                <a:solidFill>
                  <a:srgbClr val="6A3E3E"/>
                </a:solidFill>
                <a:latin typeface="Consolas"/>
              </a:rPr>
              <a:t>obj3</a:t>
            </a:r>
            <a:r>
              <a:rPr lang="en-US" sz="2400" dirty="0">
                <a:solidFill>
                  <a:srgbClr val="000000"/>
                </a:solidFill>
                <a:latin typeface="Consolas"/>
              </a:rPr>
              <a:t>.</a:t>
            </a:r>
            <a:r>
              <a:rPr lang="en-US" sz="2400" dirty="0">
                <a:solidFill>
                  <a:srgbClr val="0000C0"/>
                </a:solidFill>
                <a:latin typeface="Consolas"/>
              </a:rPr>
              <a:t>i</a:t>
            </a:r>
            <a:r>
              <a:rPr lang="en-US" sz="2400" dirty="0">
                <a:solidFill>
                  <a:srgbClr val="000000"/>
                </a:solidFill>
                <a:latin typeface="Consolas"/>
              </a:rPr>
              <a:t>=30;</a:t>
            </a:r>
          </a:p>
          <a:p>
            <a:r>
              <a:rPr lang="en-US" sz="2400" dirty="0">
                <a:solidFill>
                  <a:srgbClr val="6A3E3E"/>
                </a:solidFill>
                <a:latin typeface="Consolas"/>
              </a:rPr>
              <a:t>obj3</a:t>
            </a:r>
            <a:r>
              <a:rPr lang="en-US" sz="2400" dirty="0">
                <a:solidFill>
                  <a:srgbClr val="000000"/>
                </a:solidFill>
                <a:latin typeface="Consolas"/>
              </a:rPr>
              <a:t>.</a:t>
            </a:r>
            <a:r>
              <a:rPr lang="en-US" sz="2400" dirty="0">
                <a:solidFill>
                  <a:srgbClr val="0000C0"/>
                </a:solidFill>
                <a:latin typeface="Consolas"/>
              </a:rPr>
              <a:t>j</a:t>
            </a:r>
            <a:r>
              <a:rPr lang="en-US" sz="2400" dirty="0">
                <a:solidFill>
                  <a:srgbClr val="000000"/>
                </a:solidFill>
                <a:latin typeface="Consolas"/>
              </a:rPr>
              <a:t>=30;</a:t>
            </a:r>
          </a:p>
          <a:p>
            <a:r>
              <a:rPr lang="en-US" sz="2400" dirty="0">
                <a:solidFill>
                  <a:srgbClr val="6A3E3E"/>
                </a:solidFill>
                <a:latin typeface="Consolas"/>
              </a:rPr>
              <a:t>obj3</a:t>
            </a:r>
            <a:r>
              <a:rPr lang="en-US" sz="2400" dirty="0">
                <a:solidFill>
                  <a:srgbClr val="000000"/>
                </a:solidFill>
                <a:latin typeface="Consolas"/>
              </a:rPr>
              <a:t>.product</a:t>
            </a:r>
            <a:r>
              <a:rPr lang="en-US" sz="2400" dirty="0" smtClean="0">
                <a:solidFill>
                  <a:srgbClr val="000000"/>
                </a:solidFill>
                <a:latin typeface="Consolas"/>
              </a:rPr>
              <a:t>();}</a:t>
            </a:r>
            <a:endParaRPr lang="en-US" sz="2400" dirty="0">
              <a:solidFill>
                <a:srgbClr val="000000"/>
              </a:solidFill>
              <a:latin typeface="Consolas"/>
            </a:endParaRPr>
          </a:p>
          <a:p>
            <a:r>
              <a:rPr lang="en-US" sz="2400" dirty="0">
                <a:solidFill>
                  <a:srgbClr val="000000"/>
                </a:solidFill>
                <a:latin typeface="Consolas"/>
              </a:rPr>
              <a:t>}</a:t>
            </a:r>
            <a:endParaRPr lang="en-US" sz="2400" dirty="0">
              <a:solidFill>
                <a:srgbClr val="000000"/>
              </a:solidFill>
              <a:effectLst/>
              <a:latin typeface="Consolas"/>
            </a:endParaRPr>
          </a:p>
        </p:txBody>
      </p:sp>
      <p:sp>
        <p:nvSpPr>
          <p:cNvPr id="13" name="Rectangle 12"/>
          <p:cNvSpPr/>
          <p:nvPr/>
        </p:nvSpPr>
        <p:spPr>
          <a:xfrm>
            <a:off x="9139137" y="6210300"/>
            <a:ext cx="9144000" cy="3046988"/>
          </a:xfrm>
          <a:prstGeom prst="rect">
            <a:avLst/>
          </a:prstGeom>
        </p:spPr>
        <p:txBody>
          <a:bodyPr>
            <a:spAutoFit/>
          </a:bodyPr>
          <a:lstStyle/>
          <a:p>
            <a:r>
              <a:rPr lang="en-US" sz="4800" b="1" dirty="0" smtClean="0"/>
              <a:t>OUTPUT –</a:t>
            </a:r>
          </a:p>
          <a:p>
            <a:r>
              <a:rPr lang="pl-PL" sz="4800" dirty="0" smtClean="0"/>
              <a:t>i </a:t>
            </a:r>
            <a:r>
              <a:rPr lang="pl-PL" sz="4800" dirty="0"/>
              <a:t>=10 j =10</a:t>
            </a:r>
          </a:p>
          <a:p>
            <a:r>
              <a:rPr lang="pl-PL" sz="4800" dirty="0"/>
              <a:t>Sum =40</a:t>
            </a:r>
          </a:p>
          <a:p>
            <a:r>
              <a:rPr lang="pl-PL" sz="4800" dirty="0"/>
              <a:t>Product =900</a:t>
            </a:r>
          </a:p>
        </p:txBody>
      </p:sp>
    </p:spTree>
    <p:extLst>
      <p:ext uri="{BB962C8B-B14F-4D97-AF65-F5344CB8AC3E}">
        <p14:creationId xmlns:p14="http://schemas.microsoft.com/office/powerpoint/2010/main" val="40976679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8309402" y="-7100792"/>
            <a:ext cx="1354671" cy="16764004"/>
            <a:chOff x="0" y="-74241"/>
            <a:chExt cx="284633" cy="852956"/>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74241"/>
              <a:ext cx="284633" cy="852956"/>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773350" y="604686"/>
            <a:ext cx="16611603" cy="1474763"/>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WHY NOT MULTILEVEL INHERITANCE IN JAVA ?</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142999" y="2634574"/>
            <a:ext cx="15537445" cy="6771084"/>
          </a:xfrm>
          <a:prstGeom prst="rect">
            <a:avLst/>
          </a:prstGeom>
        </p:spPr>
        <p:txBody>
          <a:bodyPr wrap="square" lIns="0" tIns="0" rIns="0" bIns="0" rtlCol="0" anchor="t">
            <a:spAutoFit/>
          </a:bodyPr>
          <a:lstStyle/>
          <a:p>
            <a:r>
              <a:rPr lang="en-US" sz="4000" b="1" dirty="0"/>
              <a:t>Why Multiple Inheritance is Not Allowed in Java</a:t>
            </a:r>
          </a:p>
          <a:p>
            <a:r>
              <a:rPr lang="en-US" sz="4000" dirty="0"/>
              <a:t>In Java, a class cannot directly inherit from more than one class. This restriction was made by the language designers to keep the language simple, secure, and free from ambiguity. The main reasons are:</a:t>
            </a:r>
          </a:p>
          <a:p>
            <a:pPr marL="571500" indent="-571500">
              <a:buFont typeface="Arial" panose="020B0604020202020204" pitchFamily="34" charset="0"/>
              <a:buChar char="•"/>
            </a:pPr>
            <a:r>
              <a:rPr lang="en-US" sz="4000" b="1" dirty="0"/>
              <a:t>Ambiguity (Diamond Problem):</a:t>
            </a:r>
            <a:r>
              <a:rPr lang="en-US" sz="4000" dirty="0"/>
              <a:t/>
            </a:r>
            <a:br>
              <a:rPr lang="en-US" sz="4000" dirty="0"/>
            </a:br>
            <a:r>
              <a:rPr lang="en-US" sz="4000" dirty="0"/>
              <a:t>If two parent classes have a method with the same name, the child class will not know which one to inherit. This leads to confusion during method calls.</a:t>
            </a:r>
          </a:p>
          <a:p>
            <a:pPr marL="571500" indent="-571500">
              <a:buFont typeface="Arial" panose="020B0604020202020204" pitchFamily="34" charset="0"/>
              <a:buChar char="•"/>
            </a:pPr>
            <a:r>
              <a:rPr lang="en-US" sz="4000" b="1" dirty="0"/>
              <a:t>Variable Conflicts:</a:t>
            </a:r>
            <a:r>
              <a:rPr lang="en-US" sz="4000" dirty="0"/>
              <a:t/>
            </a:r>
            <a:br>
              <a:rPr lang="en-US" sz="4000" dirty="0"/>
            </a:br>
            <a:r>
              <a:rPr lang="en-US" sz="4000" dirty="0"/>
              <a:t>If two parent classes contain fields (variables) with the same name, it becomes unclear which one should be used by the child class</a:t>
            </a:r>
            <a:r>
              <a:rPr lang="en-US" sz="4000" dirty="0" smtClean="0"/>
              <a:t>.</a:t>
            </a:r>
            <a:endParaRPr lang="en-US" sz="4000" dirty="0"/>
          </a:p>
        </p:txBody>
      </p:sp>
    </p:spTree>
    <p:extLst>
      <p:ext uri="{BB962C8B-B14F-4D97-AF65-F5344CB8AC3E}">
        <p14:creationId xmlns:p14="http://schemas.microsoft.com/office/powerpoint/2010/main" val="268861573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8309402" y="-7100792"/>
            <a:ext cx="1354671" cy="16764004"/>
            <a:chOff x="0" y="-74241"/>
            <a:chExt cx="284633" cy="852956"/>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74241"/>
              <a:ext cx="284633" cy="852956"/>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773350" y="604686"/>
            <a:ext cx="16611603" cy="1474763"/>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WHY NOT MULTILEVEL INHERITANCE IN JAVA ?</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142999" y="2634574"/>
            <a:ext cx="15537445" cy="4924425"/>
          </a:xfrm>
          <a:prstGeom prst="rect">
            <a:avLst/>
          </a:prstGeom>
        </p:spPr>
        <p:txBody>
          <a:bodyPr wrap="square" lIns="0" tIns="0" rIns="0" bIns="0" rtlCol="0" anchor="t">
            <a:spAutoFit/>
          </a:bodyPr>
          <a:lstStyle/>
          <a:p>
            <a:pPr marL="571500" indent="-571500">
              <a:buFont typeface="Arial" panose="020B0604020202020204" pitchFamily="34" charset="0"/>
              <a:buChar char="•"/>
            </a:pPr>
            <a:r>
              <a:rPr lang="en-US" sz="4000" b="1" dirty="0"/>
              <a:t>Constructor Confusion:</a:t>
            </a:r>
            <a:r>
              <a:rPr lang="en-US" sz="4000" dirty="0"/>
              <a:t/>
            </a:r>
            <a:br>
              <a:rPr lang="en-US" sz="4000" dirty="0"/>
            </a:br>
            <a:r>
              <a:rPr lang="en-US" sz="4000" dirty="0"/>
              <a:t>While creating an object, Java calls the parent class constructor first. With two or more parents, the order of constructor calls would become uncertain</a:t>
            </a:r>
            <a:r>
              <a:rPr lang="en-US" sz="4000" dirty="0" smtClean="0"/>
              <a:t>.</a:t>
            </a:r>
            <a:endParaRPr lang="en-US" sz="4000" dirty="0"/>
          </a:p>
          <a:p>
            <a:pPr marL="571500" indent="-571500">
              <a:buFont typeface="Arial" panose="020B0604020202020204" pitchFamily="34" charset="0"/>
              <a:buChar char="•"/>
            </a:pPr>
            <a:r>
              <a:rPr lang="en-US" sz="4000" b="1" dirty="0"/>
              <a:t>Simplicity and Maintainability:</a:t>
            </a:r>
            <a:r>
              <a:rPr lang="en-US" sz="4000" dirty="0"/>
              <a:t/>
            </a:r>
            <a:br>
              <a:rPr lang="en-US" sz="4000" dirty="0"/>
            </a:br>
            <a:r>
              <a:rPr lang="en-US" sz="4000" dirty="0"/>
              <a:t>Allowing multiple inheritance would make Java complex like C++, making code harder to read, maintain, and debug. By avoiding it, Java keeps the object model simple and predictable.</a:t>
            </a:r>
          </a:p>
        </p:txBody>
      </p:sp>
    </p:spTree>
    <p:extLst>
      <p:ext uri="{BB962C8B-B14F-4D97-AF65-F5344CB8AC3E}">
        <p14:creationId xmlns:p14="http://schemas.microsoft.com/office/powerpoint/2010/main" val="31091115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MEMBER ACCESS &amp; INHERITANCE</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142999" y="2634574"/>
            <a:ext cx="15537445" cy="7386638"/>
          </a:xfrm>
          <a:prstGeom prst="rect">
            <a:avLst/>
          </a:prstGeom>
        </p:spPr>
        <p:txBody>
          <a:bodyPr wrap="square" lIns="0" tIns="0" rIns="0" bIns="0" rtlCol="0" anchor="t">
            <a:spAutoFit/>
          </a:bodyPr>
          <a:lstStyle/>
          <a:p>
            <a:pPr marL="571500" indent="-571500">
              <a:buFont typeface="Arial" panose="020B0604020202020204" pitchFamily="34" charset="0"/>
              <a:buChar char="•"/>
            </a:pPr>
            <a:r>
              <a:rPr lang="en-US" sz="4000" dirty="0"/>
              <a:t>In Java, private members of a class include its fields (variables), methods, and constructors declared with the private modifier. </a:t>
            </a:r>
            <a:r>
              <a:rPr lang="en-US" sz="4000" dirty="0" smtClean="0"/>
              <a:t> </a:t>
            </a:r>
          </a:p>
          <a:p>
            <a:pPr marL="571500" indent="-571500">
              <a:buFont typeface="Arial" panose="020B0604020202020204" pitchFamily="34" charset="0"/>
              <a:buChar char="•"/>
            </a:pPr>
            <a:r>
              <a:rPr lang="en-US" sz="4000" b="1" dirty="0"/>
              <a:t>Not Inherited by </a:t>
            </a:r>
            <a:r>
              <a:rPr lang="en-US" sz="4000" b="1" dirty="0" smtClean="0"/>
              <a:t>Subclasses</a:t>
            </a:r>
            <a:r>
              <a:rPr lang="en-US" sz="4000" dirty="0" smtClean="0"/>
              <a:t> - Private </a:t>
            </a:r>
            <a:r>
              <a:rPr lang="en-US" sz="4000" dirty="0"/>
              <a:t>members of a parent class are not accessible directly in the child </a:t>
            </a:r>
            <a:r>
              <a:rPr lang="en-US" sz="4000" dirty="0" smtClean="0"/>
              <a:t>class. Even though </a:t>
            </a:r>
            <a:r>
              <a:rPr lang="en-US" sz="4000" dirty="0"/>
              <a:t>child </a:t>
            </a:r>
            <a:r>
              <a:rPr lang="en-US" sz="4000" dirty="0" smtClean="0"/>
              <a:t>inherits </a:t>
            </a:r>
            <a:r>
              <a:rPr lang="en-US" sz="4000" dirty="0"/>
              <a:t>structure of </a:t>
            </a:r>
            <a:r>
              <a:rPr lang="en-US" sz="4000" dirty="0" smtClean="0"/>
              <a:t>parent</a:t>
            </a:r>
            <a:r>
              <a:rPr lang="en-US" sz="4000" dirty="0"/>
              <a:t>, private members remain hidden and cannot be used directly.</a:t>
            </a:r>
          </a:p>
          <a:p>
            <a:pPr marL="571500" indent="-571500">
              <a:buFont typeface="Arial" panose="020B0604020202020204" pitchFamily="34" charset="0"/>
              <a:buChar char="•"/>
            </a:pPr>
            <a:r>
              <a:rPr lang="en-US" sz="4000" b="1" dirty="0"/>
              <a:t>Accessible Only Within the Same </a:t>
            </a:r>
            <a:r>
              <a:rPr lang="en-US" sz="4000" b="1" dirty="0" smtClean="0"/>
              <a:t>Class</a:t>
            </a:r>
            <a:r>
              <a:rPr lang="en-US" sz="4000" dirty="0" smtClean="0"/>
              <a:t> - Private </a:t>
            </a:r>
            <a:r>
              <a:rPr lang="en-US" sz="4000" dirty="0"/>
              <a:t>members can only be accessed inside the class where they are </a:t>
            </a:r>
            <a:r>
              <a:rPr lang="en-US" sz="4000" dirty="0" smtClean="0"/>
              <a:t>declared. Neither </a:t>
            </a:r>
            <a:r>
              <a:rPr lang="en-US" sz="4000" dirty="0"/>
              <a:t>subclasses in the same package nor subclasses in different packages can access them.</a:t>
            </a:r>
          </a:p>
          <a:p>
            <a:pPr marL="571500" indent="-571500">
              <a:buFont typeface="Arial" panose="020B0604020202020204" pitchFamily="34" charset="0"/>
              <a:buChar char="•"/>
            </a:pPr>
            <a:r>
              <a:rPr lang="en-US" sz="4000" b="1" dirty="0"/>
              <a:t>Indirect Access Through </a:t>
            </a:r>
            <a:r>
              <a:rPr lang="en-US" sz="4000" b="1" dirty="0" smtClean="0"/>
              <a:t>Methods</a:t>
            </a:r>
            <a:r>
              <a:rPr lang="en-US" sz="4000" dirty="0" smtClean="0"/>
              <a:t> - A </a:t>
            </a:r>
            <a:r>
              <a:rPr lang="en-US" sz="4000" dirty="0"/>
              <a:t>common practice is to use public or protected getter/setter methods in the parent class .</a:t>
            </a:r>
          </a:p>
          <a:p>
            <a:pPr marL="571500" indent="-571500">
              <a:buFont typeface="Arial" panose="020B0604020202020204" pitchFamily="34" charset="0"/>
              <a:buChar char="•"/>
            </a:pPr>
            <a:r>
              <a:rPr lang="en-US" sz="4000" b="1" dirty="0" smtClean="0"/>
              <a:t>Encapsulation - </a:t>
            </a:r>
            <a:r>
              <a:rPr lang="en-US" sz="4000" dirty="0" smtClean="0"/>
              <a:t>This </a:t>
            </a:r>
            <a:r>
              <a:rPr lang="en-US" sz="4000" dirty="0"/>
              <a:t>preserves encapsulation by keeping the actual variable private but exposing limited, safe access</a:t>
            </a:r>
            <a:r>
              <a:rPr lang="en-US" sz="4000" dirty="0" smtClean="0"/>
              <a:t>.</a:t>
            </a:r>
            <a:endParaRPr lang="en-US" sz="4000" dirty="0"/>
          </a:p>
        </p:txBody>
      </p:sp>
    </p:spTree>
    <p:extLst>
      <p:ext uri="{BB962C8B-B14F-4D97-AF65-F5344CB8AC3E}">
        <p14:creationId xmlns:p14="http://schemas.microsoft.com/office/powerpoint/2010/main" val="400490303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MEMBER ACCESS &amp; INHERITANCE</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2" y="2409565"/>
            <a:ext cx="9067801" cy="5539978"/>
          </a:xfrm>
          <a:prstGeom prst="rect">
            <a:avLst/>
          </a:prstGeom>
        </p:spPr>
        <p:txBody>
          <a:bodyPr wrap="square" lIns="0" tIns="0" rIns="0" bIns="0" rtlCol="0" anchor="t">
            <a:spAutoFit/>
          </a:bodyPr>
          <a:lstStyle/>
          <a:p>
            <a:r>
              <a:rPr lang="en-US" sz="4000" dirty="0"/>
              <a:t>class A</a:t>
            </a:r>
          </a:p>
          <a:p>
            <a:r>
              <a:rPr lang="en-US" sz="4000" dirty="0" smtClean="0"/>
              <a:t>{int </a:t>
            </a:r>
            <a:r>
              <a:rPr lang="en-US" sz="4000" dirty="0"/>
              <a:t>i; </a:t>
            </a:r>
            <a:r>
              <a:rPr lang="en-US" sz="4000" dirty="0" smtClean="0"/>
              <a:t> </a:t>
            </a:r>
            <a:endParaRPr lang="en-US" sz="4000" dirty="0"/>
          </a:p>
          <a:p>
            <a:r>
              <a:rPr lang="nb-NO" sz="4000" dirty="0"/>
              <a:t>private int j; </a:t>
            </a:r>
            <a:r>
              <a:rPr lang="en-US" sz="4000" dirty="0" smtClean="0"/>
              <a:t> </a:t>
            </a:r>
            <a:endParaRPr lang="en-US" sz="4000" dirty="0"/>
          </a:p>
          <a:p>
            <a:r>
              <a:rPr lang="fr-FR" sz="4000" dirty="0"/>
              <a:t>void setij(int x, int y)</a:t>
            </a:r>
          </a:p>
          <a:p>
            <a:r>
              <a:rPr lang="en-US" sz="4000" dirty="0" smtClean="0"/>
              <a:t>{i </a:t>
            </a:r>
            <a:r>
              <a:rPr lang="en-US" sz="4000" dirty="0"/>
              <a:t>= x;</a:t>
            </a:r>
          </a:p>
          <a:p>
            <a:r>
              <a:rPr lang="en-US" sz="4000" dirty="0"/>
              <a:t>j = y</a:t>
            </a:r>
            <a:r>
              <a:rPr lang="en-US" sz="4000" dirty="0" smtClean="0"/>
              <a:t>;}</a:t>
            </a:r>
            <a:r>
              <a:rPr lang="en-US" sz="4000" dirty="0"/>
              <a:t> </a:t>
            </a:r>
            <a:r>
              <a:rPr lang="en-US" sz="4000" dirty="0" smtClean="0"/>
              <a:t>}</a:t>
            </a:r>
            <a:endParaRPr lang="en-US" sz="4000" dirty="0"/>
          </a:p>
          <a:p>
            <a:r>
              <a:rPr lang="en-US" sz="4000" dirty="0"/>
              <a:t>class B extends A</a:t>
            </a:r>
          </a:p>
          <a:p>
            <a:r>
              <a:rPr lang="en-US" sz="4000" dirty="0" smtClean="0"/>
              <a:t>{int </a:t>
            </a:r>
            <a:r>
              <a:rPr lang="en-US" sz="4000" dirty="0"/>
              <a:t>total;</a:t>
            </a:r>
          </a:p>
          <a:p>
            <a:r>
              <a:rPr lang="en-US" sz="4000" dirty="0"/>
              <a:t>void sum</a:t>
            </a:r>
            <a:r>
              <a:rPr lang="en-US" sz="4000" dirty="0" smtClean="0"/>
              <a:t>()</a:t>
            </a:r>
          </a:p>
        </p:txBody>
      </p:sp>
      <p:sp>
        <p:nvSpPr>
          <p:cNvPr id="12" name="Rectangle 11"/>
          <p:cNvSpPr/>
          <p:nvPr/>
        </p:nvSpPr>
        <p:spPr>
          <a:xfrm>
            <a:off x="8462658" y="2342365"/>
            <a:ext cx="9144000" cy="5632311"/>
          </a:xfrm>
          <a:prstGeom prst="rect">
            <a:avLst/>
          </a:prstGeom>
        </p:spPr>
        <p:txBody>
          <a:bodyPr>
            <a:spAutoFit/>
          </a:bodyPr>
          <a:lstStyle/>
          <a:p>
            <a:r>
              <a:rPr lang="en-US" sz="4000" dirty="0">
                <a:solidFill>
                  <a:prstClr val="black"/>
                </a:solidFill>
              </a:rPr>
              <a:t>{total = i + j;  </a:t>
            </a:r>
            <a:endParaRPr lang="en-US" sz="4000" dirty="0" smtClean="0"/>
          </a:p>
          <a:p>
            <a:pPr lvl="0"/>
            <a:r>
              <a:rPr lang="en-US" sz="4000" dirty="0" smtClean="0"/>
              <a:t>class </a:t>
            </a:r>
            <a:r>
              <a:rPr lang="en-US" sz="4000" dirty="0"/>
              <a:t>SimpleInheritance2</a:t>
            </a:r>
          </a:p>
          <a:p>
            <a:pPr lvl="0"/>
            <a:r>
              <a:rPr lang="en-US" sz="4000" dirty="0"/>
              <a:t>{public static void main(String args[])</a:t>
            </a:r>
          </a:p>
          <a:p>
            <a:pPr lvl="0"/>
            <a:r>
              <a:rPr lang="en-US" sz="4000" dirty="0"/>
              <a:t>{B subOb = new B();</a:t>
            </a:r>
          </a:p>
          <a:p>
            <a:pPr lvl="0"/>
            <a:r>
              <a:rPr lang="en-US" sz="4000" dirty="0"/>
              <a:t>subOb.setij(10, 12);</a:t>
            </a:r>
          </a:p>
          <a:p>
            <a:pPr lvl="0"/>
            <a:r>
              <a:rPr lang="en-US" sz="4000" dirty="0"/>
              <a:t>subOb.sum</a:t>
            </a:r>
            <a:r>
              <a:rPr lang="en-US" sz="4000" dirty="0" smtClean="0"/>
              <a:t>();</a:t>
            </a:r>
            <a:endParaRPr lang="en-US" sz="4000" dirty="0"/>
          </a:p>
          <a:p>
            <a:pPr lvl="0"/>
            <a:r>
              <a:rPr lang="en-US" sz="4000" dirty="0"/>
              <a:t>System.out.println("Total is " + subOb.total);</a:t>
            </a:r>
          </a:p>
          <a:p>
            <a:pPr lvl="0"/>
            <a:r>
              <a:rPr lang="en-US" sz="4000" dirty="0"/>
              <a:t>}}</a:t>
            </a:r>
          </a:p>
        </p:txBody>
      </p:sp>
      <p:pic>
        <p:nvPicPr>
          <p:cNvPr id="8195"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r="5475"/>
          <a:stretch/>
        </p:blipFill>
        <p:spPr bwMode="auto">
          <a:xfrm>
            <a:off x="1823937" y="7949543"/>
            <a:ext cx="14630400" cy="22088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531202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339113" y="-6057899"/>
            <a:ext cx="2286000"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846659"/>
          </a:xfrm>
          <a:prstGeom prst="rect">
            <a:avLst/>
          </a:prstGeom>
        </p:spPr>
        <p:txBody>
          <a:bodyPr wrap="square" lIns="0" tIns="0" rIns="0" bIns="0" rtlCol="0" anchor="t">
            <a:spAutoFit/>
          </a:bodyPr>
          <a:lstStyle/>
          <a:p>
            <a:pPr algn="ctr"/>
            <a:r>
              <a:rPr lang="en-US" sz="6000" b="1" dirty="0" smtClean="0">
                <a:solidFill>
                  <a:srgbClr val="000000"/>
                </a:solidFill>
                <a:latin typeface="Century Gothic Paneuropean Bold"/>
                <a:ea typeface="Century Gothic Paneuropean Bold"/>
                <a:cs typeface="Century Gothic Paneuropean Bold"/>
                <a:sym typeface="Century Gothic Paneuropean Bold"/>
              </a:rPr>
              <a:t>A SUPERCLASS VARIABLE CAN REFERENCE SUBCLASS OBJECT</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2" y="2931588"/>
            <a:ext cx="15537445" cy="6771084"/>
          </a:xfrm>
          <a:prstGeom prst="rect">
            <a:avLst/>
          </a:prstGeom>
        </p:spPr>
        <p:txBody>
          <a:bodyPr wrap="square" lIns="0" tIns="0" rIns="0" bIns="0" rtlCol="0" anchor="t">
            <a:spAutoFit/>
          </a:bodyPr>
          <a:lstStyle/>
          <a:p>
            <a:pPr marL="571500" indent="-571500">
              <a:buFont typeface="Arial" panose="020B0604020202020204" pitchFamily="34" charset="0"/>
              <a:buChar char="•"/>
            </a:pPr>
            <a:r>
              <a:rPr lang="en-US" sz="4000" dirty="0" smtClean="0"/>
              <a:t>When Inheritance exists, it is possible for a reference variable of the superclass to refer to (or point to) an object of the subclass.</a:t>
            </a:r>
          </a:p>
          <a:p>
            <a:pPr marL="571500" indent="-571500">
              <a:buFont typeface="Arial" panose="020B0604020202020204" pitchFamily="34" charset="0"/>
              <a:buChar char="•"/>
            </a:pPr>
            <a:r>
              <a:rPr lang="en-US" sz="4000" dirty="0" smtClean="0"/>
              <a:t>A reference </a:t>
            </a:r>
            <a:r>
              <a:rPr lang="en-US" sz="4000" dirty="0"/>
              <a:t>variable of a super class can be assigned a reference to any subclass </a:t>
            </a:r>
            <a:r>
              <a:rPr lang="en-US" sz="4000" dirty="0" smtClean="0"/>
              <a:t>derived from </a:t>
            </a:r>
            <a:r>
              <a:rPr lang="en-US" sz="4000" dirty="0"/>
              <a:t>that super class</a:t>
            </a:r>
            <a:r>
              <a:rPr lang="en-US" sz="4000" dirty="0" smtClean="0"/>
              <a:t>.</a:t>
            </a:r>
            <a:r>
              <a:rPr lang="en-US" sz="4000" dirty="0"/>
              <a:t> </a:t>
            </a:r>
            <a:endParaRPr lang="en-US" sz="4000" dirty="0" smtClean="0"/>
          </a:p>
          <a:p>
            <a:pPr marL="571500" indent="-571500">
              <a:buFont typeface="Arial" panose="020B0604020202020204" pitchFamily="34" charset="0"/>
              <a:buChar char="•"/>
            </a:pPr>
            <a:r>
              <a:rPr lang="en-US" sz="4000" dirty="0" smtClean="0"/>
              <a:t>This concept is the foundation of Polymorphism in Java.</a:t>
            </a:r>
          </a:p>
          <a:p>
            <a:pPr marL="571500" indent="-571500">
              <a:buFont typeface="Arial" panose="020B0604020202020204" pitchFamily="34" charset="0"/>
              <a:buChar char="•"/>
            </a:pPr>
            <a:r>
              <a:rPr lang="en-US" sz="4000" dirty="0" smtClean="0"/>
              <a:t>Polymorphism means “many forms” , it allows one action (method call) to behave differently depending on the object that performs it.</a:t>
            </a:r>
          </a:p>
          <a:p>
            <a:pPr marL="571500" indent="-571500">
              <a:buFont typeface="Arial" panose="020B0604020202020204" pitchFamily="34" charset="0"/>
              <a:buChar char="•"/>
            </a:pPr>
            <a:r>
              <a:rPr lang="en-US" sz="4000" dirty="0" smtClean="0"/>
              <a:t>When a superclass reference variable can refer to objects of its subclasses, and the method called depends on the object type, not the reference type – that’s runtime polymorphism.</a:t>
            </a:r>
          </a:p>
          <a:p>
            <a:pPr marL="571500" indent="-571500">
              <a:buFont typeface="Arial" panose="020B0604020202020204" pitchFamily="34" charset="0"/>
              <a:buChar char="•"/>
            </a:pPr>
            <a:r>
              <a:rPr lang="en-US" sz="4000" dirty="0" smtClean="0"/>
              <a:t>This makes Java more flexible, reusable and extensible.</a:t>
            </a:r>
          </a:p>
        </p:txBody>
      </p:sp>
    </p:spTree>
    <p:extLst>
      <p:ext uri="{BB962C8B-B14F-4D97-AF65-F5344CB8AC3E}">
        <p14:creationId xmlns:p14="http://schemas.microsoft.com/office/powerpoint/2010/main" val="117930364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13158" y="-6308212"/>
            <a:ext cx="1328177"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09646" y="553539"/>
            <a:ext cx="15665930" cy="1231106"/>
          </a:xfrm>
          <a:prstGeom prst="rect">
            <a:avLst/>
          </a:prstGeom>
        </p:spPr>
        <p:txBody>
          <a:bodyPr wrap="square" lIns="0" tIns="0" rIns="0" bIns="0" rtlCol="0" anchor="t">
            <a:spAutoFit/>
          </a:bodyPr>
          <a:lstStyle/>
          <a:p>
            <a:pPr algn="ctr"/>
            <a:r>
              <a:rPr lang="en-US" sz="4000" b="1" dirty="0" smtClean="0">
                <a:solidFill>
                  <a:srgbClr val="000000"/>
                </a:solidFill>
                <a:latin typeface="Century Gothic Paneuropean Bold"/>
                <a:ea typeface="Century Gothic Paneuropean Bold"/>
                <a:cs typeface="Century Gothic Paneuropean Bold"/>
                <a:sym typeface="Century Gothic Paneuropean Bold"/>
              </a:rPr>
              <a:t>USING </a:t>
            </a:r>
            <a:r>
              <a:rPr lang="en-US" sz="4000" b="1" dirty="0">
                <a:solidFill>
                  <a:srgbClr val="000000"/>
                </a:solidFill>
                <a:latin typeface="Century Gothic Paneuropean Bold"/>
                <a:ea typeface="Century Gothic Paneuropean Bold"/>
                <a:cs typeface="Century Gothic Paneuropean Bold"/>
                <a:sym typeface="Century Gothic Paneuropean Bold"/>
              </a:rPr>
              <a:t>SUPERCLASS VARIABLE CAN REFERENCE SUBCLASS OBJECT</a:t>
            </a:r>
          </a:p>
          <a:p>
            <a:pPr algn="ctr"/>
            <a:r>
              <a:rPr lang="en-US" sz="4000" b="1" dirty="0" smtClean="0">
                <a:solidFill>
                  <a:srgbClr val="000000"/>
                </a:solidFill>
                <a:latin typeface="Century Gothic Paneuropean Bold"/>
                <a:ea typeface="Century Gothic Paneuropean Bold"/>
                <a:cs typeface="Century Gothic Paneuropean Bold"/>
                <a:sym typeface="Century Gothic Paneuropean Bold"/>
              </a:rPr>
              <a:t>SUPER </a:t>
            </a:r>
            <a:endParaRPr lang="en-US" sz="4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09645" y="2324100"/>
            <a:ext cx="10344155" cy="6894195"/>
          </a:xfrm>
          <a:prstGeom prst="rect">
            <a:avLst/>
          </a:prstGeom>
        </p:spPr>
        <p:txBody>
          <a:bodyPr wrap="square" lIns="0" tIns="0" rIns="0" bIns="0" rtlCol="0" anchor="t">
            <a:spAutoFit/>
          </a:bodyPr>
          <a:lstStyle/>
          <a:p>
            <a:r>
              <a:rPr lang="en-US" sz="2800" b="1" dirty="0">
                <a:solidFill>
                  <a:srgbClr val="7F0055"/>
                </a:solidFill>
                <a:latin typeface="Consolas"/>
              </a:rPr>
              <a:t>class</a:t>
            </a:r>
            <a:r>
              <a:rPr lang="en-US" sz="2800" dirty="0">
                <a:solidFill>
                  <a:srgbClr val="000000"/>
                </a:solidFill>
                <a:latin typeface="Consolas"/>
              </a:rPr>
              <a:t> AA{</a:t>
            </a:r>
          </a:p>
          <a:p>
            <a:r>
              <a:rPr lang="en-US" sz="2800" b="1" dirty="0">
                <a:solidFill>
                  <a:srgbClr val="7F0055"/>
                </a:solidFill>
                <a:latin typeface="Consolas"/>
              </a:rPr>
              <a:t>int</a:t>
            </a:r>
            <a:r>
              <a:rPr lang="en-US" sz="2800" dirty="0">
                <a:solidFill>
                  <a:srgbClr val="000000"/>
                </a:solidFill>
                <a:latin typeface="Consolas"/>
              </a:rPr>
              <a:t> </a:t>
            </a:r>
            <a:r>
              <a:rPr lang="en-US" sz="2800" dirty="0">
                <a:solidFill>
                  <a:srgbClr val="0000C0"/>
                </a:solidFill>
                <a:latin typeface="Consolas"/>
              </a:rPr>
              <a:t>i</a:t>
            </a:r>
            <a:r>
              <a:rPr lang="en-US" sz="2800" dirty="0">
                <a:solidFill>
                  <a:srgbClr val="000000"/>
                </a:solidFill>
                <a:latin typeface="Consolas"/>
              </a:rPr>
              <a:t>, </a:t>
            </a:r>
            <a:r>
              <a:rPr lang="en-US" sz="2800" dirty="0">
                <a:solidFill>
                  <a:srgbClr val="0000C0"/>
                </a:solidFill>
                <a:latin typeface="Consolas"/>
              </a:rPr>
              <a:t>j</a:t>
            </a:r>
            <a:r>
              <a:rPr lang="en-US" sz="2800" dirty="0">
                <a:solidFill>
                  <a:srgbClr val="000000"/>
                </a:solidFill>
                <a:latin typeface="Consolas"/>
              </a:rPr>
              <a:t>;</a:t>
            </a:r>
          </a:p>
          <a:p>
            <a:r>
              <a:rPr lang="en-US" sz="2800" b="1" dirty="0">
                <a:solidFill>
                  <a:srgbClr val="7F0055"/>
                </a:solidFill>
                <a:latin typeface="Consolas"/>
              </a:rPr>
              <a:t>void</a:t>
            </a:r>
            <a:r>
              <a:rPr lang="en-US" sz="2800" dirty="0">
                <a:solidFill>
                  <a:srgbClr val="000000"/>
                </a:solidFill>
                <a:latin typeface="Consolas"/>
              </a:rPr>
              <a:t> show() {</a:t>
            </a:r>
          </a:p>
          <a:p>
            <a:r>
              <a:rPr lang="en-US" sz="2800" dirty="0">
                <a:solidFill>
                  <a:srgbClr val="000000"/>
                </a:solidFill>
                <a:latin typeface="Consolas"/>
              </a:rPr>
              <a:t>System.</a:t>
            </a:r>
            <a:r>
              <a:rPr lang="en-US" sz="2800" b="1" i="1" dirty="0">
                <a:solidFill>
                  <a:srgbClr val="0000C0"/>
                </a:solidFill>
                <a:latin typeface="Consolas"/>
              </a:rPr>
              <a:t>out</a:t>
            </a:r>
            <a:r>
              <a:rPr lang="en-US" sz="2800" dirty="0">
                <a:solidFill>
                  <a:srgbClr val="000000"/>
                </a:solidFill>
                <a:latin typeface="Consolas"/>
              </a:rPr>
              <a:t>.println(</a:t>
            </a:r>
            <a:r>
              <a:rPr lang="en-US" sz="2800" dirty="0">
                <a:solidFill>
                  <a:srgbClr val="2A00FF"/>
                </a:solidFill>
                <a:latin typeface="Consolas"/>
              </a:rPr>
              <a:t>"i ="</a:t>
            </a:r>
            <a:r>
              <a:rPr lang="en-US" sz="2800" dirty="0">
                <a:solidFill>
                  <a:srgbClr val="000000"/>
                </a:solidFill>
                <a:latin typeface="Consolas"/>
              </a:rPr>
              <a:t>+</a:t>
            </a:r>
            <a:r>
              <a:rPr lang="en-US" sz="2800" dirty="0">
                <a:solidFill>
                  <a:srgbClr val="0000C0"/>
                </a:solidFill>
                <a:latin typeface="Consolas"/>
              </a:rPr>
              <a:t>i</a:t>
            </a:r>
            <a:r>
              <a:rPr lang="en-US" sz="2800" dirty="0">
                <a:solidFill>
                  <a:srgbClr val="000000"/>
                </a:solidFill>
                <a:latin typeface="Consolas"/>
              </a:rPr>
              <a:t> +</a:t>
            </a:r>
            <a:r>
              <a:rPr lang="en-US" sz="2800" dirty="0">
                <a:solidFill>
                  <a:srgbClr val="2A00FF"/>
                </a:solidFill>
                <a:latin typeface="Consolas"/>
              </a:rPr>
              <a:t>" "</a:t>
            </a:r>
            <a:r>
              <a:rPr lang="en-US" sz="2800" dirty="0">
                <a:solidFill>
                  <a:srgbClr val="000000"/>
                </a:solidFill>
                <a:latin typeface="Consolas"/>
              </a:rPr>
              <a:t>+</a:t>
            </a:r>
            <a:r>
              <a:rPr lang="en-US" sz="2800" dirty="0">
                <a:solidFill>
                  <a:srgbClr val="2A00FF"/>
                </a:solidFill>
                <a:latin typeface="Consolas"/>
              </a:rPr>
              <a:t>"j ="</a:t>
            </a:r>
            <a:r>
              <a:rPr lang="en-US" sz="2800" dirty="0">
                <a:solidFill>
                  <a:srgbClr val="000000"/>
                </a:solidFill>
                <a:latin typeface="Consolas"/>
              </a:rPr>
              <a:t>+</a:t>
            </a:r>
            <a:r>
              <a:rPr lang="en-US" sz="2800" dirty="0">
                <a:solidFill>
                  <a:srgbClr val="0000C0"/>
                </a:solidFill>
                <a:latin typeface="Consolas"/>
              </a:rPr>
              <a:t>j</a:t>
            </a:r>
            <a:r>
              <a:rPr lang="en-US" sz="2800" dirty="0" smtClean="0">
                <a:solidFill>
                  <a:srgbClr val="000000"/>
                </a:solidFill>
                <a:latin typeface="Consolas"/>
              </a:rPr>
              <a:t>);}}</a:t>
            </a:r>
            <a:endParaRPr lang="en-US" sz="2800" dirty="0">
              <a:solidFill>
                <a:srgbClr val="000000"/>
              </a:solidFill>
              <a:latin typeface="Consolas"/>
            </a:endParaRPr>
          </a:p>
          <a:p>
            <a:r>
              <a:rPr lang="en-US" sz="2800" b="1" dirty="0">
                <a:solidFill>
                  <a:srgbClr val="7F0055"/>
                </a:solidFill>
                <a:latin typeface="Consolas"/>
              </a:rPr>
              <a:t>class</a:t>
            </a:r>
            <a:r>
              <a:rPr lang="en-US" sz="2800" dirty="0">
                <a:solidFill>
                  <a:srgbClr val="000000"/>
                </a:solidFill>
                <a:latin typeface="Consolas"/>
              </a:rPr>
              <a:t> BB </a:t>
            </a:r>
            <a:r>
              <a:rPr lang="en-US" sz="2800" b="1" dirty="0">
                <a:solidFill>
                  <a:srgbClr val="7F0055"/>
                </a:solidFill>
                <a:latin typeface="Consolas"/>
              </a:rPr>
              <a:t>extends</a:t>
            </a:r>
            <a:r>
              <a:rPr lang="en-US" sz="2800" dirty="0">
                <a:solidFill>
                  <a:srgbClr val="000000"/>
                </a:solidFill>
                <a:latin typeface="Consolas"/>
              </a:rPr>
              <a:t> AA{</a:t>
            </a:r>
          </a:p>
          <a:p>
            <a:r>
              <a:rPr lang="en-US" sz="2800" b="1" dirty="0">
                <a:solidFill>
                  <a:srgbClr val="7F0055"/>
                </a:solidFill>
                <a:latin typeface="Consolas"/>
              </a:rPr>
              <a:t>int</a:t>
            </a:r>
            <a:r>
              <a:rPr lang="en-US" sz="2800" dirty="0">
                <a:solidFill>
                  <a:srgbClr val="000000"/>
                </a:solidFill>
                <a:latin typeface="Consolas"/>
              </a:rPr>
              <a:t> </a:t>
            </a:r>
            <a:r>
              <a:rPr lang="en-US" sz="2800" dirty="0">
                <a:solidFill>
                  <a:srgbClr val="0000C0"/>
                </a:solidFill>
                <a:latin typeface="Consolas"/>
              </a:rPr>
              <a:t>k</a:t>
            </a:r>
            <a:r>
              <a:rPr lang="en-US" sz="2800" dirty="0">
                <a:solidFill>
                  <a:srgbClr val="000000"/>
                </a:solidFill>
                <a:latin typeface="Consolas"/>
              </a:rPr>
              <a:t>,</a:t>
            </a:r>
            <a:r>
              <a:rPr lang="en-US" sz="2800" dirty="0">
                <a:solidFill>
                  <a:srgbClr val="0000C0"/>
                </a:solidFill>
                <a:latin typeface="Consolas"/>
              </a:rPr>
              <a:t>l</a:t>
            </a:r>
            <a:r>
              <a:rPr lang="en-US" sz="2800" dirty="0">
                <a:solidFill>
                  <a:srgbClr val="000000"/>
                </a:solidFill>
                <a:latin typeface="Consolas"/>
              </a:rPr>
              <a:t>;</a:t>
            </a:r>
          </a:p>
          <a:p>
            <a:r>
              <a:rPr lang="en-US" sz="2800" b="1" dirty="0">
                <a:solidFill>
                  <a:srgbClr val="7F0055"/>
                </a:solidFill>
                <a:latin typeface="Consolas"/>
              </a:rPr>
              <a:t>void</a:t>
            </a:r>
            <a:r>
              <a:rPr lang="en-US" sz="2800" dirty="0">
                <a:solidFill>
                  <a:srgbClr val="000000"/>
                </a:solidFill>
                <a:latin typeface="Consolas"/>
              </a:rPr>
              <a:t> sum() {</a:t>
            </a:r>
          </a:p>
          <a:p>
            <a:r>
              <a:rPr lang="en-US" sz="2800" dirty="0" err="1" smtClean="0">
                <a:solidFill>
                  <a:srgbClr val="000000"/>
                </a:solidFill>
                <a:latin typeface="Consolas"/>
              </a:rPr>
              <a:t>System.</a:t>
            </a:r>
            <a:r>
              <a:rPr lang="en-US" sz="2800" b="1" i="1" dirty="0" err="1" smtClean="0">
                <a:solidFill>
                  <a:srgbClr val="0000C0"/>
                </a:solidFill>
                <a:latin typeface="Consolas"/>
              </a:rPr>
              <a:t>out</a:t>
            </a:r>
            <a:r>
              <a:rPr lang="en-US" sz="2800" dirty="0" err="1" smtClean="0">
                <a:solidFill>
                  <a:srgbClr val="000000"/>
                </a:solidFill>
                <a:latin typeface="Consolas"/>
              </a:rPr>
              <a:t>.println</a:t>
            </a:r>
            <a:r>
              <a:rPr lang="en-US" sz="2800" dirty="0" smtClean="0">
                <a:solidFill>
                  <a:srgbClr val="000000"/>
                </a:solidFill>
                <a:latin typeface="Consolas"/>
              </a:rPr>
              <a:t>(</a:t>
            </a:r>
            <a:r>
              <a:rPr lang="en-US" sz="2800" dirty="0" smtClean="0">
                <a:solidFill>
                  <a:srgbClr val="2A00FF"/>
                </a:solidFill>
                <a:latin typeface="Consolas"/>
              </a:rPr>
              <a:t>"</a:t>
            </a:r>
            <a:r>
              <a:rPr lang="en-US" sz="2800" dirty="0" err="1" smtClean="0">
                <a:solidFill>
                  <a:srgbClr val="2A00FF"/>
                </a:solidFill>
                <a:latin typeface="Consolas"/>
              </a:rPr>
              <a:t>i</a:t>
            </a:r>
            <a:r>
              <a:rPr lang="en-US" sz="2800" dirty="0" smtClean="0">
                <a:solidFill>
                  <a:srgbClr val="2A00FF"/>
                </a:solidFill>
                <a:latin typeface="Consolas"/>
              </a:rPr>
              <a:t> ="</a:t>
            </a:r>
            <a:r>
              <a:rPr lang="en-US" sz="2800" dirty="0" smtClean="0">
                <a:solidFill>
                  <a:srgbClr val="000000"/>
                </a:solidFill>
                <a:latin typeface="Consolas"/>
              </a:rPr>
              <a:t>+</a:t>
            </a:r>
            <a:r>
              <a:rPr lang="en-US" sz="2800" dirty="0" err="1" smtClean="0">
                <a:solidFill>
                  <a:srgbClr val="0000C0"/>
                </a:solidFill>
                <a:latin typeface="Consolas"/>
              </a:rPr>
              <a:t>i</a:t>
            </a:r>
            <a:r>
              <a:rPr lang="en-US" sz="2800" dirty="0" smtClean="0">
                <a:solidFill>
                  <a:srgbClr val="000000"/>
                </a:solidFill>
                <a:latin typeface="Consolas"/>
              </a:rPr>
              <a:t> +</a:t>
            </a:r>
            <a:r>
              <a:rPr lang="en-US" sz="2800" dirty="0" smtClean="0">
                <a:solidFill>
                  <a:srgbClr val="2A00FF"/>
                </a:solidFill>
                <a:latin typeface="Consolas"/>
              </a:rPr>
              <a:t>" "</a:t>
            </a:r>
            <a:r>
              <a:rPr lang="en-US" sz="2800" dirty="0" smtClean="0">
                <a:solidFill>
                  <a:srgbClr val="000000"/>
                </a:solidFill>
                <a:latin typeface="Consolas"/>
              </a:rPr>
              <a:t>+</a:t>
            </a:r>
            <a:r>
              <a:rPr lang="en-US" sz="2800" dirty="0" smtClean="0">
                <a:solidFill>
                  <a:srgbClr val="2A00FF"/>
                </a:solidFill>
                <a:latin typeface="Consolas"/>
              </a:rPr>
              <a:t>"j = "</a:t>
            </a:r>
            <a:r>
              <a:rPr lang="en-US" sz="2800" dirty="0" smtClean="0">
                <a:solidFill>
                  <a:srgbClr val="000000"/>
                </a:solidFill>
                <a:latin typeface="Consolas"/>
              </a:rPr>
              <a:t>+</a:t>
            </a:r>
            <a:r>
              <a:rPr lang="en-US" sz="2800" dirty="0" smtClean="0">
                <a:solidFill>
                  <a:srgbClr val="0000C0"/>
                </a:solidFill>
                <a:latin typeface="Consolas"/>
              </a:rPr>
              <a:t>j</a:t>
            </a:r>
            <a:r>
              <a:rPr lang="en-US" sz="2800" dirty="0" smtClean="0">
                <a:solidFill>
                  <a:srgbClr val="000000"/>
                </a:solidFill>
                <a:latin typeface="Consolas"/>
              </a:rPr>
              <a:t> +</a:t>
            </a:r>
            <a:r>
              <a:rPr lang="en-US" sz="2800" dirty="0" smtClean="0">
                <a:solidFill>
                  <a:srgbClr val="2A00FF"/>
                </a:solidFill>
                <a:latin typeface="Consolas"/>
              </a:rPr>
              <a:t>" k ="</a:t>
            </a:r>
            <a:r>
              <a:rPr lang="en-US" sz="2800" dirty="0" smtClean="0">
                <a:solidFill>
                  <a:srgbClr val="000000"/>
                </a:solidFill>
                <a:latin typeface="Consolas"/>
              </a:rPr>
              <a:t>+</a:t>
            </a:r>
            <a:r>
              <a:rPr lang="en-US" sz="2800" dirty="0" smtClean="0">
                <a:solidFill>
                  <a:srgbClr val="0000C0"/>
                </a:solidFill>
                <a:latin typeface="Consolas"/>
              </a:rPr>
              <a:t>k</a:t>
            </a:r>
            <a:r>
              <a:rPr lang="en-US" sz="2800" dirty="0" smtClean="0">
                <a:solidFill>
                  <a:srgbClr val="000000"/>
                </a:solidFill>
                <a:latin typeface="Consolas"/>
              </a:rPr>
              <a:t>);</a:t>
            </a:r>
          </a:p>
          <a:p>
            <a:r>
              <a:rPr lang="en-US" sz="2800" b="1" dirty="0" err="1" smtClean="0">
                <a:solidFill>
                  <a:srgbClr val="7F0055"/>
                </a:solidFill>
                <a:latin typeface="Consolas"/>
              </a:rPr>
              <a:t>int</a:t>
            </a:r>
            <a:r>
              <a:rPr lang="en-US" sz="2800" dirty="0" smtClean="0">
                <a:solidFill>
                  <a:srgbClr val="000000"/>
                </a:solidFill>
                <a:latin typeface="Consolas"/>
              </a:rPr>
              <a:t> </a:t>
            </a:r>
            <a:r>
              <a:rPr lang="en-US" sz="2800" dirty="0" smtClean="0">
                <a:solidFill>
                  <a:srgbClr val="6A3E3E"/>
                </a:solidFill>
                <a:latin typeface="Consolas"/>
              </a:rPr>
              <a:t>sum</a:t>
            </a:r>
            <a:r>
              <a:rPr lang="en-US" sz="2800" dirty="0" smtClean="0">
                <a:solidFill>
                  <a:srgbClr val="000000"/>
                </a:solidFill>
                <a:latin typeface="Consolas"/>
              </a:rPr>
              <a:t>=</a:t>
            </a:r>
            <a:r>
              <a:rPr lang="en-US" sz="2800" dirty="0" err="1" smtClean="0">
                <a:solidFill>
                  <a:srgbClr val="0000C0"/>
                </a:solidFill>
                <a:latin typeface="Consolas"/>
              </a:rPr>
              <a:t>i</a:t>
            </a:r>
            <a:r>
              <a:rPr lang="en-US" sz="2800" dirty="0" err="1" smtClean="0">
                <a:solidFill>
                  <a:srgbClr val="000000"/>
                </a:solidFill>
                <a:latin typeface="Consolas"/>
              </a:rPr>
              <a:t>+</a:t>
            </a:r>
            <a:r>
              <a:rPr lang="en-US" sz="2800" dirty="0" err="1" smtClean="0">
                <a:solidFill>
                  <a:srgbClr val="0000C0"/>
                </a:solidFill>
                <a:latin typeface="Consolas"/>
              </a:rPr>
              <a:t>j</a:t>
            </a:r>
            <a:r>
              <a:rPr lang="en-US" sz="2800" dirty="0" err="1" smtClean="0">
                <a:solidFill>
                  <a:srgbClr val="000000"/>
                </a:solidFill>
                <a:latin typeface="Consolas"/>
              </a:rPr>
              <a:t>+</a:t>
            </a:r>
            <a:r>
              <a:rPr lang="en-US" sz="2800" dirty="0" err="1" smtClean="0">
                <a:solidFill>
                  <a:srgbClr val="0000C0"/>
                </a:solidFill>
                <a:latin typeface="Consolas"/>
              </a:rPr>
              <a:t>k</a:t>
            </a:r>
            <a:r>
              <a:rPr lang="en-US" sz="2800" dirty="0" smtClean="0">
                <a:solidFill>
                  <a:srgbClr val="000000"/>
                </a:solidFill>
                <a:latin typeface="Consolas"/>
              </a:rPr>
              <a:t>;</a:t>
            </a:r>
          </a:p>
          <a:p>
            <a:r>
              <a:rPr lang="en-US" sz="2800" dirty="0" err="1" smtClean="0">
                <a:solidFill>
                  <a:srgbClr val="000000"/>
                </a:solidFill>
                <a:latin typeface="Consolas"/>
              </a:rPr>
              <a:t>System.</a:t>
            </a:r>
            <a:r>
              <a:rPr lang="en-US" sz="2800" b="1" i="1" dirty="0" err="1" smtClean="0">
                <a:solidFill>
                  <a:srgbClr val="0000C0"/>
                </a:solidFill>
                <a:latin typeface="Consolas"/>
              </a:rPr>
              <a:t>out</a:t>
            </a:r>
            <a:r>
              <a:rPr lang="en-US" sz="2800" dirty="0" err="1" smtClean="0">
                <a:solidFill>
                  <a:srgbClr val="000000"/>
                </a:solidFill>
                <a:latin typeface="Consolas"/>
              </a:rPr>
              <a:t>.println</a:t>
            </a:r>
            <a:r>
              <a:rPr lang="en-US" sz="2800" dirty="0" smtClean="0">
                <a:solidFill>
                  <a:srgbClr val="000000"/>
                </a:solidFill>
                <a:latin typeface="Consolas"/>
              </a:rPr>
              <a:t>(</a:t>
            </a:r>
            <a:r>
              <a:rPr lang="en-US" sz="2800" dirty="0" smtClean="0">
                <a:solidFill>
                  <a:srgbClr val="2A00FF"/>
                </a:solidFill>
                <a:latin typeface="Consolas"/>
              </a:rPr>
              <a:t>"Sum ="</a:t>
            </a:r>
            <a:r>
              <a:rPr lang="en-US" sz="2800" dirty="0" smtClean="0">
                <a:solidFill>
                  <a:srgbClr val="000000"/>
                </a:solidFill>
                <a:latin typeface="Consolas"/>
              </a:rPr>
              <a:t>+</a:t>
            </a:r>
            <a:r>
              <a:rPr lang="en-US" sz="2800" dirty="0" smtClean="0">
                <a:solidFill>
                  <a:srgbClr val="6A3E3E"/>
                </a:solidFill>
                <a:latin typeface="Consolas"/>
              </a:rPr>
              <a:t>sum</a:t>
            </a:r>
            <a:r>
              <a:rPr lang="en-US" sz="2800" dirty="0" smtClean="0">
                <a:solidFill>
                  <a:srgbClr val="000000"/>
                </a:solidFill>
                <a:latin typeface="Consolas"/>
              </a:rPr>
              <a:t>);}}</a:t>
            </a:r>
          </a:p>
          <a:p>
            <a:r>
              <a:rPr lang="en-US" sz="2800" b="1" dirty="0" smtClean="0">
                <a:solidFill>
                  <a:srgbClr val="7F0055"/>
                </a:solidFill>
                <a:latin typeface="Consolas"/>
              </a:rPr>
              <a:t>public</a:t>
            </a:r>
            <a:r>
              <a:rPr lang="en-US" sz="2800" dirty="0" smtClean="0">
                <a:solidFill>
                  <a:srgbClr val="000000"/>
                </a:solidFill>
                <a:latin typeface="Consolas"/>
              </a:rPr>
              <a:t> </a:t>
            </a:r>
            <a:r>
              <a:rPr lang="en-US" sz="2800" b="1" dirty="0">
                <a:solidFill>
                  <a:srgbClr val="7F0055"/>
                </a:solidFill>
                <a:latin typeface="Consolas"/>
              </a:rPr>
              <a:t>class</a:t>
            </a:r>
            <a:r>
              <a:rPr lang="en-US" sz="2800" dirty="0">
                <a:solidFill>
                  <a:srgbClr val="000000"/>
                </a:solidFill>
                <a:latin typeface="Consolas"/>
              </a:rPr>
              <a:t> superclassreference {</a:t>
            </a:r>
          </a:p>
          <a:p>
            <a:r>
              <a:rPr lang="en-US" sz="2800" b="1" dirty="0">
                <a:solidFill>
                  <a:srgbClr val="7F0055"/>
                </a:solidFill>
                <a:latin typeface="Consolas"/>
              </a:rPr>
              <a:t>public</a:t>
            </a:r>
            <a:r>
              <a:rPr lang="en-US" sz="2800" dirty="0">
                <a:solidFill>
                  <a:srgbClr val="000000"/>
                </a:solidFill>
                <a:latin typeface="Consolas"/>
              </a:rPr>
              <a:t> </a:t>
            </a:r>
            <a:r>
              <a:rPr lang="en-US" sz="2800" b="1" dirty="0">
                <a:solidFill>
                  <a:srgbClr val="7F0055"/>
                </a:solidFill>
                <a:latin typeface="Consolas"/>
              </a:rPr>
              <a:t>static</a:t>
            </a:r>
            <a:r>
              <a:rPr lang="en-US" sz="2800" dirty="0">
                <a:solidFill>
                  <a:srgbClr val="000000"/>
                </a:solidFill>
                <a:latin typeface="Consolas"/>
              </a:rPr>
              <a:t> </a:t>
            </a:r>
            <a:r>
              <a:rPr lang="en-US" sz="2800" b="1" dirty="0">
                <a:solidFill>
                  <a:srgbClr val="7F0055"/>
                </a:solidFill>
                <a:latin typeface="Consolas"/>
              </a:rPr>
              <a:t>void</a:t>
            </a:r>
            <a:r>
              <a:rPr lang="en-US" sz="2800" dirty="0">
                <a:solidFill>
                  <a:srgbClr val="000000"/>
                </a:solidFill>
                <a:latin typeface="Consolas"/>
              </a:rPr>
              <a:t> main(String[] </a:t>
            </a:r>
            <a:r>
              <a:rPr lang="en-US" sz="2800" dirty="0">
                <a:solidFill>
                  <a:srgbClr val="6A3E3E"/>
                </a:solidFill>
                <a:latin typeface="Consolas"/>
              </a:rPr>
              <a:t>args</a:t>
            </a:r>
            <a:r>
              <a:rPr lang="en-US" sz="2800" dirty="0">
                <a:solidFill>
                  <a:srgbClr val="000000"/>
                </a:solidFill>
                <a:latin typeface="Consolas"/>
              </a:rPr>
              <a:t>) {</a:t>
            </a:r>
          </a:p>
          <a:p>
            <a:r>
              <a:rPr lang="en-US" sz="2800" dirty="0">
                <a:solidFill>
                  <a:srgbClr val="000000"/>
                </a:solidFill>
                <a:latin typeface="Consolas"/>
              </a:rPr>
              <a:t>AA </a:t>
            </a:r>
            <a:r>
              <a:rPr lang="en-US" sz="2800" dirty="0">
                <a:solidFill>
                  <a:srgbClr val="6A3E3E"/>
                </a:solidFill>
                <a:latin typeface="Consolas"/>
              </a:rPr>
              <a:t>obj1</a:t>
            </a:r>
            <a:r>
              <a:rPr lang="en-US" sz="2800" dirty="0">
                <a:solidFill>
                  <a:srgbClr val="000000"/>
                </a:solidFill>
                <a:latin typeface="Consolas"/>
              </a:rPr>
              <a:t> = </a:t>
            </a:r>
            <a:r>
              <a:rPr lang="en-US" sz="2800" b="1" dirty="0">
                <a:solidFill>
                  <a:srgbClr val="7F0055"/>
                </a:solidFill>
                <a:latin typeface="Consolas"/>
              </a:rPr>
              <a:t>new</a:t>
            </a:r>
            <a:r>
              <a:rPr lang="en-US" sz="2800" dirty="0">
                <a:solidFill>
                  <a:srgbClr val="000000"/>
                </a:solidFill>
                <a:latin typeface="Consolas"/>
              </a:rPr>
              <a:t> AA();</a:t>
            </a:r>
          </a:p>
          <a:p>
            <a:r>
              <a:rPr lang="en-US" sz="2800" dirty="0">
                <a:solidFill>
                  <a:srgbClr val="6A3E3E"/>
                </a:solidFill>
                <a:latin typeface="Consolas"/>
              </a:rPr>
              <a:t>obj1</a:t>
            </a:r>
            <a:r>
              <a:rPr lang="en-US" sz="2800" dirty="0">
                <a:solidFill>
                  <a:srgbClr val="000000"/>
                </a:solidFill>
                <a:latin typeface="Consolas"/>
              </a:rPr>
              <a:t>.</a:t>
            </a:r>
            <a:r>
              <a:rPr lang="en-US" sz="2800" dirty="0">
                <a:solidFill>
                  <a:srgbClr val="0000C0"/>
                </a:solidFill>
                <a:latin typeface="Consolas"/>
              </a:rPr>
              <a:t>i</a:t>
            </a:r>
            <a:r>
              <a:rPr lang="en-US" sz="2800" dirty="0">
                <a:solidFill>
                  <a:srgbClr val="000000"/>
                </a:solidFill>
                <a:latin typeface="Consolas"/>
              </a:rPr>
              <a:t>=85;</a:t>
            </a:r>
          </a:p>
          <a:p>
            <a:r>
              <a:rPr lang="en-US" sz="2800" dirty="0">
                <a:solidFill>
                  <a:srgbClr val="6A3E3E"/>
                </a:solidFill>
                <a:latin typeface="Consolas"/>
              </a:rPr>
              <a:t>obj1</a:t>
            </a:r>
            <a:r>
              <a:rPr lang="en-US" sz="2800" dirty="0">
                <a:solidFill>
                  <a:srgbClr val="000000"/>
                </a:solidFill>
                <a:latin typeface="Consolas"/>
              </a:rPr>
              <a:t>.</a:t>
            </a:r>
            <a:r>
              <a:rPr lang="en-US" sz="2800" dirty="0">
                <a:solidFill>
                  <a:srgbClr val="0000C0"/>
                </a:solidFill>
                <a:latin typeface="Consolas"/>
              </a:rPr>
              <a:t>j</a:t>
            </a:r>
            <a:r>
              <a:rPr lang="en-US" sz="2800" dirty="0">
                <a:solidFill>
                  <a:srgbClr val="000000"/>
                </a:solidFill>
                <a:latin typeface="Consolas"/>
              </a:rPr>
              <a:t>=12;</a:t>
            </a:r>
          </a:p>
          <a:p>
            <a:endParaRPr lang="en-US" sz="2800" dirty="0">
              <a:solidFill>
                <a:srgbClr val="000000"/>
              </a:solidFill>
              <a:effectLst/>
              <a:latin typeface="Consolas"/>
            </a:endParaRPr>
          </a:p>
        </p:txBody>
      </p:sp>
      <p:sp>
        <p:nvSpPr>
          <p:cNvPr id="13" name="Rectangle 12"/>
          <p:cNvSpPr/>
          <p:nvPr/>
        </p:nvSpPr>
        <p:spPr>
          <a:xfrm>
            <a:off x="11658600" y="2235820"/>
            <a:ext cx="5016978" cy="3108543"/>
          </a:xfrm>
          <a:prstGeom prst="rect">
            <a:avLst/>
          </a:prstGeom>
        </p:spPr>
        <p:txBody>
          <a:bodyPr wrap="square">
            <a:spAutoFit/>
          </a:bodyPr>
          <a:lstStyle/>
          <a:p>
            <a:r>
              <a:rPr lang="en-US" sz="2800" dirty="0">
                <a:solidFill>
                  <a:srgbClr val="000000"/>
                </a:solidFill>
                <a:latin typeface="Consolas"/>
              </a:rPr>
              <a:t>BB </a:t>
            </a:r>
            <a:r>
              <a:rPr lang="en-US" sz="2800" dirty="0">
                <a:solidFill>
                  <a:srgbClr val="6A3E3E"/>
                </a:solidFill>
                <a:latin typeface="Consolas"/>
              </a:rPr>
              <a:t>obj2</a:t>
            </a:r>
            <a:r>
              <a:rPr lang="en-US" sz="2800" dirty="0">
                <a:solidFill>
                  <a:srgbClr val="000000"/>
                </a:solidFill>
                <a:latin typeface="Consolas"/>
              </a:rPr>
              <a:t> = </a:t>
            </a:r>
            <a:r>
              <a:rPr lang="en-US" sz="2800" b="1" dirty="0">
                <a:solidFill>
                  <a:srgbClr val="7F0055"/>
                </a:solidFill>
                <a:latin typeface="Consolas"/>
              </a:rPr>
              <a:t>new</a:t>
            </a:r>
            <a:r>
              <a:rPr lang="en-US" sz="2800" dirty="0">
                <a:solidFill>
                  <a:srgbClr val="000000"/>
                </a:solidFill>
                <a:latin typeface="Consolas"/>
              </a:rPr>
              <a:t> BB();</a:t>
            </a:r>
          </a:p>
          <a:p>
            <a:r>
              <a:rPr lang="en-US" sz="2800" dirty="0">
                <a:solidFill>
                  <a:srgbClr val="6A3E3E"/>
                </a:solidFill>
                <a:latin typeface="Consolas"/>
              </a:rPr>
              <a:t>obj2</a:t>
            </a:r>
            <a:r>
              <a:rPr lang="en-US" sz="2800" dirty="0">
                <a:solidFill>
                  <a:srgbClr val="000000"/>
                </a:solidFill>
                <a:latin typeface="Consolas"/>
              </a:rPr>
              <a:t>.</a:t>
            </a:r>
            <a:r>
              <a:rPr lang="en-US" sz="2800" dirty="0">
                <a:solidFill>
                  <a:srgbClr val="0000C0"/>
                </a:solidFill>
                <a:latin typeface="Consolas"/>
              </a:rPr>
              <a:t>k</a:t>
            </a:r>
            <a:r>
              <a:rPr lang="en-US" sz="2800" dirty="0">
                <a:solidFill>
                  <a:srgbClr val="000000"/>
                </a:solidFill>
                <a:latin typeface="Consolas"/>
              </a:rPr>
              <a:t>=62;</a:t>
            </a:r>
          </a:p>
          <a:p>
            <a:r>
              <a:rPr lang="en-US" sz="2800" dirty="0">
                <a:solidFill>
                  <a:srgbClr val="6A3E3E"/>
                </a:solidFill>
                <a:latin typeface="Consolas"/>
              </a:rPr>
              <a:t>obj2</a:t>
            </a:r>
            <a:r>
              <a:rPr lang="en-US" sz="2800" dirty="0">
                <a:solidFill>
                  <a:srgbClr val="000000"/>
                </a:solidFill>
                <a:latin typeface="Consolas"/>
              </a:rPr>
              <a:t>.</a:t>
            </a:r>
            <a:r>
              <a:rPr lang="en-US" sz="2800" dirty="0">
                <a:solidFill>
                  <a:srgbClr val="0000C0"/>
                </a:solidFill>
                <a:latin typeface="Consolas"/>
              </a:rPr>
              <a:t>i</a:t>
            </a:r>
            <a:r>
              <a:rPr lang="en-US" sz="2800" dirty="0">
                <a:solidFill>
                  <a:srgbClr val="000000"/>
                </a:solidFill>
                <a:latin typeface="Consolas"/>
              </a:rPr>
              <a:t>=22;</a:t>
            </a:r>
          </a:p>
          <a:p>
            <a:r>
              <a:rPr lang="en-US" sz="2800" dirty="0">
                <a:solidFill>
                  <a:srgbClr val="6A3E3E"/>
                </a:solidFill>
                <a:latin typeface="Consolas"/>
              </a:rPr>
              <a:t>obj2</a:t>
            </a:r>
            <a:r>
              <a:rPr lang="en-US" sz="2800" dirty="0">
                <a:solidFill>
                  <a:srgbClr val="000000"/>
                </a:solidFill>
                <a:latin typeface="Consolas"/>
              </a:rPr>
              <a:t>.</a:t>
            </a:r>
            <a:r>
              <a:rPr lang="en-US" sz="2800" dirty="0">
                <a:solidFill>
                  <a:srgbClr val="0000C0"/>
                </a:solidFill>
                <a:latin typeface="Consolas"/>
              </a:rPr>
              <a:t>j</a:t>
            </a:r>
            <a:r>
              <a:rPr lang="en-US" sz="2800" dirty="0">
                <a:solidFill>
                  <a:srgbClr val="000000"/>
                </a:solidFill>
                <a:latin typeface="Consolas"/>
              </a:rPr>
              <a:t>=90;</a:t>
            </a:r>
          </a:p>
          <a:p>
            <a:r>
              <a:rPr lang="en-US" sz="2800" dirty="0">
                <a:solidFill>
                  <a:srgbClr val="6A3E3E"/>
                </a:solidFill>
                <a:latin typeface="Consolas"/>
              </a:rPr>
              <a:t>obj1</a:t>
            </a:r>
            <a:r>
              <a:rPr lang="en-US" sz="2800" dirty="0">
                <a:solidFill>
                  <a:srgbClr val="000000"/>
                </a:solidFill>
                <a:latin typeface="Consolas"/>
              </a:rPr>
              <a:t> = </a:t>
            </a:r>
            <a:r>
              <a:rPr lang="en-US" sz="2800" dirty="0">
                <a:solidFill>
                  <a:srgbClr val="6A3E3E"/>
                </a:solidFill>
                <a:latin typeface="Consolas"/>
              </a:rPr>
              <a:t>obj2</a:t>
            </a:r>
            <a:r>
              <a:rPr lang="en-US" sz="2800" dirty="0">
                <a:solidFill>
                  <a:srgbClr val="000000"/>
                </a:solidFill>
                <a:latin typeface="Consolas"/>
              </a:rPr>
              <a:t>;</a:t>
            </a:r>
          </a:p>
          <a:p>
            <a:r>
              <a:rPr lang="en-US" sz="2800" dirty="0">
                <a:solidFill>
                  <a:srgbClr val="6A3E3E"/>
                </a:solidFill>
                <a:latin typeface="Consolas"/>
              </a:rPr>
              <a:t>obj1</a:t>
            </a:r>
            <a:r>
              <a:rPr lang="en-US" sz="2800" dirty="0">
                <a:solidFill>
                  <a:srgbClr val="000000"/>
                </a:solidFill>
                <a:latin typeface="Consolas"/>
              </a:rPr>
              <a:t>.show</a:t>
            </a:r>
            <a:r>
              <a:rPr lang="en-US" sz="2800" dirty="0" smtClean="0">
                <a:solidFill>
                  <a:srgbClr val="000000"/>
                </a:solidFill>
                <a:latin typeface="Consolas"/>
              </a:rPr>
              <a:t>();}}</a:t>
            </a:r>
            <a:endParaRPr lang="en-US" sz="2800" dirty="0">
              <a:solidFill>
                <a:srgbClr val="000000"/>
              </a:solidFill>
              <a:latin typeface="Consolas"/>
            </a:endParaRPr>
          </a:p>
          <a:p>
            <a:endParaRPr lang="en-US" sz="2800" dirty="0">
              <a:solidFill>
                <a:srgbClr val="000000"/>
              </a:solidFill>
              <a:effectLst/>
              <a:latin typeface="Consolas"/>
            </a:endParaRPr>
          </a:p>
        </p:txBody>
      </p:sp>
      <p:sp>
        <p:nvSpPr>
          <p:cNvPr id="15" name="Rectangle 14"/>
          <p:cNvSpPr/>
          <p:nvPr/>
        </p:nvSpPr>
        <p:spPr>
          <a:xfrm>
            <a:off x="12630450" y="6563825"/>
            <a:ext cx="3073277" cy="175432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p:cNvSpPr/>
          <p:nvPr/>
        </p:nvSpPr>
        <p:spPr>
          <a:xfrm>
            <a:off x="12666118" y="6563825"/>
            <a:ext cx="3073277" cy="1754326"/>
          </a:xfrm>
          <a:prstGeom prst="rect">
            <a:avLst/>
          </a:prstGeom>
        </p:spPr>
        <p:txBody>
          <a:bodyPr wrap="none">
            <a:spAutoFit/>
          </a:bodyPr>
          <a:lstStyle/>
          <a:p>
            <a:r>
              <a:rPr lang="en-US" sz="5400" dirty="0" smtClean="0">
                <a:ln w="19050">
                  <a:solidFill>
                    <a:schemeClr val="tx1"/>
                  </a:solidFill>
                </a:ln>
              </a:rPr>
              <a:t>OUTPUT :</a:t>
            </a:r>
          </a:p>
          <a:p>
            <a:r>
              <a:rPr lang="en-US" sz="5400" dirty="0" smtClean="0">
                <a:ln w="19050">
                  <a:solidFill>
                    <a:schemeClr val="tx1"/>
                  </a:solidFill>
                </a:ln>
              </a:rPr>
              <a:t>i </a:t>
            </a:r>
            <a:r>
              <a:rPr lang="en-US" sz="5400" dirty="0">
                <a:ln w="19050">
                  <a:solidFill>
                    <a:schemeClr val="tx1"/>
                  </a:solidFill>
                </a:ln>
              </a:rPr>
              <a:t>=22 j =90</a:t>
            </a:r>
          </a:p>
        </p:txBody>
      </p:sp>
    </p:spTree>
    <p:extLst>
      <p:ext uri="{BB962C8B-B14F-4D97-AF65-F5344CB8AC3E}">
        <p14:creationId xmlns:p14="http://schemas.microsoft.com/office/powerpoint/2010/main" val="187349470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USING SUPER </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2" y="2171700"/>
            <a:ext cx="15537445" cy="6155531"/>
          </a:xfrm>
          <a:prstGeom prst="rect">
            <a:avLst/>
          </a:prstGeom>
        </p:spPr>
        <p:txBody>
          <a:bodyPr wrap="square" lIns="0" tIns="0" rIns="0" bIns="0" rtlCol="0" anchor="t">
            <a:spAutoFit/>
          </a:bodyPr>
          <a:lstStyle/>
          <a:p>
            <a:pPr marL="571500" indent="-571500">
              <a:buFont typeface="Arial" panose="020B0604020202020204" pitchFamily="34" charset="0"/>
              <a:buChar char="•"/>
            </a:pPr>
            <a:r>
              <a:rPr lang="en-US" sz="4000" dirty="0"/>
              <a:t>Whenever </a:t>
            </a:r>
            <a:r>
              <a:rPr lang="en-US" sz="4000" dirty="0" smtClean="0"/>
              <a:t>derived </a:t>
            </a:r>
            <a:r>
              <a:rPr lang="en-US" sz="4000" dirty="0"/>
              <a:t>class </a:t>
            </a:r>
            <a:r>
              <a:rPr lang="en-US" sz="4000" dirty="0" smtClean="0"/>
              <a:t>inherits </a:t>
            </a:r>
            <a:r>
              <a:rPr lang="en-US" sz="4000" dirty="0"/>
              <a:t>base class features, there </a:t>
            </a:r>
            <a:r>
              <a:rPr lang="en-US" sz="4000" dirty="0" smtClean="0"/>
              <a:t>is a possibility that base </a:t>
            </a:r>
            <a:r>
              <a:rPr lang="en-US" sz="4000" dirty="0"/>
              <a:t>class features are similar to derived class features and JVM gets an ambiguity. </a:t>
            </a:r>
            <a:r>
              <a:rPr lang="en-US" sz="4000" dirty="0" smtClean="0"/>
              <a:t>To overcome </a:t>
            </a:r>
            <a:r>
              <a:rPr lang="en-US" sz="4000" dirty="0"/>
              <a:t>this, super is used to refer super class properties</a:t>
            </a:r>
            <a:r>
              <a:rPr lang="en-US" sz="4000" dirty="0" smtClean="0"/>
              <a:t>.</a:t>
            </a:r>
          </a:p>
          <a:p>
            <a:pPr marL="571500" indent="-571500">
              <a:buFont typeface="Arial" panose="020B0604020202020204" pitchFamily="34" charset="0"/>
              <a:buChar char="•"/>
            </a:pPr>
            <a:r>
              <a:rPr lang="en-US" sz="4000" dirty="0" smtClean="0"/>
              <a:t>The super keyword in Java is a reference variable that is used to refer to the parent class when we are working with objects.</a:t>
            </a:r>
          </a:p>
          <a:p>
            <a:pPr marL="571500" indent="-571500">
              <a:buFont typeface="Arial" panose="020B0604020202020204" pitchFamily="34" charset="0"/>
              <a:buChar char="•"/>
            </a:pPr>
            <a:r>
              <a:rPr lang="en-US" sz="4000" dirty="0" smtClean="0"/>
              <a:t> </a:t>
            </a:r>
            <a:r>
              <a:rPr lang="en-US" sz="4000" b="1" dirty="0" smtClean="0"/>
              <a:t>Usage </a:t>
            </a:r>
            <a:r>
              <a:rPr lang="en-US" sz="4000" b="1" dirty="0"/>
              <a:t>of Java super </a:t>
            </a:r>
            <a:r>
              <a:rPr lang="en-US" sz="4000" b="1" dirty="0" smtClean="0"/>
              <a:t>Keyword :-</a:t>
            </a:r>
            <a:endParaRPr lang="en-US" sz="4000" b="1" dirty="0"/>
          </a:p>
          <a:p>
            <a:pPr marL="1657350" lvl="2" indent="-742950">
              <a:buAutoNum type="arabicPeriod"/>
            </a:pPr>
            <a:r>
              <a:rPr lang="en-US" sz="4000" dirty="0" smtClean="0"/>
              <a:t>Use of super with variables</a:t>
            </a:r>
          </a:p>
          <a:p>
            <a:pPr marL="1657350" lvl="2" indent="-742950">
              <a:buAutoNum type="arabicPeriod"/>
            </a:pPr>
            <a:r>
              <a:rPr lang="en-US" sz="4000" dirty="0" smtClean="0"/>
              <a:t>Use of super with methods</a:t>
            </a:r>
            <a:endParaRPr lang="en-US" sz="4000" dirty="0"/>
          </a:p>
          <a:p>
            <a:pPr marL="1657350" lvl="2" indent="-742950">
              <a:buAutoNum type="arabicPeriod"/>
            </a:pPr>
            <a:r>
              <a:rPr lang="en-US" sz="4000" dirty="0" smtClean="0"/>
              <a:t>Use of super  with constructors</a:t>
            </a:r>
          </a:p>
        </p:txBody>
      </p:sp>
    </p:spTree>
    <p:extLst>
      <p:ext uri="{BB962C8B-B14F-4D97-AF65-F5344CB8AC3E}">
        <p14:creationId xmlns:p14="http://schemas.microsoft.com/office/powerpoint/2010/main" val="130842755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USING SUPER </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2" y="2171700"/>
            <a:ext cx="15537445" cy="8002191"/>
          </a:xfrm>
          <a:prstGeom prst="rect">
            <a:avLst/>
          </a:prstGeom>
        </p:spPr>
        <p:txBody>
          <a:bodyPr wrap="square" lIns="0" tIns="0" rIns="0" bIns="0" rtlCol="0" anchor="t">
            <a:spAutoFit/>
          </a:bodyPr>
          <a:lstStyle/>
          <a:p>
            <a:r>
              <a:rPr lang="en-US" sz="4000" b="1" u="sng" dirty="0" smtClean="0"/>
              <a:t>Characteristics </a:t>
            </a:r>
            <a:r>
              <a:rPr lang="en-US" sz="4000" b="1" u="sng" dirty="0"/>
              <a:t>of S</a:t>
            </a:r>
            <a:r>
              <a:rPr lang="en-US" sz="4000" b="1" u="sng" dirty="0" smtClean="0"/>
              <a:t>uper Keyword in Java :-</a:t>
            </a:r>
            <a:endParaRPr lang="en-US" sz="4000" b="1" u="sng" dirty="0"/>
          </a:p>
          <a:p>
            <a:pPr fontAlgn="base">
              <a:buFont typeface="Arial"/>
              <a:buChar char="•"/>
            </a:pPr>
            <a:r>
              <a:rPr lang="en-US" sz="4000" b="1" dirty="0"/>
              <a:t>Calling the Parent Class Constructor: </a:t>
            </a:r>
            <a:r>
              <a:rPr lang="en-US" sz="4000" dirty="0"/>
              <a:t>When we create an object of the subclass, its constructor needs to call the constructor of the parent class. </a:t>
            </a:r>
          </a:p>
          <a:p>
            <a:pPr fontAlgn="base">
              <a:buFont typeface="Arial"/>
              <a:buChar char="•"/>
            </a:pPr>
            <a:r>
              <a:rPr lang="en-US" sz="4000" b="1" dirty="0"/>
              <a:t>Accessing Parent Class Methods:</a:t>
            </a:r>
            <a:r>
              <a:rPr lang="en-US" sz="4000" dirty="0"/>
              <a:t> </a:t>
            </a:r>
            <a:r>
              <a:rPr lang="en-US" sz="4000" dirty="0" smtClean="0"/>
              <a:t>If </a:t>
            </a:r>
            <a:r>
              <a:rPr lang="en-US" sz="4000" dirty="0"/>
              <a:t>subclass wants to </a:t>
            </a:r>
            <a:r>
              <a:rPr lang="en-US" sz="4000" dirty="0" smtClean="0"/>
              <a:t>access </a:t>
            </a:r>
            <a:r>
              <a:rPr lang="en-US" sz="4000" dirty="0"/>
              <a:t>methods </a:t>
            </a:r>
            <a:r>
              <a:rPr lang="en-US" sz="4000" dirty="0" smtClean="0"/>
              <a:t>of parent </a:t>
            </a:r>
            <a:r>
              <a:rPr lang="en-US" sz="4000" dirty="0"/>
              <a:t>class, it can also be done with the help of the super keyword.</a:t>
            </a:r>
          </a:p>
          <a:p>
            <a:pPr fontAlgn="base">
              <a:buFont typeface="Arial"/>
              <a:buChar char="•"/>
            </a:pPr>
            <a:r>
              <a:rPr lang="en-US" sz="4000" b="1" dirty="0"/>
              <a:t>Accessing Parent Class </a:t>
            </a:r>
            <a:r>
              <a:rPr lang="en-US" sz="4000" b="1" dirty="0" smtClean="0"/>
              <a:t>Variables:</a:t>
            </a:r>
            <a:r>
              <a:rPr lang="en-US" sz="4000" dirty="0"/>
              <a:t> Fields from the parent class can also be accessed using the super keyword in the subclass.</a:t>
            </a:r>
          </a:p>
          <a:p>
            <a:pPr fontAlgn="base">
              <a:buFont typeface="Arial"/>
              <a:buChar char="•"/>
            </a:pPr>
            <a:r>
              <a:rPr lang="en-US" sz="4000" b="1" dirty="0"/>
              <a:t>First Statement in a Constructor:</a:t>
            </a:r>
            <a:r>
              <a:rPr lang="en-US" sz="4000" dirty="0"/>
              <a:t> When calling a superclass constructor, the super() statement must be the first statement in the constructor of the subclass. This ensures that the parent class is properly initialized before the subclass does anything else.</a:t>
            </a:r>
          </a:p>
          <a:p>
            <a:pPr fontAlgn="base">
              <a:buFont typeface="Arial"/>
              <a:buChar char="•"/>
            </a:pPr>
            <a:r>
              <a:rPr lang="en-US" sz="4000" b="1" dirty="0"/>
              <a:t>Cannot be used in Static Context:</a:t>
            </a:r>
            <a:r>
              <a:rPr lang="en-US" sz="4000" dirty="0"/>
              <a:t> We cannot use super in a static variable, static method and static block</a:t>
            </a:r>
            <a:r>
              <a:rPr lang="en-US" sz="4000" dirty="0" smtClean="0"/>
              <a:t>. </a:t>
            </a:r>
            <a:endParaRPr lang="en-US" sz="4000" dirty="0"/>
          </a:p>
        </p:txBody>
      </p:sp>
    </p:spTree>
    <p:extLst>
      <p:ext uri="{BB962C8B-B14F-4D97-AF65-F5344CB8AC3E}">
        <p14:creationId xmlns:p14="http://schemas.microsoft.com/office/powerpoint/2010/main" val="12419163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298984" y="-6096000"/>
            <a:ext cx="2209800"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936285" y="448270"/>
            <a:ext cx="15665930" cy="1846659"/>
          </a:xfrm>
          <a:prstGeom prst="rect">
            <a:avLst/>
          </a:prstGeom>
        </p:spPr>
        <p:txBody>
          <a:bodyPr wrap="square" lIns="0" tIns="0" rIns="0" bIns="0" rtlCol="0" anchor="t">
            <a:spAutoFit/>
          </a:bodyPr>
          <a:lstStyle/>
          <a:p>
            <a:pPr algn="ctr"/>
            <a:r>
              <a:rPr lang="en-US" sz="6000" b="1" dirty="0" smtClean="0">
                <a:solidFill>
                  <a:srgbClr val="000000"/>
                </a:solidFill>
                <a:latin typeface="Century Gothic Paneuropean Bold"/>
                <a:ea typeface="Century Gothic Paneuropean Bold"/>
                <a:cs typeface="Century Gothic Paneuropean Bold"/>
                <a:sym typeface="Century Gothic Paneuropean Bold"/>
              </a:rPr>
              <a:t>USING SUPER TO  ACCESS MEMBERS OF SUPERCLASS</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902236" y="3009900"/>
            <a:ext cx="15537445" cy="5886227"/>
          </a:xfrm>
          <a:prstGeom prst="rect">
            <a:avLst/>
          </a:prstGeom>
        </p:spPr>
        <p:txBody>
          <a:bodyPr wrap="square" lIns="0" tIns="0" rIns="0" bIns="0" rtlCol="0" anchor="t">
            <a:spAutoFit/>
          </a:bodyPr>
          <a:lstStyle/>
          <a:p>
            <a:pPr marL="571500" indent="-571500">
              <a:lnSpc>
                <a:spcPts val="5096"/>
              </a:lnSpc>
              <a:buFont typeface="Arial" panose="020B0604020202020204" pitchFamily="34" charset="0"/>
              <a:buChar char="•"/>
            </a:pPr>
            <a:r>
              <a:rPr lang="en-US" sz="4000" dirty="0">
                <a:sym typeface="Century Gothic Paneuropean"/>
              </a:rPr>
              <a:t>Super can used to access members can be instance variables or methods of </a:t>
            </a:r>
            <a:r>
              <a:rPr lang="en-US" sz="4000" dirty="0" smtClean="0">
                <a:sym typeface="Century Gothic Paneuropean"/>
              </a:rPr>
              <a:t>superclass.</a:t>
            </a:r>
          </a:p>
          <a:p>
            <a:pPr marL="571500" indent="-571500">
              <a:lnSpc>
                <a:spcPts val="5096"/>
              </a:lnSpc>
              <a:buFont typeface="Arial" panose="020B0604020202020204" pitchFamily="34" charset="0"/>
              <a:buChar char="•"/>
            </a:pPr>
            <a:r>
              <a:rPr lang="en-US" sz="4000" dirty="0" smtClean="0">
                <a:sym typeface="Century Gothic Paneuropean"/>
              </a:rPr>
              <a:t>When a subclass declares variables with the same name as superclass variables then subclass variables hides (or shadows) the superclass one.</a:t>
            </a:r>
          </a:p>
          <a:p>
            <a:pPr marL="571500" indent="-571500">
              <a:lnSpc>
                <a:spcPts val="5096"/>
              </a:lnSpc>
              <a:buFont typeface="Arial" panose="020B0604020202020204" pitchFamily="34" charset="0"/>
              <a:buChar char="•"/>
            </a:pPr>
            <a:r>
              <a:rPr lang="en-US" sz="4000" dirty="0" smtClean="0">
                <a:sym typeface="Century Gothic Paneuropean"/>
              </a:rPr>
              <a:t>To access hidden superclass members – instance variables or methods, we can use super.</a:t>
            </a:r>
          </a:p>
          <a:p>
            <a:pPr marL="571500" indent="-571500">
              <a:lnSpc>
                <a:spcPts val="5096"/>
              </a:lnSpc>
              <a:buFont typeface="Arial" panose="020B0604020202020204" pitchFamily="34" charset="0"/>
              <a:buChar char="•"/>
            </a:pPr>
            <a:r>
              <a:rPr lang="en-US" sz="4000" dirty="0" smtClean="0">
                <a:sym typeface="Century Gothic Paneuropean"/>
              </a:rPr>
              <a:t>To distinguish between between subclass and superclass same variables we can use super.</a:t>
            </a:r>
          </a:p>
          <a:p>
            <a:pPr marL="571500" indent="-571500">
              <a:lnSpc>
                <a:spcPts val="5096"/>
              </a:lnSpc>
              <a:buFont typeface="Arial" panose="020B0604020202020204" pitchFamily="34" charset="0"/>
              <a:buChar char="•"/>
            </a:pPr>
            <a:r>
              <a:rPr lang="en-US" sz="4000" b="1" u="sng" dirty="0" smtClean="0">
                <a:sym typeface="Century Gothic Paneuropean"/>
              </a:rPr>
              <a:t>Syntax</a:t>
            </a:r>
            <a:r>
              <a:rPr lang="en-US" sz="4000" b="1" dirty="0" smtClean="0">
                <a:sym typeface="Century Gothic Paneuropean"/>
              </a:rPr>
              <a:t> – </a:t>
            </a:r>
            <a:r>
              <a:rPr lang="en-US" sz="4000" dirty="0" smtClean="0">
                <a:sym typeface="Century Gothic Paneuropean"/>
              </a:rPr>
              <a:t>super.member;</a:t>
            </a:r>
            <a:endParaRPr lang="en-US" sz="4000" b="1" u="sng" dirty="0">
              <a:sym typeface="Century Gothic Paneuropean"/>
            </a:endParaRPr>
          </a:p>
        </p:txBody>
      </p:sp>
    </p:spTree>
    <p:extLst>
      <p:ext uri="{BB962C8B-B14F-4D97-AF65-F5344CB8AC3E}">
        <p14:creationId xmlns:p14="http://schemas.microsoft.com/office/powerpoint/2010/main" val="299124039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794283" y="-6591300"/>
            <a:ext cx="1219199"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936285" y="448270"/>
            <a:ext cx="15665930" cy="738664"/>
          </a:xfrm>
          <a:prstGeom prst="rect">
            <a:avLst/>
          </a:prstGeom>
        </p:spPr>
        <p:txBody>
          <a:bodyPr wrap="square" lIns="0" tIns="0" rIns="0" bIns="0" rtlCol="0" anchor="t">
            <a:spAutoFit/>
          </a:bodyPr>
          <a:lstStyle/>
          <a:p>
            <a:pPr algn="ctr"/>
            <a:r>
              <a:rPr lang="en-US" sz="4800" b="1" dirty="0" smtClean="0">
                <a:solidFill>
                  <a:srgbClr val="000000"/>
                </a:solidFill>
                <a:latin typeface="Century Gothic Paneuropean Bold"/>
                <a:ea typeface="Century Gothic Paneuropean Bold"/>
                <a:cs typeface="Century Gothic Paneuropean Bold"/>
                <a:sym typeface="Century Gothic Paneuropean Bold"/>
              </a:rPr>
              <a:t>USING SUPER TO  ACCESS MEMBERS OF SUPERCLASS</a:t>
            </a:r>
            <a:endParaRPr lang="en-US" sz="48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907103" y="1638300"/>
            <a:ext cx="11284898" cy="8494633"/>
          </a:xfrm>
          <a:prstGeom prst="rect">
            <a:avLst/>
          </a:prstGeom>
        </p:spPr>
        <p:txBody>
          <a:bodyPr wrap="square" lIns="0" tIns="0" rIns="0" bIns="0" rtlCol="0" anchor="t">
            <a:spAutoFit/>
          </a:bodyPr>
          <a:lstStyle/>
          <a:p>
            <a:r>
              <a:rPr lang="en-US" sz="2400" b="1" dirty="0">
                <a:solidFill>
                  <a:srgbClr val="7F0055"/>
                </a:solidFill>
                <a:latin typeface="Consolas"/>
              </a:rPr>
              <a:t>class</a:t>
            </a:r>
            <a:r>
              <a:rPr lang="en-US" sz="2400" dirty="0">
                <a:solidFill>
                  <a:srgbClr val="000000"/>
                </a:solidFill>
                <a:latin typeface="Consolas"/>
              </a:rPr>
              <a:t> Asuper{</a:t>
            </a:r>
          </a:p>
          <a:p>
            <a:r>
              <a:rPr lang="en-US" sz="2400" b="1" dirty="0">
                <a:solidFill>
                  <a:srgbClr val="7F0055"/>
                </a:solidFill>
                <a:latin typeface="Consolas"/>
              </a:rPr>
              <a:t>int</a:t>
            </a:r>
            <a:r>
              <a:rPr lang="en-US" sz="2400" dirty="0">
                <a:solidFill>
                  <a:srgbClr val="000000"/>
                </a:solidFill>
                <a:latin typeface="Consolas"/>
              </a:rPr>
              <a:t> </a:t>
            </a:r>
            <a:r>
              <a:rPr lang="en-US" sz="2400" dirty="0">
                <a:solidFill>
                  <a:srgbClr val="0000C0"/>
                </a:solidFill>
                <a:latin typeface="Consolas"/>
              </a:rPr>
              <a:t>i</a:t>
            </a:r>
            <a:r>
              <a:rPr lang="en-US" sz="2400" dirty="0">
                <a:solidFill>
                  <a:srgbClr val="000000"/>
                </a:solidFill>
                <a:latin typeface="Consolas"/>
              </a:rPr>
              <a:t> =100;</a:t>
            </a:r>
          </a:p>
          <a:p>
            <a:r>
              <a:rPr lang="en-US" sz="2400" b="1" dirty="0">
                <a:solidFill>
                  <a:srgbClr val="7F0055"/>
                </a:solidFill>
                <a:latin typeface="Consolas"/>
              </a:rPr>
              <a:t>int</a:t>
            </a:r>
            <a:r>
              <a:rPr lang="en-US" sz="2400" dirty="0">
                <a:solidFill>
                  <a:srgbClr val="000000"/>
                </a:solidFill>
                <a:latin typeface="Consolas"/>
              </a:rPr>
              <a:t> </a:t>
            </a:r>
            <a:r>
              <a:rPr lang="en-US" sz="2400" dirty="0">
                <a:solidFill>
                  <a:srgbClr val="0000C0"/>
                </a:solidFill>
                <a:latin typeface="Consolas"/>
              </a:rPr>
              <a:t>j</a:t>
            </a:r>
            <a:r>
              <a:rPr lang="en-US" sz="2400" dirty="0">
                <a:solidFill>
                  <a:srgbClr val="000000"/>
                </a:solidFill>
                <a:latin typeface="Consolas"/>
              </a:rPr>
              <a:t> =100;</a:t>
            </a:r>
          </a:p>
          <a:p>
            <a:r>
              <a:rPr lang="en-US" sz="2400" b="1" dirty="0">
                <a:solidFill>
                  <a:srgbClr val="7F0055"/>
                </a:solidFill>
                <a:latin typeface="Consolas"/>
              </a:rPr>
              <a:t>void</a:t>
            </a:r>
            <a:r>
              <a:rPr lang="en-US" sz="2400" dirty="0">
                <a:solidFill>
                  <a:srgbClr val="000000"/>
                </a:solidFill>
                <a:latin typeface="Consolas"/>
              </a:rPr>
              <a:t> show() {</a:t>
            </a:r>
          </a:p>
          <a:p>
            <a:r>
              <a:rPr lang="en-US" sz="2400" dirty="0">
                <a:solidFill>
                  <a:srgbClr val="000000"/>
                </a:solidFill>
                <a:latin typeface="Consolas"/>
              </a:rPr>
              <a:t>System.</a:t>
            </a:r>
            <a:r>
              <a:rPr lang="en-US" sz="2400" b="1" i="1" dirty="0">
                <a:solidFill>
                  <a:srgbClr val="0000C0"/>
                </a:solidFill>
                <a:latin typeface="Consolas"/>
              </a:rPr>
              <a:t>out</a:t>
            </a:r>
            <a:r>
              <a:rPr lang="en-US" sz="2400" dirty="0">
                <a:solidFill>
                  <a:srgbClr val="000000"/>
                </a:solidFill>
                <a:latin typeface="Consolas"/>
              </a:rPr>
              <a:t>.println(</a:t>
            </a:r>
            <a:r>
              <a:rPr lang="en-US" sz="2400" dirty="0">
                <a:solidFill>
                  <a:srgbClr val="2A00FF"/>
                </a:solidFill>
                <a:latin typeface="Consolas"/>
              </a:rPr>
              <a:t>"i ="</a:t>
            </a:r>
            <a:r>
              <a:rPr lang="en-US" sz="2400" dirty="0">
                <a:solidFill>
                  <a:srgbClr val="000000"/>
                </a:solidFill>
                <a:latin typeface="Consolas"/>
              </a:rPr>
              <a:t>+</a:t>
            </a:r>
            <a:r>
              <a:rPr lang="en-US" sz="2400" dirty="0">
                <a:solidFill>
                  <a:srgbClr val="0000C0"/>
                </a:solidFill>
                <a:latin typeface="Consolas"/>
              </a:rPr>
              <a:t>i</a:t>
            </a:r>
            <a:r>
              <a:rPr lang="en-US" sz="2400" dirty="0">
                <a:solidFill>
                  <a:srgbClr val="000000"/>
                </a:solidFill>
                <a:latin typeface="Consolas"/>
              </a:rPr>
              <a:t> +</a:t>
            </a:r>
            <a:r>
              <a:rPr lang="en-US" sz="2400" dirty="0">
                <a:solidFill>
                  <a:srgbClr val="2A00FF"/>
                </a:solidFill>
                <a:latin typeface="Consolas"/>
              </a:rPr>
              <a:t>" "</a:t>
            </a:r>
            <a:r>
              <a:rPr lang="en-US" sz="2400" dirty="0">
                <a:solidFill>
                  <a:srgbClr val="000000"/>
                </a:solidFill>
                <a:latin typeface="Consolas"/>
              </a:rPr>
              <a:t>+</a:t>
            </a:r>
            <a:r>
              <a:rPr lang="en-US" sz="2400" dirty="0">
                <a:solidFill>
                  <a:srgbClr val="2A00FF"/>
                </a:solidFill>
                <a:latin typeface="Consolas"/>
              </a:rPr>
              <a:t>"j ="</a:t>
            </a:r>
            <a:r>
              <a:rPr lang="en-US" sz="2400" dirty="0">
                <a:solidFill>
                  <a:srgbClr val="000000"/>
                </a:solidFill>
                <a:latin typeface="Consolas"/>
              </a:rPr>
              <a:t>+</a:t>
            </a:r>
            <a:r>
              <a:rPr lang="en-US" sz="2400" dirty="0">
                <a:solidFill>
                  <a:srgbClr val="0000C0"/>
                </a:solidFill>
                <a:latin typeface="Consolas"/>
              </a:rPr>
              <a:t>j</a:t>
            </a:r>
            <a:r>
              <a:rPr lang="en-US" sz="2400" dirty="0" smtClean="0">
                <a:solidFill>
                  <a:srgbClr val="000000"/>
                </a:solidFill>
                <a:latin typeface="Consolas"/>
              </a:rPr>
              <a:t>);}}</a:t>
            </a:r>
            <a:endParaRPr lang="en-US" sz="2400" dirty="0">
              <a:solidFill>
                <a:srgbClr val="000000"/>
              </a:solidFill>
              <a:latin typeface="Consolas"/>
            </a:endParaRPr>
          </a:p>
          <a:p>
            <a:r>
              <a:rPr lang="en-US" sz="2400" b="1" dirty="0">
                <a:solidFill>
                  <a:srgbClr val="7F0055"/>
                </a:solidFill>
                <a:latin typeface="Consolas"/>
              </a:rPr>
              <a:t>class</a:t>
            </a:r>
            <a:r>
              <a:rPr lang="en-US" sz="2400" dirty="0">
                <a:solidFill>
                  <a:srgbClr val="000000"/>
                </a:solidFill>
                <a:latin typeface="Consolas"/>
              </a:rPr>
              <a:t> Bsuper </a:t>
            </a:r>
            <a:r>
              <a:rPr lang="en-US" sz="2400" b="1" dirty="0">
                <a:solidFill>
                  <a:srgbClr val="7F0055"/>
                </a:solidFill>
                <a:latin typeface="Consolas"/>
              </a:rPr>
              <a:t>extends</a:t>
            </a:r>
            <a:r>
              <a:rPr lang="en-US" sz="2400" dirty="0">
                <a:solidFill>
                  <a:srgbClr val="000000"/>
                </a:solidFill>
                <a:latin typeface="Consolas"/>
              </a:rPr>
              <a:t> Asuper{</a:t>
            </a:r>
          </a:p>
          <a:p>
            <a:r>
              <a:rPr lang="en-US" sz="2400" b="1" dirty="0">
                <a:solidFill>
                  <a:srgbClr val="7F0055"/>
                </a:solidFill>
                <a:latin typeface="Consolas"/>
              </a:rPr>
              <a:t>int</a:t>
            </a:r>
            <a:r>
              <a:rPr lang="en-US" sz="2400" dirty="0">
                <a:solidFill>
                  <a:srgbClr val="000000"/>
                </a:solidFill>
                <a:latin typeface="Consolas"/>
              </a:rPr>
              <a:t> </a:t>
            </a:r>
            <a:r>
              <a:rPr lang="en-US" sz="2400" dirty="0">
                <a:solidFill>
                  <a:srgbClr val="0000C0"/>
                </a:solidFill>
                <a:latin typeface="Consolas"/>
              </a:rPr>
              <a:t>k</a:t>
            </a:r>
            <a:r>
              <a:rPr lang="en-US" sz="2400" dirty="0">
                <a:solidFill>
                  <a:srgbClr val="000000"/>
                </a:solidFill>
                <a:latin typeface="Consolas"/>
              </a:rPr>
              <a:t>;</a:t>
            </a:r>
          </a:p>
          <a:p>
            <a:r>
              <a:rPr lang="en-US" sz="2400" b="1" dirty="0">
                <a:solidFill>
                  <a:srgbClr val="7F0055"/>
                </a:solidFill>
                <a:latin typeface="Consolas"/>
              </a:rPr>
              <a:t>int</a:t>
            </a:r>
            <a:r>
              <a:rPr lang="en-US" sz="2400" dirty="0">
                <a:solidFill>
                  <a:srgbClr val="000000"/>
                </a:solidFill>
                <a:latin typeface="Consolas"/>
              </a:rPr>
              <a:t> </a:t>
            </a:r>
            <a:r>
              <a:rPr lang="en-US" sz="2400" dirty="0">
                <a:solidFill>
                  <a:srgbClr val="0000C0"/>
                </a:solidFill>
                <a:latin typeface="Consolas"/>
              </a:rPr>
              <a:t>i</a:t>
            </a:r>
            <a:r>
              <a:rPr lang="en-US" sz="2400" dirty="0">
                <a:solidFill>
                  <a:srgbClr val="000000"/>
                </a:solidFill>
                <a:latin typeface="Consolas"/>
              </a:rPr>
              <a:t> =6000;</a:t>
            </a:r>
          </a:p>
          <a:p>
            <a:r>
              <a:rPr lang="en-US" sz="2400" b="1" dirty="0">
                <a:solidFill>
                  <a:srgbClr val="7F0055"/>
                </a:solidFill>
                <a:latin typeface="Consolas"/>
              </a:rPr>
              <a:t>int</a:t>
            </a:r>
            <a:r>
              <a:rPr lang="en-US" sz="2400" dirty="0">
                <a:solidFill>
                  <a:srgbClr val="000000"/>
                </a:solidFill>
                <a:latin typeface="Consolas"/>
              </a:rPr>
              <a:t> </a:t>
            </a:r>
            <a:r>
              <a:rPr lang="en-US" sz="2400" dirty="0">
                <a:solidFill>
                  <a:srgbClr val="0000C0"/>
                </a:solidFill>
                <a:latin typeface="Consolas"/>
              </a:rPr>
              <a:t>j</a:t>
            </a:r>
            <a:r>
              <a:rPr lang="en-US" sz="2400" dirty="0">
                <a:solidFill>
                  <a:srgbClr val="000000"/>
                </a:solidFill>
                <a:latin typeface="Consolas"/>
              </a:rPr>
              <a:t> =5000;</a:t>
            </a:r>
          </a:p>
          <a:p>
            <a:r>
              <a:rPr lang="en-US" sz="2400" b="1" dirty="0">
                <a:solidFill>
                  <a:srgbClr val="7F0055"/>
                </a:solidFill>
                <a:latin typeface="Consolas"/>
              </a:rPr>
              <a:t>void</a:t>
            </a:r>
            <a:r>
              <a:rPr lang="en-US" sz="2400" dirty="0">
                <a:solidFill>
                  <a:srgbClr val="000000"/>
                </a:solidFill>
                <a:latin typeface="Consolas"/>
              </a:rPr>
              <a:t> sum1() {</a:t>
            </a:r>
          </a:p>
          <a:p>
            <a:r>
              <a:rPr lang="en-US" sz="2400" dirty="0">
                <a:solidFill>
                  <a:srgbClr val="000000"/>
                </a:solidFill>
                <a:latin typeface="Consolas"/>
              </a:rPr>
              <a:t>System.</a:t>
            </a:r>
            <a:r>
              <a:rPr lang="en-US" sz="2400" b="1" i="1" dirty="0">
                <a:solidFill>
                  <a:srgbClr val="0000C0"/>
                </a:solidFill>
                <a:latin typeface="Consolas"/>
              </a:rPr>
              <a:t>out</a:t>
            </a:r>
            <a:r>
              <a:rPr lang="en-US" sz="2400" dirty="0">
                <a:solidFill>
                  <a:srgbClr val="000000"/>
                </a:solidFill>
                <a:latin typeface="Consolas"/>
              </a:rPr>
              <a:t>.println(</a:t>
            </a:r>
            <a:r>
              <a:rPr lang="en-US" sz="2400" dirty="0">
                <a:solidFill>
                  <a:srgbClr val="2A00FF"/>
                </a:solidFill>
                <a:latin typeface="Consolas"/>
              </a:rPr>
              <a:t>"i ="</a:t>
            </a:r>
            <a:r>
              <a:rPr lang="en-US" sz="2400" dirty="0">
                <a:solidFill>
                  <a:srgbClr val="000000"/>
                </a:solidFill>
                <a:latin typeface="Consolas"/>
              </a:rPr>
              <a:t>+ </a:t>
            </a:r>
            <a:r>
              <a:rPr lang="en-US" sz="2400" dirty="0">
                <a:solidFill>
                  <a:srgbClr val="0000C0"/>
                </a:solidFill>
                <a:latin typeface="Consolas"/>
              </a:rPr>
              <a:t>i</a:t>
            </a:r>
            <a:r>
              <a:rPr lang="en-US" sz="2400" dirty="0">
                <a:solidFill>
                  <a:srgbClr val="000000"/>
                </a:solidFill>
                <a:latin typeface="Consolas"/>
              </a:rPr>
              <a:t> +</a:t>
            </a:r>
            <a:r>
              <a:rPr lang="en-US" sz="2400" dirty="0">
                <a:solidFill>
                  <a:srgbClr val="2A00FF"/>
                </a:solidFill>
                <a:latin typeface="Consolas"/>
              </a:rPr>
              <a:t>" "</a:t>
            </a:r>
            <a:r>
              <a:rPr lang="en-US" sz="2400" dirty="0">
                <a:solidFill>
                  <a:srgbClr val="000000"/>
                </a:solidFill>
                <a:latin typeface="Consolas"/>
              </a:rPr>
              <a:t>+</a:t>
            </a:r>
            <a:r>
              <a:rPr lang="en-US" sz="2400" dirty="0">
                <a:solidFill>
                  <a:srgbClr val="2A00FF"/>
                </a:solidFill>
                <a:latin typeface="Consolas"/>
              </a:rPr>
              <a:t>"j = "</a:t>
            </a:r>
            <a:r>
              <a:rPr lang="en-US" sz="2400" dirty="0">
                <a:solidFill>
                  <a:srgbClr val="000000"/>
                </a:solidFill>
                <a:latin typeface="Consolas"/>
              </a:rPr>
              <a:t>+ </a:t>
            </a:r>
            <a:r>
              <a:rPr lang="en-US" sz="2400" dirty="0">
                <a:solidFill>
                  <a:srgbClr val="0000C0"/>
                </a:solidFill>
                <a:latin typeface="Consolas"/>
              </a:rPr>
              <a:t>j</a:t>
            </a:r>
            <a:r>
              <a:rPr lang="en-US" sz="2400" dirty="0">
                <a:solidFill>
                  <a:srgbClr val="000000"/>
                </a:solidFill>
                <a:latin typeface="Consolas"/>
              </a:rPr>
              <a:t> +</a:t>
            </a:r>
            <a:r>
              <a:rPr lang="en-US" sz="2400" dirty="0">
                <a:solidFill>
                  <a:srgbClr val="2A00FF"/>
                </a:solidFill>
                <a:latin typeface="Consolas"/>
              </a:rPr>
              <a:t>" k ="</a:t>
            </a:r>
            <a:r>
              <a:rPr lang="en-US" sz="2400" dirty="0">
                <a:solidFill>
                  <a:srgbClr val="000000"/>
                </a:solidFill>
                <a:latin typeface="Consolas"/>
              </a:rPr>
              <a:t>+</a:t>
            </a:r>
            <a:r>
              <a:rPr lang="en-US" sz="2400" dirty="0">
                <a:solidFill>
                  <a:srgbClr val="0000C0"/>
                </a:solidFill>
                <a:latin typeface="Consolas"/>
              </a:rPr>
              <a:t>k</a:t>
            </a:r>
            <a:r>
              <a:rPr lang="en-US" sz="2400" dirty="0">
                <a:solidFill>
                  <a:srgbClr val="000000"/>
                </a:solidFill>
                <a:latin typeface="Consolas"/>
              </a:rPr>
              <a:t>);</a:t>
            </a:r>
          </a:p>
          <a:p>
            <a:r>
              <a:rPr lang="en-US" sz="2400" b="1" dirty="0">
                <a:solidFill>
                  <a:srgbClr val="7F0055"/>
                </a:solidFill>
                <a:latin typeface="Consolas"/>
              </a:rPr>
              <a:t>int</a:t>
            </a:r>
            <a:r>
              <a:rPr lang="en-US" sz="2400" dirty="0">
                <a:solidFill>
                  <a:srgbClr val="000000"/>
                </a:solidFill>
                <a:latin typeface="Consolas"/>
              </a:rPr>
              <a:t> </a:t>
            </a:r>
            <a:r>
              <a:rPr lang="en-US" sz="2400" dirty="0">
                <a:solidFill>
                  <a:srgbClr val="6A3E3E"/>
                </a:solidFill>
                <a:latin typeface="Consolas"/>
              </a:rPr>
              <a:t>sum</a:t>
            </a:r>
            <a:r>
              <a:rPr lang="en-US" sz="2400" dirty="0">
                <a:solidFill>
                  <a:srgbClr val="000000"/>
                </a:solidFill>
                <a:latin typeface="Consolas"/>
              </a:rPr>
              <a:t>=</a:t>
            </a:r>
            <a:r>
              <a:rPr lang="en-US" sz="2400" dirty="0">
                <a:solidFill>
                  <a:srgbClr val="0000C0"/>
                </a:solidFill>
                <a:latin typeface="Consolas"/>
              </a:rPr>
              <a:t>i</a:t>
            </a:r>
            <a:r>
              <a:rPr lang="en-US" sz="2400" dirty="0">
                <a:solidFill>
                  <a:srgbClr val="000000"/>
                </a:solidFill>
                <a:latin typeface="Consolas"/>
              </a:rPr>
              <a:t>+</a:t>
            </a:r>
            <a:r>
              <a:rPr lang="en-US" sz="2400" dirty="0">
                <a:solidFill>
                  <a:srgbClr val="0000C0"/>
                </a:solidFill>
                <a:latin typeface="Consolas"/>
              </a:rPr>
              <a:t>j</a:t>
            </a:r>
            <a:r>
              <a:rPr lang="en-US" sz="2400" dirty="0">
                <a:solidFill>
                  <a:srgbClr val="000000"/>
                </a:solidFill>
                <a:latin typeface="Consolas"/>
              </a:rPr>
              <a:t>+</a:t>
            </a:r>
            <a:r>
              <a:rPr lang="en-US" sz="2400" dirty="0">
                <a:solidFill>
                  <a:srgbClr val="0000C0"/>
                </a:solidFill>
                <a:latin typeface="Consolas"/>
              </a:rPr>
              <a:t>k</a:t>
            </a:r>
            <a:r>
              <a:rPr lang="en-US" sz="2400" dirty="0">
                <a:solidFill>
                  <a:srgbClr val="000000"/>
                </a:solidFill>
                <a:latin typeface="Consolas"/>
              </a:rPr>
              <a:t>;</a:t>
            </a:r>
          </a:p>
          <a:p>
            <a:r>
              <a:rPr lang="en-US" sz="2400" dirty="0">
                <a:solidFill>
                  <a:srgbClr val="000000"/>
                </a:solidFill>
                <a:latin typeface="Consolas"/>
              </a:rPr>
              <a:t>System.</a:t>
            </a:r>
            <a:r>
              <a:rPr lang="en-US" sz="2400" b="1" i="1" dirty="0">
                <a:solidFill>
                  <a:srgbClr val="0000C0"/>
                </a:solidFill>
                <a:latin typeface="Consolas"/>
              </a:rPr>
              <a:t>out</a:t>
            </a:r>
            <a:r>
              <a:rPr lang="en-US" sz="2400" dirty="0">
                <a:solidFill>
                  <a:srgbClr val="000000"/>
                </a:solidFill>
                <a:latin typeface="Consolas"/>
              </a:rPr>
              <a:t>.println(</a:t>
            </a:r>
            <a:r>
              <a:rPr lang="en-US" sz="2400" dirty="0">
                <a:solidFill>
                  <a:srgbClr val="2A00FF"/>
                </a:solidFill>
                <a:latin typeface="Consolas"/>
              </a:rPr>
              <a:t>"Sum ="</a:t>
            </a:r>
            <a:r>
              <a:rPr lang="en-US" sz="2400" dirty="0">
                <a:solidFill>
                  <a:srgbClr val="000000"/>
                </a:solidFill>
                <a:latin typeface="Consolas"/>
              </a:rPr>
              <a:t>+</a:t>
            </a:r>
            <a:r>
              <a:rPr lang="en-US" sz="2400" dirty="0">
                <a:solidFill>
                  <a:srgbClr val="6A3E3E"/>
                </a:solidFill>
                <a:latin typeface="Consolas"/>
              </a:rPr>
              <a:t>sum</a:t>
            </a:r>
            <a:r>
              <a:rPr lang="en-US" sz="2400" dirty="0">
                <a:solidFill>
                  <a:srgbClr val="000000"/>
                </a:solidFill>
                <a:latin typeface="Consolas"/>
              </a:rPr>
              <a:t>);}</a:t>
            </a:r>
          </a:p>
          <a:p>
            <a:r>
              <a:rPr lang="en-US" sz="2400" b="1" dirty="0">
                <a:solidFill>
                  <a:srgbClr val="7F0055"/>
                </a:solidFill>
                <a:latin typeface="Consolas"/>
              </a:rPr>
              <a:t>void</a:t>
            </a:r>
            <a:r>
              <a:rPr lang="en-US" sz="2400" dirty="0">
                <a:solidFill>
                  <a:srgbClr val="000000"/>
                </a:solidFill>
                <a:latin typeface="Consolas"/>
              </a:rPr>
              <a:t> sum2() {</a:t>
            </a:r>
          </a:p>
          <a:p>
            <a:r>
              <a:rPr lang="en-US" sz="2400" dirty="0">
                <a:solidFill>
                  <a:srgbClr val="000000"/>
                </a:solidFill>
                <a:latin typeface="Consolas"/>
              </a:rPr>
              <a:t>System.</a:t>
            </a:r>
            <a:r>
              <a:rPr lang="en-US" sz="2400" b="1" i="1" dirty="0">
                <a:solidFill>
                  <a:srgbClr val="0000C0"/>
                </a:solidFill>
                <a:latin typeface="Consolas"/>
              </a:rPr>
              <a:t>out</a:t>
            </a:r>
            <a:r>
              <a:rPr lang="en-US" sz="2400" dirty="0">
                <a:solidFill>
                  <a:srgbClr val="000000"/>
                </a:solidFill>
                <a:latin typeface="Consolas"/>
              </a:rPr>
              <a:t>.println(</a:t>
            </a:r>
            <a:r>
              <a:rPr lang="en-US" sz="2400" dirty="0">
                <a:solidFill>
                  <a:srgbClr val="2A00FF"/>
                </a:solidFill>
                <a:latin typeface="Consolas"/>
              </a:rPr>
              <a:t>"i ="</a:t>
            </a:r>
            <a:r>
              <a:rPr lang="en-US" sz="2400" dirty="0">
                <a:solidFill>
                  <a:srgbClr val="000000"/>
                </a:solidFill>
                <a:latin typeface="Consolas"/>
              </a:rPr>
              <a:t>+</a:t>
            </a:r>
            <a:r>
              <a:rPr lang="en-US" sz="2400" b="1" dirty="0">
                <a:solidFill>
                  <a:srgbClr val="7F0055"/>
                </a:solidFill>
                <a:latin typeface="Consolas"/>
              </a:rPr>
              <a:t>super</a:t>
            </a:r>
            <a:r>
              <a:rPr lang="en-US" sz="2400" dirty="0">
                <a:solidFill>
                  <a:srgbClr val="000000"/>
                </a:solidFill>
                <a:latin typeface="Consolas"/>
              </a:rPr>
              <a:t>.</a:t>
            </a:r>
            <a:r>
              <a:rPr lang="en-US" sz="2400" dirty="0">
                <a:solidFill>
                  <a:srgbClr val="0000C0"/>
                </a:solidFill>
                <a:latin typeface="Consolas"/>
              </a:rPr>
              <a:t>i</a:t>
            </a:r>
            <a:r>
              <a:rPr lang="en-US" sz="2400" dirty="0">
                <a:solidFill>
                  <a:srgbClr val="000000"/>
                </a:solidFill>
                <a:latin typeface="Consolas"/>
              </a:rPr>
              <a:t> +</a:t>
            </a:r>
            <a:r>
              <a:rPr lang="en-US" sz="2400" dirty="0">
                <a:solidFill>
                  <a:srgbClr val="2A00FF"/>
                </a:solidFill>
                <a:latin typeface="Consolas"/>
              </a:rPr>
              <a:t>" "</a:t>
            </a:r>
            <a:r>
              <a:rPr lang="en-US" sz="2400" dirty="0">
                <a:solidFill>
                  <a:srgbClr val="000000"/>
                </a:solidFill>
                <a:latin typeface="Consolas"/>
              </a:rPr>
              <a:t>+</a:t>
            </a:r>
            <a:r>
              <a:rPr lang="en-US" sz="2400" dirty="0">
                <a:solidFill>
                  <a:srgbClr val="2A00FF"/>
                </a:solidFill>
                <a:latin typeface="Consolas"/>
              </a:rPr>
              <a:t>"j = "</a:t>
            </a:r>
            <a:r>
              <a:rPr lang="en-US" sz="2400" dirty="0">
                <a:solidFill>
                  <a:srgbClr val="000000"/>
                </a:solidFill>
                <a:latin typeface="Consolas"/>
              </a:rPr>
              <a:t>+</a:t>
            </a:r>
            <a:r>
              <a:rPr lang="en-US" sz="2400" b="1" dirty="0">
                <a:solidFill>
                  <a:srgbClr val="7F0055"/>
                </a:solidFill>
                <a:latin typeface="Consolas"/>
              </a:rPr>
              <a:t>super</a:t>
            </a:r>
            <a:r>
              <a:rPr lang="en-US" sz="2400" dirty="0">
                <a:solidFill>
                  <a:srgbClr val="000000"/>
                </a:solidFill>
                <a:latin typeface="Consolas"/>
              </a:rPr>
              <a:t>.</a:t>
            </a:r>
            <a:r>
              <a:rPr lang="en-US" sz="2400" dirty="0">
                <a:solidFill>
                  <a:srgbClr val="0000C0"/>
                </a:solidFill>
                <a:latin typeface="Consolas"/>
              </a:rPr>
              <a:t>j</a:t>
            </a:r>
            <a:r>
              <a:rPr lang="en-US" sz="2400" dirty="0">
                <a:solidFill>
                  <a:srgbClr val="000000"/>
                </a:solidFill>
                <a:latin typeface="Consolas"/>
              </a:rPr>
              <a:t> +</a:t>
            </a:r>
            <a:r>
              <a:rPr lang="en-US" sz="2400" dirty="0">
                <a:solidFill>
                  <a:srgbClr val="2A00FF"/>
                </a:solidFill>
                <a:latin typeface="Consolas"/>
              </a:rPr>
              <a:t>" k ="</a:t>
            </a:r>
            <a:r>
              <a:rPr lang="en-US" sz="2400" dirty="0">
                <a:solidFill>
                  <a:srgbClr val="000000"/>
                </a:solidFill>
                <a:latin typeface="Consolas"/>
              </a:rPr>
              <a:t>+</a:t>
            </a:r>
            <a:r>
              <a:rPr lang="en-US" sz="2400" dirty="0">
                <a:solidFill>
                  <a:srgbClr val="0000C0"/>
                </a:solidFill>
                <a:latin typeface="Consolas"/>
              </a:rPr>
              <a:t>k</a:t>
            </a:r>
            <a:r>
              <a:rPr lang="en-US" sz="2400" dirty="0">
                <a:solidFill>
                  <a:srgbClr val="000000"/>
                </a:solidFill>
                <a:latin typeface="Consolas"/>
              </a:rPr>
              <a:t>);</a:t>
            </a:r>
          </a:p>
          <a:p>
            <a:r>
              <a:rPr lang="en-US" sz="2400" b="1" dirty="0">
                <a:solidFill>
                  <a:srgbClr val="7F0055"/>
                </a:solidFill>
                <a:latin typeface="Consolas"/>
              </a:rPr>
              <a:t>int</a:t>
            </a:r>
            <a:r>
              <a:rPr lang="en-US" sz="2400" dirty="0">
                <a:solidFill>
                  <a:srgbClr val="000000"/>
                </a:solidFill>
                <a:latin typeface="Consolas"/>
              </a:rPr>
              <a:t> </a:t>
            </a:r>
            <a:r>
              <a:rPr lang="en-US" sz="2400" dirty="0">
                <a:solidFill>
                  <a:srgbClr val="6A3E3E"/>
                </a:solidFill>
                <a:latin typeface="Consolas"/>
              </a:rPr>
              <a:t>sum</a:t>
            </a:r>
            <a:r>
              <a:rPr lang="en-US" sz="2400" dirty="0">
                <a:solidFill>
                  <a:srgbClr val="000000"/>
                </a:solidFill>
                <a:latin typeface="Consolas"/>
              </a:rPr>
              <a:t>=</a:t>
            </a:r>
            <a:r>
              <a:rPr lang="en-US" sz="2400" b="1" dirty="0">
                <a:solidFill>
                  <a:srgbClr val="7F0055"/>
                </a:solidFill>
                <a:latin typeface="Consolas"/>
              </a:rPr>
              <a:t>super</a:t>
            </a:r>
            <a:r>
              <a:rPr lang="en-US" sz="2400" dirty="0">
                <a:solidFill>
                  <a:srgbClr val="000000"/>
                </a:solidFill>
                <a:latin typeface="Consolas"/>
              </a:rPr>
              <a:t>.</a:t>
            </a:r>
            <a:r>
              <a:rPr lang="en-US" sz="2400" dirty="0">
                <a:solidFill>
                  <a:srgbClr val="0000C0"/>
                </a:solidFill>
                <a:latin typeface="Consolas"/>
              </a:rPr>
              <a:t>i</a:t>
            </a:r>
            <a:r>
              <a:rPr lang="en-US" sz="2400" dirty="0">
                <a:solidFill>
                  <a:srgbClr val="000000"/>
                </a:solidFill>
                <a:latin typeface="Consolas"/>
              </a:rPr>
              <a:t>+</a:t>
            </a:r>
            <a:r>
              <a:rPr lang="en-US" sz="2400" b="1" dirty="0">
                <a:solidFill>
                  <a:srgbClr val="7F0055"/>
                </a:solidFill>
                <a:latin typeface="Consolas"/>
              </a:rPr>
              <a:t>super</a:t>
            </a:r>
            <a:r>
              <a:rPr lang="en-US" sz="2400" dirty="0">
                <a:solidFill>
                  <a:srgbClr val="000000"/>
                </a:solidFill>
                <a:latin typeface="Consolas"/>
              </a:rPr>
              <a:t>.</a:t>
            </a:r>
            <a:r>
              <a:rPr lang="en-US" sz="2400" dirty="0">
                <a:solidFill>
                  <a:srgbClr val="0000C0"/>
                </a:solidFill>
                <a:latin typeface="Consolas"/>
              </a:rPr>
              <a:t>j</a:t>
            </a:r>
            <a:r>
              <a:rPr lang="en-US" sz="2400" dirty="0">
                <a:solidFill>
                  <a:srgbClr val="000000"/>
                </a:solidFill>
                <a:latin typeface="Consolas"/>
              </a:rPr>
              <a:t>+</a:t>
            </a:r>
            <a:r>
              <a:rPr lang="en-US" sz="2400" dirty="0">
                <a:solidFill>
                  <a:srgbClr val="0000C0"/>
                </a:solidFill>
                <a:latin typeface="Consolas"/>
              </a:rPr>
              <a:t>k</a:t>
            </a:r>
            <a:r>
              <a:rPr lang="en-US" sz="2400" dirty="0">
                <a:solidFill>
                  <a:srgbClr val="000000"/>
                </a:solidFill>
                <a:latin typeface="Consolas"/>
              </a:rPr>
              <a:t>;</a:t>
            </a:r>
          </a:p>
          <a:p>
            <a:r>
              <a:rPr lang="en-US" sz="2400" dirty="0">
                <a:solidFill>
                  <a:srgbClr val="000000"/>
                </a:solidFill>
                <a:latin typeface="Consolas"/>
              </a:rPr>
              <a:t>System.</a:t>
            </a:r>
            <a:r>
              <a:rPr lang="en-US" sz="2400" b="1" i="1" dirty="0">
                <a:solidFill>
                  <a:srgbClr val="0000C0"/>
                </a:solidFill>
                <a:latin typeface="Consolas"/>
              </a:rPr>
              <a:t>out</a:t>
            </a:r>
            <a:r>
              <a:rPr lang="en-US" sz="2400" dirty="0">
                <a:solidFill>
                  <a:srgbClr val="000000"/>
                </a:solidFill>
                <a:latin typeface="Consolas"/>
              </a:rPr>
              <a:t>.println(</a:t>
            </a:r>
            <a:r>
              <a:rPr lang="en-US" sz="2400" dirty="0">
                <a:solidFill>
                  <a:srgbClr val="2A00FF"/>
                </a:solidFill>
                <a:latin typeface="Consolas"/>
              </a:rPr>
              <a:t>"Sum ="</a:t>
            </a:r>
            <a:r>
              <a:rPr lang="en-US" sz="2400" dirty="0">
                <a:solidFill>
                  <a:srgbClr val="000000"/>
                </a:solidFill>
                <a:latin typeface="Consolas"/>
              </a:rPr>
              <a:t>+</a:t>
            </a:r>
            <a:r>
              <a:rPr lang="en-US" sz="2400" dirty="0">
                <a:solidFill>
                  <a:srgbClr val="6A3E3E"/>
                </a:solidFill>
                <a:latin typeface="Consolas"/>
              </a:rPr>
              <a:t>sum</a:t>
            </a:r>
            <a:r>
              <a:rPr lang="en-US" sz="2400" dirty="0" smtClean="0">
                <a:solidFill>
                  <a:srgbClr val="000000"/>
                </a:solidFill>
                <a:latin typeface="Consolas"/>
              </a:rPr>
              <a:t>);}}</a:t>
            </a:r>
            <a:endParaRPr lang="en-US" sz="2400" dirty="0">
              <a:solidFill>
                <a:srgbClr val="000000"/>
              </a:solidFill>
              <a:latin typeface="Consolas"/>
            </a:endParaRPr>
          </a:p>
          <a:p>
            <a:r>
              <a:rPr lang="en-US" sz="2400" b="1" dirty="0">
                <a:solidFill>
                  <a:srgbClr val="7F0055"/>
                </a:solidFill>
                <a:latin typeface="Consolas"/>
              </a:rPr>
              <a:t>public</a:t>
            </a:r>
            <a:r>
              <a:rPr lang="en-US" sz="2400" dirty="0">
                <a:solidFill>
                  <a:srgbClr val="000000"/>
                </a:solidFill>
                <a:latin typeface="Consolas"/>
              </a:rPr>
              <a:t> </a:t>
            </a:r>
            <a:r>
              <a:rPr lang="en-US" sz="2400" b="1" dirty="0">
                <a:solidFill>
                  <a:srgbClr val="7F0055"/>
                </a:solidFill>
                <a:latin typeface="Consolas"/>
              </a:rPr>
              <a:t>class</a:t>
            </a:r>
            <a:r>
              <a:rPr lang="en-US" sz="2400" dirty="0">
                <a:solidFill>
                  <a:srgbClr val="000000"/>
                </a:solidFill>
                <a:latin typeface="Consolas"/>
              </a:rPr>
              <a:t> super1 {</a:t>
            </a:r>
          </a:p>
          <a:p>
            <a:r>
              <a:rPr lang="en-US" sz="2400" b="1" dirty="0">
                <a:solidFill>
                  <a:srgbClr val="7F0055"/>
                </a:solidFill>
                <a:latin typeface="Consolas"/>
              </a:rPr>
              <a:t>public</a:t>
            </a:r>
            <a:r>
              <a:rPr lang="en-US" sz="2400" dirty="0">
                <a:solidFill>
                  <a:srgbClr val="000000"/>
                </a:solidFill>
                <a:latin typeface="Consolas"/>
              </a:rPr>
              <a:t> </a:t>
            </a:r>
            <a:r>
              <a:rPr lang="en-US" sz="2400" b="1" dirty="0">
                <a:solidFill>
                  <a:srgbClr val="7F0055"/>
                </a:solidFill>
                <a:latin typeface="Consolas"/>
              </a:rPr>
              <a:t>static</a:t>
            </a:r>
            <a:r>
              <a:rPr lang="en-US" sz="2400" dirty="0">
                <a:solidFill>
                  <a:srgbClr val="000000"/>
                </a:solidFill>
                <a:latin typeface="Consolas"/>
              </a:rPr>
              <a:t> </a:t>
            </a:r>
            <a:r>
              <a:rPr lang="en-US" sz="2400" b="1" dirty="0">
                <a:solidFill>
                  <a:srgbClr val="7F0055"/>
                </a:solidFill>
                <a:latin typeface="Consolas"/>
              </a:rPr>
              <a:t>void</a:t>
            </a:r>
            <a:r>
              <a:rPr lang="en-US" sz="2400" dirty="0">
                <a:solidFill>
                  <a:srgbClr val="000000"/>
                </a:solidFill>
                <a:latin typeface="Consolas"/>
              </a:rPr>
              <a:t> main(String[] </a:t>
            </a:r>
            <a:r>
              <a:rPr lang="en-US" sz="2400" dirty="0">
                <a:solidFill>
                  <a:srgbClr val="6A3E3E"/>
                </a:solidFill>
                <a:latin typeface="Consolas"/>
              </a:rPr>
              <a:t>args</a:t>
            </a:r>
            <a:r>
              <a:rPr lang="en-US" sz="2400" dirty="0">
                <a:solidFill>
                  <a:srgbClr val="000000"/>
                </a:solidFill>
                <a:latin typeface="Consolas"/>
              </a:rPr>
              <a:t>) </a:t>
            </a:r>
            <a:r>
              <a:rPr lang="en-US" sz="2400" dirty="0" smtClean="0">
                <a:solidFill>
                  <a:srgbClr val="000000"/>
                </a:solidFill>
                <a:latin typeface="Consolas"/>
              </a:rPr>
              <a:t>{</a:t>
            </a:r>
            <a:endParaRPr lang="en-US" sz="2400" dirty="0">
              <a:solidFill>
                <a:srgbClr val="000000"/>
              </a:solidFill>
              <a:latin typeface="Consolas"/>
            </a:endParaRPr>
          </a:p>
          <a:p>
            <a:r>
              <a:rPr lang="en-US" sz="2400" dirty="0">
                <a:solidFill>
                  <a:srgbClr val="000000"/>
                </a:solidFill>
                <a:latin typeface="Consolas"/>
              </a:rPr>
              <a:t>Bsuper </a:t>
            </a:r>
            <a:r>
              <a:rPr lang="en-US" sz="2400" dirty="0">
                <a:solidFill>
                  <a:srgbClr val="6A3E3E"/>
                </a:solidFill>
                <a:latin typeface="Consolas"/>
              </a:rPr>
              <a:t>obj2</a:t>
            </a:r>
            <a:r>
              <a:rPr lang="en-US" sz="2400" dirty="0">
                <a:solidFill>
                  <a:srgbClr val="000000"/>
                </a:solidFill>
                <a:latin typeface="Consolas"/>
              </a:rPr>
              <a:t> = </a:t>
            </a:r>
            <a:r>
              <a:rPr lang="en-US" sz="2400" b="1" dirty="0">
                <a:solidFill>
                  <a:srgbClr val="7F0055"/>
                </a:solidFill>
                <a:latin typeface="Consolas"/>
              </a:rPr>
              <a:t>new</a:t>
            </a:r>
            <a:r>
              <a:rPr lang="en-US" sz="2400" dirty="0">
                <a:solidFill>
                  <a:srgbClr val="000000"/>
                </a:solidFill>
                <a:latin typeface="Consolas"/>
              </a:rPr>
              <a:t> Bsuper();</a:t>
            </a:r>
          </a:p>
          <a:p>
            <a:r>
              <a:rPr lang="en-US" sz="2400" dirty="0">
                <a:solidFill>
                  <a:srgbClr val="6A3E3E"/>
                </a:solidFill>
                <a:latin typeface="Consolas"/>
              </a:rPr>
              <a:t>obj2</a:t>
            </a:r>
            <a:r>
              <a:rPr lang="en-US" sz="2400" dirty="0">
                <a:solidFill>
                  <a:srgbClr val="000000"/>
                </a:solidFill>
                <a:latin typeface="Consolas"/>
              </a:rPr>
              <a:t>.</a:t>
            </a:r>
            <a:r>
              <a:rPr lang="en-US" sz="2400" dirty="0">
                <a:solidFill>
                  <a:srgbClr val="0000C0"/>
                </a:solidFill>
                <a:latin typeface="Consolas"/>
              </a:rPr>
              <a:t>k</a:t>
            </a:r>
            <a:r>
              <a:rPr lang="en-US" sz="2400" dirty="0">
                <a:solidFill>
                  <a:srgbClr val="000000"/>
                </a:solidFill>
                <a:latin typeface="Consolas"/>
              </a:rPr>
              <a:t>=401;</a:t>
            </a:r>
          </a:p>
          <a:p>
            <a:r>
              <a:rPr lang="en-US" sz="2400" dirty="0">
                <a:solidFill>
                  <a:srgbClr val="6A3E3E"/>
                </a:solidFill>
                <a:latin typeface="Consolas"/>
              </a:rPr>
              <a:t>obj2</a:t>
            </a:r>
            <a:r>
              <a:rPr lang="en-US" sz="2400" dirty="0">
                <a:solidFill>
                  <a:srgbClr val="000000"/>
                </a:solidFill>
                <a:latin typeface="Consolas"/>
              </a:rPr>
              <a:t>.sum1();</a:t>
            </a:r>
          </a:p>
          <a:p>
            <a:r>
              <a:rPr lang="en-US" sz="2400" dirty="0">
                <a:solidFill>
                  <a:srgbClr val="6A3E3E"/>
                </a:solidFill>
                <a:latin typeface="Consolas"/>
              </a:rPr>
              <a:t>obj2</a:t>
            </a:r>
            <a:r>
              <a:rPr lang="en-US" sz="2400" dirty="0">
                <a:solidFill>
                  <a:srgbClr val="000000"/>
                </a:solidFill>
                <a:latin typeface="Consolas"/>
              </a:rPr>
              <a:t>.sum2</a:t>
            </a:r>
            <a:r>
              <a:rPr lang="en-US" sz="2400" dirty="0" smtClean="0">
                <a:solidFill>
                  <a:srgbClr val="000000"/>
                </a:solidFill>
                <a:latin typeface="Consolas"/>
              </a:rPr>
              <a:t>();}}</a:t>
            </a:r>
            <a:endParaRPr lang="en-US" sz="2400" dirty="0">
              <a:solidFill>
                <a:srgbClr val="000000"/>
              </a:solidFill>
              <a:latin typeface="Consolas"/>
            </a:endParaRPr>
          </a:p>
        </p:txBody>
      </p:sp>
      <p:sp>
        <p:nvSpPr>
          <p:cNvPr id="11" name="Rectangle 10"/>
          <p:cNvSpPr/>
          <p:nvPr/>
        </p:nvSpPr>
        <p:spPr>
          <a:xfrm>
            <a:off x="10591800" y="2019300"/>
            <a:ext cx="7062281" cy="44012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10" name="Rectangle 9"/>
          <p:cNvSpPr/>
          <p:nvPr/>
        </p:nvSpPr>
        <p:spPr>
          <a:xfrm>
            <a:off x="10591800" y="2019300"/>
            <a:ext cx="7062281" cy="4401205"/>
          </a:xfrm>
          <a:prstGeom prst="rect">
            <a:avLst/>
          </a:prstGeom>
        </p:spPr>
        <p:txBody>
          <a:bodyPr wrap="square">
            <a:spAutoFit/>
          </a:bodyPr>
          <a:lstStyle/>
          <a:p>
            <a:r>
              <a:rPr lang="en-US" sz="4000" b="1" dirty="0" smtClean="0"/>
              <a:t>OUTPUT :-</a:t>
            </a:r>
          </a:p>
          <a:p>
            <a:r>
              <a:rPr lang="en-US" sz="4000" dirty="0" smtClean="0"/>
              <a:t>Without </a:t>
            </a:r>
            <a:r>
              <a:rPr lang="en-US" sz="4000" dirty="0"/>
              <a:t>using Super : </a:t>
            </a:r>
            <a:endParaRPr lang="en-US" sz="4000" dirty="0" smtClean="0"/>
          </a:p>
          <a:p>
            <a:r>
              <a:rPr lang="en-US" sz="4000" dirty="0" smtClean="0"/>
              <a:t>i </a:t>
            </a:r>
            <a:r>
              <a:rPr lang="en-US" sz="4000" dirty="0"/>
              <a:t>=6000 j = 5000 k =401</a:t>
            </a:r>
          </a:p>
          <a:p>
            <a:r>
              <a:rPr lang="en-US" sz="4000" dirty="0"/>
              <a:t>Sum =11401</a:t>
            </a:r>
          </a:p>
          <a:p>
            <a:r>
              <a:rPr lang="en-US" sz="4000" dirty="0"/>
              <a:t>With </a:t>
            </a:r>
            <a:r>
              <a:rPr lang="en-US" sz="4000" dirty="0" smtClean="0"/>
              <a:t>Super :</a:t>
            </a:r>
          </a:p>
          <a:p>
            <a:r>
              <a:rPr lang="en-US" sz="4000" dirty="0" smtClean="0"/>
              <a:t>i </a:t>
            </a:r>
            <a:r>
              <a:rPr lang="en-US" sz="4000" dirty="0"/>
              <a:t>=100 j = 100 k =401</a:t>
            </a:r>
          </a:p>
          <a:p>
            <a:r>
              <a:rPr lang="en-US" sz="4000" dirty="0"/>
              <a:t>Sum =601</a:t>
            </a:r>
          </a:p>
        </p:txBody>
      </p:sp>
    </p:spTree>
    <p:extLst>
      <p:ext uri="{BB962C8B-B14F-4D97-AF65-F5344CB8AC3E}">
        <p14:creationId xmlns:p14="http://schemas.microsoft.com/office/powerpoint/2010/main" val="116214165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794283" y="-6591300"/>
            <a:ext cx="1219199"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936285" y="448270"/>
            <a:ext cx="15665930" cy="738664"/>
          </a:xfrm>
          <a:prstGeom prst="rect">
            <a:avLst/>
          </a:prstGeom>
        </p:spPr>
        <p:txBody>
          <a:bodyPr wrap="square" lIns="0" tIns="0" rIns="0" bIns="0" rtlCol="0" anchor="t">
            <a:spAutoFit/>
          </a:bodyPr>
          <a:lstStyle/>
          <a:p>
            <a:pPr algn="ctr"/>
            <a:r>
              <a:rPr lang="en-US" sz="4800" b="1" dirty="0" smtClean="0">
                <a:solidFill>
                  <a:srgbClr val="000000"/>
                </a:solidFill>
                <a:latin typeface="Century Gothic Paneuropean Bold"/>
                <a:ea typeface="Century Gothic Paneuropean Bold"/>
                <a:cs typeface="Century Gothic Paneuropean Bold"/>
                <a:sym typeface="Century Gothic Paneuropean Bold"/>
              </a:rPr>
              <a:t>USING SUPER TO  ACCESS MEMBERS OF SUPERCLASS</a:t>
            </a:r>
            <a:endParaRPr lang="en-US" sz="48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11" name="Rectangle 10"/>
          <p:cNvSpPr/>
          <p:nvPr/>
        </p:nvSpPr>
        <p:spPr>
          <a:xfrm>
            <a:off x="10591800" y="2019300"/>
            <a:ext cx="7062281" cy="44012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10" name="Rectangle 9"/>
          <p:cNvSpPr/>
          <p:nvPr/>
        </p:nvSpPr>
        <p:spPr>
          <a:xfrm>
            <a:off x="10591800" y="2019300"/>
            <a:ext cx="7062281" cy="4401205"/>
          </a:xfrm>
          <a:prstGeom prst="rect">
            <a:avLst/>
          </a:prstGeom>
        </p:spPr>
        <p:txBody>
          <a:bodyPr wrap="square">
            <a:spAutoFit/>
          </a:bodyPr>
          <a:lstStyle/>
          <a:p>
            <a:r>
              <a:rPr lang="en-US" sz="4000" b="1" dirty="0" smtClean="0"/>
              <a:t>OUTPUT :-</a:t>
            </a:r>
          </a:p>
          <a:p>
            <a:r>
              <a:rPr lang="en-US" sz="4000" dirty="0" smtClean="0"/>
              <a:t>Without </a:t>
            </a:r>
            <a:r>
              <a:rPr lang="en-US" sz="4000" dirty="0"/>
              <a:t>using Super : </a:t>
            </a:r>
            <a:endParaRPr lang="en-US" sz="4000" dirty="0" smtClean="0"/>
          </a:p>
          <a:p>
            <a:r>
              <a:rPr lang="en-US" sz="4000" dirty="0" smtClean="0"/>
              <a:t>i </a:t>
            </a:r>
            <a:r>
              <a:rPr lang="en-US" sz="4000" dirty="0"/>
              <a:t>=6000 j = 5000 k =401</a:t>
            </a:r>
          </a:p>
          <a:p>
            <a:r>
              <a:rPr lang="en-US" sz="4000" dirty="0"/>
              <a:t>Sum =11401</a:t>
            </a:r>
          </a:p>
          <a:p>
            <a:r>
              <a:rPr lang="en-US" sz="4000" dirty="0"/>
              <a:t>With </a:t>
            </a:r>
            <a:r>
              <a:rPr lang="en-US" sz="4000" dirty="0" smtClean="0"/>
              <a:t>Super :</a:t>
            </a:r>
          </a:p>
          <a:p>
            <a:r>
              <a:rPr lang="en-US" sz="4000" dirty="0" smtClean="0"/>
              <a:t>i </a:t>
            </a:r>
            <a:r>
              <a:rPr lang="en-US" sz="4000" dirty="0"/>
              <a:t>=100 j = 100 k =401</a:t>
            </a:r>
          </a:p>
          <a:p>
            <a:r>
              <a:rPr lang="en-US" sz="4000" dirty="0"/>
              <a:t>Sum =601</a:t>
            </a:r>
          </a:p>
        </p:txBody>
      </p:sp>
      <p:sp>
        <p:nvSpPr>
          <p:cNvPr id="13" name="Rectangle 12"/>
          <p:cNvSpPr/>
          <p:nvPr/>
        </p:nvSpPr>
        <p:spPr>
          <a:xfrm>
            <a:off x="941149" y="2247900"/>
            <a:ext cx="9345851" cy="4678204"/>
          </a:xfrm>
          <a:prstGeom prst="rect">
            <a:avLst/>
          </a:prstGeom>
        </p:spPr>
        <p:txBody>
          <a:bodyPr wrap="square">
            <a:spAutoFit/>
          </a:bodyPr>
          <a:lstStyle/>
          <a:p>
            <a:pPr marL="571500" indent="-571500">
              <a:buFont typeface="Arial" panose="020B0604020202020204" pitchFamily="34" charset="0"/>
              <a:buChar char="•"/>
            </a:pPr>
            <a:r>
              <a:rPr lang="en-US" sz="4000" dirty="0" smtClean="0">
                <a:solidFill>
                  <a:prstClr val="black"/>
                </a:solidFill>
              </a:rPr>
              <a:t>In sum1 method – All instance variables i, j and k values are initialized in subclass SuperB itself. </a:t>
            </a:r>
          </a:p>
          <a:p>
            <a:pPr marL="571500" indent="-571500">
              <a:buFont typeface="Arial" panose="020B0604020202020204" pitchFamily="34" charset="0"/>
              <a:buChar char="•"/>
            </a:pPr>
            <a:r>
              <a:rPr lang="en-US" sz="4000" dirty="0" smtClean="0">
                <a:solidFill>
                  <a:prstClr val="black"/>
                </a:solidFill>
              </a:rPr>
              <a:t>In sum2 method – Instance variables i and j are accessed from the superclass SuperA </a:t>
            </a:r>
            <a:r>
              <a:rPr lang="en-US" sz="4000" dirty="0">
                <a:solidFill>
                  <a:prstClr val="black"/>
                </a:solidFill>
              </a:rPr>
              <a:t>using super </a:t>
            </a:r>
            <a:r>
              <a:rPr lang="en-US" sz="4000" dirty="0" smtClean="0">
                <a:solidFill>
                  <a:prstClr val="black"/>
                </a:solidFill>
              </a:rPr>
              <a:t>and k is initialized in SuperB only.</a:t>
            </a:r>
          </a:p>
          <a:p>
            <a:endParaRPr lang="en-US" dirty="0"/>
          </a:p>
        </p:txBody>
      </p:sp>
    </p:spTree>
    <p:extLst>
      <p:ext uri="{BB962C8B-B14F-4D97-AF65-F5344CB8AC3E}">
        <p14:creationId xmlns:p14="http://schemas.microsoft.com/office/powerpoint/2010/main" val="127195161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46166" y="-6669933"/>
            <a:ext cx="2202504" cy="16090366"/>
            <a:chOff x="0" y="-66401"/>
            <a:chExt cx="284633" cy="866122"/>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66401"/>
              <a:ext cx="284633" cy="866122"/>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650941" y="451920"/>
            <a:ext cx="16611599" cy="1846659"/>
          </a:xfrm>
          <a:prstGeom prst="rect">
            <a:avLst/>
          </a:prstGeom>
        </p:spPr>
        <p:txBody>
          <a:bodyPr wrap="square" lIns="0" tIns="0" rIns="0" bIns="0" rtlCol="0" anchor="t">
            <a:spAutoFit/>
          </a:bodyPr>
          <a:lstStyle/>
          <a:p>
            <a:pPr algn="ctr"/>
            <a:r>
              <a:rPr lang="en-US" sz="6000" b="1" dirty="0">
                <a:solidFill>
                  <a:srgbClr val="000000"/>
                </a:solidFill>
                <a:latin typeface="Century Gothic Paneuropean Bold"/>
                <a:ea typeface="Century Gothic Paneuropean Bold"/>
                <a:cs typeface="Century Gothic Paneuropean Bold"/>
                <a:sym typeface="Century Gothic Paneuropean Bold"/>
              </a:rPr>
              <a:t>USING SUPER TO CALL SUPERCLASS</a:t>
            </a:r>
          </a:p>
          <a:p>
            <a:pPr algn="ctr"/>
            <a:r>
              <a:rPr lang="en-US" sz="6000" b="1" dirty="0">
                <a:solidFill>
                  <a:srgbClr val="000000"/>
                </a:solidFill>
                <a:latin typeface="Century Gothic Paneuropean Bold"/>
                <a:ea typeface="Century Gothic Paneuropean Bold"/>
                <a:cs typeface="Century Gothic Paneuropean Bold"/>
                <a:sym typeface="Century Gothic Paneuropean Bold"/>
              </a:rPr>
              <a:t> CONSTRUCTOR</a:t>
            </a:r>
          </a:p>
        </p:txBody>
      </p:sp>
      <p:sp>
        <p:nvSpPr>
          <p:cNvPr id="9" name="TextBox 9"/>
          <p:cNvSpPr txBox="1"/>
          <p:nvPr/>
        </p:nvSpPr>
        <p:spPr>
          <a:xfrm>
            <a:off x="902236" y="3009900"/>
            <a:ext cx="15861764" cy="6540252"/>
          </a:xfrm>
          <a:prstGeom prst="rect">
            <a:avLst/>
          </a:prstGeom>
        </p:spPr>
        <p:txBody>
          <a:bodyPr wrap="square" lIns="0" tIns="0" rIns="0" bIns="0" rtlCol="0" anchor="t">
            <a:spAutoFit/>
          </a:bodyPr>
          <a:lstStyle/>
          <a:p>
            <a:pPr marL="571500" indent="-571500">
              <a:lnSpc>
                <a:spcPts val="5096"/>
              </a:lnSpc>
              <a:buFont typeface="Arial" panose="020B0604020202020204" pitchFamily="34" charset="0"/>
              <a:buChar char="•"/>
            </a:pPr>
            <a:r>
              <a:rPr lang="en-US" sz="3640" dirty="0" smtClean="0">
                <a:solidFill>
                  <a:srgbClr val="000000"/>
                </a:solidFill>
                <a:latin typeface="Century Gothic Paneuropean"/>
                <a:ea typeface="Century Gothic Paneuropean"/>
                <a:cs typeface="Century Gothic Paneuropean"/>
                <a:sym typeface="Century Gothic Paneuropean"/>
              </a:rPr>
              <a:t>The Super keyword is used within a subclass constructor to explicitly call a constructor of its immediate superclass.</a:t>
            </a:r>
          </a:p>
          <a:p>
            <a:pPr marL="571500" indent="-571500">
              <a:lnSpc>
                <a:spcPts val="5096"/>
              </a:lnSpc>
              <a:buFont typeface="Arial" panose="020B0604020202020204" pitchFamily="34" charset="0"/>
              <a:buChar char="•"/>
            </a:pPr>
            <a:r>
              <a:rPr lang="en-US" sz="3640" dirty="0" smtClean="0">
                <a:solidFill>
                  <a:srgbClr val="000000"/>
                </a:solidFill>
                <a:latin typeface="Century Gothic Paneuropean"/>
                <a:ea typeface="Century Gothic Paneuropean"/>
                <a:cs typeface="Century Gothic Paneuropean"/>
                <a:sym typeface="Century Gothic Paneuropean"/>
              </a:rPr>
              <a:t>This mechanism is crucial for ensuring proper initialization of inherited fields and for reusing initialization logic defined in the parent class.</a:t>
            </a:r>
          </a:p>
          <a:p>
            <a:pPr marL="571500" indent="-571500">
              <a:lnSpc>
                <a:spcPts val="5096"/>
              </a:lnSpc>
              <a:buFont typeface="Arial" panose="020B0604020202020204" pitchFamily="34" charset="0"/>
              <a:buChar char="•"/>
            </a:pPr>
            <a:r>
              <a:rPr lang="en-US" sz="3640" b="1" u="sng" dirty="0" smtClean="0">
                <a:solidFill>
                  <a:srgbClr val="000000"/>
                </a:solidFill>
                <a:latin typeface="Century Gothic Paneuropean"/>
                <a:ea typeface="Century Gothic Paneuropean"/>
                <a:cs typeface="Century Gothic Paneuropean"/>
                <a:sym typeface="Century Gothic Paneuropean"/>
              </a:rPr>
              <a:t>Syntax</a:t>
            </a:r>
            <a:r>
              <a:rPr lang="en-US" sz="3640" dirty="0" smtClean="0">
                <a:solidFill>
                  <a:srgbClr val="000000"/>
                </a:solidFill>
                <a:latin typeface="Century Gothic Paneuropean"/>
                <a:ea typeface="Century Gothic Paneuropean"/>
                <a:cs typeface="Century Gothic Paneuropean"/>
                <a:sym typeface="Century Gothic Paneuropean"/>
              </a:rPr>
              <a:t> – super( ) – this calls the default constructor of the superclass</a:t>
            </a:r>
          </a:p>
          <a:p>
            <a:pPr>
              <a:lnSpc>
                <a:spcPts val="5096"/>
              </a:lnSpc>
            </a:pPr>
            <a:r>
              <a:rPr lang="en-US" sz="3640" dirty="0" smtClean="0">
                <a:solidFill>
                  <a:srgbClr val="000000"/>
                </a:solidFill>
                <a:latin typeface="Century Gothic Paneuropean"/>
                <a:ea typeface="Century Gothic Paneuropean"/>
                <a:cs typeface="Century Gothic Paneuropean"/>
                <a:sym typeface="Century Gothic Paneuropean"/>
              </a:rPr>
              <a:t>		     super(parameter-list) – this calls a parametrized constructor </a:t>
            </a:r>
            <a:endParaRPr lang="en-US" sz="3640" dirty="0">
              <a:solidFill>
                <a:srgbClr val="000000"/>
              </a:solidFill>
              <a:latin typeface="Century Gothic Paneuropean"/>
              <a:ea typeface="Century Gothic Paneuropean"/>
              <a:cs typeface="Century Gothic Paneuropean"/>
              <a:sym typeface="Century Gothic Paneuropean"/>
            </a:endParaRPr>
          </a:p>
          <a:p>
            <a:pPr>
              <a:lnSpc>
                <a:spcPts val="5096"/>
              </a:lnSpc>
            </a:pPr>
            <a:r>
              <a:rPr lang="en-US" sz="3640" dirty="0" smtClean="0">
                <a:solidFill>
                  <a:srgbClr val="000000"/>
                </a:solidFill>
                <a:latin typeface="Century Gothic Paneuropean"/>
                <a:ea typeface="Century Gothic Paneuropean"/>
                <a:cs typeface="Century Gothic Paneuropean"/>
                <a:sym typeface="Century Gothic Paneuropean"/>
              </a:rPr>
              <a:t>		     of the superclass, passing the specified parameter list to it.</a:t>
            </a:r>
          </a:p>
          <a:p>
            <a:pPr marL="571500" indent="-571500">
              <a:lnSpc>
                <a:spcPts val="5096"/>
              </a:lnSpc>
              <a:buFont typeface="Arial" panose="020B0604020202020204" pitchFamily="34" charset="0"/>
              <a:buChar char="•"/>
            </a:pPr>
            <a:r>
              <a:rPr lang="en-US" sz="3640" dirty="0" smtClean="0">
                <a:solidFill>
                  <a:srgbClr val="000000"/>
                </a:solidFill>
                <a:latin typeface="Century Gothic Paneuropean"/>
                <a:ea typeface="Century Gothic Paneuropean"/>
                <a:cs typeface="Century Gothic Paneuropean"/>
                <a:sym typeface="Century Gothic Paneuropean"/>
              </a:rPr>
              <a:t>The call to super ( ) or super(parameter list) must be the first statement within the subclass constructor.</a:t>
            </a:r>
          </a:p>
        </p:txBody>
      </p:sp>
    </p:spTree>
    <p:extLst>
      <p:ext uri="{BB962C8B-B14F-4D97-AF65-F5344CB8AC3E}">
        <p14:creationId xmlns:p14="http://schemas.microsoft.com/office/powerpoint/2010/main" val="84933788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8530201" y="-7281300"/>
            <a:ext cx="834433" cy="16090366"/>
            <a:chOff x="0" y="-66401"/>
            <a:chExt cx="284633" cy="866122"/>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66401"/>
              <a:ext cx="284633" cy="866122"/>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996912" y="388746"/>
            <a:ext cx="15995690" cy="677108"/>
          </a:xfrm>
          <a:prstGeom prst="rect">
            <a:avLst/>
          </a:prstGeom>
        </p:spPr>
        <p:txBody>
          <a:bodyPr wrap="square" lIns="0" tIns="0" rIns="0" bIns="0" rtlCol="0" anchor="t">
            <a:spAutoFit/>
          </a:bodyPr>
          <a:lstStyle/>
          <a:p>
            <a:r>
              <a:rPr lang="en-US" sz="4400" b="1" dirty="0">
                <a:solidFill>
                  <a:srgbClr val="000000"/>
                </a:solidFill>
                <a:latin typeface="Century Gothic Paneuropean Bold"/>
                <a:ea typeface="Century Gothic Paneuropean Bold"/>
                <a:cs typeface="Century Gothic Paneuropean Bold"/>
                <a:sym typeface="Century Gothic Paneuropean Bold"/>
              </a:rPr>
              <a:t>USING SUPER TO CALL </a:t>
            </a:r>
            <a:r>
              <a:rPr lang="en-US" sz="4400" b="1" dirty="0" smtClean="0">
                <a:solidFill>
                  <a:srgbClr val="000000"/>
                </a:solidFill>
                <a:latin typeface="Century Gothic Paneuropean Bold"/>
                <a:ea typeface="Century Gothic Paneuropean Bold"/>
                <a:cs typeface="Century Gothic Paneuropean Bold"/>
                <a:sym typeface="Century Gothic Paneuropean Bold"/>
              </a:rPr>
              <a:t>SUPERCLASS Default CONSTRUCTOR</a:t>
            </a:r>
            <a:endParaRPr lang="en-US" sz="44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889265" y="1943100"/>
            <a:ext cx="15861764" cy="615553"/>
          </a:xfrm>
          <a:prstGeom prst="rect">
            <a:avLst/>
          </a:prstGeom>
        </p:spPr>
        <p:txBody>
          <a:bodyPr wrap="square" lIns="0" tIns="0" rIns="0" bIns="0" rtlCol="0" anchor="t">
            <a:spAutoFit/>
          </a:bodyPr>
          <a:lstStyle/>
          <a:p>
            <a:r>
              <a:rPr lang="en-US" sz="4000" b="1" dirty="0" smtClean="0"/>
              <a:t> </a:t>
            </a:r>
            <a:endParaRPr lang="en-US" sz="4000" dirty="0"/>
          </a:p>
        </p:txBody>
      </p:sp>
      <p:sp>
        <p:nvSpPr>
          <p:cNvPr id="11" name="Rectangle 10"/>
          <p:cNvSpPr/>
          <p:nvPr/>
        </p:nvSpPr>
        <p:spPr>
          <a:xfrm>
            <a:off x="877916" y="1357453"/>
            <a:ext cx="11542684" cy="8956298"/>
          </a:xfrm>
          <a:prstGeom prst="rect">
            <a:avLst/>
          </a:prstGeom>
        </p:spPr>
        <p:txBody>
          <a:bodyPr wrap="square">
            <a:spAutoFit/>
          </a:bodyPr>
          <a:lstStyle/>
          <a:p>
            <a:r>
              <a:rPr lang="en-US" sz="2400" b="1" dirty="0">
                <a:solidFill>
                  <a:srgbClr val="7F0055"/>
                </a:solidFill>
                <a:latin typeface="Consolas"/>
              </a:rPr>
              <a:t>class</a:t>
            </a:r>
            <a:r>
              <a:rPr lang="en-US" sz="2400" dirty="0">
                <a:solidFill>
                  <a:srgbClr val="000000"/>
                </a:solidFill>
                <a:latin typeface="Consolas"/>
              </a:rPr>
              <a:t> Box{</a:t>
            </a:r>
          </a:p>
          <a:p>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0000C0"/>
                </a:solidFill>
                <a:latin typeface="Consolas"/>
              </a:rPr>
              <a:t>width</a:t>
            </a:r>
            <a:r>
              <a:rPr lang="en-US" sz="2400" dirty="0">
                <a:solidFill>
                  <a:srgbClr val="000000"/>
                </a:solidFill>
                <a:latin typeface="Consolas"/>
              </a:rPr>
              <a:t>;</a:t>
            </a:r>
          </a:p>
          <a:p>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0000C0"/>
                </a:solidFill>
                <a:latin typeface="Consolas"/>
              </a:rPr>
              <a:t>height</a:t>
            </a:r>
            <a:r>
              <a:rPr lang="en-US" sz="2400" dirty="0">
                <a:solidFill>
                  <a:srgbClr val="000000"/>
                </a:solidFill>
                <a:latin typeface="Consolas"/>
              </a:rPr>
              <a:t>;</a:t>
            </a:r>
          </a:p>
          <a:p>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0000C0"/>
                </a:solidFill>
                <a:latin typeface="Consolas"/>
              </a:rPr>
              <a:t>depth</a:t>
            </a:r>
            <a:r>
              <a:rPr lang="en-US" sz="2400" dirty="0">
                <a:solidFill>
                  <a:srgbClr val="000000"/>
                </a:solidFill>
                <a:latin typeface="Consolas"/>
              </a:rPr>
              <a:t>;</a:t>
            </a:r>
          </a:p>
          <a:p>
            <a:r>
              <a:rPr lang="en-US" sz="2400" dirty="0">
                <a:solidFill>
                  <a:srgbClr val="000000"/>
                </a:solidFill>
                <a:latin typeface="Consolas"/>
              </a:rPr>
              <a:t>Box(){</a:t>
            </a:r>
          </a:p>
          <a:p>
            <a:r>
              <a:rPr lang="en-US" sz="2400" dirty="0">
                <a:solidFill>
                  <a:srgbClr val="000000"/>
                </a:solidFill>
                <a:latin typeface="Consolas"/>
              </a:rPr>
              <a:t>System.</a:t>
            </a:r>
            <a:r>
              <a:rPr lang="en-US" sz="2400" b="1" i="1" dirty="0">
                <a:solidFill>
                  <a:srgbClr val="0000C0"/>
                </a:solidFill>
                <a:latin typeface="Consolas"/>
              </a:rPr>
              <a:t>out</a:t>
            </a:r>
            <a:r>
              <a:rPr lang="en-US" sz="2400" dirty="0">
                <a:solidFill>
                  <a:srgbClr val="000000"/>
                </a:solidFill>
                <a:latin typeface="Consolas"/>
              </a:rPr>
              <a:t>.println(</a:t>
            </a:r>
            <a:r>
              <a:rPr lang="en-US" sz="2400" dirty="0">
                <a:solidFill>
                  <a:srgbClr val="2A00FF"/>
                </a:solidFill>
                <a:latin typeface="Consolas"/>
              </a:rPr>
              <a:t>"Default Constructor of Superclass Called"</a:t>
            </a:r>
            <a:r>
              <a:rPr lang="en-US" sz="2400" dirty="0">
                <a:solidFill>
                  <a:srgbClr val="000000"/>
                </a:solidFill>
                <a:latin typeface="Consolas"/>
              </a:rPr>
              <a:t>); }</a:t>
            </a:r>
          </a:p>
          <a:p>
            <a:r>
              <a:rPr lang="en-US" sz="2400" dirty="0">
                <a:solidFill>
                  <a:srgbClr val="000000"/>
                </a:solidFill>
                <a:latin typeface="Consolas"/>
              </a:rPr>
              <a:t>Box(</a:t>
            </a:r>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6A3E3E"/>
                </a:solidFill>
                <a:latin typeface="Consolas"/>
              </a:rPr>
              <a:t>w</a:t>
            </a:r>
            <a:r>
              <a:rPr lang="en-US" sz="2400" dirty="0">
                <a:solidFill>
                  <a:srgbClr val="000000"/>
                </a:solidFill>
                <a:latin typeface="Consolas"/>
              </a:rPr>
              <a:t>, </a:t>
            </a:r>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6A3E3E"/>
                </a:solidFill>
                <a:latin typeface="Consolas"/>
              </a:rPr>
              <a:t>h</a:t>
            </a:r>
            <a:r>
              <a:rPr lang="en-US" sz="2400" dirty="0">
                <a:solidFill>
                  <a:srgbClr val="000000"/>
                </a:solidFill>
                <a:latin typeface="Consolas"/>
              </a:rPr>
              <a:t>, </a:t>
            </a:r>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6A3E3E"/>
                </a:solidFill>
                <a:latin typeface="Consolas"/>
              </a:rPr>
              <a:t>d</a:t>
            </a:r>
            <a:r>
              <a:rPr lang="en-US" sz="2400" dirty="0">
                <a:solidFill>
                  <a:srgbClr val="000000"/>
                </a:solidFill>
                <a:latin typeface="Consolas"/>
              </a:rPr>
              <a:t>) {</a:t>
            </a:r>
          </a:p>
          <a:p>
            <a:r>
              <a:rPr lang="en-US" sz="2400" dirty="0">
                <a:solidFill>
                  <a:srgbClr val="0000C0"/>
                </a:solidFill>
                <a:latin typeface="Consolas"/>
              </a:rPr>
              <a:t>width</a:t>
            </a:r>
            <a:r>
              <a:rPr lang="en-US" sz="2400" dirty="0">
                <a:solidFill>
                  <a:srgbClr val="000000"/>
                </a:solidFill>
                <a:latin typeface="Consolas"/>
              </a:rPr>
              <a:t> = </a:t>
            </a:r>
            <a:r>
              <a:rPr lang="en-US" sz="2400" dirty="0">
                <a:solidFill>
                  <a:srgbClr val="6A3E3E"/>
                </a:solidFill>
                <a:latin typeface="Consolas"/>
              </a:rPr>
              <a:t>w</a:t>
            </a:r>
            <a:r>
              <a:rPr lang="en-US" sz="2400" dirty="0">
                <a:solidFill>
                  <a:srgbClr val="000000"/>
                </a:solidFill>
                <a:latin typeface="Consolas"/>
              </a:rPr>
              <a:t>;</a:t>
            </a:r>
          </a:p>
          <a:p>
            <a:r>
              <a:rPr lang="en-US" sz="2400" dirty="0">
                <a:solidFill>
                  <a:srgbClr val="0000C0"/>
                </a:solidFill>
                <a:latin typeface="Consolas"/>
              </a:rPr>
              <a:t>height</a:t>
            </a:r>
            <a:r>
              <a:rPr lang="en-US" sz="2400" dirty="0">
                <a:solidFill>
                  <a:srgbClr val="000000"/>
                </a:solidFill>
                <a:latin typeface="Consolas"/>
              </a:rPr>
              <a:t> = </a:t>
            </a:r>
            <a:r>
              <a:rPr lang="en-US" sz="2400" dirty="0">
                <a:solidFill>
                  <a:srgbClr val="6A3E3E"/>
                </a:solidFill>
                <a:latin typeface="Consolas"/>
              </a:rPr>
              <a:t>h</a:t>
            </a:r>
            <a:r>
              <a:rPr lang="en-US" sz="2400" dirty="0">
                <a:solidFill>
                  <a:srgbClr val="000000"/>
                </a:solidFill>
                <a:latin typeface="Consolas"/>
              </a:rPr>
              <a:t>;</a:t>
            </a:r>
          </a:p>
          <a:p>
            <a:r>
              <a:rPr lang="en-US" sz="2400" dirty="0">
                <a:solidFill>
                  <a:srgbClr val="0000C0"/>
                </a:solidFill>
                <a:latin typeface="Consolas"/>
              </a:rPr>
              <a:t>depth</a:t>
            </a:r>
            <a:r>
              <a:rPr lang="en-US" sz="2400" dirty="0">
                <a:solidFill>
                  <a:srgbClr val="000000"/>
                </a:solidFill>
                <a:latin typeface="Consolas"/>
              </a:rPr>
              <a:t> = </a:t>
            </a:r>
            <a:r>
              <a:rPr lang="en-US" sz="2400" dirty="0">
                <a:solidFill>
                  <a:srgbClr val="6A3E3E"/>
                </a:solidFill>
                <a:latin typeface="Consolas"/>
              </a:rPr>
              <a:t>d</a:t>
            </a:r>
            <a:r>
              <a:rPr lang="en-US" sz="2400" dirty="0">
                <a:solidFill>
                  <a:srgbClr val="000000"/>
                </a:solidFill>
                <a:latin typeface="Consolas"/>
              </a:rPr>
              <a:t>; }</a:t>
            </a:r>
          </a:p>
          <a:p>
            <a:r>
              <a:rPr lang="en-US" sz="2400" b="1" dirty="0">
                <a:solidFill>
                  <a:srgbClr val="7F0055"/>
                </a:solidFill>
                <a:latin typeface="Consolas"/>
              </a:rPr>
              <a:t>double</a:t>
            </a:r>
            <a:r>
              <a:rPr lang="en-US" sz="2400" dirty="0">
                <a:solidFill>
                  <a:srgbClr val="000000"/>
                </a:solidFill>
                <a:latin typeface="Consolas"/>
              </a:rPr>
              <a:t> volume() {</a:t>
            </a:r>
          </a:p>
          <a:p>
            <a:r>
              <a:rPr lang="en-US" sz="2400" b="1" dirty="0">
                <a:solidFill>
                  <a:srgbClr val="7F0055"/>
                </a:solidFill>
                <a:latin typeface="Consolas"/>
              </a:rPr>
              <a:t>return</a:t>
            </a:r>
            <a:r>
              <a:rPr lang="en-US" sz="2400" dirty="0">
                <a:solidFill>
                  <a:srgbClr val="000000"/>
                </a:solidFill>
                <a:latin typeface="Consolas"/>
              </a:rPr>
              <a:t> </a:t>
            </a:r>
            <a:r>
              <a:rPr lang="en-US" sz="2400" dirty="0">
                <a:solidFill>
                  <a:srgbClr val="0000C0"/>
                </a:solidFill>
                <a:latin typeface="Consolas"/>
              </a:rPr>
              <a:t>width</a:t>
            </a:r>
            <a:r>
              <a:rPr lang="en-US" sz="2400" dirty="0">
                <a:solidFill>
                  <a:srgbClr val="000000"/>
                </a:solidFill>
                <a:latin typeface="Consolas"/>
              </a:rPr>
              <a:t> * </a:t>
            </a:r>
            <a:r>
              <a:rPr lang="en-US" sz="2400" dirty="0">
                <a:solidFill>
                  <a:srgbClr val="0000C0"/>
                </a:solidFill>
                <a:latin typeface="Consolas"/>
              </a:rPr>
              <a:t>height</a:t>
            </a:r>
            <a:r>
              <a:rPr lang="en-US" sz="2400" dirty="0">
                <a:solidFill>
                  <a:srgbClr val="000000"/>
                </a:solidFill>
                <a:latin typeface="Consolas"/>
              </a:rPr>
              <a:t> * </a:t>
            </a:r>
            <a:r>
              <a:rPr lang="en-US" sz="2400" dirty="0">
                <a:solidFill>
                  <a:srgbClr val="0000C0"/>
                </a:solidFill>
                <a:latin typeface="Consolas"/>
              </a:rPr>
              <a:t>depth</a:t>
            </a:r>
            <a:r>
              <a:rPr lang="en-US" sz="2400" dirty="0" smtClean="0">
                <a:solidFill>
                  <a:srgbClr val="000000"/>
                </a:solidFill>
                <a:latin typeface="Consolas"/>
              </a:rPr>
              <a:t>;}}</a:t>
            </a:r>
            <a:endParaRPr lang="en-US" sz="2400" dirty="0">
              <a:solidFill>
                <a:srgbClr val="000000"/>
              </a:solidFill>
              <a:latin typeface="Consolas"/>
            </a:endParaRPr>
          </a:p>
          <a:p>
            <a:r>
              <a:rPr lang="en-US" sz="2400" b="1" dirty="0">
                <a:solidFill>
                  <a:srgbClr val="7F0055"/>
                </a:solidFill>
                <a:latin typeface="Consolas"/>
              </a:rPr>
              <a:t>class</a:t>
            </a:r>
            <a:r>
              <a:rPr lang="en-US" sz="2400" dirty="0">
                <a:solidFill>
                  <a:srgbClr val="000000"/>
                </a:solidFill>
                <a:latin typeface="Consolas"/>
              </a:rPr>
              <a:t> Boxweight </a:t>
            </a:r>
            <a:r>
              <a:rPr lang="en-US" sz="2400" b="1" dirty="0">
                <a:solidFill>
                  <a:srgbClr val="7F0055"/>
                </a:solidFill>
                <a:latin typeface="Consolas"/>
              </a:rPr>
              <a:t>extends</a:t>
            </a:r>
            <a:r>
              <a:rPr lang="en-US" sz="2400" dirty="0">
                <a:solidFill>
                  <a:srgbClr val="000000"/>
                </a:solidFill>
                <a:latin typeface="Consolas"/>
              </a:rPr>
              <a:t> Box {</a:t>
            </a:r>
          </a:p>
          <a:p>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0000C0"/>
                </a:solidFill>
                <a:latin typeface="Consolas"/>
              </a:rPr>
              <a:t>weight</a:t>
            </a:r>
            <a:r>
              <a:rPr lang="en-US" sz="2400" dirty="0">
                <a:solidFill>
                  <a:srgbClr val="000000"/>
                </a:solidFill>
                <a:latin typeface="Consolas"/>
              </a:rPr>
              <a:t>;</a:t>
            </a:r>
          </a:p>
          <a:p>
            <a:r>
              <a:rPr lang="en-US" sz="2400" dirty="0">
                <a:solidFill>
                  <a:srgbClr val="000000"/>
                </a:solidFill>
                <a:latin typeface="Consolas"/>
              </a:rPr>
              <a:t>Boxweight(</a:t>
            </a:r>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6A3E3E"/>
                </a:solidFill>
                <a:latin typeface="Consolas"/>
              </a:rPr>
              <a:t>m</a:t>
            </a:r>
            <a:r>
              <a:rPr lang="en-US" sz="2400" dirty="0">
                <a:solidFill>
                  <a:srgbClr val="000000"/>
                </a:solidFill>
                <a:latin typeface="Consolas"/>
              </a:rPr>
              <a:t>) {</a:t>
            </a:r>
          </a:p>
          <a:p>
            <a:r>
              <a:rPr lang="en-US" sz="2400" b="1" dirty="0">
                <a:solidFill>
                  <a:srgbClr val="7F0055"/>
                </a:solidFill>
                <a:latin typeface="Consolas"/>
              </a:rPr>
              <a:t>super</a:t>
            </a:r>
            <a:r>
              <a:rPr lang="en-US" sz="2400" dirty="0">
                <a:solidFill>
                  <a:srgbClr val="000000"/>
                </a:solidFill>
                <a:latin typeface="Consolas"/>
              </a:rPr>
              <a:t>(); </a:t>
            </a:r>
          </a:p>
          <a:p>
            <a:r>
              <a:rPr lang="en-US" sz="2400" dirty="0">
                <a:solidFill>
                  <a:srgbClr val="0000C0"/>
                </a:solidFill>
                <a:latin typeface="Consolas"/>
              </a:rPr>
              <a:t>weight</a:t>
            </a:r>
            <a:r>
              <a:rPr lang="en-US" sz="2400" dirty="0">
                <a:solidFill>
                  <a:srgbClr val="000000"/>
                </a:solidFill>
                <a:latin typeface="Consolas"/>
              </a:rPr>
              <a:t> = </a:t>
            </a:r>
            <a:r>
              <a:rPr lang="en-US" sz="2400" dirty="0">
                <a:solidFill>
                  <a:srgbClr val="6A3E3E"/>
                </a:solidFill>
                <a:latin typeface="Consolas"/>
              </a:rPr>
              <a:t>m</a:t>
            </a:r>
            <a:r>
              <a:rPr lang="en-US" sz="2400" dirty="0">
                <a:solidFill>
                  <a:srgbClr val="000000"/>
                </a:solidFill>
                <a:latin typeface="Consolas"/>
              </a:rPr>
              <a:t>; }}</a:t>
            </a:r>
          </a:p>
          <a:p>
            <a:r>
              <a:rPr lang="en-US" sz="2400" b="1" dirty="0">
                <a:solidFill>
                  <a:srgbClr val="7F0055"/>
                </a:solidFill>
                <a:latin typeface="Consolas"/>
              </a:rPr>
              <a:t>public</a:t>
            </a:r>
            <a:r>
              <a:rPr lang="en-US" sz="2400" dirty="0">
                <a:solidFill>
                  <a:srgbClr val="000000"/>
                </a:solidFill>
                <a:latin typeface="Consolas"/>
              </a:rPr>
              <a:t> </a:t>
            </a:r>
            <a:r>
              <a:rPr lang="en-US" sz="2400" b="1" dirty="0">
                <a:solidFill>
                  <a:srgbClr val="7F0055"/>
                </a:solidFill>
                <a:latin typeface="Consolas"/>
              </a:rPr>
              <a:t>class</a:t>
            </a:r>
            <a:r>
              <a:rPr lang="en-US" sz="2400" dirty="0">
                <a:solidFill>
                  <a:srgbClr val="000000"/>
                </a:solidFill>
                <a:latin typeface="Consolas"/>
              </a:rPr>
              <a:t> super2{</a:t>
            </a:r>
          </a:p>
          <a:p>
            <a:r>
              <a:rPr lang="en-US" sz="2400" b="1" dirty="0">
                <a:solidFill>
                  <a:srgbClr val="7F0055"/>
                </a:solidFill>
                <a:latin typeface="Consolas"/>
              </a:rPr>
              <a:t>public</a:t>
            </a:r>
            <a:r>
              <a:rPr lang="en-US" sz="2400" dirty="0">
                <a:solidFill>
                  <a:srgbClr val="000000"/>
                </a:solidFill>
                <a:latin typeface="Consolas"/>
              </a:rPr>
              <a:t> </a:t>
            </a:r>
            <a:r>
              <a:rPr lang="en-US" sz="2400" b="1" dirty="0">
                <a:solidFill>
                  <a:srgbClr val="7F0055"/>
                </a:solidFill>
                <a:latin typeface="Consolas"/>
              </a:rPr>
              <a:t>static</a:t>
            </a:r>
            <a:r>
              <a:rPr lang="en-US" sz="2400" dirty="0">
                <a:solidFill>
                  <a:srgbClr val="000000"/>
                </a:solidFill>
                <a:latin typeface="Consolas"/>
              </a:rPr>
              <a:t> </a:t>
            </a:r>
            <a:r>
              <a:rPr lang="en-US" sz="2400" b="1" dirty="0">
                <a:solidFill>
                  <a:srgbClr val="7F0055"/>
                </a:solidFill>
                <a:latin typeface="Consolas"/>
              </a:rPr>
              <a:t>void</a:t>
            </a:r>
            <a:r>
              <a:rPr lang="en-US" sz="2400" dirty="0">
                <a:solidFill>
                  <a:srgbClr val="000000"/>
                </a:solidFill>
                <a:latin typeface="Consolas"/>
              </a:rPr>
              <a:t> main (String </a:t>
            </a:r>
            <a:r>
              <a:rPr lang="en-US" sz="2400" dirty="0">
                <a:solidFill>
                  <a:srgbClr val="6A3E3E"/>
                </a:solidFill>
                <a:latin typeface="Consolas"/>
              </a:rPr>
              <a:t>args</a:t>
            </a:r>
            <a:r>
              <a:rPr lang="en-US" sz="2400" dirty="0">
                <a:solidFill>
                  <a:srgbClr val="000000"/>
                </a:solidFill>
                <a:latin typeface="Consolas"/>
              </a:rPr>
              <a:t>[]) {</a:t>
            </a:r>
          </a:p>
          <a:p>
            <a:r>
              <a:rPr lang="en-US" sz="2400" dirty="0">
                <a:solidFill>
                  <a:srgbClr val="000000"/>
                </a:solidFill>
                <a:latin typeface="Consolas"/>
              </a:rPr>
              <a:t>Boxweight </a:t>
            </a:r>
            <a:r>
              <a:rPr lang="en-US" sz="2400" dirty="0">
                <a:solidFill>
                  <a:srgbClr val="6A3E3E"/>
                </a:solidFill>
                <a:latin typeface="Consolas"/>
              </a:rPr>
              <a:t>mybox1</a:t>
            </a:r>
            <a:r>
              <a:rPr lang="en-US" sz="2400" dirty="0">
                <a:solidFill>
                  <a:srgbClr val="000000"/>
                </a:solidFill>
                <a:latin typeface="Consolas"/>
              </a:rPr>
              <a:t> = </a:t>
            </a:r>
            <a:r>
              <a:rPr lang="en-US" sz="2400" b="1" dirty="0">
                <a:solidFill>
                  <a:srgbClr val="7F0055"/>
                </a:solidFill>
                <a:latin typeface="Consolas"/>
              </a:rPr>
              <a:t>new</a:t>
            </a:r>
            <a:r>
              <a:rPr lang="en-US" sz="2400" dirty="0">
                <a:solidFill>
                  <a:srgbClr val="000000"/>
                </a:solidFill>
                <a:latin typeface="Consolas"/>
              </a:rPr>
              <a:t> Boxweight(10);</a:t>
            </a:r>
          </a:p>
          <a:p>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6A3E3E"/>
                </a:solidFill>
                <a:latin typeface="Consolas"/>
              </a:rPr>
              <a:t>vol</a:t>
            </a:r>
            <a:r>
              <a:rPr lang="en-US" sz="2400" dirty="0">
                <a:solidFill>
                  <a:srgbClr val="000000"/>
                </a:solidFill>
                <a:latin typeface="Consolas"/>
              </a:rPr>
              <a:t> = </a:t>
            </a:r>
            <a:r>
              <a:rPr lang="en-US" sz="2400" dirty="0">
                <a:solidFill>
                  <a:srgbClr val="6A3E3E"/>
                </a:solidFill>
                <a:latin typeface="Consolas"/>
              </a:rPr>
              <a:t>mybox1</a:t>
            </a:r>
            <a:r>
              <a:rPr lang="en-US" sz="2400" dirty="0">
                <a:solidFill>
                  <a:srgbClr val="000000"/>
                </a:solidFill>
                <a:latin typeface="Consolas"/>
              </a:rPr>
              <a:t>.volume();</a:t>
            </a:r>
          </a:p>
          <a:p>
            <a:r>
              <a:rPr lang="en-US" sz="2400" dirty="0">
                <a:solidFill>
                  <a:srgbClr val="000000"/>
                </a:solidFill>
                <a:latin typeface="Consolas"/>
              </a:rPr>
              <a:t>System.</a:t>
            </a:r>
            <a:r>
              <a:rPr lang="en-US" sz="2400" b="1" i="1" dirty="0">
                <a:solidFill>
                  <a:srgbClr val="0000C0"/>
                </a:solidFill>
                <a:latin typeface="Consolas"/>
              </a:rPr>
              <a:t>out</a:t>
            </a:r>
            <a:r>
              <a:rPr lang="en-US" sz="2400" dirty="0">
                <a:solidFill>
                  <a:srgbClr val="000000"/>
                </a:solidFill>
                <a:latin typeface="Consolas"/>
              </a:rPr>
              <a:t>.println(</a:t>
            </a:r>
            <a:r>
              <a:rPr lang="en-US" sz="2400" dirty="0">
                <a:solidFill>
                  <a:srgbClr val="2A00FF"/>
                </a:solidFill>
                <a:latin typeface="Consolas"/>
              </a:rPr>
              <a:t>"Volume of mybox1 is "</a:t>
            </a:r>
            <a:r>
              <a:rPr lang="en-US" sz="2400" dirty="0">
                <a:solidFill>
                  <a:srgbClr val="000000"/>
                </a:solidFill>
                <a:latin typeface="Consolas"/>
              </a:rPr>
              <a:t> + </a:t>
            </a:r>
            <a:r>
              <a:rPr lang="en-US" sz="2400" dirty="0">
                <a:solidFill>
                  <a:srgbClr val="6A3E3E"/>
                </a:solidFill>
                <a:latin typeface="Consolas"/>
              </a:rPr>
              <a:t>vol</a:t>
            </a:r>
            <a:r>
              <a:rPr lang="en-US" sz="2400" dirty="0">
                <a:solidFill>
                  <a:srgbClr val="000000"/>
                </a:solidFill>
                <a:latin typeface="Consolas"/>
              </a:rPr>
              <a:t>);</a:t>
            </a:r>
          </a:p>
          <a:p>
            <a:r>
              <a:rPr lang="en-US" sz="2400" dirty="0">
                <a:solidFill>
                  <a:srgbClr val="000000"/>
                </a:solidFill>
                <a:latin typeface="Consolas"/>
              </a:rPr>
              <a:t>System.</a:t>
            </a:r>
            <a:r>
              <a:rPr lang="en-US" sz="2400" b="1" i="1" dirty="0">
                <a:solidFill>
                  <a:srgbClr val="0000C0"/>
                </a:solidFill>
                <a:latin typeface="Consolas"/>
              </a:rPr>
              <a:t>out</a:t>
            </a:r>
            <a:r>
              <a:rPr lang="en-US" sz="2400" dirty="0">
                <a:solidFill>
                  <a:srgbClr val="000000"/>
                </a:solidFill>
                <a:latin typeface="Consolas"/>
              </a:rPr>
              <a:t>.println(</a:t>
            </a:r>
            <a:r>
              <a:rPr lang="en-US" sz="2400" dirty="0">
                <a:solidFill>
                  <a:srgbClr val="2A00FF"/>
                </a:solidFill>
                <a:latin typeface="Consolas"/>
              </a:rPr>
              <a:t>"Weight of mybox1 is "</a:t>
            </a:r>
            <a:r>
              <a:rPr lang="en-US" sz="2400" dirty="0">
                <a:solidFill>
                  <a:srgbClr val="000000"/>
                </a:solidFill>
                <a:latin typeface="Consolas"/>
              </a:rPr>
              <a:t> + </a:t>
            </a:r>
            <a:r>
              <a:rPr lang="en-US" sz="2400" dirty="0">
                <a:solidFill>
                  <a:srgbClr val="6A3E3E"/>
                </a:solidFill>
                <a:latin typeface="Consolas"/>
              </a:rPr>
              <a:t>mybox1</a:t>
            </a:r>
            <a:r>
              <a:rPr lang="en-US" sz="2400" dirty="0">
                <a:solidFill>
                  <a:srgbClr val="000000"/>
                </a:solidFill>
                <a:latin typeface="Consolas"/>
              </a:rPr>
              <a:t>.</a:t>
            </a:r>
            <a:r>
              <a:rPr lang="en-US" sz="2400" dirty="0">
                <a:solidFill>
                  <a:srgbClr val="0000C0"/>
                </a:solidFill>
                <a:latin typeface="Consolas"/>
              </a:rPr>
              <a:t>weight</a:t>
            </a:r>
            <a:r>
              <a:rPr lang="en-US" sz="2400" dirty="0">
                <a:solidFill>
                  <a:srgbClr val="000000"/>
                </a:solidFill>
                <a:latin typeface="Consolas"/>
              </a:rPr>
              <a:t>);</a:t>
            </a:r>
          </a:p>
          <a:p>
            <a:r>
              <a:rPr lang="en-US" sz="2400" dirty="0">
                <a:solidFill>
                  <a:srgbClr val="000000"/>
                </a:solidFill>
                <a:latin typeface="Consolas"/>
              </a:rPr>
              <a:t>System.</a:t>
            </a:r>
            <a:r>
              <a:rPr lang="en-US" sz="2400" b="1" i="1" dirty="0">
                <a:solidFill>
                  <a:srgbClr val="0000C0"/>
                </a:solidFill>
                <a:latin typeface="Consolas"/>
              </a:rPr>
              <a:t>out</a:t>
            </a:r>
            <a:r>
              <a:rPr lang="en-US" sz="2400" dirty="0">
                <a:solidFill>
                  <a:srgbClr val="000000"/>
                </a:solidFill>
                <a:latin typeface="Consolas"/>
              </a:rPr>
              <a:t>.println</a:t>
            </a:r>
            <a:r>
              <a:rPr lang="en-US" sz="2400" dirty="0" smtClean="0">
                <a:solidFill>
                  <a:srgbClr val="000000"/>
                </a:solidFill>
                <a:latin typeface="Consolas"/>
              </a:rPr>
              <a:t>();}}</a:t>
            </a:r>
            <a:endParaRPr lang="en-US" sz="2400" dirty="0">
              <a:solidFill>
                <a:srgbClr val="000000"/>
              </a:solidFill>
              <a:effectLst/>
              <a:latin typeface="Consolas"/>
            </a:endParaRPr>
          </a:p>
        </p:txBody>
      </p:sp>
      <p:sp>
        <p:nvSpPr>
          <p:cNvPr id="13" name="Rectangle 12"/>
          <p:cNvSpPr/>
          <p:nvPr/>
        </p:nvSpPr>
        <p:spPr>
          <a:xfrm>
            <a:off x="8001000" y="4533900"/>
            <a:ext cx="9625028" cy="311425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p:cNvSpPr/>
          <p:nvPr/>
        </p:nvSpPr>
        <p:spPr>
          <a:xfrm>
            <a:off x="8001000" y="4533900"/>
            <a:ext cx="9625028" cy="2800767"/>
          </a:xfrm>
          <a:prstGeom prst="rect">
            <a:avLst/>
          </a:prstGeom>
        </p:spPr>
        <p:txBody>
          <a:bodyPr wrap="square">
            <a:spAutoFit/>
          </a:bodyPr>
          <a:lstStyle/>
          <a:p>
            <a:r>
              <a:rPr lang="en-US" sz="4400" b="1" u="sng" dirty="0" smtClean="0"/>
              <a:t>OUTPUT –</a:t>
            </a:r>
          </a:p>
          <a:p>
            <a:r>
              <a:rPr lang="en-US" sz="4400" dirty="0"/>
              <a:t>Default Constructor of Superclass Called</a:t>
            </a:r>
          </a:p>
          <a:p>
            <a:r>
              <a:rPr lang="en-US" sz="4400" dirty="0"/>
              <a:t>Volume of mybox1 is 0.0</a:t>
            </a:r>
          </a:p>
          <a:p>
            <a:r>
              <a:rPr lang="en-US" sz="4400" dirty="0"/>
              <a:t>Weight of mybox1 is 10.0</a:t>
            </a:r>
          </a:p>
        </p:txBody>
      </p:sp>
    </p:spTree>
    <p:extLst>
      <p:ext uri="{BB962C8B-B14F-4D97-AF65-F5344CB8AC3E}">
        <p14:creationId xmlns:p14="http://schemas.microsoft.com/office/powerpoint/2010/main" val="253156383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8530201" y="-7281300"/>
            <a:ext cx="834433" cy="16090366"/>
            <a:chOff x="0" y="-66401"/>
            <a:chExt cx="284633" cy="866122"/>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66401"/>
              <a:ext cx="284633" cy="866122"/>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996911" y="388746"/>
            <a:ext cx="16629117" cy="615553"/>
          </a:xfrm>
          <a:prstGeom prst="rect">
            <a:avLst/>
          </a:prstGeom>
        </p:spPr>
        <p:txBody>
          <a:bodyPr wrap="square" lIns="0" tIns="0" rIns="0" bIns="0" rtlCol="0" anchor="t">
            <a:spAutoFit/>
          </a:bodyPr>
          <a:lstStyle/>
          <a:p>
            <a:r>
              <a:rPr lang="en-US" sz="4000" b="1" dirty="0">
                <a:solidFill>
                  <a:srgbClr val="000000"/>
                </a:solidFill>
                <a:latin typeface="Century Gothic Paneuropean Bold"/>
                <a:ea typeface="Century Gothic Paneuropean Bold"/>
                <a:cs typeface="Century Gothic Paneuropean Bold"/>
                <a:sym typeface="Century Gothic Paneuropean Bold"/>
              </a:rPr>
              <a:t>USING SUPER TO CALL </a:t>
            </a:r>
            <a:r>
              <a:rPr lang="en-US" sz="4000" b="1" dirty="0" smtClean="0">
                <a:solidFill>
                  <a:srgbClr val="000000"/>
                </a:solidFill>
                <a:latin typeface="Century Gothic Paneuropean Bold"/>
                <a:ea typeface="Century Gothic Paneuropean Bold"/>
                <a:cs typeface="Century Gothic Paneuropean Bold"/>
                <a:sym typeface="Century Gothic Paneuropean Bold"/>
              </a:rPr>
              <a:t>SUPERCLASS Parametrized CONSTRUCTOR</a:t>
            </a:r>
            <a:endParaRPr lang="en-US" sz="4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889265" y="1943100"/>
            <a:ext cx="15861764" cy="615553"/>
          </a:xfrm>
          <a:prstGeom prst="rect">
            <a:avLst/>
          </a:prstGeom>
        </p:spPr>
        <p:txBody>
          <a:bodyPr wrap="square" lIns="0" tIns="0" rIns="0" bIns="0" rtlCol="0" anchor="t">
            <a:spAutoFit/>
          </a:bodyPr>
          <a:lstStyle/>
          <a:p>
            <a:r>
              <a:rPr lang="en-US" sz="4000" b="1" dirty="0" smtClean="0"/>
              <a:t> </a:t>
            </a:r>
            <a:endParaRPr lang="en-US" sz="4000" dirty="0"/>
          </a:p>
        </p:txBody>
      </p:sp>
      <p:sp>
        <p:nvSpPr>
          <p:cNvPr id="11" name="Rectangle 10"/>
          <p:cNvSpPr/>
          <p:nvPr/>
        </p:nvSpPr>
        <p:spPr>
          <a:xfrm>
            <a:off x="877916" y="1357453"/>
            <a:ext cx="12380884" cy="8956298"/>
          </a:xfrm>
          <a:prstGeom prst="rect">
            <a:avLst/>
          </a:prstGeom>
        </p:spPr>
        <p:txBody>
          <a:bodyPr wrap="square">
            <a:spAutoFit/>
          </a:bodyPr>
          <a:lstStyle/>
          <a:p>
            <a:r>
              <a:rPr lang="en-US" sz="2400" b="1" dirty="0">
                <a:solidFill>
                  <a:srgbClr val="7F0055"/>
                </a:solidFill>
                <a:latin typeface="Consolas"/>
              </a:rPr>
              <a:t>class</a:t>
            </a:r>
            <a:r>
              <a:rPr lang="en-US" sz="2400" dirty="0">
                <a:solidFill>
                  <a:srgbClr val="000000"/>
                </a:solidFill>
                <a:latin typeface="Consolas"/>
              </a:rPr>
              <a:t> Box{</a:t>
            </a:r>
          </a:p>
          <a:p>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0000C0"/>
                </a:solidFill>
                <a:latin typeface="Consolas"/>
              </a:rPr>
              <a:t>width</a:t>
            </a:r>
            <a:r>
              <a:rPr lang="en-US" sz="2400" dirty="0">
                <a:solidFill>
                  <a:srgbClr val="000000"/>
                </a:solidFill>
                <a:latin typeface="Consolas"/>
              </a:rPr>
              <a:t>;</a:t>
            </a:r>
          </a:p>
          <a:p>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0000C0"/>
                </a:solidFill>
                <a:latin typeface="Consolas"/>
              </a:rPr>
              <a:t>height</a:t>
            </a:r>
            <a:r>
              <a:rPr lang="en-US" sz="2400" dirty="0">
                <a:solidFill>
                  <a:srgbClr val="000000"/>
                </a:solidFill>
                <a:latin typeface="Consolas"/>
              </a:rPr>
              <a:t>;</a:t>
            </a:r>
          </a:p>
          <a:p>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0000C0"/>
                </a:solidFill>
                <a:latin typeface="Consolas"/>
              </a:rPr>
              <a:t>depth</a:t>
            </a:r>
            <a:r>
              <a:rPr lang="en-US" sz="2400" dirty="0">
                <a:solidFill>
                  <a:srgbClr val="000000"/>
                </a:solidFill>
                <a:latin typeface="Consolas"/>
              </a:rPr>
              <a:t>;</a:t>
            </a:r>
          </a:p>
          <a:p>
            <a:r>
              <a:rPr lang="en-US" sz="2400" dirty="0">
                <a:solidFill>
                  <a:srgbClr val="000000"/>
                </a:solidFill>
                <a:latin typeface="Consolas"/>
              </a:rPr>
              <a:t>Box(){</a:t>
            </a:r>
          </a:p>
          <a:p>
            <a:r>
              <a:rPr lang="en-US" sz="2400" dirty="0">
                <a:solidFill>
                  <a:srgbClr val="000000"/>
                </a:solidFill>
                <a:latin typeface="Consolas"/>
              </a:rPr>
              <a:t>System.</a:t>
            </a:r>
            <a:r>
              <a:rPr lang="en-US" sz="2400" b="1" i="1" dirty="0">
                <a:solidFill>
                  <a:srgbClr val="0000C0"/>
                </a:solidFill>
                <a:latin typeface="Consolas"/>
              </a:rPr>
              <a:t>out</a:t>
            </a:r>
            <a:r>
              <a:rPr lang="en-US" sz="2400" dirty="0">
                <a:solidFill>
                  <a:srgbClr val="000000"/>
                </a:solidFill>
                <a:latin typeface="Consolas"/>
              </a:rPr>
              <a:t>.println(</a:t>
            </a:r>
            <a:r>
              <a:rPr lang="en-US" sz="2400" dirty="0">
                <a:solidFill>
                  <a:srgbClr val="2A00FF"/>
                </a:solidFill>
                <a:latin typeface="Consolas"/>
              </a:rPr>
              <a:t>"Default </a:t>
            </a:r>
            <a:r>
              <a:rPr lang="en-US" sz="2400" dirty="0" smtClean="0">
                <a:solidFill>
                  <a:srgbClr val="2A00FF"/>
                </a:solidFill>
                <a:latin typeface="Consolas"/>
              </a:rPr>
              <a:t>Constructor </a:t>
            </a:r>
            <a:r>
              <a:rPr lang="en-US" sz="2400" dirty="0">
                <a:solidFill>
                  <a:srgbClr val="2A00FF"/>
                </a:solidFill>
                <a:latin typeface="Consolas"/>
              </a:rPr>
              <a:t>of Superclass Called</a:t>
            </a:r>
            <a:r>
              <a:rPr lang="en-US" sz="2400" dirty="0" smtClean="0">
                <a:solidFill>
                  <a:srgbClr val="2A00FF"/>
                </a:solidFill>
                <a:latin typeface="Consolas"/>
              </a:rPr>
              <a:t>"</a:t>
            </a:r>
            <a:r>
              <a:rPr lang="en-US" sz="2400" dirty="0" smtClean="0">
                <a:solidFill>
                  <a:srgbClr val="000000"/>
                </a:solidFill>
                <a:latin typeface="Consolas"/>
              </a:rPr>
              <a:t>);}</a:t>
            </a:r>
            <a:endParaRPr lang="en-US" sz="2400" dirty="0">
              <a:solidFill>
                <a:srgbClr val="000000"/>
              </a:solidFill>
              <a:latin typeface="Consolas"/>
            </a:endParaRPr>
          </a:p>
          <a:p>
            <a:r>
              <a:rPr lang="en-US" sz="2400" dirty="0">
                <a:solidFill>
                  <a:srgbClr val="000000"/>
                </a:solidFill>
                <a:latin typeface="Consolas"/>
              </a:rPr>
              <a:t>Box(</a:t>
            </a:r>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6A3E3E"/>
                </a:solidFill>
                <a:latin typeface="Consolas"/>
              </a:rPr>
              <a:t>w</a:t>
            </a:r>
            <a:r>
              <a:rPr lang="en-US" sz="2400" dirty="0">
                <a:solidFill>
                  <a:srgbClr val="000000"/>
                </a:solidFill>
                <a:latin typeface="Consolas"/>
              </a:rPr>
              <a:t>, </a:t>
            </a:r>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6A3E3E"/>
                </a:solidFill>
                <a:latin typeface="Consolas"/>
              </a:rPr>
              <a:t>h</a:t>
            </a:r>
            <a:r>
              <a:rPr lang="en-US" sz="2400" dirty="0">
                <a:solidFill>
                  <a:srgbClr val="000000"/>
                </a:solidFill>
                <a:latin typeface="Consolas"/>
              </a:rPr>
              <a:t>, </a:t>
            </a:r>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6A3E3E"/>
                </a:solidFill>
                <a:latin typeface="Consolas"/>
              </a:rPr>
              <a:t>d</a:t>
            </a:r>
            <a:r>
              <a:rPr lang="en-US" sz="2400" dirty="0">
                <a:solidFill>
                  <a:srgbClr val="000000"/>
                </a:solidFill>
                <a:latin typeface="Consolas"/>
              </a:rPr>
              <a:t>) {</a:t>
            </a:r>
          </a:p>
          <a:p>
            <a:r>
              <a:rPr lang="en-US" sz="2400" dirty="0">
                <a:solidFill>
                  <a:srgbClr val="0000C0"/>
                </a:solidFill>
                <a:latin typeface="Consolas"/>
              </a:rPr>
              <a:t>width</a:t>
            </a:r>
            <a:r>
              <a:rPr lang="en-US" sz="2400" dirty="0">
                <a:solidFill>
                  <a:srgbClr val="000000"/>
                </a:solidFill>
                <a:latin typeface="Consolas"/>
              </a:rPr>
              <a:t> = </a:t>
            </a:r>
            <a:r>
              <a:rPr lang="en-US" sz="2400" dirty="0">
                <a:solidFill>
                  <a:srgbClr val="6A3E3E"/>
                </a:solidFill>
                <a:latin typeface="Consolas"/>
              </a:rPr>
              <a:t>w</a:t>
            </a:r>
            <a:r>
              <a:rPr lang="en-US" sz="2400" dirty="0">
                <a:solidFill>
                  <a:srgbClr val="000000"/>
                </a:solidFill>
                <a:latin typeface="Consolas"/>
              </a:rPr>
              <a:t>;</a:t>
            </a:r>
          </a:p>
          <a:p>
            <a:r>
              <a:rPr lang="en-US" sz="2400" dirty="0">
                <a:solidFill>
                  <a:srgbClr val="0000C0"/>
                </a:solidFill>
                <a:latin typeface="Consolas"/>
              </a:rPr>
              <a:t>height</a:t>
            </a:r>
            <a:r>
              <a:rPr lang="en-US" sz="2400" dirty="0">
                <a:solidFill>
                  <a:srgbClr val="000000"/>
                </a:solidFill>
                <a:latin typeface="Consolas"/>
              </a:rPr>
              <a:t> = </a:t>
            </a:r>
            <a:r>
              <a:rPr lang="en-US" sz="2400" dirty="0">
                <a:solidFill>
                  <a:srgbClr val="6A3E3E"/>
                </a:solidFill>
                <a:latin typeface="Consolas"/>
              </a:rPr>
              <a:t>h</a:t>
            </a:r>
            <a:r>
              <a:rPr lang="en-US" sz="2400" dirty="0">
                <a:solidFill>
                  <a:srgbClr val="000000"/>
                </a:solidFill>
                <a:latin typeface="Consolas"/>
              </a:rPr>
              <a:t>;</a:t>
            </a:r>
          </a:p>
          <a:p>
            <a:r>
              <a:rPr lang="en-US" sz="2400" dirty="0">
                <a:solidFill>
                  <a:srgbClr val="0000C0"/>
                </a:solidFill>
                <a:latin typeface="Consolas"/>
              </a:rPr>
              <a:t>depth</a:t>
            </a:r>
            <a:r>
              <a:rPr lang="en-US" sz="2400" dirty="0">
                <a:solidFill>
                  <a:srgbClr val="000000"/>
                </a:solidFill>
                <a:latin typeface="Consolas"/>
              </a:rPr>
              <a:t> = </a:t>
            </a:r>
            <a:r>
              <a:rPr lang="en-US" sz="2400" dirty="0">
                <a:solidFill>
                  <a:srgbClr val="6A3E3E"/>
                </a:solidFill>
                <a:latin typeface="Consolas"/>
              </a:rPr>
              <a:t>d</a:t>
            </a:r>
            <a:r>
              <a:rPr lang="en-US" sz="2400" dirty="0" smtClean="0">
                <a:solidFill>
                  <a:srgbClr val="000000"/>
                </a:solidFill>
                <a:latin typeface="Consolas"/>
              </a:rPr>
              <a:t>;}</a:t>
            </a:r>
            <a:endParaRPr lang="en-US" sz="2400" dirty="0">
              <a:solidFill>
                <a:srgbClr val="000000"/>
              </a:solidFill>
              <a:latin typeface="Consolas"/>
            </a:endParaRPr>
          </a:p>
          <a:p>
            <a:r>
              <a:rPr lang="en-US" sz="2400" b="1" dirty="0">
                <a:solidFill>
                  <a:srgbClr val="7F0055"/>
                </a:solidFill>
                <a:latin typeface="Consolas"/>
              </a:rPr>
              <a:t>double</a:t>
            </a:r>
            <a:r>
              <a:rPr lang="en-US" sz="2400" dirty="0">
                <a:solidFill>
                  <a:srgbClr val="000000"/>
                </a:solidFill>
                <a:latin typeface="Consolas"/>
              </a:rPr>
              <a:t> volume() {</a:t>
            </a:r>
          </a:p>
          <a:p>
            <a:r>
              <a:rPr lang="en-US" sz="2400" b="1" dirty="0">
                <a:solidFill>
                  <a:srgbClr val="7F0055"/>
                </a:solidFill>
                <a:latin typeface="Consolas"/>
              </a:rPr>
              <a:t>return</a:t>
            </a:r>
            <a:r>
              <a:rPr lang="en-US" sz="2400" dirty="0">
                <a:solidFill>
                  <a:srgbClr val="000000"/>
                </a:solidFill>
                <a:latin typeface="Consolas"/>
              </a:rPr>
              <a:t> </a:t>
            </a:r>
            <a:r>
              <a:rPr lang="en-US" sz="2400" dirty="0">
                <a:solidFill>
                  <a:srgbClr val="0000C0"/>
                </a:solidFill>
                <a:latin typeface="Consolas"/>
              </a:rPr>
              <a:t>width</a:t>
            </a:r>
            <a:r>
              <a:rPr lang="en-US" sz="2400" dirty="0">
                <a:solidFill>
                  <a:srgbClr val="000000"/>
                </a:solidFill>
                <a:latin typeface="Consolas"/>
              </a:rPr>
              <a:t> * </a:t>
            </a:r>
            <a:r>
              <a:rPr lang="en-US" sz="2400" dirty="0">
                <a:solidFill>
                  <a:srgbClr val="0000C0"/>
                </a:solidFill>
                <a:latin typeface="Consolas"/>
              </a:rPr>
              <a:t>height</a:t>
            </a:r>
            <a:r>
              <a:rPr lang="en-US" sz="2400" dirty="0">
                <a:solidFill>
                  <a:srgbClr val="000000"/>
                </a:solidFill>
                <a:latin typeface="Consolas"/>
              </a:rPr>
              <a:t> * </a:t>
            </a:r>
            <a:r>
              <a:rPr lang="en-US" sz="2400" dirty="0">
                <a:solidFill>
                  <a:srgbClr val="0000C0"/>
                </a:solidFill>
                <a:latin typeface="Consolas"/>
              </a:rPr>
              <a:t>depth</a:t>
            </a:r>
            <a:r>
              <a:rPr lang="en-US" sz="2400" dirty="0" smtClean="0">
                <a:solidFill>
                  <a:srgbClr val="000000"/>
                </a:solidFill>
                <a:latin typeface="Consolas"/>
              </a:rPr>
              <a:t>;}}</a:t>
            </a:r>
            <a:endParaRPr lang="en-US" sz="2400" dirty="0">
              <a:solidFill>
                <a:srgbClr val="000000"/>
              </a:solidFill>
              <a:latin typeface="Consolas"/>
            </a:endParaRPr>
          </a:p>
          <a:p>
            <a:r>
              <a:rPr lang="en-US" sz="2400" b="1" dirty="0">
                <a:solidFill>
                  <a:srgbClr val="7F0055"/>
                </a:solidFill>
                <a:latin typeface="Consolas"/>
              </a:rPr>
              <a:t>class</a:t>
            </a:r>
            <a:r>
              <a:rPr lang="en-US" sz="2400" dirty="0">
                <a:solidFill>
                  <a:srgbClr val="000000"/>
                </a:solidFill>
                <a:latin typeface="Consolas"/>
              </a:rPr>
              <a:t> Boxweight </a:t>
            </a:r>
            <a:r>
              <a:rPr lang="en-US" sz="2400" b="1" dirty="0">
                <a:solidFill>
                  <a:srgbClr val="7F0055"/>
                </a:solidFill>
                <a:latin typeface="Consolas"/>
              </a:rPr>
              <a:t>extends</a:t>
            </a:r>
            <a:r>
              <a:rPr lang="en-US" sz="2400" dirty="0">
                <a:solidFill>
                  <a:srgbClr val="000000"/>
                </a:solidFill>
                <a:latin typeface="Consolas"/>
              </a:rPr>
              <a:t> Box {</a:t>
            </a:r>
          </a:p>
          <a:p>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0000C0"/>
                </a:solidFill>
                <a:latin typeface="Consolas"/>
              </a:rPr>
              <a:t>weight</a:t>
            </a:r>
            <a:r>
              <a:rPr lang="en-US" sz="2400" dirty="0">
                <a:solidFill>
                  <a:srgbClr val="000000"/>
                </a:solidFill>
                <a:latin typeface="Consolas"/>
              </a:rPr>
              <a:t>;</a:t>
            </a:r>
          </a:p>
          <a:p>
            <a:r>
              <a:rPr lang="en-US" sz="2400" dirty="0">
                <a:solidFill>
                  <a:srgbClr val="000000"/>
                </a:solidFill>
                <a:latin typeface="Consolas"/>
              </a:rPr>
              <a:t>Boxweight(</a:t>
            </a:r>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6A3E3E"/>
                </a:solidFill>
                <a:latin typeface="Consolas"/>
              </a:rPr>
              <a:t>w</a:t>
            </a:r>
            <a:r>
              <a:rPr lang="en-US" sz="2400" dirty="0">
                <a:solidFill>
                  <a:srgbClr val="000000"/>
                </a:solidFill>
                <a:latin typeface="Consolas"/>
              </a:rPr>
              <a:t>, </a:t>
            </a:r>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6A3E3E"/>
                </a:solidFill>
                <a:latin typeface="Consolas"/>
              </a:rPr>
              <a:t>h</a:t>
            </a:r>
            <a:r>
              <a:rPr lang="en-US" sz="2400" dirty="0">
                <a:solidFill>
                  <a:srgbClr val="000000"/>
                </a:solidFill>
                <a:latin typeface="Consolas"/>
              </a:rPr>
              <a:t>, </a:t>
            </a:r>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6A3E3E"/>
                </a:solidFill>
                <a:latin typeface="Consolas"/>
              </a:rPr>
              <a:t>d</a:t>
            </a:r>
            <a:r>
              <a:rPr lang="en-US" sz="2400" dirty="0">
                <a:solidFill>
                  <a:srgbClr val="000000"/>
                </a:solidFill>
                <a:latin typeface="Consolas"/>
              </a:rPr>
              <a:t>, </a:t>
            </a:r>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6A3E3E"/>
                </a:solidFill>
                <a:latin typeface="Consolas"/>
              </a:rPr>
              <a:t>m</a:t>
            </a:r>
            <a:r>
              <a:rPr lang="en-US" sz="2400" dirty="0">
                <a:solidFill>
                  <a:srgbClr val="000000"/>
                </a:solidFill>
                <a:latin typeface="Consolas"/>
              </a:rPr>
              <a:t>) {</a:t>
            </a:r>
          </a:p>
          <a:p>
            <a:r>
              <a:rPr lang="en-US" sz="2400" b="1" dirty="0">
                <a:solidFill>
                  <a:srgbClr val="7F0055"/>
                </a:solidFill>
                <a:latin typeface="Consolas"/>
              </a:rPr>
              <a:t>super</a:t>
            </a:r>
            <a:r>
              <a:rPr lang="en-US" sz="2400" dirty="0">
                <a:solidFill>
                  <a:srgbClr val="000000"/>
                </a:solidFill>
                <a:latin typeface="Consolas"/>
              </a:rPr>
              <a:t>(</a:t>
            </a:r>
            <a:r>
              <a:rPr lang="en-US" sz="2400" dirty="0">
                <a:solidFill>
                  <a:srgbClr val="6A3E3E"/>
                </a:solidFill>
                <a:latin typeface="Consolas"/>
              </a:rPr>
              <a:t>w</a:t>
            </a:r>
            <a:r>
              <a:rPr lang="en-US" sz="2400" dirty="0">
                <a:solidFill>
                  <a:srgbClr val="000000"/>
                </a:solidFill>
                <a:latin typeface="Consolas"/>
              </a:rPr>
              <a:t>, </a:t>
            </a:r>
            <a:r>
              <a:rPr lang="en-US" sz="2400" dirty="0">
                <a:solidFill>
                  <a:srgbClr val="6A3E3E"/>
                </a:solidFill>
                <a:latin typeface="Consolas"/>
              </a:rPr>
              <a:t>h</a:t>
            </a:r>
            <a:r>
              <a:rPr lang="en-US" sz="2400" dirty="0">
                <a:solidFill>
                  <a:srgbClr val="000000"/>
                </a:solidFill>
                <a:latin typeface="Consolas"/>
              </a:rPr>
              <a:t>, </a:t>
            </a:r>
            <a:r>
              <a:rPr lang="en-US" sz="2400" dirty="0">
                <a:solidFill>
                  <a:srgbClr val="6A3E3E"/>
                </a:solidFill>
                <a:latin typeface="Consolas"/>
              </a:rPr>
              <a:t>d</a:t>
            </a:r>
            <a:r>
              <a:rPr lang="en-US" sz="2400" dirty="0">
                <a:solidFill>
                  <a:srgbClr val="000000"/>
                </a:solidFill>
                <a:latin typeface="Consolas"/>
              </a:rPr>
              <a:t>); </a:t>
            </a:r>
          </a:p>
          <a:p>
            <a:r>
              <a:rPr lang="en-US" sz="2400" dirty="0">
                <a:solidFill>
                  <a:srgbClr val="0000C0"/>
                </a:solidFill>
                <a:latin typeface="Consolas"/>
              </a:rPr>
              <a:t>weight</a:t>
            </a:r>
            <a:r>
              <a:rPr lang="en-US" sz="2400" dirty="0">
                <a:solidFill>
                  <a:srgbClr val="000000"/>
                </a:solidFill>
                <a:latin typeface="Consolas"/>
              </a:rPr>
              <a:t> = </a:t>
            </a:r>
            <a:r>
              <a:rPr lang="en-US" sz="2400" dirty="0">
                <a:solidFill>
                  <a:srgbClr val="6A3E3E"/>
                </a:solidFill>
                <a:latin typeface="Consolas"/>
              </a:rPr>
              <a:t>m</a:t>
            </a:r>
            <a:r>
              <a:rPr lang="en-US" sz="2400" dirty="0" smtClean="0">
                <a:solidFill>
                  <a:srgbClr val="000000"/>
                </a:solidFill>
                <a:latin typeface="Consolas"/>
              </a:rPr>
              <a:t>;}}</a:t>
            </a:r>
            <a:endParaRPr lang="en-US" sz="2400" dirty="0">
              <a:solidFill>
                <a:srgbClr val="000000"/>
              </a:solidFill>
              <a:latin typeface="Consolas"/>
            </a:endParaRPr>
          </a:p>
          <a:p>
            <a:r>
              <a:rPr lang="en-US" sz="2400" b="1" dirty="0">
                <a:solidFill>
                  <a:srgbClr val="7F0055"/>
                </a:solidFill>
                <a:latin typeface="Consolas"/>
              </a:rPr>
              <a:t>public</a:t>
            </a:r>
            <a:r>
              <a:rPr lang="en-US" sz="2400" dirty="0">
                <a:solidFill>
                  <a:srgbClr val="000000"/>
                </a:solidFill>
                <a:latin typeface="Consolas"/>
              </a:rPr>
              <a:t> </a:t>
            </a:r>
            <a:r>
              <a:rPr lang="en-US" sz="2400" b="1" dirty="0">
                <a:solidFill>
                  <a:srgbClr val="7F0055"/>
                </a:solidFill>
                <a:latin typeface="Consolas"/>
              </a:rPr>
              <a:t>class</a:t>
            </a:r>
            <a:r>
              <a:rPr lang="en-US" sz="2400" dirty="0">
                <a:solidFill>
                  <a:srgbClr val="000000"/>
                </a:solidFill>
                <a:latin typeface="Consolas"/>
              </a:rPr>
              <a:t> super2{</a:t>
            </a:r>
          </a:p>
          <a:p>
            <a:r>
              <a:rPr lang="en-US" sz="2400" b="1" dirty="0">
                <a:solidFill>
                  <a:srgbClr val="7F0055"/>
                </a:solidFill>
                <a:latin typeface="Consolas"/>
              </a:rPr>
              <a:t>public</a:t>
            </a:r>
            <a:r>
              <a:rPr lang="en-US" sz="2400" dirty="0">
                <a:solidFill>
                  <a:srgbClr val="000000"/>
                </a:solidFill>
                <a:latin typeface="Consolas"/>
              </a:rPr>
              <a:t> </a:t>
            </a:r>
            <a:r>
              <a:rPr lang="en-US" sz="2400" b="1" dirty="0">
                <a:solidFill>
                  <a:srgbClr val="7F0055"/>
                </a:solidFill>
                <a:latin typeface="Consolas"/>
              </a:rPr>
              <a:t>static</a:t>
            </a:r>
            <a:r>
              <a:rPr lang="en-US" sz="2400" dirty="0">
                <a:solidFill>
                  <a:srgbClr val="000000"/>
                </a:solidFill>
                <a:latin typeface="Consolas"/>
              </a:rPr>
              <a:t> </a:t>
            </a:r>
            <a:r>
              <a:rPr lang="en-US" sz="2400" b="1" dirty="0">
                <a:solidFill>
                  <a:srgbClr val="7F0055"/>
                </a:solidFill>
                <a:latin typeface="Consolas"/>
              </a:rPr>
              <a:t>void</a:t>
            </a:r>
            <a:r>
              <a:rPr lang="en-US" sz="2400" dirty="0">
                <a:solidFill>
                  <a:srgbClr val="000000"/>
                </a:solidFill>
                <a:latin typeface="Consolas"/>
              </a:rPr>
              <a:t> main (String </a:t>
            </a:r>
            <a:r>
              <a:rPr lang="en-US" sz="2400" dirty="0">
                <a:solidFill>
                  <a:srgbClr val="6A3E3E"/>
                </a:solidFill>
                <a:latin typeface="Consolas"/>
              </a:rPr>
              <a:t>args</a:t>
            </a:r>
            <a:r>
              <a:rPr lang="en-US" sz="2400" dirty="0">
                <a:solidFill>
                  <a:srgbClr val="000000"/>
                </a:solidFill>
                <a:latin typeface="Consolas"/>
              </a:rPr>
              <a:t>[]) {</a:t>
            </a:r>
          </a:p>
          <a:p>
            <a:r>
              <a:rPr lang="en-US" sz="2400" dirty="0">
                <a:solidFill>
                  <a:srgbClr val="000000"/>
                </a:solidFill>
                <a:latin typeface="Consolas"/>
              </a:rPr>
              <a:t>Boxweight </a:t>
            </a:r>
            <a:r>
              <a:rPr lang="en-US" sz="2400" dirty="0">
                <a:solidFill>
                  <a:srgbClr val="6A3E3E"/>
                </a:solidFill>
                <a:latin typeface="Consolas"/>
              </a:rPr>
              <a:t>mybox1</a:t>
            </a:r>
            <a:r>
              <a:rPr lang="en-US" sz="2400" dirty="0">
                <a:solidFill>
                  <a:srgbClr val="000000"/>
                </a:solidFill>
                <a:latin typeface="Consolas"/>
              </a:rPr>
              <a:t> = </a:t>
            </a:r>
            <a:r>
              <a:rPr lang="en-US" sz="2400" b="1" dirty="0">
                <a:solidFill>
                  <a:srgbClr val="7F0055"/>
                </a:solidFill>
                <a:latin typeface="Consolas"/>
              </a:rPr>
              <a:t>new</a:t>
            </a:r>
            <a:r>
              <a:rPr lang="en-US" sz="2400" dirty="0">
                <a:solidFill>
                  <a:srgbClr val="000000"/>
                </a:solidFill>
                <a:latin typeface="Consolas"/>
              </a:rPr>
              <a:t> Boxweight(10, 20, 15, 34.3);</a:t>
            </a:r>
          </a:p>
          <a:p>
            <a:r>
              <a:rPr lang="en-US" sz="2400" b="1" dirty="0">
                <a:solidFill>
                  <a:srgbClr val="7F0055"/>
                </a:solidFill>
                <a:latin typeface="Consolas"/>
              </a:rPr>
              <a:t>double</a:t>
            </a:r>
            <a:r>
              <a:rPr lang="en-US" sz="2400" dirty="0">
                <a:solidFill>
                  <a:srgbClr val="000000"/>
                </a:solidFill>
                <a:latin typeface="Consolas"/>
              </a:rPr>
              <a:t> </a:t>
            </a:r>
            <a:r>
              <a:rPr lang="en-US" sz="2400" dirty="0" smtClean="0">
                <a:solidFill>
                  <a:srgbClr val="6A3E3E"/>
                </a:solidFill>
                <a:latin typeface="Consolas"/>
              </a:rPr>
              <a:t>vol</a:t>
            </a:r>
            <a:r>
              <a:rPr lang="en-US" sz="2400" dirty="0">
                <a:solidFill>
                  <a:srgbClr val="000000"/>
                </a:solidFill>
                <a:latin typeface="Consolas"/>
              </a:rPr>
              <a:t> </a:t>
            </a:r>
            <a:r>
              <a:rPr lang="en-US" sz="2400" dirty="0" smtClean="0">
                <a:solidFill>
                  <a:srgbClr val="000000"/>
                </a:solidFill>
                <a:latin typeface="Consolas"/>
              </a:rPr>
              <a:t>= </a:t>
            </a:r>
            <a:r>
              <a:rPr lang="en-US" sz="2400" dirty="0">
                <a:solidFill>
                  <a:srgbClr val="6A3E3E"/>
                </a:solidFill>
                <a:latin typeface="Consolas"/>
              </a:rPr>
              <a:t>mybox1</a:t>
            </a:r>
            <a:r>
              <a:rPr lang="en-US" sz="2400" dirty="0">
                <a:solidFill>
                  <a:srgbClr val="000000"/>
                </a:solidFill>
                <a:latin typeface="Consolas"/>
              </a:rPr>
              <a:t>.volume();</a:t>
            </a:r>
          </a:p>
          <a:p>
            <a:r>
              <a:rPr lang="en-US" sz="2400" dirty="0">
                <a:solidFill>
                  <a:srgbClr val="000000"/>
                </a:solidFill>
                <a:latin typeface="Consolas"/>
              </a:rPr>
              <a:t>System.</a:t>
            </a:r>
            <a:r>
              <a:rPr lang="en-US" sz="2400" b="1" i="1" dirty="0">
                <a:solidFill>
                  <a:srgbClr val="0000C0"/>
                </a:solidFill>
                <a:latin typeface="Consolas"/>
              </a:rPr>
              <a:t>out</a:t>
            </a:r>
            <a:r>
              <a:rPr lang="en-US" sz="2400" dirty="0">
                <a:solidFill>
                  <a:srgbClr val="000000"/>
                </a:solidFill>
                <a:latin typeface="Consolas"/>
              </a:rPr>
              <a:t>.println(</a:t>
            </a:r>
            <a:r>
              <a:rPr lang="en-US" sz="2400" dirty="0">
                <a:solidFill>
                  <a:srgbClr val="2A00FF"/>
                </a:solidFill>
                <a:latin typeface="Consolas"/>
              </a:rPr>
              <a:t>"Volume of mybox1 is "</a:t>
            </a:r>
            <a:r>
              <a:rPr lang="en-US" sz="2400" dirty="0">
                <a:solidFill>
                  <a:srgbClr val="000000"/>
                </a:solidFill>
                <a:latin typeface="Consolas"/>
              </a:rPr>
              <a:t> + </a:t>
            </a:r>
            <a:r>
              <a:rPr lang="en-US" sz="2400" dirty="0">
                <a:solidFill>
                  <a:srgbClr val="6A3E3E"/>
                </a:solidFill>
                <a:latin typeface="Consolas"/>
              </a:rPr>
              <a:t>vol</a:t>
            </a:r>
            <a:r>
              <a:rPr lang="en-US" sz="2400" dirty="0">
                <a:solidFill>
                  <a:srgbClr val="000000"/>
                </a:solidFill>
                <a:latin typeface="Consolas"/>
              </a:rPr>
              <a:t>);</a:t>
            </a:r>
          </a:p>
          <a:p>
            <a:r>
              <a:rPr lang="en-US" sz="2400" dirty="0">
                <a:solidFill>
                  <a:srgbClr val="000000"/>
                </a:solidFill>
                <a:latin typeface="Consolas"/>
              </a:rPr>
              <a:t>System.</a:t>
            </a:r>
            <a:r>
              <a:rPr lang="en-US" sz="2400" b="1" i="1" dirty="0">
                <a:solidFill>
                  <a:srgbClr val="0000C0"/>
                </a:solidFill>
                <a:latin typeface="Consolas"/>
              </a:rPr>
              <a:t>out</a:t>
            </a:r>
            <a:r>
              <a:rPr lang="en-US" sz="2400" dirty="0">
                <a:solidFill>
                  <a:srgbClr val="000000"/>
                </a:solidFill>
                <a:latin typeface="Consolas"/>
              </a:rPr>
              <a:t>.println(</a:t>
            </a:r>
            <a:r>
              <a:rPr lang="en-US" sz="2400" dirty="0">
                <a:solidFill>
                  <a:srgbClr val="2A00FF"/>
                </a:solidFill>
                <a:latin typeface="Consolas"/>
              </a:rPr>
              <a:t>"Weight of mybox1 is "</a:t>
            </a:r>
            <a:r>
              <a:rPr lang="en-US" sz="2400" dirty="0">
                <a:solidFill>
                  <a:srgbClr val="000000"/>
                </a:solidFill>
                <a:latin typeface="Consolas"/>
              </a:rPr>
              <a:t> + </a:t>
            </a:r>
            <a:r>
              <a:rPr lang="en-US" sz="2400" dirty="0">
                <a:solidFill>
                  <a:srgbClr val="6A3E3E"/>
                </a:solidFill>
                <a:latin typeface="Consolas"/>
              </a:rPr>
              <a:t>mybox1</a:t>
            </a:r>
            <a:r>
              <a:rPr lang="en-US" sz="2400" dirty="0">
                <a:solidFill>
                  <a:srgbClr val="000000"/>
                </a:solidFill>
                <a:latin typeface="Consolas"/>
              </a:rPr>
              <a:t>.</a:t>
            </a:r>
            <a:r>
              <a:rPr lang="en-US" sz="2400" dirty="0">
                <a:solidFill>
                  <a:srgbClr val="0000C0"/>
                </a:solidFill>
                <a:latin typeface="Consolas"/>
              </a:rPr>
              <a:t>weight</a:t>
            </a:r>
            <a:r>
              <a:rPr lang="en-US" sz="2400" dirty="0">
                <a:solidFill>
                  <a:srgbClr val="000000"/>
                </a:solidFill>
                <a:latin typeface="Consolas"/>
              </a:rPr>
              <a:t>);</a:t>
            </a:r>
          </a:p>
          <a:p>
            <a:r>
              <a:rPr lang="en-US" sz="2400" dirty="0">
                <a:solidFill>
                  <a:srgbClr val="000000"/>
                </a:solidFill>
                <a:latin typeface="Consolas"/>
              </a:rPr>
              <a:t>System.</a:t>
            </a:r>
            <a:r>
              <a:rPr lang="en-US" sz="2400" b="1" i="1" dirty="0">
                <a:solidFill>
                  <a:srgbClr val="0000C0"/>
                </a:solidFill>
                <a:latin typeface="Consolas"/>
              </a:rPr>
              <a:t>out</a:t>
            </a:r>
            <a:r>
              <a:rPr lang="en-US" sz="2400" dirty="0">
                <a:solidFill>
                  <a:srgbClr val="000000"/>
                </a:solidFill>
                <a:latin typeface="Consolas"/>
              </a:rPr>
              <a:t>.println</a:t>
            </a:r>
            <a:r>
              <a:rPr lang="en-US" sz="2400" dirty="0" smtClean="0">
                <a:solidFill>
                  <a:srgbClr val="000000"/>
                </a:solidFill>
                <a:latin typeface="Consolas"/>
              </a:rPr>
              <a:t>();}}</a:t>
            </a:r>
            <a:endParaRPr lang="en-US" sz="2400" dirty="0">
              <a:solidFill>
                <a:srgbClr val="000000"/>
              </a:solidFill>
              <a:latin typeface="Consolas"/>
            </a:endParaRPr>
          </a:p>
        </p:txBody>
      </p:sp>
      <p:sp>
        <p:nvSpPr>
          <p:cNvPr id="13" name="Rectangle 12"/>
          <p:cNvSpPr/>
          <p:nvPr/>
        </p:nvSpPr>
        <p:spPr>
          <a:xfrm>
            <a:off x="10844228" y="4533900"/>
            <a:ext cx="6781800" cy="212365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p:cNvSpPr/>
          <p:nvPr/>
        </p:nvSpPr>
        <p:spPr>
          <a:xfrm>
            <a:off x="10844228" y="4565319"/>
            <a:ext cx="6781800" cy="2123658"/>
          </a:xfrm>
          <a:prstGeom prst="rect">
            <a:avLst/>
          </a:prstGeom>
        </p:spPr>
        <p:txBody>
          <a:bodyPr wrap="square">
            <a:spAutoFit/>
          </a:bodyPr>
          <a:lstStyle/>
          <a:p>
            <a:r>
              <a:rPr lang="en-US" sz="4400" b="1" u="sng" dirty="0" smtClean="0"/>
              <a:t>OUTPUT –</a:t>
            </a:r>
          </a:p>
          <a:p>
            <a:r>
              <a:rPr lang="en-US" sz="4400" dirty="0" smtClean="0"/>
              <a:t>Volume </a:t>
            </a:r>
            <a:r>
              <a:rPr lang="en-US" sz="4400" dirty="0"/>
              <a:t>of mybox1 is 3000.0</a:t>
            </a:r>
          </a:p>
          <a:p>
            <a:r>
              <a:rPr lang="en-US" sz="4400" dirty="0"/>
              <a:t>Weight of mybox1 is 34.3</a:t>
            </a:r>
          </a:p>
        </p:txBody>
      </p:sp>
    </p:spTree>
    <p:extLst>
      <p:ext uri="{BB962C8B-B14F-4D97-AF65-F5344CB8AC3E}">
        <p14:creationId xmlns:p14="http://schemas.microsoft.com/office/powerpoint/2010/main" val="298577643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METHOD OVERIDDING </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142999" y="2634574"/>
            <a:ext cx="15537445" cy="610873"/>
          </a:xfrm>
          <a:prstGeom prst="rect">
            <a:avLst/>
          </a:prstGeom>
        </p:spPr>
        <p:txBody>
          <a:bodyPr wrap="square" lIns="0" tIns="0" rIns="0" bIns="0" rtlCol="0" anchor="t">
            <a:spAutoFit/>
          </a:bodyPr>
          <a:lstStyle/>
          <a:p>
            <a:pPr algn="ctr">
              <a:lnSpc>
                <a:spcPts val="5096"/>
              </a:lnSpc>
            </a:pPr>
            <a:r>
              <a:rPr lang="en-US" sz="3640" dirty="0" smtClean="0">
                <a:solidFill>
                  <a:srgbClr val="000000"/>
                </a:solidFill>
                <a:latin typeface="Century Gothic Paneuropean"/>
                <a:ea typeface="Century Gothic Paneuropean"/>
                <a:cs typeface="Century Gothic Paneuropean"/>
                <a:sym typeface="Century Gothic Paneuropean"/>
              </a:rPr>
              <a:t> </a:t>
            </a:r>
            <a:endParaRPr lang="en-US" sz="3640" dirty="0">
              <a:solidFill>
                <a:srgbClr val="000000"/>
              </a:solidFill>
              <a:latin typeface="Century Gothic Paneuropean"/>
              <a:ea typeface="Century Gothic Paneuropean"/>
              <a:cs typeface="Century Gothic Paneuropean"/>
              <a:sym typeface="Century Gothic Paneuropean"/>
            </a:endParaRPr>
          </a:p>
        </p:txBody>
      </p:sp>
      <p:sp>
        <p:nvSpPr>
          <p:cNvPr id="11" name="Rectangle 10"/>
          <p:cNvSpPr/>
          <p:nvPr/>
        </p:nvSpPr>
        <p:spPr>
          <a:xfrm>
            <a:off x="1014512" y="2418036"/>
            <a:ext cx="15665932" cy="7374326"/>
          </a:xfrm>
          <a:prstGeom prst="rect">
            <a:avLst/>
          </a:prstGeom>
        </p:spPr>
        <p:txBody>
          <a:bodyPr wrap="square">
            <a:spAutoFit/>
          </a:bodyPr>
          <a:lstStyle/>
          <a:p>
            <a:pPr marL="571500" indent="-571500">
              <a:buFont typeface="Arial" panose="020B0604020202020204" pitchFamily="34" charset="0"/>
              <a:buChar char="•"/>
            </a:pPr>
            <a:r>
              <a:rPr lang="en-US" sz="3640" dirty="0" smtClean="0">
                <a:solidFill>
                  <a:srgbClr val="000000"/>
                </a:solidFill>
                <a:latin typeface="Century Gothic Paneuropean"/>
                <a:ea typeface="Century Gothic Paneuropean"/>
                <a:cs typeface="Century Gothic Paneuropean"/>
                <a:sym typeface="Century Gothic Paneuropean"/>
              </a:rPr>
              <a:t>Method Overriding takes place when a subclass (child class) provides its own implementation or we can say have defined method as in superclass (parent class).</a:t>
            </a:r>
          </a:p>
          <a:p>
            <a:pPr marL="571500" indent="-571500">
              <a:buFont typeface="Arial" panose="020B0604020202020204" pitchFamily="34" charset="0"/>
              <a:buChar char="•"/>
            </a:pPr>
            <a:r>
              <a:rPr lang="en-US" sz="3640" dirty="0" smtClean="0">
                <a:solidFill>
                  <a:srgbClr val="000000"/>
                </a:solidFill>
                <a:latin typeface="Century Gothic Paneuropean"/>
                <a:ea typeface="Century Gothic Paneuropean"/>
                <a:cs typeface="Century Gothic Paneuropean"/>
                <a:sym typeface="Century Gothic Paneuropean"/>
              </a:rPr>
              <a:t>By same method , it means a method having same signature in both superclass and subclass.</a:t>
            </a:r>
          </a:p>
          <a:p>
            <a:pPr marL="571500" indent="-571500">
              <a:buFont typeface="Arial" panose="020B0604020202020204" pitchFamily="34" charset="0"/>
              <a:buChar char="•"/>
            </a:pPr>
            <a:r>
              <a:rPr lang="en-US" sz="3640" dirty="0" smtClean="0">
                <a:solidFill>
                  <a:srgbClr val="000000"/>
                </a:solidFill>
                <a:latin typeface="Century Gothic Paneuropean"/>
                <a:ea typeface="Century Gothic Paneuropean"/>
                <a:cs typeface="Century Gothic Paneuropean"/>
                <a:sym typeface="Century Gothic Paneuropean"/>
              </a:rPr>
              <a:t>Method Signature is defined by –</a:t>
            </a:r>
          </a:p>
          <a:p>
            <a:pPr marL="1485900" lvl="2" indent="-571500">
              <a:buFont typeface="Wingdings" panose="05000000000000000000" pitchFamily="2" charset="2"/>
              <a:buChar char="q"/>
            </a:pPr>
            <a:r>
              <a:rPr lang="en-US" sz="3640" dirty="0" smtClean="0">
                <a:solidFill>
                  <a:srgbClr val="000000"/>
                </a:solidFill>
                <a:latin typeface="Century Gothic Paneuropean"/>
                <a:ea typeface="Century Gothic Paneuropean"/>
                <a:cs typeface="Century Gothic Paneuropean"/>
                <a:sym typeface="Century Gothic Paneuropean"/>
              </a:rPr>
              <a:t>Method Name</a:t>
            </a:r>
          </a:p>
          <a:p>
            <a:pPr marL="1485900" lvl="2" indent="-571500">
              <a:buFont typeface="Wingdings" panose="05000000000000000000" pitchFamily="2" charset="2"/>
              <a:buChar char="q"/>
            </a:pPr>
            <a:r>
              <a:rPr lang="en-US" sz="3640" dirty="0" smtClean="0">
                <a:solidFill>
                  <a:srgbClr val="000000"/>
                </a:solidFill>
                <a:latin typeface="Century Gothic Paneuropean"/>
                <a:ea typeface="Century Gothic Paneuropean"/>
                <a:cs typeface="Century Gothic Paneuropean"/>
                <a:sym typeface="Century Gothic Paneuropean"/>
              </a:rPr>
              <a:t>Parameter List (number of parameters, datatype of parameter and order of parameters)</a:t>
            </a:r>
          </a:p>
          <a:p>
            <a:pPr marL="1485900" lvl="2" indent="-571500">
              <a:buFont typeface="Wingdings" panose="05000000000000000000" pitchFamily="2" charset="2"/>
              <a:buChar char="q"/>
            </a:pPr>
            <a:r>
              <a:rPr lang="en-US" sz="3640" dirty="0" smtClean="0">
                <a:solidFill>
                  <a:srgbClr val="000000"/>
                </a:solidFill>
                <a:latin typeface="Century Gothic Paneuropean"/>
                <a:ea typeface="Century Gothic Paneuropean"/>
                <a:cs typeface="Century Gothic Paneuropean"/>
                <a:sym typeface="Century Gothic Paneuropean"/>
              </a:rPr>
              <a:t>Return Type and Access Modifiers are not parts of method signature, but return type should also be same.</a:t>
            </a:r>
          </a:p>
          <a:p>
            <a:pPr marL="1485900" lvl="2" indent="-571500">
              <a:buFont typeface="Wingdings" panose="05000000000000000000" pitchFamily="2" charset="2"/>
              <a:buChar char="q"/>
            </a:pPr>
            <a:r>
              <a:rPr lang="en-US" sz="3640" dirty="0" smtClean="0">
                <a:solidFill>
                  <a:srgbClr val="000000"/>
                </a:solidFill>
                <a:latin typeface="Century Gothic Paneuropean"/>
                <a:ea typeface="Century Gothic Paneuropean"/>
                <a:cs typeface="Century Gothic Paneuropean"/>
                <a:sym typeface="Century Gothic Paneuropean"/>
              </a:rPr>
              <a:t>All 3 (number, datatype and order) has to be same for same method signature.</a:t>
            </a:r>
          </a:p>
        </p:txBody>
      </p:sp>
    </p:spTree>
    <p:extLst>
      <p:ext uri="{BB962C8B-B14F-4D97-AF65-F5344CB8AC3E}">
        <p14:creationId xmlns:p14="http://schemas.microsoft.com/office/powerpoint/2010/main" val="71645131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495193"/>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5" y="266700"/>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METHOD OVERIDDING </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142999" y="2634574"/>
            <a:ext cx="15537445" cy="610873"/>
          </a:xfrm>
          <a:prstGeom prst="rect">
            <a:avLst/>
          </a:prstGeom>
        </p:spPr>
        <p:txBody>
          <a:bodyPr wrap="square" lIns="0" tIns="0" rIns="0" bIns="0" rtlCol="0" anchor="t">
            <a:spAutoFit/>
          </a:bodyPr>
          <a:lstStyle/>
          <a:p>
            <a:pPr algn="ctr">
              <a:lnSpc>
                <a:spcPts val="5096"/>
              </a:lnSpc>
            </a:pPr>
            <a:r>
              <a:rPr lang="en-US" sz="3640" dirty="0" smtClean="0">
                <a:solidFill>
                  <a:srgbClr val="000000"/>
                </a:solidFill>
                <a:latin typeface="Century Gothic Paneuropean"/>
                <a:ea typeface="Century Gothic Paneuropean"/>
                <a:cs typeface="Century Gothic Paneuropean"/>
                <a:sym typeface="Century Gothic Paneuropean"/>
              </a:rPr>
              <a:t> </a:t>
            </a:r>
            <a:endParaRPr lang="en-US" sz="3640" dirty="0">
              <a:solidFill>
                <a:srgbClr val="000000"/>
              </a:solidFill>
              <a:latin typeface="Century Gothic Paneuropean"/>
              <a:ea typeface="Century Gothic Paneuropean"/>
              <a:cs typeface="Century Gothic Paneuropean"/>
              <a:sym typeface="Century Gothic Paneuropean"/>
            </a:endParaRPr>
          </a:p>
        </p:txBody>
      </p:sp>
      <p:sp>
        <p:nvSpPr>
          <p:cNvPr id="11" name="Rectangle 10"/>
          <p:cNvSpPr/>
          <p:nvPr/>
        </p:nvSpPr>
        <p:spPr>
          <a:xfrm>
            <a:off x="983708" y="1649744"/>
            <a:ext cx="10446292" cy="8586966"/>
          </a:xfrm>
          <a:prstGeom prst="rect">
            <a:avLst/>
          </a:prstGeom>
        </p:spPr>
        <p:txBody>
          <a:bodyPr wrap="square">
            <a:spAutoFit/>
          </a:bodyPr>
          <a:lstStyle/>
          <a:p>
            <a:r>
              <a:rPr lang="en-US" sz="2400" b="1" dirty="0">
                <a:solidFill>
                  <a:srgbClr val="7F0055"/>
                </a:solidFill>
                <a:latin typeface="Consolas"/>
              </a:rPr>
              <a:t>class</a:t>
            </a:r>
            <a:r>
              <a:rPr lang="en-US" sz="2400" dirty="0">
                <a:solidFill>
                  <a:srgbClr val="000000"/>
                </a:solidFill>
                <a:latin typeface="Consolas"/>
              </a:rPr>
              <a:t> BoX{</a:t>
            </a:r>
          </a:p>
          <a:p>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0000C0"/>
                </a:solidFill>
                <a:latin typeface="Consolas"/>
              </a:rPr>
              <a:t>width</a:t>
            </a:r>
            <a:r>
              <a:rPr lang="en-US" sz="2400" dirty="0">
                <a:solidFill>
                  <a:srgbClr val="000000"/>
                </a:solidFill>
                <a:latin typeface="Consolas"/>
              </a:rPr>
              <a:t>;</a:t>
            </a:r>
          </a:p>
          <a:p>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0000C0"/>
                </a:solidFill>
                <a:latin typeface="Consolas"/>
              </a:rPr>
              <a:t>height</a:t>
            </a:r>
            <a:r>
              <a:rPr lang="en-US" sz="2400" dirty="0">
                <a:solidFill>
                  <a:srgbClr val="000000"/>
                </a:solidFill>
                <a:latin typeface="Consolas"/>
              </a:rPr>
              <a:t>;</a:t>
            </a:r>
          </a:p>
          <a:p>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0000C0"/>
                </a:solidFill>
                <a:latin typeface="Consolas"/>
              </a:rPr>
              <a:t>depth</a:t>
            </a:r>
            <a:r>
              <a:rPr lang="en-US" sz="2400" dirty="0">
                <a:solidFill>
                  <a:srgbClr val="000000"/>
                </a:solidFill>
                <a:latin typeface="Consolas"/>
              </a:rPr>
              <a:t>;</a:t>
            </a:r>
          </a:p>
          <a:p>
            <a:r>
              <a:rPr lang="en-US" sz="2400" dirty="0">
                <a:solidFill>
                  <a:srgbClr val="000000"/>
                </a:solidFill>
                <a:latin typeface="Consolas"/>
              </a:rPr>
              <a:t>BoX(</a:t>
            </a:r>
            <a:r>
              <a:rPr lang="en-US" sz="2400" b="1" dirty="0">
                <a:solidFill>
                  <a:srgbClr val="7F0055"/>
                </a:solidFill>
                <a:latin typeface="Consolas"/>
              </a:rPr>
              <a:t>int</a:t>
            </a:r>
            <a:r>
              <a:rPr lang="en-US" sz="2400" dirty="0">
                <a:solidFill>
                  <a:srgbClr val="000000"/>
                </a:solidFill>
                <a:latin typeface="Consolas"/>
              </a:rPr>
              <a:t> </a:t>
            </a:r>
            <a:r>
              <a:rPr lang="en-US" sz="2400" dirty="0">
                <a:solidFill>
                  <a:srgbClr val="6A3E3E"/>
                </a:solidFill>
                <a:latin typeface="Consolas"/>
              </a:rPr>
              <a:t>a</a:t>
            </a:r>
            <a:r>
              <a:rPr lang="en-US" sz="2400" dirty="0">
                <a:solidFill>
                  <a:srgbClr val="000000"/>
                </a:solidFill>
                <a:latin typeface="Consolas"/>
              </a:rPr>
              <a:t>, </a:t>
            </a:r>
            <a:r>
              <a:rPr lang="en-US" sz="2400" b="1" dirty="0">
                <a:solidFill>
                  <a:srgbClr val="7F0055"/>
                </a:solidFill>
                <a:latin typeface="Consolas"/>
              </a:rPr>
              <a:t>int</a:t>
            </a:r>
            <a:r>
              <a:rPr lang="en-US" sz="2400" dirty="0">
                <a:solidFill>
                  <a:srgbClr val="000000"/>
                </a:solidFill>
                <a:latin typeface="Consolas"/>
              </a:rPr>
              <a:t> </a:t>
            </a:r>
            <a:r>
              <a:rPr lang="en-US" sz="2400" dirty="0">
                <a:solidFill>
                  <a:srgbClr val="6A3E3E"/>
                </a:solidFill>
                <a:latin typeface="Consolas"/>
              </a:rPr>
              <a:t>b</a:t>
            </a:r>
            <a:r>
              <a:rPr lang="en-US" sz="2400" dirty="0">
                <a:solidFill>
                  <a:srgbClr val="000000"/>
                </a:solidFill>
                <a:latin typeface="Consolas"/>
              </a:rPr>
              <a:t>) {</a:t>
            </a:r>
          </a:p>
          <a:p>
            <a:r>
              <a:rPr lang="en-US" sz="2400" dirty="0">
                <a:solidFill>
                  <a:srgbClr val="0000C0"/>
                </a:solidFill>
                <a:latin typeface="Consolas"/>
              </a:rPr>
              <a:t>width</a:t>
            </a:r>
            <a:r>
              <a:rPr lang="en-US" sz="2400" dirty="0">
                <a:solidFill>
                  <a:srgbClr val="000000"/>
                </a:solidFill>
                <a:latin typeface="Consolas"/>
              </a:rPr>
              <a:t> = </a:t>
            </a:r>
            <a:r>
              <a:rPr lang="en-US" sz="2400" dirty="0">
                <a:solidFill>
                  <a:srgbClr val="6A3E3E"/>
                </a:solidFill>
                <a:latin typeface="Consolas"/>
              </a:rPr>
              <a:t>a</a:t>
            </a:r>
            <a:r>
              <a:rPr lang="en-US" sz="2400" dirty="0">
                <a:solidFill>
                  <a:srgbClr val="000000"/>
                </a:solidFill>
                <a:latin typeface="Consolas"/>
              </a:rPr>
              <a:t>;</a:t>
            </a:r>
          </a:p>
          <a:p>
            <a:r>
              <a:rPr lang="en-US" sz="2400" dirty="0">
                <a:solidFill>
                  <a:srgbClr val="0000C0"/>
                </a:solidFill>
                <a:latin typeface="Consolas"/>
              </a:rPr>
              <a:t>height</a:t>
            </a:r>
            <a:r>
              <a:rPr lang="en-US" sz="2400" dirty="0">
                <a:solidFill>
                  <a:srgbClr val="000000"/>
                </a:solidFill>
                <a:latin typeface="Consolas"/>
              </a:rPr>
              <a:t> = </a:t>
            </a:r>
            <a:r>
              <a:rPr lang="en-US" sz="2400" dirty="0">
                <a:solidFill>
                  <a:srgbClr val="6A3E3E"/>
                </a:solidFill>
                <a:latin typeface="Consolas"/>
              </a:rPr>
              <a:t>b</a:t>
            </a:r>
            <a:r>
              <a:rPr lang="en-US" sz="2400" dirty="0">
                <a:solidFill>
                  <a:srgbClr val="000000"/>
                </a:solidFill>
                <a:latin typeface="Consolas"/>
              </a:rPr>
              <a:t>;}</a:t>
            </a:r>
          </a:p>
          <a:p>
            <a:r>
              <a:rPr lang="en-US" sz="2400" b="1" dirty="0">
                <a:solidFill>
                  <a:srgbClr val="7F0055"/>
                </a:solidFill>
                <a:latin typeface="Consolas"/>
              </a:rPr>
              <a:t>double</a:t>
            </a:r>
            <a:r>
              <a:rPr lang="en-US" sz="2400" dirty="0">
                <a:solidFill>
                  <a:srgbClr val="000000"/>
                </a:solidFill>
                <a:latin typeface="Consolas"/>
              </a:rPr>
              <a:t> vol() {</a:t>
            </a:r>
          </a:p>
          <a:p>
            <a:r>
              <a:rPr lang="en-US" sz="2400" b="1" dirty="0">
                <a:solidFill>
                  <a:srgbClr val="7F0055"/>
                </a:solidFill>
                <a:latin typeface="Consolas"/>
              </a:rPr>
              <a:t>return</a:t>
            </a:r>
            <a:r>
              <a:rPr lang="en-US" sz="2400" dirty="0">
                <a:solidFill>
                  <a:srgbClr val="000000"/>
                </a:solidFill>
                <a:latin typeface="Consolas"/>
              </a:rPr>
              <a:t> </a:t>
            </a:r>
            <a:r>
              <a:rPr lang="en-US" sz="2400" dirty="0">
                <a:solidFill>
                  <a:srgbClr val="0000C0"/>
                </a:solidFill>
                <a:latin typeface="Consolas"/>
              </a:rPr>
              <a:t>width</a:t>
            </a:r>
            <a:r>
              <a:rPr lang="en-US" sz="2400" dirty="0">
                <a:solidFill>
                  <a:srgbClr val="000000"/>
                </a:solidFill>
                <a:latin typeface="Consolas"/>
              </a:rPr>
              <a:t>*</a:t>
            </a:r>
            <a:r>
              <a:rPr lang="en-US" sz="2400" dirty="0">
                <a:solidFill>
                  <a:srgbClr val="0000C0"/>
                </a:solidFill>
                <a:latin typeface="Consolas"/>
              </a:rPr>
              <a:t>height</a:t>
            </a:r>
            <a:r>
              <a:rPr lang="en-US" sz="2400" dirty="0">
                <a:solidFill>
                  <a:srgbClr val="000000"/>
                </a:solidFill>
                <a:latin typeface="Consolas"/>
              </a:rPr>
              <a:t>;}}</a:t>
            </a:r>
          </a:p>
          <a:p>
            <a:r>
              <a:rPr lang="en-US" sz="2400" b="1" dirty="0">
                <a:solidFill>
                  <a:srgbClr val="7F0055"/>
                </a:solidFill>
                <a:latin typeface="Consolas"/>
              </a:rPr>
              <a:t>class</a:t>
            </a:r>
            <a:r>
              <a:rPr lang="en-US" sz="2400" dirty="0">
                <a:solidFill>
                  <a:srgbClr val="000000"/>
                </a:solidFill>
                <a:latin typeface="Consolas"/>
              </a:rPr>
              <a:t> BoxWeight </a:t>
            </a:r>
            <a:r>
              <a:rPr lang="en-US" sz="2400" b="1" dirty="0">
                <a:solidFill>
                  <a:srgbClr val="7F0055"/>
                </a:solidFill>
                <a:latin typeface="Consolas"/>
              </a:rPr>
              <a:t>extends</a:t>
            </a:r>
            <a:r>
              <a:rPr lang="en-US" sz="2400" dirty="0">
                <a:solidFill>
                  <a:srgbClr val="000000"/>
                </a:solidFill>
                <a:latin typeface="Consolas"/>
              </a:rPr>
              <a:t> BoX{</a:t>
            </a:r>
          </a:p>
          <a:p>
            <a:r>
              <a:rPr lang="en-US" sz="2400" dirty="0">
                <a:solidFill>
                  <a:srgbClr val="000000"/>
                </a:solidFill>
                <a:latin typeface="Consolas"/>
              </a:rPr>
              <a:t>BoxWeight(</a:t>
            </a:r>
            <a:r>
              <a:rPr lang="en-US" sz="2400" b="1" dirty="0">
                <a:solidFill>
                  <a:srgbClr val="7F0055"/>
                </a:solidFill>
                <a:latin typeface="Consolas"/>
              </a:rPr>
              <a:t>int</a:t>
            </a:r>
            <a:r>
              <a:rPr lang="en-US" sz="2400" dirty="0">
                <a:solidFill>
                  <a:srgbClr val="000000"/>
                </a:solidFill>
                <a:latin typeface="Consolas"/>
              </a:rPr>
              <a:t> </a:t>
            </a:r>
            <a:r>
              <a:rPr lang="en-US" sz="2400" dirty="0">
                <a:solidFill>
                  <a:srgbClr val="6A3E3E"/>
                </a:solidFill>
                <a:latin typeface="Consolas"/>
              </a:rPr>
              <a:t>a</a:t>
            </a:r>
            <a:r>
              <a:rPr lang="en-US" sz="2400" dirty="0">
                <a:solidFill>
                  <a:srgbClr val="000000"/>
                </a:solidFill>
                <a:latin typeface="Consolas"/>
              </a:rPr>
              <a:t>, </a:t>
            </a:r>
            <a:r>
              <a:rPr lang="en-US" sz="2400" b="1" dirty="0">
                <a:solidFill>
                  <a:srgbClr val="7F0055"/>
                </a:solidFill>
                <a:latin typeface="Consolas"/>
              </a:rPr>
              <a:t>int</a:t>
            </a:r>
            <a:r>
              <a:rPr lang="en-US" sz="2400" dirty="0">
                <a:solidFill>
                  <a:srgbClr val="000000"/>
                </a:solidFill>
                <a:latin typeface="Consolas"/>
              </a:rPr>
              <a:t> </a:t>
            </a:r>
            <a:r>
              <a:rPr lang="en-US" sz="2400" dirty="0">
                <a:solidFill>
                  <a:srgbClr val="6A3E3E"/>
                </a:solidFill>
                <a:latin typeface="Consolas"/>
              </a:rPr>
              <a:t>b</a:t>
            </a:r>
            <a:r>
              <a:rPr lang="en-US" sz="2400" dirty="0">
                <a:solidFill>
                  <a:srgbClr val="000000"/>
                </a:solidFill>
                <a:latin typeface="Consolas"/>
              </a:rPr>
              <a:t>, </a:t>
            </a:r>
            <a:r>
              <a:rPr lang="en-US" sz="2400" b="1" dirty="0">
                <a:solidFill>
                  <a:srgbClr val="7F0055"/>
                </a:solidFill>
                <a:latin typeface="Consolas"/>
              </a:rPr>
              <a:t>int</a:t>
            </a:r>
            <a:r>
              <a:rPr lang="en-US" sz="2400" dirty="0">
                <a:solidFill>
                  <a:srgbClr val="000000"/>
                </a:solidFill>
                <a:latin typeface="Consolas"/>
              </a:rPr>
              <a:t> </a:t>
            </a:r>
            <a:r>
              <a:rPr lang="en-US" sz="2400" dirty="0">
                <a:solidFill>
                  <a:srgbClr val="6A3E3E"/>
                </a:solidFill>
                <a:latin typeface="Consolas"/>
              </a:rPr>
              <a:t>c</a:t>
            </a:r>
            <a:r>
              <a:rPr lang="en-US" sz="2400" dirty="0">
                <a:solidFill>
                  <a:srgbClr val="000000"/>
                </a:solidFill>
                <a:latin typeface="Consolas"/>
              </a:rPr>
              <a:t>) {</a:t>
            </a:r>
          </a:p>
          <a:p>
            <a:r>
              <a:rPr lang="en-US" sz="2400" b="1" dirty="0">
                <a:solidFill>
                  <a:srgbClr val="7F0055"/>
                </a:solidFill>
                <a:latin typeface="Consolas"/>
              </a:rPr>
              <a:t>super</a:t>
            </a:r>
            <a:r>
              <a:rPr lang="en-US" sz="2400" dirty="0">
                <a:solidFill>
                  <a:srgbClr val="000000"/>
                </a:solidFill>
                <a:latin typeface="Consolas"/>
              </a:rPr>
              <a:t>(</a:t>
            </a:r>
            <a:r>
              <a:rPr lang="en-US" sz="2400" dirty="0">
                <a:solidFill>
                  <a:srgbClr val="6A3E3E"/>
                </a:solidFill>
                <a:latin typeface="Consolas"/>
              </a:rPr>
              <a:t>a</a:t>
            </a:r>
            <a:r>
              <a:rPr lang="en-US" sz="2400" dirty="0">
                <a:solidFill>
                  <a:srgbClr val="000000"/>
                </a:solidFill>
                <a:latin typeface="Consolas"/>
              </a:rPr>
              <a:t>, </a:t>
            </a:r>
            <a:r>
              <a:rPr lang="en-US" sz="2400" dirty="0">
                <a:solidFill>
                  <a:srgbClr val="6A3E3E"/>
                </a:solidFill>
                <a:latin typeface="Consolas"/>
              </a:rPr>
              <a:t>b</a:t>
            </a:r>
            <a:r>
              <a:rPr lang="en-US" sz="2400" dirty="0">
                <a:solidFill>
                  <a:srgbClr val="000000"/>
                </a:solidFill>
                <a:latin typeface="Consolas"/>
              </a:rPr>
              <a:t>);</a:t>
            </a:r>
          </a:p>
          <a:p>
            <a:r>
              <a:rPr lang="en-US" sz="2400" dirty="0">
                <a:solidFill>
                  <a:srgbClr val="0000C0"/>
                </a:solidFill>
                <a:latin typeface="Consolas"/>
              </a:rPr>
              <a:t>depth</a:t>
            </a:r>
            <a:r>
              <a:rPr lang="en-US" sz="2400" dirty="0">
                <a:solidFill>
                  <a:srgbClr val="000000"/>
                </a:solidFill>
                <a:latin typeface="Consolas"/>
              </a:rPr>
              <a:t>=</a:t>
            </a:r>
            <a:r>
              <a:rPr lang="en-US" sz="2400" dirty="0">
                <a:solidFill>
                  <a:srgbClr val="6A3E3E"/>
                </a:solidFill>
                <a:latin typeface="Consolas"/>
              </a:rPr>
              <a:t>c</a:t>
            </a:r>
            <a:r>
              <a:rPr lang="en-US" sz="2400" dirty="0">
                <a:solidFill>
                  <a:srgbClr val="000000"/>
                </a:solidFill>
                <a:latin typeface="Consolas"/>
              </a:rPr>
              <a:t>;}</a:t>
            </a:r>
          </a:p>
          <a:p>
            <a:r>
              <a:rPr lang="en-US" sz="2400" b="1" dirty="0">
                <a:solidFill>
                  <a:srgbClr val="7F0055"/>
                </a:solidFill>
                <a:latin typeface="Consolas"/>
              </a:rPr>
              <a:t>double</a:t>
            </a:r>
            <a:r>
              <a:rPr lang="en-US" sz="2400" dirty="0">
                <a:solidFill>
                  <a:srgbClr val="000000"/>
                </a:solidFill>
                <a:latin typeface="Consolas"/>
              </a:rPr>
              <a:t> vol() {</a:t>
            </a:r>
          </a:p>
          <a:p>
            <a:r>
              <a:rPr lang="en-US" sz="2400" b="1" dirty="0">
                <a:solidFill>
                  <a:srgbClr val="7F0055"/>
                </a:solidFill>
                <a:latin typeface="Consolas"/>
              </a:rPr>
              <a:t>return</a:t>
            </a:r>
            <a:r>
              <a:rPr lang="en-US" sz="2400" dirty="0">
                <a:solidFill>
                  <a:srgbClr val="000000"/>
                </a:solidFill>
                <a:latin typeface="Consolas"/>
              </a:rPr>
              <a:t> </a:t>
            </a:r>
            <a:r>
              <a:rPr lang="en-US" sz="2400" dirty="0">
                <a:solidFill>
                  <a:srgbClr val="0000C0"/>
                </a:solidFill>
                <a:latin typeface="Consolas"/>
              </a:rPr>
              <a:t>width</a:t>
            </a:r>
            <a:r>
              <a:rPr lang="en-US" sz="2400" dirty="0">
                <a:solidFill>
                  <a:srgbClr val="000000"/>
                </a:solidFill>
                <a:latin typeface="Consolas"/>
              </a:rPr>
              <a:t>*</a:t>
            </a:r>
            <a:r>
              <a:rPr lang="en-US" sz="2400" dirty="0">
                <a:solidFill>
                  <a:srgbClr val="0000C0"/>
                </a:solidFill>
                <a:latin typeface="Consolas"/>
              </a:rPr>
              <a:t>height</a:t>
            </a:r>
            <a:r>
              <a:rPr lang="en-US" sz="2400" dirty="0">
                <a:solidFill>
                  <a:srgbClr val="000000"/>
                </a:solidFill>
                <a:latin typeface="Consolas"/>
              </a:rPr>
              <a:t>*</a:t>
            </a:r>
            <a:r>
              <a:rPr lang="en-US" sz="2400" dirty="0">
                <a:solidFill>
                  <a:srgbClr val="0000C0"/>
                </a:solidFill>
                <a:latin typeface="Consolas"/>
              </a:rPr>
              <a:t>depth</a:t>
            </a:r>
            <a:r>
              <a:rPr lang="en-US" sz="2400" dirty="0">
                <a:solidFill>
                  <a:srgbClr val="000000"/>
                </a:solidFill>
                <a:latin typeface="Consolas"/>
              </a:rPr>
              <a:t>;}}</a:t>
            </a:r>
          </a:p>
          <a:p>
            <a:r>
              <a:rPr lang="en-US" sz="2400" b="1" dirty="0">
                <a:solidFill>
                  <a:srgbClr val="7F0055"/>
                </a:solidFill>
                <a:latin typeface="Consolas"/>
              </a:rPr>
              <a:t>public</a:t>
            </a:r>
            <a:r>
              <a:rPr lang="en-US" sz="2400" dirty="0">
                <a:solidFill>
                  <a:srgbClr val="000000"/>
                </a:solidFill>
                <a:latin typeface="Consolas"/>
              </a:rPr>
              <a:t> </a:t>
            </a:r>
            <a:r>
              <a:rPr lang="en-US" sz="2400" b="1" dirty="0">
                <a:solidFill>
                  <a:srgbClr val="7F0055"/>
                </a:solidFill>
                <a:latin typeface="Consolas"/>
              </a:rPr>
              <a:t>class</a:t>
            </a:r>
            <a:r>
              <a:rPr lang="en-US" sz="2400" dirty="0">
                <a:solidFill>
                  <a:srgbClr val="000000"/>
                </a:solidFill>
                <a:latin typeface="Consolas"/>
              </a:rPr>
              <a:t> methodoveriding {</a:t>
            </a:r>
          </a:p>
          <a:p>
            <a:r>
              <a:rPr lang="en-US" sz="2400" b="1" dirty="0">
                <a:solidFill>
                  <a:srgbClr val="7F0055"/>
                </a:solidFill>
                <a:latin typeface="Consolas"/>
              </a:rPr>
              <a:t>public</a:t>
            </a:r>
            <a:r>
              <a:rPr lang="en-US" sz="2400" dirty="0">
                <a:solidFill>
                  <a:srgbClr val="000000"/>
                </a:solidFill>
                <a:latin typeface="Consolas"/>
              </a:rPr>
              <a:t> </a:t>
            </a:r>
            <a:r>
              <a:rPr lang="en-US" sz="2400" b="1" dirty="0">
                <a:solidFill>
                  <a:srgbClr val="7F0055"/>
                </a:solidFill>
                <a:latin typeface="Consolas"/>
              </a:rPr>
              <a:t>static</a:t>
            </a:r>
            <a:r>
              <a:rPr lang="en-US" sz="2400" dirty="0">
                <a:solidFill>
                  <a:srgbClr val="000000"/>
                </a:solidFill>
                <a:latin typeface="Consolas"/>
              </a:rPr>
              <a:t> </a:t>
            </a:r>
            <a:r>
              <a:rPr lang="en-US" sz="2400" b="1" dirty="0">
                <a:solidFill>
                  <a:srgbClr val="7F0055"/>
                </a:solidFill>
                <a:latin typeface="Consolas"/>
              </a:rPr>
              <a:t>void</a:t>
            </a:r>
            <a:r>
              <a:rPr lang="en-US" sz="2400" dirty="0">
                <a:solidFill>
                  <a:srgbClr val="000000"/>
                </a:solidFill>
                <a:latin typeface="Consolas"/>
              </a:rPr>
              <a:t> main(String[] </a:t>
            </a:r>
            <a:r>
              <a:rPr lang="en-US" sz="2400" dirty="0">
                <a:solidFill>
                  <a:srgbClr val="6A3E3E"/>
                </a:solidFill>
                <a:latin typeface="Consolas"/>
              </a:rPr>
              <a:t>args</a:t>
            </a:r>
            <a:r>
              <a:rPr lang="en-US" sz="2400" dirty="0">
                <a:solidFill>
                  <a:srgbClr val="000000"/>
                </a:solidFill>
                <a:latin typeface="Consolas"/>
              </a:rPr>
              <a:t>) {</a:t>
            </a:r>
          </a:p>
          <a:p>
            <a:r>
              <a:rPr lang="en-US" sz="2400" dirty="0">
                <a:solidFill>
                  <a:srgbClr val="000000"/>
                </a:solidFill>
                <a:latin typeface="Consolas"/>
              </a:rPr>
              <a:t>BoX </a:t>
            </a:r>
            <a:r>
              <a:rPr lang="en-US" sz="2400" dirty="0">
                <a:solidFill>
                  <a:srgbClr val="6A3E3E"/>
                </a:solidFill>
                <a:latin typeface="Consolas"/>
              </a:rPr>
              <a:t>obj11</a:t>
            </a:r>
            <a:r>
              <a:rPr lang="en-US" sz="2400" dirty="0">
                <a:solidFill>
                  <a:srgbClr val="000000"/>
                </a:solidFill>
                <a:latin typeface="Consolas"/>
              </a:rPr>
              <a:t> = </a:t>
            </a:r>
            <a:r>
              <a:rPr lang="en-US" sz="2400" b="1" dirty="0">
                <a:solidFill>
                  <a:srgbClr val="7F0055"/>
                </a:solidFill>
                <a:latin typeface="Consolas"/>
              </a:rPr>
              <a:t>new</a:t>
            </a:r>
            <a:r>
              <a:rPr lang="en-US" sz="2400" dirty="0">
                <a:solidFill>
                  <a:srgbClr val="000000"/>
                </a:solidFill>
                <a:latin typeface="Consolas"/>
              </a:rPr>
              <a:t> BoX(10,20);</a:t>
            </a:r>
          </a:p>
          <a:p>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6A3E3E"/>
                </a:solidFill>
                <a:latin typeface="Consolas"/>
              </a:rPr>
              <a:t>volvalue11</a:t>
            </a:r>
            <a:r>
              <a:rPr lang="en-US" sz="2400" dirty="0">
                <a:solidFill>
                  <a:srgbClr val="000000"/>
                </a:solidFill>
                <a:latin typeface="Consolas"/>
              </a:rPr>
              <a:t> = </a:t>
            </a:r>
            <a:r>
              <a:rPr lang="en-US" sz="2400" dirty="0">
                <a:solidFill>
                  <a:srgbClr val="6A3E3E"/>
                </a:solidFill>
                <a:latin typeface="Consolas"/>
              </a:rPr>
              <a:t>obj11</a:t>
            </a:r>
            <a:r>
              <a:rPr lang="en-US" sz="2400" dirty="0">
                <a:solidFill>
                  <a:srgbClr val="000000"/>
                </a:solidFill>
                <a:latin typeface="Consolas"/>
              </a:rPr>
              <a:t>.vol();</a:t>
            </a:r>
          </a:p>
          <a:p>
            <a:r>
              <a:rPr lang="en-US" sz="2400" dirty="0">
                <a:solidFill>
                  <a:srgbClr val="000000"/>
                </a:solidFill>
                <a:latin typeface="Consolas"/>
              </a:rPr>
              <a:t>System.</a:t>
            </a:r>
            <a:r>
              <a:rPr lang="en-US" sz="2400" b="1" i="1" dirty="0">
                <a:solidFill>
                  <a:srgbClr val="0000C0"/>
                </a:solidFill>
                <a:latin typeface="Consolas"/>
              </a:rPr>
              <a:t>out</a:t>
            </a:r>
            <a:r>
              <a:rPr lang="en-US" sz="2400" dirty="0">
                <a:solidFill>
                  <a:srgbClr val="000000"/>
                </a:solidFill>
                <a:latin typeface="Consolas"/>
              </a:rPr>
              <a:t>.println(</a:t>
            </a:r>
            <a:r>
              <a:rPr lang="en-US" sz="2400" dirty="0">
                <a:solidFill>
                  <a:srgbClr val="2A00FF"/>
                </a:solidFill>
                <a:latin typeface="Consolas"/>
              </a:rPr>
              <a:t>"Volume for obj11 = "</a:t>
            </a:r>
            <a:r>
              <a:rPr lang="en-US" sz="2400" dirty="0">
                <a:solidFill>
                  <a:srgbClr val="000000"/>
                </a:solidFill>
                <a:latin typeface="Consolas"/>
              </a:rPr>
              <a:t>+</a:t>
            </a:r>
            <a:r>
              <a:rPr lang="en-US" sz="2400" dirty="0">
                <a:solidFill>
                  <a:srgbClr val="6A3E3E"/>
                </a:solidFill>
                <a:latin typeface="Consolas"/>
              </a:rPr>
              <a:t>volvalue11</a:t>
            </a:r>
            <a:r>
              <a:rPr lang="en-US" sz="2400" dirty="0">
                <a:solidFill>
                  <a:srgbClr val="000000"/>
                </a:solidFill>
                <a:latin typeface="Consolas"/>
              </a:rPr>
              <a:t>);</a:t>
            </a:r>
          </a:p>
          <a:p>
            <a:r>
              <a:rPr lang="en-US" sz="2400" dirty="0">
                <a:solidFill>
                  <a:srgbClr val="000000"/>
                </a:solidFill>
                <a:latin typeface="Consolas"/>
              </a:rPr>
              <a:t>BoxWeight </a:t>
            </a:r>
            <a:r>
              <a:rPr lang="en-US" sz="2400" dirty="0">
                <a:solidFill>
                  <a:srgbClr val="6A3E3E"/>
                </a:solidFill>
                <a:latin typeface="Consolas"/>
              </a:rPr>
              <a:t>obj22</a:t>
            </a:r>
            <a:r>
              <a:rPr lang="en-US" sz="2400" dirty="0">
                <a:solidFill>
                  <a:srgbClr val="000000"/>
                </a:solidFill>
                <a:latin typeface="Consolas"/>
              </a:rPr>
              <a:t> = </a:t>
            </a:r>
            <a:r>
              <a:rPr lang="en-US" sz="2400" b="1" dirty="0">
                <a:solidFill>
                  <a:srgbClr val="7F0055"/>
                </a:solidFill>
                <a:latin typeface="Consolas"/>
              </a:rPr>
              <a:t>new</a:t>
            </a:r>
            <a:r>
              <a:rPr lang="en-US" sz="2400" dirty="0">
                <a:solidFill>
                  <a:srgbClr val="000000"/>
                </a:solidFill>
                <a:latin typeface="Consolas"/>
              </a:rPr>
              <a:t> BoxWeight(34, 67, 89);</a:t>
            </a:r>
          </a:p>
          <a:p>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6A3E3E"/>
                </a:solidFill>
                <a:latin typeface="Consolas"/>
              </a:rPr>
              <a:t>volvalue22</a:t>
            </a:r>
            <a:r>
              <a:rPr lang="en-US" sz="2400" dirty="0">
                <a:solidFill>
                  <a:srgbClr val="000000"/>
                </a:solidFill>
                <a:latin typeface="Consolas"/>
              </a:rPr>
              <a:t> = </a:t>
            </a:r>
            <a:r>
              <a:rPr lang="en-US" sz="2400" dirty="0">
                <a:solidFill>
                  <a:srgbClr val="6A3E3E"/>
                </a:solidFill>
                <a:latin typeface="Consolas"/>
              </a:rPr>
              <a:t>obj22</a:t>
            </a:r>
            <a:r>
              <a:rPr lang="en-US" sz="2400" dirty="0">
                <a:solidFill>
                  <a:srgbClr val="000000"/>
                </a:solidFill>
                <a:latin typeface="Consolas"/>
              </a:rPr>
              <a:t>.vol();</a:t>
            </a:r>
          </a:p>
          <a:p>
            <a:r>
              <a:rPr lang="en-US" sz="2400" dirty="0">
                <a:solidFill>
                  <a:srgbClr val="000000"/>
                </a:solidFill>
                <a:latin typeface="Consolas"/>
              </a:rPr>
              <a:t>System.</a:t>
            </a:r>
            <a:r>
              <a:rPr lang="en-US" sz="2400" b="1" i="1" dirty="0">
                <a:solidFill>
                  <a:srgbClr val="0000C0"/>
                </a:solidFill>
                <a:latin typeface="Consolas"/>
              </a:rPr>
              <a:t>out</a:t>
            </a:r>
            <a:r>
              <a:rPr lang="en-US" sz="2400" dirty="0">
                <a:solidFill>
                  <a:srgbClr val="000000"/>
                </a:solidFill>
                <a:latin typeface="Consolas"/>
              </a:rPr>
              <a:t>.println(</a:t>
            </a:r>
            <a:r>
              <a:rPr lang="en-US" sz="2400" dirty="0">
                <a:solidFill>
                  <a:srgbClr val="2A00FF"/>
                </a:solidFill>
                <a:latin typeface="Consolas"/>
              </a:rPr>
              <a:t>"Volume for obj22 = "</a:t>
            </a:r>
            <a:r>
              <a:rPr lang="en-US" sz="2400" dirty="0">
                <a:solidFill>
                  <a:srgbClr val="000000"/>
                </a:solidFill>
                <a:latin typeface="Consolas"/>
              </a:rPr>
              <a:t>+</a:t>
            </a:r>
            <a:r>
              <a:rPr lang="en-US" sz="2400" dirty="0">
                <a:solidFill>
                  <a:srgbClr val="6A3E3E"/>
                </a:solidFill>
                <a:latin typeface="Consolas"/>
              </a:rPr>
              <a:t>volvalue22</a:t>
            </a:r>
            <a:r>
              <a:rPr lang="en-US" sz="2400" dirty="0">
                <a:solidFill>
                  <a:srgbClr val="000000"/>
                </a:solidFill>
                <a:latin typeface="Consolas"/>
              </a:rPr>
              <a:t>);}}</a:t>
            </a:r>
            <a:endParaRPr lang="en-US" sz="2400" dirty="0">
              <a:solidFill>
                <a:srgbClr val="000000"/>
              </a:solidFill>
              <a:effectLst/>
              <a:latin typeface="Consolas"/>
            </a:endParaRPr>
          </a:p>
        </p:txBody>
      </p:sp>
      <p:sp>
        <p:nvSpPr>
          <p:cNvPr id="12" name="Rectangle 11"/>
          <p:cNvSpPr/>
          <p:nvPr/>
        </p:nvSpPr>
        <p:spPr>
          <a:xfrm>
            <a:off x="9139137" y="2324100"/>
            <a:ext cx="8082063" cy="3124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9829800" y="2616844"/>
            <a:ext cx="7010400" cy="1938992"/>
          </a:xfrm>
          <a:prstGeom prst="rect">
            <a:avLst/>
          </a:prstGeom>
        </p:spPr>
        <p:txBody>
          <a:bodyPr wrap="square">
            <a:spAutoFit/>
          </a:bodyPr>
          <a:lstStyle/>
          <a:p>
            <a:r>
              <a:rPr lang="en-US" sz="4000" b="1" u="sng" dirty="0" smtClean="0"/>
              <a:t>OUTPUT :-</a:t>
            </a:r>
          </a:p>
          <a:p>
            <a:r>
              <a:rPr lang="en-US" sz="4000" dirty="0" smtClean="0"/>
              <a:t>Volume </a:t>
            </a:r>
            <a:r>
              <a:rPr lang="en-US" sz="4000" dirty="0"/>
              <a:t>for obj11 = 200.0</a:t>
            </a:r>
          </a:p>
          <a:p>
            <a:r>
              <a:rPr lang="en-US" sz="4000" dirty="0"/>
              <a:t>Volume for obj22 = 202742.0</a:t>
            </a:r>
          </a:p>
        </p:txBody>
      </p:sp>
    </p:spTree>
    <p:extLst>
      <p:ext uri="{BB962C8B-B14F-4D97-AF65-F5344CB8AC3E}">
        <p14:creationId xmlns:p14="http://schemas.microsoft.com/office/powerpoint/2010/main" val="378695177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495193"/>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5" y="266700"/>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METHOD OVERIDDING </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142999" y="2634574"/>
            <a:ext cx="15537445" cy="610873"/>
          </a:xfrm>
          <a:prstGeom prst="rect">
            <a:avLst/>
          </a:prstGeom>
        </p:spPr>
        <p:txBody>
          <a:bodyPr wrap="square" lIns="0" tIns="0" rIns="0" bIns="0" rtlCol="0" anchor="t">
            <a:spAutoFit/>
          </a:bodyPr>
          <a:lstStyle/>
          <a:p>
            <a:pPr algn="ctr">
              <a:lnSpc>
                <a:spcPts val="5096"/>
              </a:lnSpc>
            </a:pPr>
            <a:r>
              <a:rPr lang="en-US" sz="3640" dirty="0" smtClean="0">
                <a:solidFill>
                  <a:srgbClr val="000000"/>
                </a:solidFill>
                <a:latin typeface="Century Gothic Paneuropean"/>
                <a:ea typeface="Century Gothic Paneuropean"/>
                <a:cs typeface="Century Gothic Paneuropean"/>
                <a:sym typeface="Century Gothic Paneuropean"/>
              </a:rPr>
              <a:t> </a:t>
            </a:r>
            <a:endParaRPr lang="en-US" sz="3640" dirty="0">
              <a:solidFill>
                <a:srgbClr val="000000"/>
              </a:solidFill>
              <a:latin typeface="Century Gothic Paneuropean"/>
              <a:ea typeface="Century Gothic Paneuropean"/>
              <a:cs typeface="Century Gothic Paneuropean"/>
              <a:sym typeface="Century Gothic Paneuropean"/>
            </a:endParaRPr>
          </a:p>
        </p:txBody>
      </p:sp>
      <p:sp>
        <p:nvSpPr>
          <p:cNvPr id="12" name="Rectangle 11"/>
          <p:cNvSpPr/>
          <p:nvPr/>
        </p:nvSpPr>
        <p:spPr>
          <a:xfrm>
            <a:off x="1447800" y="2333016"/>
            <a:ext cx="15232644" cy="64680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13" name="Table 12"/>
          <p:cNvGraphicFramePr>
            <a:graphicFrameLocks noGrp="1"/>
          </p:cNvGraphicFramePr>
          <p:nvPr>
            <p:extLst>
              <p:ext uri="{D42A27DB-BD31-4B8C-83A1-F6EECF244321}">
                <p14:modId xmlns:p14="http://schemas.microsoft.com/office/powerpoint/2010/main" val="519814960"/>
              </p:ext>
            </p:extLst>
          </p:nvPr>
        </p:nvGraphicFramePr>
        <p:xfrm>
          <a:off x="1295400" y="1984704"/>
          <a:ext cx="15385044" cy="7164706"/>
        </p:xfrm>
        <a:graphic>
          <a:graphicData uri="http://schemas.openxmlformats.org/drawingml/2006/table">
            <a:tbl>
              <a:tblPr firstRow="1" bandRow="1">
                <a:tableStyleId>{5C22544A-7EE6-4342-B048-85BDC9FD1C3A}</a:tableStyleId>
              </a:tblPr>
              <a:tblGrid>
                <a:gridCol w="7692522"/>
                <a:gridCol w="7692522"/>
              </a:tblGrid>
              <a:tr h="1013147">
                <a:tc>
                  <a:txBody>
                    <a:bodyPr/>
                    <a:lstStyle/>
                    <a:p>
                      <a:pPr algn="ctr"/>
                      <a:r>
                        <a:rPr lang="en-US" sz="4000" dirty="0" smtClean="0">
                          <a:solidFill>
                            <a:schemeClr val="tx1"/>
                          </a:solidFill>
                        </a:rPr>
                        <a:t>METHOD OVERLOADING</a:t>
                      </a:r>
                      <a:endParaRPr lang="en-US" sz="400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smtClean="0">
                          <a:ln>
                            <a:noFill/>
                          </a:ln>
                          <a:solidFill>
                            <a:prstClr val="black"/>
                          </a:solidFill>
                          <a:effectLst/>
                          <a:uLnTx/>
                          <a:uFillTx/>
                          <a:latin typeface="+mn-lt"/>
                          <a:ea typeface="+mn-ea"/>
                          <a:cs typeface="+mn-cs"/>
                        </a:rPr>
                        <a:t>METHOD OVERRIDING</a:t>
                      </a:r>
                    </a:p>
                    <a:p>
                      <a:pPr algn="ctr"/>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20000"/>
                        <a:lumOff val="80000"/>
                      </a:schemeClr>
                    </a:solidFill>
                  </a:tcPr>
                </a:tc>
              </a:tr>
              <a:tr h="1178882">
                <a:tc>
                  <a:txBody>
                    <a:bodyPr/>
                    <a:lstStyle/>
                    <a:p>
                      <a:pPr algn="ctr"/>
                      <a:r>
                        <a:rPr kumimoji="0" lang="en-US" sz="3640" b="0" i="0" u="none" strike="noStrike" kern="1200" cap="none" spc="0" normalizeH="0" baseline="0" noProof="0" dirty="0" smtClean="0">
                          <a:ln>
                            <a:noFill/>
                          </a:ln>
                          <a:solidFill>
                            <a:srgbClr val="000000"/>
                          </a:solidFill>
                          <a:effectLst/>
                          <a:uLnTx/>
                          <a:uFillTx/>
                          <a:latin typeface="Century Gothic Paneuropean"/>
                          <a:cs typeface="Century Gothic Paneuropean"/>
                          <a:sym typeface="Century Gothic Paneuropean"/>
                        </a:rPr>
                        <a:t>Within the same class</a:t>
                      </a:r>
                      <a:endParaRPr 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20000"/>
                        <a:lumOff val="80000"/>
                      </a:schemeClr>
                    </a:solidFill>
                  </a:tcPr>
                </a:tc>
                <a:tc>
                  <a:txBody>
                    <a:bodyPr/>
                    <a:lstStyle/>
                    <a:p>
                      <a:pPr algn="ctr"/>
                      <a:r>
                        <a:rPr kumimoji="0" lang="en-US" sz="3640" b="0" i="0" u="none" strike="noStrike" kern="1200" cap="none" spc="0" normalizeH="0" baseline="0" noProof="0" dirty="0" smtClean="0">
                          <a:ln>
                            <a:noFill/>
                          </a:ln>
                          <a:solidFill>
                            <a:srgbClr val="000000"/>
                          </a:solidFill>
                          <a:effectLst/>
                          <a:uLnTx/>
                          <a:uFillTx/>
                          <a:latin typeface="Century Gothic Paneuropean"/>
                          <a:ea typeface="Century Gothic Paneuropean"/>
                          <a:cs typeface="Century Gothic Paneuropean"/>
                          <a:sym typeface="Century Gothic Paneuropean"/>
                        </a:rPr>
                        <a:t>Between a superclass and a subclass</a:t>
                      </a:r>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20000"/>
                        <a:lumOff val="80000"/>
                      </a:schemeClr>
                    </a:solidFill>
                  </a:tcPr>
                </a:tc>
              </a:tr>
              <a:tr h="1178882">
                <a:tc>
                  <a:txBody>
                    <a:bodyPr/>
                    <a:lstStyle/>
                    <a:p>
                      <a:pPr algn="ctr"/>
                      <a:r>
                        <a:rPr kumimoji="0" lang="en-US" sz="3640" b="0" i="0" u="none" strike="noStrike" kern="1200" cap="none" spc="0" normalizeH="0" baseline="0" noProof="0" dirty="0" smtClean="0">
                          <a:ln>
                            <a:noFill/>
                          </a:ln>
                          <a:solidFill>
                            <a:srgbClr val="000000"/>
                          </a:solidFill>
                          <a:effectLst/>
                          <a:uLnTx/>
                          <a:uFillTx/>
                          <a:latin typeface="Century Gothic Paneuropean"/>
                          <a:ea typeface="+mn-ea"/>
                          <a:cs typeface="Century Gothic Paneuropean"/>
                          <a:sym typeface="Century Gothic Paneuropean"/>
                        </a:rPr>
                        <a:t>Same name, but different parameter list</a:t>
                      </a:r>
                      <a:endParaRPr 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40" b="0" i="0" u="none" strike="noStrike" kern="1200" cap="none" spc="0" normalizeH="0" baseline="0" noProof="0" dirty="0" smtClean="0">
                          <a:ln>
                            <a:noFill/>
                          </a:ln>
                          <a:solidFill>
                            <a:srgbClr val="000000"/>
                          </a:solidFill>
                          <a:effectLst/>
                          <a:uLnTx/>
                          <a:uFillTx/>
                          <a:latin typeface="Century Gothic Paneuropean"/>
                          <a:ea typeface="+mn-ea"/>
                          <a:cs typeface="Century Gothic Paneuropean"/>
                          <a:sym typeface="Century Gothic Paneuropean"/>
                        </a:rPr>
                        <a:t>Same method signature</a:t>
                      </a:r>
                      <a:endParaRPr kumimoji="0" lang="en-US" sz="1800" b="0" i="0" u="none" strike="noStrike" kern="1200" cap="none" spc="0" normalizeH="0" baseline="0" noProof="0" dirty="0" smtClean="0">
                        <a:ln>
                          <a:noFill/>
                        </a:ln>
                        <a:solidFill>
                          <a:prstClr val="black"/>
                        </a:solidFill>
                        <a:effectLst/>
                        <a:uLnTx/>
                        <a:uFillTx/>
                        <a:latin typeface="+mn-lt"/>
                        <a:ea typeface="+mn-ea"/>
                        <a:cs typeface="+mn-cs"/>
                      </a:endParaRPr>
                    </a:p>
                    <a:p>
                      <a:pPr algn="ctr"/>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20000"/>
                        <a:lumOff val="80000"/>
                      </a:schemeClr>
                    </a:solidFill>
                  </a:tcPr>
                </a:tc>
              </a:tr>
              <a:tr h="10131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40" b="0" i="0" u="none" strike="noStrike" kern="1200" cap="none" spc="0" normalizeH="0" baseline="0" noProof="0" dirty="0" smtClean="0">
                          <a:ln>
                            <a:noFill/>
                          </a:ln>
                          <a:solidFill>
                            <a:srgbClr val="000000"/>
                          </a:solidFill>
                          <a:effectLst/>
                          <a:uLnTx/>
                          <a:uFillTx/>
                          <a:latin typeface="Century Gothic Paneuropean"/>
                          <a:ea typeface="+mn-ea"/>
                          <a:cs typeface="Century Gothic Paneuropean"/>
                          <a:sym typeface="Century Gothic Paneuropean"/>
                        </a:rPr>
                        <a:t>Compile – Time Polymorphism</a:t>
                      </a:r>
                      <a:endParaRPr kumimoji="0" lang="en-US" sz="1800" b="0" i="0" u="none" strike="noStrike" kern="1200" cap="none" spc="0" normalizeH="0" baseline="0" noProof="0" dirty="0" smtClean="0">
                        <a:ln>
                          <a:noFill/>
                        </a:ln>
                        <a:solidFill>
                          <a:prstClr val="black"/>
                        </a:solidFill>
                        <a:effectLst/>
                        <a:uLnTx/>
                        <a:uFillTx/>
                        <a:latin typeface="+mn-lt"/>
                        <a:ea typeface="+mn-ea"/>
                        <a:cs typeface="+mn-cs"/>
                      </a:endParaRPr>
                    </a:p>
                    <a:p>
                      <a:pPr algn="ctr"/>
                      <a:endParaRPr 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40" b="0" i="0" u="none" strike="noStrike" kern="1200" cap="none" spc="0" normalizeH="0" baseline="0" noProof="0" dirty="0" smtClean="0">
                          <a:ln>
                            <a:noFill/>
                          </a:ln>
                          <a:solidFill>
                            <a:srgbClr val="000000"/>
                          </a:solidFill>
                          <a:effectLst/>
                          <a:uLnTx/>
                          <a:uFillTx/>
                          <a:latin typeface="Century Gothic Paneuropean"/>
                          <a:ea typeface="+mn-ea"/>
                          <a:cs typeface="Century Gothic Paneuropean"/>
                          <a:sym typeface="Century Gothic Paneuropean"/>
                        </a:rPr>
                        <a:t>Runtime Polymorphism</a:t>
                      </a:r>
                      <a:endParaRPr kumimoji="0" lang="en-US" sz="1800" b="0" i="0" u="none" strike="noStrike" kern="1200" cap="none" spc="0" normalizeH="0" baseline="0" noProof="0" dirty="0" smtClean="0">
                        <a:ln>
                          <a:noFill/>
                        </a:ln>
                        <a:solidFill>
                          <a:prstClr val="black"/>
                        </a:solidFill>
                        <a:effectLst/>
                        <a:uLnTx/>
                        <a:uFillTx/>
                        <a:latin typeface="+mn-lt"/>
                        <a:ea typeface="+mn-ea"/>
                        <a:cs typeface="+mn-cs"/>
                      </a:endParaRPr>
                    </a:p>
                    <a:p>
                      <a:pPr algn="ctr"/>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20000"/>
                        <a:lumOff val="80000"/>
                      </a:schemeClr>
                    </a:solidFill>
                  </a:tcPr>
                </a:tc>
              </a:tr>
              <a:tr h="10131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40" b="0" i="0" u="none" strike="noStrike" kern="1200" cap="none" spc="0" normalizeH="0" baseline="0" noProof="0" dirty="0" smtClean="0">
                          <a:ln>
                            <a:noFill/>
                          </a:ln>
                          <a:solidFill>
                            <a:srgbClr val="000000"/>
                          </a:solidFill>
                          <a:effectLst/>
                          <a:uLnTx/>
                          <a:uFillTx/>
                          <a:latin typeface="Century Gothic Paneuropean"/>
                          <a:ea typeface="+mn-ea"/>
                          <a:cs typeface="Century Gothic Paneuropean"/>
                          <a:sym typeface="Century Gothic Paneuropean"/>
                        </a:rPr>
                        <a:t>No Inheritance required</a:t>
                      </a:r>
                      <a:endParaRPr kumimoji="0" lang="en-US" sz="1800" b="0" i="0" u="none" strike="noStrike" kern="1200" cap="none" spc="0" normalizeH="0" baseline="0" noProof="0" dirty="0" smtClean="0">
                        <a:ln>
                          <a:noFill/>
                        </a:ln>
                        <a:solidFill>
                          <a:prstClr val="black"/>
                        </a:solidFill>
                        <a:effectLst/>
                        <a:uLnTx/>
                        <a:uFillTx/>
                        <a:latin typeface="+mn-lt"/>
                        <a:ea typeface="+mn-ea"/>
                        <a:cs typeface="+mn-cs"/>
                      </a:endParaRPr>
                    </a:p>
                    <a:p>
                      <a:pPr algn="ctr"/>
                      <a:endParaRPr 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40" b="0" i="0" u="none" strike="noStrike" kern="1200" cap="none" spc="0" normalizeH="0" baseline="0" noProof="0" dirty="0" smtClean="0">
                          <a:ln>
                            <a:noFill/>
                          </a:ln>
                          <a:solidFill>
                            <a:srgbClr val="000000"/>
                          </a:solidFill>
                          <a:effectLst/>
                          <a:uLnTx/>
                          <a:uFillTx/>
                          <a:latin typeface="Century Gothic Paneuropean"/>
                          <a:ea typeface="+mn-ea"/>
                          <a:cs typeface="Century Gothic Paneuropean"/>
                          <a:sym typeface="Century Gothic Paneuropean"/>
                        </a:rPr>
                        <a:t>Inheritance required</a:t>
                      </a:r>
                      <a:endParaRPr kumimoji="0" lang="en-US" sz="1800" b="0" i="0" u="none" strike="noStrike" kern="1200" cap="none" spc="0" normalizeH="0" baseline="0" noProof="0" dirty="0" smtClean="0">
                        <a:ln>
                          <a:noFill/>
                        </a:ln>
                        <a:solidFill>
                          <a:prstClr val="black"/>
                        </a:solidFill>
                        <a:effectLst/>
                        <a:uLnTx/>
                        <a:uFillTx/>
                        <a:latin typeface="+mn-lt"/>
                        <a:ea typeface="+mn-ea"/>
                        <a:cs typeface="+mn-cs"/>
                      </a:endParaRPr>
                    </a:p>
                    <a:p>
                      <a:pPr algn="ctr"/>
                      <a:endParaRPr lang="en-US" b="1"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20000"/>
                        <a:lumOff val="80000"/>
                      </a:schemeClr>
                    </a:solidFill>
                  </a:tcPr>
                </a:tc>
              </a:tr>
              <a:tr h="172344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40" b="0" i="0" u="none" strike="noStrike" kern="1200" cap="none" spc="0" normalizeH="0" baseline="0" noProof="0" dirty="0" smtClean="0">
                          <a:ln>
                            <a:noFill/>
                          </a:ln>
                          <a:solidFill>
                            <a:srgbClr val="000000"/>
                          </a:solidFill>
                          <a:effectLst/>
                          <a:uLnTx/>
                          <a:uFillTx/>
                          <a:latin typeface="Century Gothic Paneuropean"/>
                          <a:ea typeface="+mn-ea"/>
                          <a:cs typeface="Century Gothic Paneuropean"/>
                          <a:sym typeface="Century Gothic Paneuropean"/>
                        </a:rPr>
                        <a:t>Increase readability, provides varied functionality</a:t>
                      </a:r>
                      <a:endParaRPr kumimoji="0" lang="en-US" sz="1800" b="0" i="0" u="none" strike="noStrike" kern="1200" cap="none" spc="0" normalizeH="0" baseline="0" noProof="0" dirty="0" smtClean="0">
                        <a:ln>
                          <a:noFill/>
                        </a:ln>
                        <a:solidFill>
                          <a:prstClr val="black"/>
                        </a:solidFill>
                        <a:effectLst/>
                        <a:uLnTx/>
                        <a:uFillTx/>
                        <a:latin typeface="+mn-lt"/>
                        <a:ea typeface="+mn-ea"/>
                        <a:cs typeface="+mn-cs"/>
                      </a:endParaRPr>
                    </a:p>
                    <a:p>
                      <a:pPr algn="ctr"/>
                      <a:endParaRPr 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20000"/>
                        <a:lumOff val="80000"/>
                      </a:schemeClr>
                    </a:solidFill>
                  </a:tcPr>
                </a:tc>
                <a:tc>
                  <a:txBody>
                    <a:bodyPr/>
                    <a:lstStyle/>
                    <a:p>
                      <a:pPr algn="ctr"/>
                      <a:r>
                        <a:rPr kumimoji="0" lang="en-US" sz="3640" b="0" i="0" u="none" strike="noStrike" kern="1200" cap="none" spc="0" normalizeH="0" baseline="0" noProof="0" dirty="0" smtClean="0">
                          <a:ln>
                            <a:noFill/>
                          </a:ln>
                          <a:solidFill>
                            <a:srgbClr val="000000"/>
                          </a:solidFill>
                          <a:effectLst/>
                          <a:uLnTx/>
                          <a:uFillTx/>
                          <a:latin typeface="Century Gothic Paneuropean"/>
                          <a:ea typeface="+mn-ea"/>
                          <a:cs typeface="Century Gothic Paneuropean"/>
                          <a:sym typeface="Century Gothic Paneuropean"/>
                        </a:rPr>
                        <a:t>Provides specific implementation for inheritance methods</a:t>
                      </a:r>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20000"/>
                        <a:lumOff val="80000"/>
                      </a:schemeClr>
                    </a:solidFill>
                  </a:tcPr>
                </a:tc>
              </a:tr>
            </a:tbl>
          </a:graphicData>
        </a:graphic>
      </p:graphicFrame>
    </p:spTree>
    <p:extLst>
      <p:ext uri="{BB962C8B-B14F-4D97-AF65-F5344CB8AC3E}">
        <p14:creationId xmlns:p14="http://schemas.microsoft.com/office/powerpoint/2010/main" val="288989267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When Constructors are Executed</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142999" y="2634574"/>
            <a:ext cx="15537445" cy="5232202"/>
          </a:xfrm>
          <a:prstGeom prst="rect">
            <a:avLst/>
          </a:prstGeom>
        </p:spPr>
        <p:txBody>
          <a:bodyPr wrap="square" lIns="0" tIns="0" rIns="0" bIns="0" rtlCol="0" anchor="t">
            <a:spAutoFit/>
          </a:bodyPr>
          <a:lstStyle/>
          <a:p>
            <a:pPr marL="571500" indent="-571500">
              <a:lnSpc>
                <a:spcPts val="5096"/>
              </a:lnSpc>
              <a:buFont typeface="Arial" panose="020B0604020202020204" pitchFamily="34" charset="0"/>
              <a:buChar char="•"/>
            </a:pPr>
            <a:r>
              <a:rPr lang="en-US" sz="3640" dirty="0" smtClean="0">
                <a:solidFill>
                  <a:srgbClr val="000000"/>
                </a:solidFill>
                <a:latin typeface="Century Gothic Paneuropean"/>
                <a:ea typeface="Century Gothic Paneuropean"/>
                <a:cs typeface="Century Gothic Paneuropean"/>
                <a:sym typeface="Century Gothic Paneuropean"/>
              </a:rPr>
              <a:t>When a class Hierarchy is created, in what order are constructors for the classes that makeup the hierarchy executed ???</a:t>
            </a:r>
          </a:p>
          <a:p>
            <a:pPr marL="571500" indent="-571500">
              <a:lnSpc>
                <a:spcPts val="5096"/>
              </a:lnSpc>
              <a:buFont typeface="Arial" panose="020B0604020202020204" pitchFamily="34" charset="0"/>
              <a:buChar char="•"/>
            </a:pPr>
            <a:r>
              <a:rPr lang="en-US" sz="3640" dirty="0">
                <a:solidFill>
                  <a:srgbClr val="000000"/>
                </a:solidFill>
                <a:latin typeface="Century Gothic Paneuropean"/>
                <a:ea typeface="Century Gothic Paneuropean"/>
                <a:cs typeface="Century Gothic Paneuropean"/>
                <a:sym typeface="Century Gothic Paneuropean"/>
              </a:rPr>
              <a:t>For example given a subclass B and a superclass </a:t>
            </a:r>
            <a:r>
              <a:rPr lang="en-US" sz="3640" dirty="0" smtClean="0">
                <a:solidFill>
                  <a:srgbClr val="000000"/>
                </a:solidFill>
                <a:latin typeface="Century Gothic Paneuropean"/>
                <a:ea typeface="Century Gothic Paneuropean"/>
                <a:cs typeface="Century Gothic Paneuropean"/>
                <a:sym typeface="Century Gothic Paneuropean"/>
              </a:rPr>
              <a:t>called </a:t>
            </a:r>
            <a:r>
              <a:rPr lang="en-US" sz="3640" dirty="0">
                <a:solidFill>
                  <a:srgbClr val="000000"/>
                </a:solidFill>
                <a:latin typeface="Century Gothic Paneuropean"/>
                <a:ea typeface="Century Gothic Paneuropean"/>
                <a:cs typeface="Century Gothic Paneuropean"/>
                <a:sym typeface="Century Gothic Paneuropean"/>
              </a:rPr>
              <a:t>A, is A’s constructor executed before B’s, or vice </a:t>
            </a:r>
            <a:r>
              <a:rPr lang="en-US" sz="3640" dirty="0" smtClean="0">
                <a:solidFill>
                  <a:srgbClr val="000000"/>
                </a:solidFill>
                <a:latin typeface="Century Gothic Paneuropean"/>
                <a:ea typeface="Century Gothic Paneuropean"/>
                <a:cs typeface="Century Gothic Paneuropean"/>
                <a:sym typeface="Century Gothic Paneuropean"/>
              </a:rPr>
              <a:t>versa ???</a:t>
            </a:r>
          </a:p>
          <a:p>
            <a:pPr marL="571500" indent="-571500">
              <a:lnSpc>
                <a:spcPts val="5096"/>
              </a:lnSpc>
              <a:buFont typeface="Arial" panose="020B0604020202020204" pitchFamily="34" charset="0"/>
              <a:buChar char="•"/>
            </a:pPr>
            <a:r>
              <a:rPr lang="en-US" sz="3640" dirty="0" smtClean="0">
                <a:solidFill>
                  <a:srgbClr val="000000"/>
                </a:solidFill>
                <a:latin typeface="Century Gothic Paneuropean"/>
                <a:ea typeface="Century Gothic Paneuropean"/>
                <a:cs typeface="Century Gothic Paneuropean"/>
                <a:sym typeface="Century Gothic Paneuropean"/>
              </a:rPr>
              <a:t>In </a:t>
            </a:r>
            <a:r>
              <a:rPr lang="en-US" sz="3640" dirty="0">
                <a:solidFill>
                  <a:srgbClr val="000000"/>
                </a:solidFill>
                <a:latin typeface="Century Gothic Paneuropean"/>
                <a:ea typeface="Century Gothic Paneuropean"/>
                <a:cs typeface="Century Gothic Paneuropean"/>
                <a:sym typeface="Century Gothic Paneuropean"/>
              </a:rPr>
              <a:t>a </a:t>
            </a:r>
            <a:r>
              <a:rPr lang="en-US" sz="3640" dirty="0" smtClean="0">
                <a:solidFill>
                  <a:srgbClr val="000000"/>
                </a:solidFill>
                <a:latin typeface="Century Gothic Paneuropean"/>
                <a:ea typeface="Century Gothic Paneuropean"/>
                <a:cs typeface="Century Gothic Paneuropean"/>
                <a:sym typeface="Century Gothic Paneuropean"/>
              </a:rPr>
              <a:t>class hierarchy</a:t>
            </a:r>
            <a:r>
              <a:rPr lang="en-US" sz="3640" dirty="0">
                <a:solidFill>
                  <a:srgbClr val="000000"/>
                </a:solidFill>
                <a:latin typeface="Century Gothic Paneuropean"/>
                <a:ea typeface="Century Gothic Paneuropean"/>
                <a:cs typeface="Century Gothic Paneuropean"/>
                <a:sym typeface="Century Gothic Paneuropean"/>
              </a:rPr>
              <a:t>, constructors complete their execution in order of derivation, from superclass </a:t>
            </a:r>
            <a:r>
              <a:rPr lang="en-US" sz="3640" dirty="0" smtClean="0">
                <a:solidFill>
                  <a:srgbClr val="000000"/>
                </a:solidFill>
                <a:latin typeface="Century Gothic Paneuropean"/>
                <a:ea typeface="Century Gothic Paneuropean"/>
                <a:cs typeface="Century Gothic Paneuropean"/>
                <a:sym typeface="Century Gothic Paneuropean"/>
              </a:rPr>
              <a:t>to subclass.</a:t>
            </a:r>
          </a:p>
          <a:p>
            <a:pPr marL="571500" indent="-571500">
              <a:lnSpc>
                <a:spcPts val="5096"/>
              </a:lnSpc>
              <a:buFont typeface="Arial" panose="020B0604020202020204" pitchFamily="34" charset="0"/>
              <a:buChar char="•"/>
            </a:pPr>
            <a:r>
              <a:rPr lang="en-US" sz="3640" dirty="0" smtClean="0">
                <a:solidFill>
                  <a:srgbClr val="000000"/>
                </a:solidFill>
                <a:latin typeface="Century Gothic Paneuropean"/>
                <a:ea typeface="Century Gothic Paneuropean"/>
                <a:cs typeface="Century Gothic Paneuropean"/>
                <a:sym typeface="Century Gothic Paneuropean"/>
              </a:rPr>
              <a:t>Constructors </a:t>
            </a:r>
            <a:r>
              <a:rPr lang="en-US" sz="3640" dirty="0">
                <a:solidFill>
                  <a:srgbClr val="000000"/>
                </a:solidFill>
                <a:latin typeface="Century Gothic Paneuropean"/>
                <a:ea typeface="Century Gothic Paneuropean"/>
                <a:cs typeface="Century Gothic Paneuropean"/>
                <a:sym typeface="Century Gothic Paneuropean"/>
              </a:rPr>
              <a:t>complete their execution in </a:t>
            </a:r>
            <a:r>
              <a:rPr lang="en-US" sz="3640" dirty="0" smtClean="0">
                <a:solidFill>
                  <a:srgbClr val="000000"/>
                </a:solidFill>
                <a:latin typeface="Century Gothic Paneuropean"/>
                <a:ea typeface="Century Gothic Paneuropean"/>
                <a:cs typeface="Century Gothic Paneuropean"/>
                <a:sym typeface="Century Gothic Paneuropean"/>
              </a:rPr>
              <a:t>order of derivation.</a:t>
            </a:r>
            <a:endParaRPr lang="en-US" sz="3640" dirty="0">
              <a:solidFill>
                <a:srgbClr val="000000"/>
              </a:solidFill>
              <a:latin typeface="Century Gothic Paneuropean"/>
              <a:ea typeface="Century Gothic Paneuropean"/>
              <a:cs typeface="Century Gothic Paneuropean"/>
              <a:sym typeface="Century Gothic Paneuropean"/>
            </a:endParaRPr>
          </a:p>
          <a:p>
            <a:pPr algn="ctr">
              <a:lnSpc>
                <a:spcPts val="5096"/>
              </a:lnSpc>
            </a:pPr>
            <a:r>
              <a:rPr lang="en-US" sz="3640" dirty="0" smtClean="0">
                <a:solidFill>
                  <a:srgbClr val="000000"/>
                </a:solidFill>
                <a:latin typeface="Century Gothic Paneuropean"/>
                <a:ea typeface="Century Gothic Paneuropean"/>
                <a:cs typeface="Century Gothic Paneuropean"/>
                <a:sym typeface="Century Gothic Paneuropean"/>
              </a:rPr>
              <a:t>  </a:t>
            </a:r>
            <a:endParaRPr lang="en-US" sz="3640" dirty="0">
              <a:solidFill>
                <a:srgbClr val="000000"/>
              </a:solidFill>
              <a:latin typeface="Century Gothic Paneuropean"/>
              <a:ea typeface="Century Gothic Paneuropean"/>
              <a:cs typeface="Century Gothic Paneuropean"/>
              <a:sym typeface="Century Gothic Paneuropean"/>
            </a:endParaRPr>
          </a:p>
        </p:txBody>
      </p:sp>
    </p:spTree>
    <p:extLst>
      <p:ext uri="{BB962C8B-B14F-4D97-AF65-F5344CB8AC3E}">
        <p14:creationId xmlns:p14="http://schemas.microsoft.com/office/powerpoint/2010/main" val="162026011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When Constructors are Executed</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1" y="2055526"/>
            <a:ext cx="14935203" cy="5909310"/>
          </a:xfrm>
          <a:prstGeom prst="rect">
            <a:avLst/>
          </a:prstGeom>
        </p:spPr>
        <p:txBody>
          <a:bodyPr wrap="square" lIns="0" tIns="0" rIns="0" bIns="0" rtlCol="0" anchor="t">
            <a:spAutoFit/>
          </a:bodyPr>
          <a:lstStyle/>
          <a:p>
            <a:r>
              <a:rPr lang="en-US" sz="3200" b="1" dirty="0">
                <a:solidFill>
                  <a:srgbClr val="7F0055"/>
                </a:solidFill>
                <a:latin typeface="Consolas"/>
              </a:rPr>
              <a:t>class</a:t>
            </a:r>
            <a:r>
              <a:rPr lang="en-US" sz="3200" dirty="0">
                <a:solidFill>
                  <a:srgbClr val="000000"/>
                </a:solidFill>
                <a:latin typeface="Consolas"/>
              </a:rPr>
              <a:t> Red {</a:t>
            </a:r>
          </a:p>
          <a:p>
            <a:r>
              <a:rPr lang="en-US" sz="3200" dirty="0">
                <a:solidFill>
                  <a:srgbClr val="000000"/>
                </a:solidFill>
                <a:latin typeface="Consolas"/>
              </a:rPr>
              <a:t>Red() {</a:t>
            </a:r>
          </a:p>
          <a:p>
            <a:r>
              <a:rPr lang="en-US" sz="3200" dirty="0" err="1">
                <a:solidFill>
                  <a:srgbClr val="000000"/>
                </a:solidFill>
                <a:latin typeface="Consolas"/>
              </a:rPr>
              <a:t>System.</a:t>
            </a:r>
            <a:r>
              <a:rPr lang="en-US" sz="3200" b="1" i="1" dirty="0" err="1">
                <a:solidFill>
                  <a:srgbClr val="0000C0"/>
                </a:solidFill>
                <a:latin typeface="Consolas"/>
              </a:rPr>
              <a:t>out</a:t>
            </a:r>
            <a:r>
              <a:rPr lang="en-US" sz="3200" dirty="0" err="1">
                <a:solidFill>
                  <a:srgbClr val="000000"/>
                </a:solidFill>
                <a:latin typeface="Consolas"/>
              </a:rPr>
              <a:t>.println</a:t>
            </a:r>
            <a:r>
              <a:rPr lang="en-US" sz="3200" dirty="0">
                <a:solidFill>
                  <a:srgbClr val="000000"/>
                </a:solidFill>
                <a:latin typeface="Consolas"/>
              </a:rPr>
              <a:t>(</a:t>
            </a:r>
            <a:r>
              <a:rPr lang="en-US" sz="3200" dirty="0">
                <a:solidFill>
                  <a:srgbClr val="2A00FF"/>
                </a:solidFill>
                <a:latin typeface="Consolas"/>
              </a:rPr>
              <a:t>"Inside A's constructor</a:t>
            </a:r>
            <a:r>
              <a:rPr lang="en-US" sz="3200" dirty="0" smtClean="0">
                <a:solidFill>
                  <a:srgbClr val="2A00FF"/>
                </a:solidFill>
                <a:latin typeface="Consolas"/>
              </a:rPr>
              <a:t>."</a:t>
            </a:r>
            <a:r>
              <a:rPr lang="en-US" sz="3200" dirty="0" smtClean="0">
                <a:solidFill>
                  <a:srgbClr val="000000"/>
                </a:solidFill>
                <a:latin typeface="Consolas"/>
              </a:rPr>
              <a:t>);}} </a:t>
            </a:r>
            <a:endParaRPr lang="en-US" sz="3200" dirty="0">
              <a:solidFill>
                <a:srgbClr val="000000"/>
              </a:solidFill>
              <a:latin typeface="Consolas"/>
            </a:endParaRPr>
          </a:p>
          <a:p>
            <a:r>
              <a:rPr lang="en-US" sz="3200" b="1" dirty="0">
                <a:solidFill>
                  <a:srgbClr val="7F0055"/>
                </a:solidFill>
                <a:latin typeface="Consolas"/>
              </a:rPr>
              <a:t>class</a:t>
            </a:r>
            <a:r>
              <a:rPr lang="en-US" sz="3200" dirty="0">
                <a:solidFill>
                  <a:srgbClr val="000000"/>
                </a:solidFill>
                <a:latin typeface="Consolas"/>
              </a:rPr>
              <a:t> Blue </a:t>
            </a:r>
            <a:r>
              <a:rPr lang="en-US" sz="3200" b="1" dirty="0">
                <a:solidFill>
                  <a:srgbClr val="7F0055"/>
                </a:solidFill>
                <a:latin typeface="Consolas"/>
              </a:rPr>
              <a:t>extends</a:t>
            </a:r>
            <a:r>
              <a:rPr lang="en-US" sz="3200" dirty="0">
                <a:solidFill>
                  <a:srgbClr val="000000"/>
                </a:solidFill>
                <a:latin typeface="Consolas"/>
              </a:rPr>
              <a:t> Red {</a:t>
            </a:r>
          </a:p>
          <a:p>
            <a:r>
              <a:rPr lang="en-US" sz="3200" dirty="0">
                <a:solidFill>
                  <a:srgbClr val="000000"/>
                </a:solidFill>
                <a:latin typeface="Consolas"/>
              </a:rPr>
              <a:t>Blue() {</a:t>
            </a:r>
          </a:p>
          <a:p>
            <a:r>
              <a:rPr lang="en-US" sz="3200" dirty="0" err="1">
                <a:solidFill>
                  <a:srgbClr val="000000"/>
                </a:solidFill>
                <a:latin typeface="Consolas"/>
              </a:rPr>
              <a:t>System.</a:t>
            </a:r>
            <a:r>
              <a:rPr lang="en-US" sz="3200" b="1" i="1" dirty="0" err="1">
                <a:solidFill>
                  <a:srgbClr val="0000C0"/>
                </a:solidFill>
                <a:latin typeface="Consolas"/>
              </a:rPr>
              <a:t>out</a:t>
            </a:r>
            <a:r>
              <a:rPr lang="en-US" sz="3200" dirty="0" err="1">
                <a:solidFill>
                  <a:srgbClr val="000000"/>
                </a:solidFill>
                <a:latin typeface="Consolas"/>
              </a:rPr>
              <a:t>.println</a:t>
            </a:r>
            <a:r>
              <a:rPr lang="en-US" sz="3200" dirty="0">
                <a:solidFill>
                  <a:srgbClr val="000000"/>
                </a:solidFill>
                <a:latin typeface="Consolas"/>
              </a:rPr>
              <a:t>(</a:t>
            </a:r>
            <a:r>
              <a:rPr lang="en-US" sz="3200" dirty="0">
                <a:solidFill>
                  <a:srgbClr val="2A00FF"/>
                </a:solidFill>
                <a:latin typeface="Consolas"/>
              </a:rPr>
              <a:t>"Inside B's constructor</a:t>
            </a:r>
            <a:r>
              <a:rPr lang="en-US" sz="3200" dirty="0" smtClean="0">
                <a:solidFill>
                  <a:srgbClr val="2A00FF"/>
                </a:solidFill>
                <a:latin typeface="Consolas"/>
              </a:rPr>
              <a:t>."</a:t>
            </a:r>
            <a:r>
              <a:rPr lang="en-US" sz="3200" dirty="0" smtClean="0">
                <a:solidFill>
                  <a:srgbClr val="000000"/>
                </a:solidFill>
                <a:latin typeface="Consolas"/>
              </a:rPr>
              <a:t>);}}</a:t>
            </a:r>
            <a:endParaRPr lang="en-US" sz="3200" dirty="0">
              <a:solidFill>
                <a:srgbClr val="000000"/>
              </a:solidFill>
              <a:latin typeface="Consolas"/>
            </a:endParaRPr>
          </a:p>
          <a:p>
            <a:r>
              <a:rPr lang="en-US" sz="3200" b="1" dirty="0">
                <a:solidFill>
                  <a:srgbClr val="7F0055"/>
                </a:solidFill>
                <a:latin typeface="Consolas"/>
              </a:rPr>
              <a:t>class</a:t>
            </a:r>
            <a:r>
              <a:rPr lang="en-US" sz="3200" dirty="0">
                <a:solidFill>
                  <a:srgbClr val="000000"/>
                </a:solidFill>
                <a:latin typeface="Consolas"/>
              </a:rPr>
              <a:t> Green </a:t>
            </a:r>
            <a:r>
              <a:rPr lang="en-US" sz="3200" b="1" dirty="0">
                <a:solidFill>
                  <a:srgbClr val="7F0055"/>
                </a:solidFill>
                <a:latin typeface="Consolas"/>
              </a:rPr>
              <a:t>extends</a:t>
            </a:r>
            <a:r>
              <a:rPr lang="en-US" sz="3200" dirty="0">
                <a:solidFill>
                  <a:srgbClr val="000000"/>
                </a:solidFill>
                <a:latin typeface="Consolas"/>
              </a:rPr>
              <a:t> Blue {</a:t>
            </a:r>
          </a:p>
          <a:p>
            <a:r>
              <a:rPr lang="en-US" sz="3200" dirty="0">
                <a:solidFill>
                  <a:srgbClr val="000000"/>
                </a:solidFill>
                <a:latin typeface="Consolas"/>
              </a:rPr>
              <a:t>Green() {</a:t>
            </a:r>
          </a:p>
          <a:p>
            <a:r>
              <a:rPr lang="en-US" sz="3200" dirty="0" err="1">
                <a:solidFill>
                  <a:srgbClr val="000000"/>
                </a:solidFill>
                <a:latin typeface="Consolas"/>
              </a:rPr>
              <a:t>System.</a:t>
            </a:r>
            <a:r>
              <a:rPr lang="en-US" sz="3200" b="1" i="1" dirty="0" err="1">
                <a:solidFill>
                  <a:srgbClr val="0000C0"/>
                </a:solidFill>
                <a:latin typeface="Consolas"/>
              </a:rPr>
              <a:t>out</a:t>
            </a:r>
            <a:r>
              <a:rPr lang="en-US" sz="3200" dirty="0" err="1">
                <a:solidFill>
                  <a:srgbClr val="000000"/>
                </a:solidFill>
                <a:latin typeface="Consolas"/>
              </a:rPr>
              <a:t>.println</a:t>
            </a:r>
            <a:r>
              <a:rPr lang="en-US" sz="3200" dirty="0">
                <a:solidFill>
                  <a:srgbClr val="000000"/>
                </a:solidFill>
                <a:latin typeface="Consolas"/>
              </a:rPr>
              <a:t>(</a:t>
            </a:r>
            <a:r>
              <a:rPr lang="en-US" sz="3200" dirty="0">
                <a:solidFill>
                  <a:srgbClr val="2A00FF"/>
                </a:solidFill>
                <a:latin typeface="Consolas"/>
              </a:rPr>
              <a:t>"Inside C's constructor</a:t>
            </a:r>
            <a:r>
              <a:rPr lang="en-US" sz="3200" dirty="0" smtClean="0">
                <a:solidFill>
                  <a:srgbClr val="2A00FF"/>
                </a:solidFill>
                <a:latin typeface="Consolas"/>
              </a:rPr>
              <a:t>."</a:t>
            </a:r>
            <a:r>
              <a:rPr lang="en-US" sz="3200" dirty="0" smtClean="0">
                <a:solidFill>
                  <a:srgbClr val="000000"/>
                </a:solidFill>
                <a:latin typeface="Consolas"/>
              </a:rPr>
              <a:t>);}}</a:t>
            </a:r>
            <a:endParaRPr lang="en-US" sz="3200" dirty="0">
              <a:solidFill>
                <a:srgbClr val="000000"/>
              </a:solidFill>
              <a:latin typeface="Consolas"/>
            </a:endParaRPr>
          </a:p>
          <a:p>
            <a:r>
              <a:rPr lang="en-US" sz="3200" b="1" dirty="0">
                <a:solidFill>
                  <a:srgbClr val="7F0055"/>
                </a:solidFill>
                <a:latin typeface="Consolas"/>
              </a:rPr>
              <a:t>public</a:t>
            </a:r>
            <a:r>
              <a:rPr lang="en-US" sz="3200" dirty="0">
                <a:solidFill>
                  <a:srgbClr val="000000"/>
                </a:solidFill>
                <a:latin typeface="Consolas"/>
              </a:rPr>
              <a:t> </a:t>
            </a:r>
            <a:r>
              <a:rPr lang="en-US" sz="3200" b="1" dirty="0">
                <a:solidFill>
                  <a:srgbClr val="7F0055"/>
                </a:solidFill>
                <a:latin typeface="Consolas"/>
              </a:rPr>
              <a:t>class</a:t>
            </a:r>
            <a:r>
              <a:rPr lang="en-US" sz="3200" dirty="0">
                <a:solidFill>
                  <a:srgbClr val="000000"/>
                </a:solidFill>
                <a:latin typeface="Consolas"/>
              </a:rPr>
              <a:t> </a:t>
            </a:r>
            <a:r>
              <a:rPr lang="en-US" sz="3200" dirty="0" err="1" smtClean="0">
                <a:solidFill>
                  <a:srgbClr val="000000"/>
                </a:solidFill>
                <a:latin typeface="Consolas"/>
              </a:rPr>
              <a:t>consructorcallorder</a:t>
            </a:r>
            <a:r>
              <a:rPr lang="en-US" sz="3200" dirty="0" smtClean="0">
                <a:solidFill>
                  <a:srgbClr val="000000"/>
                </a:solidFill>
                <a:latin typeface="Consolas"/>
              </a:rPr>
              <a:t> </a:t>
            </a:r>
            <a:r>
              <a:rPr lang="en-US" sz="3200" dirty="0">
                <a:solidFill>
                  <a:srgbClr val="000000"/>
                </a:solidFill>
                <a:latin typeface="Consolas"/>
              </a:rPr>
              <a:t>{</a:t>
            </a:r>
          </a:p>
          <a:p>
            <a:r>
              <a:rPr lang="en-US" sz="3200" b="1" dirty="0">
                <a:solidFill>
                  <a:srgbClr val="7F0055"/>
                </a:solidFill>
                <a:latin typeface="Consolas"/>
              </a:rPr>
              <a:t>public</a:t>
            </a:r>
            <a:r>
              <a:rPr lang="en-US" sz="3200" dirty="0">
                <a:solidFill>
                  <a:srgbClr val="000000"/>
                </a:solidFill>
                <a:latin typeface="Consolas"/>
              </a:rPr>
              <a:t> </a:t>
            </a:r>
            <a:r>
              <a:rPr lang="en-US" sz="3200" b="1" dirty="0">
                <a:solidFill>
                  <a:srgbClr val="7F0055"/>
                </a:solidFill>
                <a:latin typeface="Consolas"/>
              </a:rPr>
              <a:t>static</a:t>
            </a:r>
            <a:r>
              <a:rPr lang="en-US" sz="3200" dirty="0">
                <a:solidFill>
                  <a:srgbClr val="000000"/>
                </a:solidFill>
                <a:latin typeface="Consolas"/>
              </a:rPr>
              <a:t> </a:t>
            </a:r>
            <a:r>
              <a:rPr lang="en-US" sz="3200" b="1" dirty="0">
                <a:solidFill>
                  <a:srgbClr val="7F0055"/>
                </a:solidFill>
                <a:latin typeface="Consolas"/>
              </a:rPr>
              <a:t>void</a:t>
            </a:r>
            <a:r>
              <a:rPr lang="en-US" sz="3200" dirty="0">
                <a:solidFill>
                  <a:srgbClr val="000000"/>
                </a:solidFill>
                <a:latin typeface="Consolas"/>
              </a:rPr>
              <a:t> main(String[] </a:t>
            </a:r>
            <a:r>
              <a:rPr lang="en-US" sz="3200" dirty="0" err="1">
                <a:solidFill>
                  <a:srgbClr val="6A3E3E"/>
                </a:solidFill>
                <a:latin typeface="Consolas"/>
              </a:rPr>
              <a:t>args</a:t>
            </a:r>
            <a:r>
              <a:rPr lang="en-US" sz="3200" dirty="0">
                <a:solidFill>
                  <a:srgbClr val="000000"/>
                </a:solidFill>
                <a:latin typeface="Consolas"/>
              </a:rPr>
              <a:t>) {</a:t>
            </a:r>
          </a:p>
          <a:p>
            <a:r>
              <a:rPr lang="en-US" sz="3200" dirty="0">
                <a:solidFill>
                  <a:srgbClr val="000000"/>
                </a:solidFill>
                <a:latin typeface="Consolas"/>
              </a:rPr>
              <a:t>Green </a:t>
            </a:r>
            <a:r>
              <a:rPr lang="en-US" sz="3200" u="sng" dirty="0">
                <a:solidFill>
                  <a:srgbClr val="6A3E3E"/>
                </a:solidFill>
                <a:latin typeface="Consolas"/>
              </a:rPr>
              <a:t>c</a:t>
            </a:r>
            <a:r>
              <a:rPr lang="en-US" sz="3200" dirty="0" smtClean="0">
                <a:solidFill>
                  <a:srgbClr val="000000"/>
                </a:solidFill>
                <a:latin typeface="Consolas"/>
              </a:rPr>
              <a:t> </a:t>
            </a:r>
            <a:r>
              <a:rPr lang="en-US" sz="3200" dirty="0">
                <a:solidFill>
                  <a:srgbClr val="000000"/>
                </a:solidFill>
                <a:latin typeface="Consolas"/>
              </a:rPr>
              <a:t>= </a:t>
            </a:r>
            <a:r>
              <a:rPr lang="en-US" sz="3200" b="1" dirty="0">
                <a:solidFill>
                  <a:srgbClr val="7F0055"/>
                </a:solidFill>
                <a:latin typeface="Consolas"/>
              </a:rPr>
              <a:t>new</a:t>
            </a:r>
            <a:r>
              <a:rPr lang="en-US" sz="3200" dirty="0">
                <a:solidFill>
                  <a:srgbClr val="000000"/>
                </a:solidFill>
                <a:latin typeface="Consolas"/>
              </a:rPr>
              <a:t> Green</a:t>
            </a:r>
            <a:r>
              <a:rPr lang="en-US" sz="3200" dirty="0" smtClean="0">
                <a:solidFill>
                  <a:srgbClr val="000000"/>
                </a:solidFill>
                <a:latin typeface="Consolas"/>
              </a:rPr>
              <a:t>();}}</a:t>
            </a:r>
            <a:endParaRPr lang="en-US" sz="3200" dirty="0">
              <a:solidFill>
                <a:srgbClr val="000000"/>
              </a:solidFill>
              <a:effectLst/>
              <a:latin typeface="Consolas"/>
            </a:endParaRPr>
          </a:p>
        </p:txBody>
      </p:sp>
      <p:sp>
        <p:nvSpPr>
          <p:cNvPr id="10" name="Rectangle 9"/>
          <p:cNvSpPr/>
          <p:nvPr/>
        </p:nvSpPr>
        <p:spPr>
          <a:xfrm>
            <a:off x="1014511" y="7964836"/>
            <a:ext cx="9144000" cy="2308324"/>
          </a:xfrm>
          <a:prstGeom prst="rect">
            <a:avLst/>
          </a:prstGeom>
        </p:spPr>
        <p:txBody>
          <a:bodyPr>
            <a:spAutoFit/>
          </a:bodyPr>
          <a:lstStyle/>
          <a:p>
            <a:r>
              <a:rPr lang="en-US" sz="3600" b="1" u="sng" dirty="0" smtClean="0"/>
              <a:t>OUTPUT –</a:t>
            </a:r>
          </a:p>
          <a:p>
            <a:r>
              <a:rPr lang="en-US" sz="3600" dirty="0" smtClean="0"/>
              <a:t>Inside </a:t>
            </a:r>
            <a:r>
              <a:rPr lang="en-US" sz="3600" dirty="0"/>
              <a:t>A's constructor.</a:t>
            </a:r>
          </a:p>
          <a:p>
            <a:r>
              <a:rPr lang="en-US" sz="3600" dirty="0"/>
              <a:t>Inside B's constructor.</a:t>
            </a:r>
          </a:p>
          <a:p>
            <a:r>
              <a:rPr lang="en-US" sz="3600" dirty="0"/>
              <a:t>Inside C's constructor.</a:t>
            </a:r>
          </a:p>
        </p:txBody>
      </p:sp>
    </p:spTree>
    <p:extLst>
      <p:ext uri="{BB962C8B-B14F-4D97-AF65-F5344CB8AC3E}">
        <p14:creationId xmlns:p14="http://schemas.microsoft.com/office/powerpoint/2010/main" val="255207364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DYNAMIC METHOD DISPATCH</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78756" y="2324100"/>
            <a:ext cx="15537445" cy="5232202"/>
          </a:xfrm>
          <a:prstGeom prst="rect">
            <a:avLst/>
          </a:prstGeom>
        </p:spPr>
        <p:txBody>
          <a:bodyPr wrap="square" lIns="0" tIns="0" rIns="0" bIns="0" rtlCol="0" anchor="t">
            <a:spAutoFit/>
          </a:bodyPr>
          <a:lstStyle/>
          <a:p>
            <a:pPr marL="571500" indent="-571500">
              <a:lnSpc>
                <a:spcPts val="5096"/>
              </a:lnSpc>
              <a:buFont typeface="Arial" panose="020B0604020202020204" pitchFamily="34" charset="0"/>
              <a:buChar char="•"/>
            </a:pPr>
            <a:r>
              <a:rPr lang="en-US" sz="3640" dirty="0">
                <a:solidFill>
                  <a:srgbClr val="000000"/>
                </a:solidFill>
                <a:latin typeface="Century Gothic Paneuropean"/>
                <a:ea typeface="Century Gothic Paneuropean"/>
                <a:cs typeface="Century Gothic Paneuropean"/>
                <a:sym typeface="Century Gothic Paneuropean"/>
              </a:rPr>
              <a:t>Method overriding forms the basis </a:t>
            </a:r>
            <a:r>
              <a:rPr lang="en-US" sz="3640" dirty="0" smtClean="0">
                <a:solidFill>
                  <a:srgbClr val="000000"/>
                </a:solidFill>
                <a:latin typeface="Century Gothic Paneuropean"/>
                <a:ea typeface="Century Gothic Paneuropean"/>
                <a:cs typeface="Century Gothic Paneuropean"/>
                <a:sym typeface="Century Gothic Paneuropean"/>
              </a:rPr>
              <a:t>for one </a:t>
            </a:r>
            <a:r>
              <a:rPr lang="en-US" sz="3640" dirty="0">
                <a:solidFill>
                  <a:srgbClr val="000000"/>
                </a:solidFill>
                <a:latin typeface="Century Gothic Paneuropean"/>
                <a:ea typeface="Century Gothic Paneuropean"/>
                <a:cs typeface="Century Gothic Paneuropean"/>
                <a:sym typeface="Century Gothic Paneuropean"/>
              </a:rPr>
              <a:t>of Java’s most powerful concepts: dynamic method dispatch. </a:t>
            </a:r>
            <a:endParaRPr lang="en-US" sz="3640" dirty="0" smtClean="0">
              <a:solidFill>
                <a:srgbClr val="000000"/>
              </a:solidFill>
              <a:latin typeface="Century Gothic Paneuropean"/>
              <a:ea typeface="Century Gothic Paneuropean"/>
              <a:cs typeface="Century Gothic Paneuropean"/>
              <a:sym typeface="Century Gothic Paneuropean"/>
            </a:endParaRPr>
          </a:p>
          <a:p>
            <a:pPr marL="571500" indent="-571500">
              <a:lnSpc>
                <a:spcPts val="5096"/>
              </a:lnSpc>
              <a:buFont typeface="Arial" panose="020B0604020202020204" pitchFamily="34" charset="0"/>
              <a:buChar char="•"/>
            </a:pPr>
            <a:r>
              <a:rPr lang="en-US" sz="3640" dirty="0" smtClean="0">
                <a:solidFill>
                  <a:srgbClr val="000000"/>
                </a:solidFill>
                <a:latin typeface="Century Gothic Paneuropean"/>
                <a:ea typeface="Century Gothic Paneuropean"/>
                <a:cs typeface="Century Gothic Paneuropean"/>
                <a:sym typeface="Century Gothic Paneuropean"/>
              </a:rPr>
              <a:t>Dynamic </a:t>
            </a:r>
            <a:r>
              <a:rPr lang="en-US" sz="3640" dirty="0">
                <a:solidFill>
                  <a:srgbClr val="000000"/>
                </a:solidFill>
                <a:latin typeface="Century Gothic Paneuropean"/>
                <a:ea typeface="Century Gothic Paneuropean"/>
                <a:cs typeface="Century Gothic Paneuropean"/>
                <a:sym typeface="Century Gothic Paneuropean"/>
              </a:rPr>
              <a:t>method dispatch is important because this is how Java </a:t>
            </a:r>
            <a:r>
              <a:rPr lang="en-US" sz="3640" dirty="0" smtClean="0">
                <a:solidFill>
                  <a:srgbClr val="000000"/>
                </a:solidFill>
                <a:latin typeface="Century Gothic Paneuropean"/>
                <a:ea typeface="Century Gothic Paneuropean"/>
                <a:cs typeface="Century Gothic Paneuropean"/>
                <a:sym typeface="Century Gothic Paneuropean"/>
              </a:rPr>
              <a:t>implements run-time </a:t>
            </a:r>
            <a:r>
              <a:rPr lang="en-US" sz="3640" dirty="0">
                <a:solidFill>
                  <a:srgbClr val="000000"/>
                </a:solidFill>
                <a:latin typeface="Century Gothic Paneuropean"/>
                <a:ea typeface="Century Gothic Paneuropean"/>
                <a:cs typeface="Century Gothic Paneuropean"/>
                <a:sym typeface="Century Gothic Paneuropean"/>
              </a:rPr>
              <a:t>polymorphism</a:t>
            </a:r>
            <a:r>
              <a:rPr lang="en-US" sz="3640" dirty="0" smtClean="0">
                <a:solidFill>
                  <a:srgbClr val="000000"/>
                </a:solidFill>
                <a:latin typeface="Century Gothic Paneuropean"/>
                <a:ea typeface="Century Gothic Paneuropean"/>
                <a:cs typeface="Century Gothic Paneuropean"/>
                <a:sym typeface="Century Gothic Paneuropean"/>
              </a:rPr>
              <a:t>.</a:t>
            </a:r>
          </a:p>
          <a:p>
            <a:pPr marL="571500" indent="-571500">
              <a:lnSpc>
                <a:spcPts val="5096"/>
              </a:lnSpc>
              <a:buFont typeface="Arial" panose="020B0604020202020204" pitchFamily="34" charset="0"/>
              <a:buChar char="•"/>
            </a:pPr>
            <a:r>
              <a:rPr lang="en-US" sz="3640" dirty="0" smtClean="0">
                <a:solidFill>
                  <a:srgbClr val="000000"/>
                </a:solidFill>
                <a:latin typeface="Century Gothic Paneuropean"/>
                <a:ea typeface="Century Gothic Paneuropean"/>
                <a:cs typeface="Century Gothic Paneuropean"/>
                <a:sym typeface="Century Gothic Paneuropean"/>
              </a:rPr>
              <a:t>We know, a </a:t>
            </a:r>
            <a:r>
              <a:rPr lang="en-US" sz="3640" dirty="0">
                <a:solidFill>
                  <a:srgbClr val="000000"/>
                </a:solidFill>
                <a:latin typeface="Century Gothic Paneuropean"/>
                <a:ea typeface="Century Gothic Paneuropean"/>
                <a:cs typeface="Century Gothic Paneuropean"/>
                <a:sym typeface="Century Gothic Paneuropean"/>
              </a:rPr>
              <a:t>superclass reference variable can </a:t>
            </a:r>
            <a:r>
              <a:rPr lang="en-US" sz="3640" dirty="0" smtClean="0">
                <a:solidFill>
                  <a:srgbClr val="000000"/>
                </a:solidFill>
                <a:latin typeface="Century Gothic Paneuropean"/>
                <a:ea typeface="Century Gothic Paneuropean"/>
                <a:cs typeface="Century Gothic Paneuropean"/>
                <a:sym typeface="Century Gothic Paneuropean"/>
              </a:rPr>
              <a:t>refer to </a:t>
            </a:r>
            <a:r>
              <a:rPr lang="en-US" sz="3640" dirty="0">
                <a:solidFill>
                  <a:srgbClr val="000000"/>
                </a:solidFill>
                <a:latin typeface="Century Gothic Paneuropean"/>
                <a:ea typeface="Century Gothic Paneuropean"/>
                <a:cs typeface="Century Gothic Paneuropean"/>
                <a:sym typeface="Century Gothic Paneuropean"/>
              </a:rPr>
              <a:t>a subclass object. Java uses this fact to resolve calls to overridden methods at run time</a:t>
            </a:r>
            <a:r>
              <a:rPr lang="en-US" sz="3640" dirty="0" smtClean="0">
                <a:solidFill>
                  <a:srgbClr val="000000"/>
                </a:solidFill>
                <a:latin typeface="Century Gothic Paneuropean"/>
                <a:ea typeface="Century Gothic Paneuropean"/>
                <a:cs typeface="Century Gothic Paneuropean"/>
                <a:sym typeface="Century Gothic Paneuropean"/>
              </a:rPr>
              <a:t>.</a:t>
            </a:r>
          </a:p>
          <a:p>
            <a:pPr marL="571500" indent="-571500">
              <a:lnSpc>
                <a:spcPts val="5096"/>
              </a:lnSpc>
              <a:buFont typeface="Arial" panose="020B0604020202020204" pitchFamily="34" charset="0"/>
              <a:buChar char="•"/>
            </a:pPr>
            <a:r>
              <a:rPr lang="en-US" sz="3640" dirty="0" smtClean="0">
                <a:solidFill>
                  <a:srgbClr val="000000"/>
                </a:solidFill>
                <a:latin typeface="Century Gothic Paneuropean"/>
                <a:ea typeface="Century Gothic Paneuropean"/>
                <a:cs typeface="Century Gothic Paneuropean"/>
                <a:sym typeface="Century Gothic Paneuropean"/>
              </a:rPr>
              <a:t>It is a runtime polymorphism.</a:t>
            </a:r>
          </a:p>
        </p:txBody>
      </p:sp>
    </p:spTree>
    <p:extLst>
      <p:ext uri="{BB962C8B-B14F-4D97-AF65-F5344CB8AC3E}">
        <p14:creationId xmlns:p14="http://schemas.microsoft.com/office/powerpoint/2010/main" val="206184075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DYNAMIC METHOD DISPATCH</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993435" y="2034746"/>
            <a:ext cx="15687010" cy="8502328"/>
          </a:xfrm>
          <a:prstGeom prst="rect">
            <a:avLst/>
          </a:prstGeom>
        </p:spPr>
        <p:txBody>
          <a:bodyPr wrap="square" lIns="0" tIns="0" rIns="0" bIns="0" rtlCol="0" anchor="t">
            <a:spAutoFit/>
          </a:bodyPr>
          <a:lstStyle/>
          <a:p>
            <a:pPr marL="571500" indent="-571500">
              <a:lnSpc>
                <a:spcPts val="5096"/>
              </a:lnSpc>
              <a:buFont typeface="Arial" panose="020B0604020202020204" pitchFamily="34" charset="0"/>
              <a:buChar char="•"/>
            </a:pPr>
            <a:r>
              <a:rPr lang="en-US" sz="3640" dirty="0">
                <a:solidFill>
                  <a:srgbClr val="000000"/>
                </a:solidFill>
                <a:latin typeface="Century Gothic Paneuropean"/>
                <a:ea typeface="Century Gothic Paneuropean"/>
                <a:cs typeface="Century Gothic Paneuropean"/>
                <a:sym typeface="Century Gothic Paneuropean"/>
              </a:rPr>
              <a:t>When an overridden method is called through a superclass reference, </a:t>
            </a:r>
            <a:r>
              <a:rPr lang="en-US" sz="3640" dirty="0" smtClean="0">
                <a:solidFill>
                  <a:srgbClr val="000000"/>
                </a:solidFill>
                <a:latin typeface="Century Gothic Paneuropean"/>
                <a:ea typeface="Century Gothic Paneuropean"/>
                <a:cs typeface="Century Gothic Paneuropean"/>
                <a:sym typeface="Century Gothic Paneuropean"/>
              </a:rPr>
              <a:t>Java determines </a:t>
            </a:r>
            <a:r>
              <a:rPr lang="en-US" sz="3640" dirty="0">
                <a:solidFill>
                  <a:srgbClr val="000000"/>
                </a:solidFill>
                <a:latin typeface="Century Gothic Paneuropean"/>
                <a:ea typeface="Century Gothic Paneuropean"/>
                <a:cs typeface="Century Gothic Paneuropean"/>
                <a:sym typeface="Century Gothic Paneuropean"/>
              </a:rPr>
              <a:t>which version of that method to execute based upon the type of the </a:t>
            </a:r>
            <a:r>
              <a:rPr lang="en-US" sz="3640" dirty="0" smtClean="0">
                <a:solidFill>
                  <a:srgbClr val="000000"/>
                </a:solidFill>
                <a:latin typeface="Century Gothic Paneuropean"/>
                <a:ea typeface="Century Gothic Paneuropean"/>
                <a:cs typeface="Century Gothic Paneuropean"/>
                <a:sym typeface="Century Gothic Paneuropean"/>
              </a:rPr>
              <a:t>object being </a:t>
            </a:r>
            <a:r>
              <a:rPr lang="en-US" sz="3640" dirty="0">
                <a:solidFill>
                  <a:srgbClr val="000000"/>
                </a:solidFill>
                <a:latin typeface="Century Gothic Paneuropean"/>
                <a:ea typeface="Century Gothic Paneuropean"/>
                <a:cs typeface="Century Gothic Paneuropean"/>
                <a:sym typeface="Century Gothic Paneuropean"/>
              </a:rPr>
              <a:t>referred to at the time </a:t>
            </a:r>
            <a:r>
              <a:rPr lang="en-US" sz="3640" dirty="0" smtClean="0">
                <a:solidFill>
                  <a:srgbClr val="000000"/>
                </a:solidFill>
                <a:latin typeface="Century Gothic Paneuropean"/>
                <a:ea typeface="Century Gothic Paneuropean"/>
                <a:cs typeface="Century Gothic Paneuropean"/>
                <a:sym typeface="Century Gothic Paneuropean"/>
              </a:rPr>
              <a:t>call </a:t>
            </a:r>
            <a:r>
              <a:rPr lang="en-US" sz="3640" dirty="0">
                <a:solidFill>
                  <a:srgbClr val="000000"/>
                </a:solidFill>
                <a:latin typeface="Century Gothic Paneuropean"/>
                <a:ea typeface="Century Gothic Paneuropean"/>
                <a:cs typeface="Century Gothic Paneuropean"/>
                <a:sym typeface="Century Gothic Paneuropean"/>
              </a:rPr>
              <a:t>occurs. Thus, this determination is made at run time</a:t>
            </a:r>
            <a:r>
              <a:rPr lang="en-US" sz="3640" dirty="0" smtClean="0">
                <a:solidFill>
                  <a:srgbClr val="000000"/>
                </a:solidFill>
                <a:latin typeface="Century Gothic Paneuropean"/>
                <a:ea typeface="Century Gothic Paneuropean"/>
                <a:cs typeface="Century Gothic Paneuropean"/>
                <a:sym typeface="Century Gothic Paneuropean"/>
              </a:rPr>
              <a:t>.</a:t>
            </a:r>
          </a:p>
          <a:p>
            <a:pPr marL="571500" indent="-571500">
              <a:lnSpc>
                <a:spcPts val="5096"/>
              </a:lnSpc>
              <a:buFont typeface="Arial" panose="020B0604020202020204" pitchFamily="34" charset="0"/>
              <a:buChar char="•"/>
            </a:pPr>
            <a:r>
              <a:rPr lang="en-US" sz="3640" dirty="0" smtClean="0">
                <a:solidFill>
                  <a:srgbClr val="000000"/>
                </a:solidFill>
                <a:latin typeface="Century Gothic Paneuropean"/>
                <a:ea typeface="Century Gothic Paneuropean"/>
                <a:cs typeface="Century Gothic Paneuropean"/>
                <a:sym typeface="Century Gothic Paneuropean"/>
              </a:rPr>
              <a:t>It </a:t>
            </a:r>
            <a:r>
              <a:rPr lang="en-US" sz="3640" dirty="0">
                <a:solidFill>
                  <a:srgbClr val="000000"/>
                </a:solidFill>
                <a:latin typeface="Century Gothic Paneuropean"/>
                <a:ea typeface="Century Gothic Paneuropean"/>
                <a:cs typeface="Century Gothic Paneuropean"/>
                <a:sym typeface="Century Gothic Paneuropean"/>
              </a:rPr>
              <a:t>is the type of the object being referred to (not the type of </a:t>
            </a:r>
            <a:r>
              <a:rPr lang="en-US" sz="3640" dirty="0" smtClean="0">
                <a:solidFill>
                  <a:srgbClr val="000000"/>
                </a:solidFill>
                <a:latin typeface="Century Gothic Paneuropean"/>
                <a:ea typeface="Century Gothic Paneuropean"/>
                <a:cs typeface="Century Gothic Paneuropean"/>
                <a:sym typeface="Century Gothic Paneuropean"/>
              </a:rPr>
              <a:t>the reference </a:t>
            </a:r>
            <a:r>
              <a:rPr lang="en-US" sz="3640" dirty="0">
                <a:solidFill>
                  <a:srgbClr val="000000"/>
                </a:solidFill>
                <a:latin typeface="Century Gothic Paneuropean"/>
                <a:ea typeface="Century Gothic Paneuropean"/>
                <a:cs typeface="Century Gothic Paneuropean"/>
                <a:sym typeface="Century Gothic Paneuropean"/>
              </a:rPr>
              <a:t>variable) that determines which version of an overridden method will be executed.</a:t>
            </a:r>
          </a:p>
          <a:p>
            <a:pPr marL="571500" indent="-571500">
              <a:lnSpc>
                <a:spcPts val="5096"/>
              </a:lnSpc>
              <a:buFont typeface="Arial" panose="020B0604020202020204" pitchFamily="34" charset="0"/>
              <a:buChar char="•"/>
            </a:pPr>
            <a:r>
              <a:rPr lang="en-US" sz="3640" dirty="0">
                <a:solidFill>
                  <a:srgbClr val="000000"/>
                </a:solidFill>
                <a:latin typeface="Century Gothic Paneuropean"/>
                <a:ea typeface="Century Gothic Paneuropean"/>
                <a:cs typeface="Century Gothic Paneuropean"/>
                <a:sym typeface="Century Gothic Paneuropean"/>
              </a:rPr>
              <a:t>Therefore, if a superclass contains a method that is overridden by a subclass, then </a:t>
            </a:r>
            <a:r>
              <a:rPr lang="en-US" sz="3640" dirty="0" smtClean="0">
                <a:solidFill>
                  <a:srgbClr val="000000"/>
                </a:solidFill>
                <a:latin typeface="Century Gothic Paneuropean"/>
                <a:ea typeface="Century Gothic Paneuropean"/>
                <a:cs typeface="Century Gothic Paneuropean"/>
                <a:sym typeface="Century Gothic Paneuropean"/>
              </a:rPr>
              <a:t>when different </a:t>
            </a:r>
            <a:r>
              <a:rPr lang="en-US" sz="3640" dirty="0">
                <a:solidFill>
                  <a:srgbClr val="000000"/>
                </a:solidFill>
                <a:latin typeface="Century Gothic Paneuropean"/>
                <a:ea typeface="Century Gothic Paneuropean"/>
                <a:cs typeface="Century Gothic Paneuropean"/>
                <a:sym typeface="Century Gothic Paneuropean"/>
              </a:rPr>
              <a:t>types of objects are referred to through a superclass reference variable, </a:t>
            </a:r>
            <a:r>
              <a:rPr lang="en-US" sz="3640" dirty="0" smtClean="0">
                <a:solidFill>
                  <a:srgbClr val="000000"/>
                </a:solidFill>
                <a:latin typeface="Century Gothic Paneuropean"/>
                <a:ea typeface="Century Gothic Paneuropean"/>
                <a:cs typeface="Century Gothic Paneuropean"/>
                <a:sym typeface="Century Gothic Paneuropean"/>
              </a:rPr>
              <a:t>different versions </a:t>
            </a:r>
            <a:r>
              <a:rPr lang="en-US" sz="3640" dirty="0">
                <a:solidFill>
                  <a:srgbClr val="000000"/>
                </a:solidFill>
                <a:latin typeface="Century Gothic Paneuropean"/>
                <a:ea typeface="Century Gothic Paneuropean"/>
                <a:cs typeface="Century Gothic Paneuropean"/>
                <a:sym typeface="Century Gothic Paneuropean"/>
              </a:rPr>
              <a:t>of the method are </a:t>
            </a:r>
            <a:r>
              <a:rPr lang="en-US" sz="3640" dirty="0" smtClean="0">
                <a:solidFill>
                  <a:srgbClr val="000000"/>
                </a:solidFill>
                <a:latin typeface="Century Gothic Paneuropean"/>
                <a:ea typeface="Century Gothic Paneuropean"/>
                <a:cs typeface="Century Gothic Paneuropean"/>
                <a:sym typeface="Century Gothic Paneuropean"/>
              </a:rPr>
              <a:t>executed</a:t>
            </a:r>
            <a:r>
              <a:rPr lang="en-US" sz="3640" dirty="0">
                <a:solidFill>
                  <a:srgbClr val="000000"/>
                </a:solidFill>
                <a:latin typeface="Century Gothic Paneuropean"/>
                <a:ea typeface="Century Gothic Paneuropean"/>
                <a:cs typeface="Century Gothic Paneuropean"/>
                <a:sym typeface="Century Gothic Paneuropean"/>
              </a:rPr>
              <a:t> </a:t>
            </a:r>
            <a:r>
              <a:rPr lang="en-US" sz="3640" dirty="0" smtClean="0">
                <a:solidFill>
                  <a:srgbClr val="000000"/>
                </a:solidFill>
                <a:latin typeface="Century Gothic Paneuropean"/>
                <a:ea typeface="Century Gothic Paneuropean"/>
                <a:cs typeface="Century Gothic Paneuropean"/>
                <a:sym typeface="Century Gothic Paneuropean"/>
              </a:rPr>
              <a:t>i.e. when reference variable r will point to a object it will call a class method, when r will be made to point to b now, it will call b class method. </a:t>
            </a:r>
            <a:endParaRPr lang="en-US" sz="3640" dirty="0">
              <a:solidFill>
                <a:srgbClr val="000000"/>
              </a:solidFill>
              <a:latin typeface="Century Gothic Paneuropean"/>
              <a:ea typeface="Century Gothic Paneuropean"/>
              <a:cs typeface="Century Gothic Paneuropean"/>
              <a:sym typeface="Century Gothic Paneuropean"/>
            </a:endParaRPr>
          </a:p>
        </p:txBody>
      </p:sp>
    </p:spTree>
    <p:extLst>
      <p:ext uri="{BB962C8B-B14F-4D97-AF65-F5344CB8AC3E}">
        <p14:creationId xmlns:p14="http://schemas.microsoft.com/office/powerpoint/2010/main" val="91384240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DYNAMIC METHOD DISPATCH</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993435" y="2034746"/>
            <a:ext cx="15687010" cy="7755969"/>
          </a:xfrm>
          <a:prstGeom prst="rect">
            <a:avLst/>
          </a:prstGeom>
        </p:spPr>
        <p:txBody>
          <a:bodyPr wrap="square" lIns="0" tIns="0" rIns="0" bIns="0" rtlCol="0" anchor="t">
            <a:spAutoFit/>
          </a:bodyPr>
          <a:lstStyle/>
          <a:p>
            <a:r>
              <a:rPr lang="en-US" sz="2400" b="1" dirty="0">
                <a:solidFill>
                  <a:srgbClr val="7F0055"/>
                </a:solidFill>
                <a:latin typeface="Consolas"/>
              </a:rPr>
              <a:t>class</a:t>
            </a:r>
            <a:r>
              <a:rPr lang="en-US" sz="2400" dirty="0">
                <a:solidFill>
                  <a:srgbClr val="000000"/>
                </a:solidFill>
                <a:latin typeface="Consolas"/>
              </a:rPr>
              <a:t> </a:t>
            </a:r>
            <a:r>
              <a:rPr lang="en-US" sz="2400" dirty="0" err="1">
                <a:solidFill>
                  <a:srgbClr val="000000"/>
                </a:solidFill>
                <a:latin typeface="Consolas"/>
              </a:rPr>
              <a:t>Aone</a:t>
            </a:r>
            <a:r>
              <a:rPr lang="en-US" sz="2400" dirty="0">
                <a:solidFill>
                  <a:srgbClr val="000000"/>
                </a:solidFill>
                <a:latin typeface="Consolas"/>
              </a:rPr>
              <a:t> {</a:t>
            </a:r>
          </a:p>
          <a:p>
            <a:r>
              <a:rPr lang="en-US" sz="2400" b="1" dirty="0">
                <a:solidFill>
                  <a:srgbClr val="7F0055"/>
                </a:solidFill>
                <a:latin typeface="Consolas"/>
              </a:rPr>
              <a:t>void</a:t>
            </a:r>
            <a:r>
              <a:rPr lang="en-US" sz="2400" dirty="0">
                <a:solidFill>
                  <a:srgbClr val="000000"/>
                </a:solidFill>
                <a:latin typeface="Consolas"/>
              </a:rPr>
              <a:t> </a:t>
            </a:r>
            <a:r>
              <a:rPr lang="en-US" sz="2400" dirty="0" err="1">
                <a:solidFill>
                  <a:srgbClr val="000000"/>
                </a:solidFill>
                <a:latin typeface="Consolas"/>
              </a:rPr>
              <a:t>callme</a:t>
            </a:r>
            <a:r>
              <a:rPr lang="en-US" sz="2400" dirty="0">
                <a:solidFill>
                  <a:srgbClr val="000000"/>
                </a:solidFill>
                <a:latin typeface="Consolas"/>
              </a:rPr>
              <a:t>() {</a:t>
            </a:r>
          </a:p>
          <a:p>
            <a:r>
              <a:rPr lang="en-US" sz="2400" dirty="0" err="1">
                <a:solidFill>
                  <a:srgbClr val="000000"/>
                </a:solidFill>
                <a:latin typeface="Consolas"/>
              </a:rPr>
              <a:t>System.</a:t>
            </a:r>
            <a:r>
              <a:rPr lang="en-US" sz="2400" b="1" i="1" dirty="0" err="1">
                <a:solidFill>
                  <a:srgbClr val="0000C0"/>
                </a:solidFill>
                <a:latin typeface="Consolas"/>
              </a:rPr>
              <a:t>out</a:t>
            </a:r>
            <a:r>
              <a:rPr lang="en-US" sz="2400" dirty="0" err="1">
                <a:solidFill>
                  <a:srgbClr val="000000"/>
                </a:solidFill>
                <a:latin typeface="Consolas"/>
              </a:rPr>
              <a:t>.println</a:t>
            </a:r>
            <a:r>
              <a:rPr lang="en-US" sz="2400" dirty="0">
                <a:solidFill>
                  <a:srgbClr val="000000"/>
                </a:solidFill>
                <a:latin typeface="Consolas"/>
              </a:rPr>
              <a:t>(</a:t>
            </a:r>
            <a:r>
              <a:rPr lang="en-US" sz="2400" dirty="0">
                <a:solidFill>
                  <a:srgbClr val="2A00FF"/>
                </a:solidFill>
                <a:latin typeface="Consolas"/>
              </a:rPr>
              <a:t>"Inside A's </a:t>
            </a:r>
            <a:r>
              <a:rPr lang="en-US" sz="2400" dirty="0" err="1">
                <a:solidFill>
                  <a:srgbClr val="2A00FF"/>
                </a:solidFill>
                <a:latin typeface="Consolas"/>
              </a:rPr>
              <a:t>callme</a:t>
            </a:r>
            <a:r>
              <a:rPr lang="en-US" sz="2400" dirty="0">
                <a:solidFill>
                  <a:srgbClr val="2A00FF"/>
                </a:solidFill>
                <a:latin typeface="Consolas"/>
              </a:rPr>
              <a:t> method</a:t>
            </a:r>
            <a:r>
              <a:rPr lang="en-US" sz="2400" dirty="0" smtClean="0">
                <a:solidFill>
                  <a:srgbClr val="2A00FF"/>
                </a:solidFill>
                <a:latin typeface="Consolas"/>
              </a:rPr>
              <a:t>"</a:t>
            </a:r>
            <a:r>
              <a:rPr lang="en-US" sz="2400" dirty="0" smtClean="0">
                <a:solidFill>
                  <a:srgbClr val="000000"/>
                </a:solidFill>
                <a:latin typeface="Consolas"/>
              </a:rPr>
              <a:t>);}}</a:t>
            </a:r>
            <a:endParaRPr lang="en-US" sz="2400" dirty="0">
              <a:solidFill>
                <a:srgbClr val="000000"/>
              </a:solidFill>
              <a:latin typeface="Consolas"/>
            </a:endParaRPr>
          </a:p>
          <a:p>
            <a:r>
              <a:rPr lang="en-US" sz="2400" b="1" dirty="0">
                <a:solidFill>
                  <a:srgbClr val="7F0055"/>
                </a:solidFill>
                <a:latin typeface="Consolas"/>
              </a:rPr>
              <a:t>class</a:t>
            </a:r>
            <a:r>
              <a:rPr lang="en-US" sz="2400" dirty="0">
                <a:solidFill>
                  <a:srgbClr val="000000"/>
                </a:solidFill>
                <a:latin typeface="Consolas"/>
              </a:rPr>
              <a:t> </a:t>
            </a:r>
            <a:r>
              <a:rPr lang="en-US" sz="2400" dirty="0" err="1">
                <a:solidFill>
                  <a:srgbClr val="000000"/>
                </a:solidFill>
                <a:latin typeface="Consolas"/>
              </a:rPr>
              <a:t>Btwo</a:t>
            </a:r>
            <a:r>
              <a:rPr lang="en-US" sz="2400" dirty="0">
                <a:solidFill>
                  <a:srgbClr val="000000"/>
                </a:solidFill>
                <a:latin typeface="Consolas"/>
              </a:rPr>
              <a:t> </a:t>
            </a:r>
            <a:r>
              <a:rPr lang="en-US" sz="2400" b="1" dirty="0">
                <a:solidFill>
                  <a:srgbClr val="7F0055"/>
                </a:solidFill>
                <a:latin typeface="Consolas"/>
              </a:rPr>
              <a:t>extends</a:t>
            </a:r>
            <a:r>
              <a:rPr lang="en-US" sz="2400" dirty="0">
                <a:solidFill>
                  <a:srgbClr val="000000"/>
                </a:solidFill>
                <a:latin typeface="Consolas"/>
              </a:rPr>
              <a:t> </a:t>
            </a:r>
            <a:r>
              <a:rPr lang="en-US" sz="2400" dirty="0" err="1">
                <a:solidFill>
                  <a:srgbClr val="000000"/>
                </a:solidFill>
                <a:latin typeface="Consolas"/>
              </a:rPr>
              <a:t>Aone</a:t>
            </a:r>
            <a:r>
              <a:rPr lang="en-US" sz="2400" dirty="0">
                <a:solidFill>
                  <a:srgbClr val="000000"/>
                </a:solidFill>
                <a:latin typeface="Consolas"/>
              </a:rPr>
              <a:t> {</a:t>
            </a:r>
          </a:p>
          <a:p>
            <a:r>
              <a:rPr lang="en-US" sz="2400" b="1" dirty="0">
                <a:solidFill>
                  <a:srgbClr val="7F0055"/>
                </a:solidFill>
                <a:latin typeface="Consolas"/>
              </a:rPr>
              <a:t>void</a:t>
            </a:r>
            <a:r>
              <a:rPr lang="en-US" sz="2400" dirty="0">
                <a:solidFill>
                  <a:srgbClr val="000000"/>
                </a:solidFill>
                <a:latin typeface="Consolas"/>
              </a:rPr>
              <a:t> </a:t>
            </a:r>
            <a:r>
              <a:rPr lang="en-US" sz="2400" dirty="0" err="1">
                <a:solidFill>
                  <a:srgbClr val="000000"/>
                </a:solidFill>
                <a:latin typeface="Consolas"/>
              </a:rPr>
              <a:t>callme</a:t>
            </a:r>
            <a:r>
              <a:rPr lang="en-US" sz="2400" dirty="0">
                <a:solidFill>
                  <a:srgbClr val="000000"/>
                </a:solidFill>
                <a:latin typeface="Consolas"/>
              </a:rPr>
              <a:t>() {</a:t>
            </a:r>
          </a:p>
          <a:p>
            <a:r>
              <a:rPr lang="en-US" sz="2400" dirty="0" err="1">
                <a:solidFill>
                  <a:srgbClr val="000000"/>
                </a:solidFill>
                <a:latin typeface="Consolas"/>
              </a:rPr>
              <a:t>System.</a:t>
            </a:r>
            <a:r>
              <a:rPr lang="en-US" sz="2400" b="1" i="1" dirty="0" err="1">
                <a:solidFill>
                  <a:srgbClr val="0000C0"/>
                </a:solidFill>
                <a:latin typeface="Consolas"/>
              </a:rPr>
              <a:t>out</a:t>
            </a:r>
            <a:r>
              <a:rPr lang="en-US" sz="2400" dirty="0" err="1">
                <a:solidFill>
                  <a:srgbClr val="000000"/>
                </a:solidFill>
                <a:latin typeface="Consolas"/>
              </a:rPr>
              <a:t>.println</a:t>
            </a:r>
            <a:r>
              <a:rPr lang="en-US" sz="2400" dirty="0">
                <a:solidFill>
                  <a:srgbClr val="000000"/>
                </a:solidFill>
                <a:latin typeface="Consolas"/>
              </a:rPr>
              <a:t>(</a:t>
            </a:r>
            <a:r>
              <a:rPr lang="en-US" sz="2400" dirty="0">
                <a:solidFill>
                  <a:srgbClr val="2A00FF"/>
                </a:solidFill>
                <a:latin typeface="Consolas"/>
              </a:rPr>
              <a:t>"Inside B's </a:t>
            </a:r>
            <a:r>
              <a:rPr lang="en-US" sz="2400" dirty="0" err="1">
                <a:solidFill>
                  <a:srgbClr val="2A00FF"/>
                </a:solidFill>
                <a:latin typeface="Consolas"/>
              </a:rPr>
              <a:t>callme</a:t>
            </a:r>
            <a:r>
              <a:rPr lang="en-US" sz="2400" dirty="0">
                <a:solidFill>
                  <a:srgbClr val="2A00FF"/>
                </a:solidFill>
                <a:latin typeface="Consolas"/>
              </a:rPr>
              <a:t> method</a:t>
            </a:r>
            <a:r>
              <a:rPr lang="en-US" sz="2400" dirty="0" smtClean="0">
                <a:solidFill>
                  <a:srgbClr val="2A00FF"/>
                </a:solidFill>
                <a:latin typeface="Consolas"/>
              </a:rPr>
              <a:t>"</a:t>
            </a:r>
            <a:r>
              <a:rPr lang="en-US" sz="2400" dirty="0" smtClean="0">
                <a:solidFill>
                  <a:srgbClr val="000000"/>
                </a:solidFill>
                <a:latin typeface="Consolas"/>
              </a:rPr>
              <a:t>);}}</a:t>
            </a:r>
            <a:endParaRPr lang="en-US" sz="2400" dirty="0">
              <a:solidFill>
                <a:srgbClr val="000000"/>
              </a:solidFill>
              <a:latin typeface="Consolas"/>
            </a:endParaRPr>
          </a:p>
          <a:p>
            <a:r>
              <a:rPr lang="en-US" sz="2400" b="1" dirty="0">
                <a:solidFill>
                  <a:srgbClr val="7F0055"/>
                </a:solidFill>
                <a:latin typeface="Consolas"/>
              </a:rPr>
              <a:t>class</a:t>
            </a:r>
            <a:r>
              <a:rPr lang="en-US" sz="2400" dirty="0">
                <a:solidFill>
                  <a:srgbClr val="000000"/>
                </a:solidFill>
                <a:latin typeface="Consolas"/>
              </a:rPr>
              <a:t> </a:t>
            </a:r>
            <a:r>
              <a:rPr lang="en-US" sz="2400" dirty="0" err="1">
                <a:solidFill>
                  <a:srgbClr val="000000"/>
                </a:solidFill>
                <a:latin typeface="Consolas"/>
              </a:rPr>
              <a:t>Cthree</a:t>
            </a:r>
            <a:r>
              <a:rPr lang="en-US" sz="2400" dirty="0">
                <a:solidFill>
                  <a:srgbClr val="000000"/>
                </a:solidFill>
                <a:latin typeface="Consolas"/>
              </a:rPr>
              <a:t> </a:t>
            </a:r>
            <a:r>
              <a:rPr lang="en-US" sz="2400" b="1" dirty="0">
                <a:solidFill>
                  <a:srgbClr val="7F0055"/>
                </a:solidFill>
                <a:latin typeface="Consolas"/>
              </a:rPr>
              <a:t>extends</a:t>
            </a:r>
            <a:r>
              <a:rPr lang="en-US" sz="2400" dirty="0">
                <a:solidFill>
                  <a:srgbClr val="000000"/>
                </a:solidFill>
                <a:latin typeface="Consolas"/>
              </a:rPr>
              <a:t> </a:t>
            </a:r>
            <a:r>
              <a:rPr lang="en-US" sz="2400" dirty="0" err="1">
                <a:solidFill>
                  <a:srgbClr val="000000"/>
                </a:solidFill>
                <a:latin typeface="Consolas"/>
              </a:rPr>
              <a:t>Aone</a:t>
            </a:r>
            <a:r>
              <a:rPr lang="en-US" sz="2400" dirty="0">
                <a:solidFill>
                  <a:srgbClr val="000000"/>
                </a:solidFill>
                <a:latin typeface="Consolas"/>
              </a:rPr>
              <a:t> {</a:t>
            </a:r>
          </a:p>
          <a:p>
            <a:r>
              <a:rPr lang="en-US" sz="2400" b="1" dirty="0">
                <a:solidFill>
                  <a:srgbClr val="7F0055"/>
                </a:solidFill>
                <a:latin typeface="Consolas"/>
              </a:rPr>
              <a:t>void</a:t>
            </a:r>
            <a:r>
              <a:rPr lang="en-US" sz="2400" dirty="0">
                <a:solidFill>
                  <a:srgbClr val="000000"/>
                </a:solidFill>
                <a:latin typeface="Consolas"/>
              </a:rPr>
              <a:t> </a:t>
            </a:r>
            <a:r>
              <a:rPr lang="en-US" sz="2400" dirty="0" err="1">
                <a:solidFill>
                  <a:srgbClr val="000000"/>
                </a:solidFill>
                <a:latin typeface="Consolas"/>
              </a:rPr>
              <a:t>callme</a:t>
            </a:r>
            <a:r>
              <a:rPr lang="en-US" sz="2400" dirty="0">
                <a:solidFill>
                  <a:srgbClr val="000000"/>
                </a:solidFill>
                <a:latin typeface="Consolas"/>
              </a:rPr>
              <a:t>() {</a:t>
            </a:r>
          </a:p>
          <a:p>
            <a:r>
              <a:rPr lang="en-US" sz="2400" dirty="0" err="1">
                <a:solidFill>
                  <a:srgbClr val="000000"/>
                </a:solidFill>
                <a:latin typeface="Consolas"/>
              </a:rPr>
              <a:t>System.</a:t>
            </a:r>
            <a:r>
              <a:rPr lang="en-US" sz="2400" b="1" i="1" dirty="0" err="1">
                <a:solidFill>
                  <a:srgbClr val="0000C0"/>
                </a:solidFill>
                <a:latin typeface="Consolas"/>
              </a:rPr>
              <a:t>out</a:t>
            </a:r>
            <a:r>
              <a:rPr lang="en-US" sz="2400" dirty="0" err="1">
                <a:solidFill>
                  <a:srgbClr val="000000"/>
                </a:solidFill>
                <a:latin typeface="Consolas"/>
              </a:rPr>
              <a:t>.println</a:t>
            </a:r>
            <a:r>
              <a:rPr lang="en-US" sz="2400" dirty="0">
                <a:solidFill>
                  <a:srgbClr val="000000"/>
                </a:solidFill>
                <a:latin typeface="Consolas"/>
              </a:rPr>
              <a:t>(</a:t>
            </a:r>
            <a:r>
              <a:rPr lang="en-US" sz="2400" dirty="0">
                <a:solidFill>
                  <a:srgbClr val="2A00FF"/>
                </a:solidFill>
                <a:latin typeface="Consolas"/>
              </a:rPr>
              <a:t>"Inside C's </a:t>
            </a:r>
            <a:r>
              <a:rPr lang="en-US" sz="2400" dirty="0" err="1">
                <a:solidFill>
                  <a:srgbClr val="2A00FF"/>
                </a:solidFill>
                <a:latin typeface="Consolas"/>
              </a:rPr>
              <a:t>callme</a:t>
            </a:r>
            <a:r>
              <a:rPr lang="en-US" sz="2400" dirty="0">
                <a:solidFill>
                  <a:srgbClr val="2A00FF"/>
                </a:solidFill>
                <a:latin typeface="Consolas"/>
              </a:rPr>
              <a:t> method</a:t>
            </a:r>
            <a:r>
              <a:rPr lang="en-US" sz="2400" dirty="0" smtClean="0">
                <a:solidFill>
                  <a:srgbClr val="2A00FF"/>
                </a:solidFill>
                <a:latin typeface="Consolas"/>
              </a:rPr>
              <a:t>"</a:t>
            </a:r>
            <a:r>
              <a:rPr lang="en-US" sz="2400" dirty="0" smtClean="0">
                <a:solidFill>
                  <a:srgbClr val="000000"/>
                </a:solidFill>
                <a:latin typeface="Consolas"/>
              </a:rPr>
              <a:t>);}}</a:t>
            </a:r>
            <a:endParaRPr lang="en-US" sz="2400" dirty="0">
              <a:solidFill>
                <a:srgbClr val="000000"/>
              </a:solidFill>
              <a:latin typeface="Consolas"/>
            </a:endParaRPr>
          </a:p>
          <a:p>
            <a:r>
              <a:rPr lang="en-US" sz="2400" b="1" dirty="0">
                <a:solidFill>
                  <a:srgbClr val="7F0055"/>
                </a:solidFill>
                <a:latin typeface="Consolas"/>
              </a:rPr>
              <a:t>public</a:t>
            </a:r>
            <a:r>
              <a:rPr lang="en-US" sz="2400" dirty="0">
                <a:solidFill>
                  <a:srgbClr val="000000"/>
                </a:solidFill>
                <a:latin typeface="Consolas"/>
              </a:rPr>
              <a:t> </a:t>
            </a:r>
            <a:r>
              <a:rPr lang="en-US" sz="2400" b="1" dirty="0">
                <a:solidFill>
                  <a:srgbClr val="7F0055"/>
                </a:solidFill>
                <a:latin typeface="Consolas"/>
              </a:rPr>
              <a:t>class</a:t>
            </a:r>
            <a:r>
              <a:rPr lang="en-US" sz="2400" dirty="0">
                <a:solidFill>
                  <a:srgbClr val="000000"/>
                </a:solidFill>
                <a:latin typeface="Consolas"/>
              </a:rPr>
              <a:t> </a:t>
            </a:r>
            <a:r>
              <a:rPr lang="en-US" sz="2400" dirty="0" err="1">
                <a:solidFill>
                  <a:srgbClr val="000000"/>
                </a:solidFill>
                <a:latin typeface="Consolas"/>
              </a:rPr>
              <a:t>dynamicmethod</a:t>
            </a:r>
            <a:r>
              <a:rPr lang="en-US" sz="2400" dirty="0">
                <a:solidFill>
                  <a:srgbClr val="000000"/>
                </a:solidFill>
                <a:latin typeface="Consolas"/>
              </a:rPr>
              <a:t> {</a:t>
            </a:r>
          </a:p>
          <a:p>
            <a:r>
              <a:rPr lang="en-US" sz="2400" b="1" dirty="0">
                <a:solidFill>
                  <a:srgbClr val="7F0055"/>
                </a:solidFill>
                <a:latin typeface="Consolas"/>
              </a:rPr>
              <a:t>public</a:t>
            </a:r>
            <a:r>
              <a:rPr lang="en-US" sz="2400" dirty="0">
                <a:solidFill>
                  <a:srgbClr val="000000"/>
                </a:solidFill>
                <a:latin typeface="Consolas"/>
              </a:rPr>
              <a:t> </a:t>
            </a:r>
            <a:r>
              <a:rPr lang="en-US" sz="2400" b="1" dirty="0">
                <a:solidFill>
                  <a:srgbClr val="7F0055"/>
                </a:solidFill>
                <a:latin typeface="Consolas"/>
              </a:rPr>
              <a:t>static</a:t>
            </a:r>
            <a:r>
              <a:rPr lang="en-US" sz="2400" dirty="0">
                <a:solidFill>
                  <a:srgbClr val="000000"/>
                </a:solidFill>
                <a:latin typeface="Consolas"/>
              </a:rPr>
              <a:t> </a:t>
            </a:r>
            <a:r>
              <a:rPr lang="en-US" sz="2400" b="1" dirty="0">
                <a:solidFill>
                  <a:srgbClr val="7F0055"/>
                </a:solidFill>
                <a:latin typeface="Consolas"/>
              </a:rPr>
              <a:t>void</a:t>
            </a:r>
            <a:r>
              <a:rPr lang="en-US" sz="2400" dirty="0">
                <a:solidFill>
                  <a:srgbClr val="000000"/>
                </a:solidFill>
                <a:latin typeface="Consolas"/>
              </a:rPr>
              <a:t> main(String </a:t>
            </a:r>
            <a:r>
              <a:rPr lang="en-US" sz="2400" dirty="0" err="1">
                <a:solidFill>
                  <a:srgbClr val="6A3E3E"/>
                </a:solidFill>
                <a:latin typeface="Consolas"/>
              </a:rPr>
              <a:t>args</a:t>
            </a:r>
            <a:r>
              <a:rPr lang="en-US" sz="2400" dirty="0">
                <a:solidFill>
                  <a:srgbClr val="000000"/>
                </a:solidFill>
                <a:latin typeface="Consolas"/>
              </a:rPr>
              <a:t>[]) {</a:t>
            </a:r>
          </a:p>
          <a:p>
            <a:r>
              <a:rPr lang="en-US" sz="2400" dirty="0" err="1">
                <a:solidFill>
                  <a:srgbClr val="000000"/>
                </a:solidFill>
                <a:latin typeface="Consolas"/>
              </a:rPr>
              <a:t>Aone</a:t>
            </a:r>
            <a:r>
              <a:rPr lang="en-US" sz="2400" dirty="0">
                <a:solidFill>
                  <a:srgbClr val="000000"/>
                </a:solidFill>
                <a:latin typeface="Consolas"/>
              </a:rPr>
              <a:t> </a:t>
            </a:r>
            <a:r>
              <a:rPr lang="en-US" sz="2400" dirty="0">
                <a:solidFill>
                  <a:srgbClr val="6A3E3E"/>
                </a:solidFill>
                <a:latin typeface="Consolas"/>
              </a:rPr>
              <a:t>a</a:t>
            </a:r>
            <a:r>
              <a:rPr lang="en-US" sz="2400" dirty="0">
                <a:solidFill>
                  <a:srgbClr val="000000"/>
                </a:solidFill>
                <a:latin typeface="Consolas"/>
              </a:rPr>
              <a:t> = </a:t>
            </a:r>
            <a:r>
              <a:rPr lang="en-US" sz="2400" b="1" dirty="0">
                <a:solidFill>
                  <a:srgbClr val="7F0055"/>
                </a:solidFill>
                <a:latin typeface="Consolas"/>
              </a:rPr>
              <a:t>new</a:t>
            </a:r>
            <a:r>
              <a:rPr lang="en-US" sz="2400" dirty="0">
                <a:solidFill>
                  <a:srgbClr val="000000"/>
                </a:solidFill>
                <a:latin typeface="Consolas"/>
              </a:rPr>
              <a:t> </a:t>
            </a:r>
            <a:r>
              <a:rPr lang="en-US" sz="2400" dirty="0" err="1">
                <a:solidFill>
                  <a:srgbClr val="000000"/>
                </a:solidFill>
                <a:latin typeface="Consolas"/>
              </a:rPr>
              <a:t>Aone</a:t>
            </a:r>
            <a:r>
              <a:rPr lang="en-US" sz="2400" dirty="0">
                <a:solidFill>
                  <a:srgbClr val="000000"/>
                </a:solidFill>
                <a:latin typeface="Consolas"/>
              </a:rPr>
              <a:t>(); </a:t>
            </a:r>
          </a:p>
          <a:p>
            <a:r>
              <a:rPr lang="en-US" sz="2400" dirty="0" err="1">
                <a:solidFill>
                  <a:srgbClr val="000000"/>
                </a:solidFill>
                <a:latin typeface="Consolas"/>
              </a:rPr>
              <a:t>Btwo</a:t>
            </a:r>
            <a:r>
              <a:rPr lang="en-US" sz="2400" dirty="0">
                <a:solidFill>
                  <a:srgbClr val="000000"/>
                </a:solidFill>
                <a:latin typeface="Consolas"/>
              </a:rPr>
              <a:t> </a:t>
            </a:r>
            <a:r>
              <a:rPr lang="en-US" sz="2400" dirty="0">
                <a:solidFill>
                  <a:srgbClr val="6A3E3E"/>
                </a:solidFill>
                <a:latin typeface="Consolas"/>
              </a:rPr>
              <a:t>b</a:t>
            </a:r>
            <a:r>
              <a:rPr lang="en-US" sz="2400" dirty="0">
                <a:solidFill>
                  <a:srgbClr val="000000"/>
                </a:solidFill>
                <a:latin typeface="Consolas"/>
              </a:rPr>
              <a:t> = </a:t>
            </a:r>
            <a:r>
              <a:rPr lang="en-US" sz="2400" b="1" dirty="0">
                <a:solidFill>
                  <a:srgbClr val="7F0055"/>
                </a:solidFill>
                <a:latin typeface="Consolas"/>
              </a:rPr>
              <a:t>new</a:t>
            </a:r>
            <a:r>
              <a:rPr lang="en-US" sz="2400" dirty="0">
                <a:solidFill>
                  <a:srgbClr val="000000"/>
                </a:solidFill>
                <a:latin typeface="Consolas"/>
              </a:rPr>
              <a:t> </a:t>
            </a:r>
            <a:r>
              <a:rPr lang="en-US" sz="2400" dirty="0" err="1">
                <a:solidFill>
                  <a:srgbClr val="000000"/>
                </a:solidFill>
                <a:latin typeface="Consolas"/>
              </a:rPr>
              <a:t>Btwo</a:t>
            </a:r>
            <a:r>
              <a:rPr lang="en-US" sz="2400" dirty="0">
                <a:solidFill>
                  <a:srgbClr val="000000"/>
                </a:solidFill>
                <a:latin typeface="Consolas"/>
              </a:rPr>
              <a:t>(); </a:t>
            </a:r>
          </a:p>
          <a:p>
            <a:r>
              <a:rPr lang="en-US" sz="2400" dirty="0" err="1">
                <a:solidFill>
                  <a:srgbClr val="000000"/>
                </a:solidFill>
                <a:latin typeface="Consolas"/>
              </a:rPr>
              <a:t>Cthree</a:t>
            </a:r>
            <a:r>
              <a:rPr lang="en-US" sz="2400" dirty="0">
                <a:solidFill>
                  <a:srgbClr val="000000"/>
                </a:solidFill>
                <a:latin typeface="Consolas"/>
              </a:rPr>
              <a:t> </a:t>
            </a:r>
            <a:r>
              <a:rPr lang="en-US" sz="2400" dirty="0">
                <a:solidFill>
                  <a:srgbClr val="6A3E3E"/>
                </a:solidFill>
                <a:latin typeface="Consolas"/>
              </a:rPr>
              <a:t>c</a:t>
            </a:r>
            <a:r>
              <a:rPr lang="en-US" sz="2400" dirty="0">
                <a:solidFill>
                  <a:srgbClr val="000000"/>
                </a:solidFill>
                <a:latin typeface="Consolas"/>
              </a:rPr>
              <a:t> = </a:t>
            </a:r>
            <a:r>
              <a:rPr lang="en-US" sz="2400" b="1" dirty="0">
                <a:solidFill>
                  <a:srgbClr val="7F0055"/>
                </a:solidFill>
                <a:latin typeface="Consolas"/>
              </a:rPr>
              <a:t>new</a:t>
            </a:r>
            <a:r>
              <a:rPr lang="en-US" sz="2400" dirty="0">
                <a:solidFill>
                  <a:srgbClr val="000000"/>
                </a:solidFill>
                <a:latin typeface="Consolas"/>
              </a:rPr>
              <a:t> </a:t>
            </a:r>
            <a:r>
              <a:rPr lang="en-US" sz="2400" dirty="0" err="1">
                <a:solidFill>
                  <a:srgbClr val="000000"/>
                </a:solidFill>
                <a:latin typeface="Consolas"/>
              </a:rPr>
              <a:t>Cthree</a:t>
            </a:r>
            <a:r>
              <a:rPr lang="en-US" sz="2400" dirty="0">
                <a:solidFill>
                  <a:srgbClr val="000000"/>
                </a:solidFill>
                <a:latin typeface="Consolas"/>
              </a:rPr>
              <a:t>(); </a:t>
            </a:r>
          </a:p>
          <a:p>
            <a:r>
              <a:rPr lang="en-US" sz="2400" dirty="0" err="1">
                <a:solidFill>
                  <a:srgbClr val="000000"/>
                </a:solidFill>
                <a:latin typeface="Consolas"/>
              </a:rPr>
              <a:t>Aone</a:t>
            </a:r>
            <a:r>
              <a:rPr lang="en-US" sz="2400" dirty="0">
                <a:solidFill>
                  <a:srgbClr val="000000"/>
                </a:solidFill>
                <a:latin typeface="Consolas"/>
              </a:rPr>
              <a:t> </a:t>
            </a:r>
            <a:r>
              <a:rPr lang="en-US" sz="2400" dirty="0">
                <a:solidFill>
                  <a:srgbClr val="6A3E3E"/>
                </a:solidFill>
                <a:latin typeface="Consolas"/>
              </a:rPr>
              <a:t>r</a:t>
            </a:r>
            <a:r>
              <a:rPr lang="en-US" sz="2400" dirty="0">
                <a:solidFill>
                  <a:srgbClr val="000000"/>
                </a:solidFill>
                <a:latin typeface="Consolas"/>
              </a:rPr>
              <a:t>; </a:t>
            </a:r>
          </a:p>
          <a:p>
            <a:r>
              <a:rPr lang="en-US" sz="2400" dirty="0">
                <a:solidFill>
                  <a:srgbClr val="6A3E3E"/>
                </a:solidFill>
                <a:latin typeface="Consolas"/>
              </a:rPr>
              <a:t>r</a:t>
            </a:r>
            <a:r>
              <a:rPr lang="en-US" sz="2400" dirty="0">
                <a:solidFill>
                  <a:srgbClr val="000000"/>
                </a:solidFill>
                <a:latin typeface="Consolas"/>
              </a:rPr>
              <a:t> = </a:t>
            </a:r>
            <a:r>
              <a:rPr lang="en-US" sz="2400" dirty="0">
                <a:solidFill>
                  <a:srgbClr val="6A3E3E"/>
                </a:solidFill>
                <a:latin typeface="Consolas"/>
              </a:rPr>
              <a:t>a</a:t>
            </a:r>
            <a:r>
              <a:rPr lang="en-US" sz="2400" dirty="0">
                <a:solidFill>
                  <a:srgbClr val="000000"/>
                </a:solidFill>
                <a:latin typeface="Consolas"/>
              </a:rPr>
              <a:t>; </a:t>
            </a:r>
          </a:p>
          <a:p>
            <a:r>
              <a:rPr lang="en-US" sz="2400" dirty="0" err="1">
                <a:solidFill>
                  <a:srgbClr val="6A3E3E"/>
                </a:solidFill>
                <a:latin typeface="Consolas"/>
              </a:rPr>
              <a:t>r</a:t>
            </a:r>
            <a:r>
              <a:rPr lang="en-US" sz="2400" dirty="0" err="1">
                <a:solidFill>
                  <a:srgbClr val="000000"/>
                </a:solidFill>
                <a:latin typeface="Consolas"/>
              </a:rPr>
              <a:t>.callme</a:t>
            </a:r>
            <a:r>
              <a:rPr lang="en-US" sz="2400" dirty="0">
                <a:solidFill>
                  <a:srgbClr val="000000"/>
                </a:solidFill>
                <a:latin typeface="Consolas"/>
              </a:rPr>
              <a:t>(); </a:t>
            </a:r>
          </a:p>
          <a:p>
            <a:r>
              <a:rPr lang="en-US" sz="2400" dirty="0">
                <a:solidFill>
                  <a:srgbClr val="6A3E3E"/>
                </a:solidFill>
                <a:latin typeface="Consolas"/>
              </a:rPr>
              <a:t>r</a:t>
            </a:r>
            <a:r>
              <a:rPr lang="en-US" sz="2400" dirty="0">
                <a:solidFill>
                  <a:srgbClr val="000000"/>
                </a:solidFill>
                <a:latin typeface="Consolas"/>
              </a:rPr>
              <a:t> = </a:t>
            </a:r>
            <a:r>
              <a:rPr lang="en-US" sz="2400" dirty="0">
                <a:solidFill>
                  <a:srgbClr val="6A3E3E"/>
                </a:solidFill>
                <a:latin typeface="Consolas"/>
              </a:rPr>
              <a:t>b</a:t>
            </a:r>
            <a:r>
              <a:rPr lang="en-US" sz="2400" dirty="0">
                <a:solidFill>
                  <a:srgbClr val="000000"/>
                </a:solidFill>
                <a:latin typeface="Consolas"/>
              </a:rPr>
              <a:t>; </a:t>
            </a:r>
          </a:p>
          <a:p>
            <a:r>
              <a:rPr lang="en-US" sz="2400" dirty="0" err="1">
                <a:solidFill>
                  <a:srgbClr val="6A3E3E"/>
                </a:solidFill>
                <a:latin typeface="Consolas"/>
              </a:rPr>
              <a:t>r</a:t>
            </a:r>
            <a:r>
              <a:rPr lang="en-US" sz="2400" dirty="0" err="1">
                <a:solidFill>
                  <a:srgbClr val="000000"/>
                </a:solidFill>
                <a:latin typeface="Consolas"/>
              </a:rPr>
              <a:t>.callme</a:t>
            </a:r>
            <a:r>
              <a:rPr lang="en-US" sz="2400" dirty="0">
                <a:solidFill>
                  <a:srgbClr val="000000"/>
                </a:solidFill>
                <a:latin typeface="Consolas"/>
              </a:rPr>
              <a:t>(); </a:t>
            </a:r>
          </a:p>
          <a:p>
            <a:r>
              <a:rPr lang="en-US" sz="2400" dirty="0">
                <a:solidFill>
                  <a:srgbClr val="6A3E3E"/>
                </a:solidFill>
                <a:latin typeface="Consolas"/>
              </a:rPr>
              <a:t>r</a:t>
            </a:r>
            <a:r>
              <a:rPr lang="en-US" sz="2400" dirty="0">
                <a:solidFill>
                  <a:srgbClr val="000000"/>
                </a:solidFill>
                <a:latin typeface="Consolas"/>
              </a:rPr>
              <a:t> = </a:t>
            </a:r>
            <a:r>
              <a:rPr lang="en-US" sz="2400" dirty="0">
                <a:solidFill>
                  <a:srgbClr val="6A3E3E"/>
                </a:solidFill>
                <a:latin typeface="Consolas"/>
              </a:rPr>
              <a:t>c</a:t>
            </a:r>
            <a:r>
              <a:rPr lang="en-US" sz="2400" dirty="0">
                <a:solidFill>
                  <a:srgbClr val="000000"/>
                </a:solidFill>
                <a:latin typeface="Consolas"/>
              </a:rPr>
              <a:t>; </a:t>
            </a:r>
          </a:p>
          <a:p>
            <a:r>
              <a:rPr lang="en-US" sz="2400" dirty="0" err="1">
                <a:solidFill>
                  <a:srgbClr val="6A3E3E"/>
                </a:solidFill>
                <a:latin typeface="Consolas"/>
              </a:rPr>
              <a:t>r</a:t>
            </a:r>
            <a:r>
              <a:rPr lang="en-US" sz="2400" dirty="0" err="1">
                <a:solidFill>
                  <a:srgbClr val="000000"/>
                </a:solidFill>
                <a:latin typeface="Consolas"/>
              </a:rPr>
              <a:t>.callme</a:t>
            </a:r>
            <a:r>
              <a:rPr lang="en-US" sz="2400" dirty="0">
                <a:solidFill>
                  <a:srgbClr val="000000"/>
                </a:solidFill>
                <a:latin typeface="Consolas"/>
              </a:rPr>
              <a:t>(); </a:t>
            </a:r>
            <a:r>
              <a:rPr lang="en-US" sz="2400" dirty="0" smtClean="0">
                <a:solidFill>
                  <a:srgbClr val="000000"/>
                </a:solidFill>
                <a:latin typeface="Consolas"/>
              </a:rPr>
              <a:t>}}</a:t>
            </a:r>
            <a:endParaRPr lang="en-US" sz="2400" dirty="0">
              <a:solidFill>
                <a:srgbClr val="000000"/>
              </a:solidFill>
              <a:effectLst/>
              <a:latin typeface="Consolas"/>
            </a:endParaRPr>
          </a:p>
        </p:txBody>
      </p:sp>
      <p:sp>
        <p:nvSpPr>
          <p:cNvPr id="10" name="Rectangle 9"/>
          <p:cNvSpPr/>
          <p:nvPr/>
        </p:nvSpPr>
        <p:spPr>
          <a:xfrm>
            <a:off x="11658600" y="2628900"/>
            <a:ext cx="5410200" cy="2062103"/>
          </a:xfrm>
          <a:prstGeom prst="rect">
            <a:avLst/>
          </a:prstGeom>
        </p:spPr>
        <p:txBody>
          <a:bodyPr wrap="square">
            <a:spAutoFit/>
          </a:bodyPr>
          <a:lstStyle/>
          <a:p>
            <a:r>
              <a:rPr lang="en-US" sz="3200" b="1" u="sng" dirty="0" smtClean="0"/>
              <a:t>OUTPUT –</a:t>
            </a:r>
          </a:p>
          <a:p>
            <a:r>
              <a:rPr lang="en-US" sz="3200" dirty="0" smtClean="0"/>
              <a:t>Inside </a:t>
            </a:r>
            <a:r>
              <a:rPr lang="en-US" sz="3200" dirty="0"/>
              <a:t>A's </a:t>
            </a:r>
            <a:r>
              <a:rPr lang="en-US" sz="3200" dirty="0" err="1"/>
              <a:t>callme</a:t>
            </a:r>
            <a:r>
              <a:rPr lang="en-US" sz="3200" dirty="0"/>
              <a:t> method</a:t>
            </a:r>
          </a:p>
          <a:p>
            <a:r>
              <a:rPr lang="en-US" sz="3200" dirty="0"/>
              <a:t>Inside B's </a:t>
            </a:r>
            <a:r>
              <a:rPr lang="en-US" sz="3200" dirty="0" err="1"/>
              <a:t>callme</a:t>
            </a:r>
            <a:r>
              <a:rPr lang="en-US" sz="3200" dirty="0"/>
              <a:t> method</a:t>
            </a:r>
          </a:p>
          <a:p>
            <a:r>
              <a:rPr lang="en-US" sz="3200" dirty="0"/>
              <a:t>Inside C's </a:t>
            </a:r>
            <a:r>
              <a:rPr lang="en-US" sz="3200" dirty="0" err="1"/>
              <a:t>callme</a:t>
            </a:r>
            <a:r>
              <a:rPr lang="en-US" sz="3200" dirty="0"/>
              <a:t> method</a:t>
            </a:r>
          </a:p>
        </p:txBody>
      </p:sp>
    </p:spTree>
    <p:extLst>
      <p:ext uri="{BB962C8B-B14F-4D97-AF65-F5344CB8AC3E}">
        <p14:creationId xmlns:p14="http://schemas.microsoft.com/office/powerpoint/2010/main" val="45003961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DYNAMIC METHOD DISPATCH</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4" y="2171700"/>
            <a:ext cx="15665931" cy="7848302"/>
          </a:xfrm>
          <a:prstGeom prst="rect">
            <a:avLst/>
          </a:prstGeom>
        </p:spPr>
        <p:txBody>
          <a:bodyPr wrap="square" lIns="0" tIns="0" rIns="0" bIns="0" rtlCol="0" anchor="t">
            <a:spAutoFit/>
          </a:bodyPr>
          <a:lstStyle/>
          <a:p>
            <a:pPr marL="571500" indent="-571500">
              <a:lnSpc>
                <a:spcPts val="5096"/>
              </a:lnSpc>
              <a:buFont typeface="Arial" panose="020B0604020202020204" pitchFamily="34" charset="0"/>
              <a:buChar char="•"/>
            </a:pPr>
            <a:r>
              <a:rPr lang="en-US" sz="3640" dirty="0" smtClean="0">
                <a:solidFill>
                  <a:srgbClr val="000000"/>
                </a:solidFill>
                <a:latin typeface="Century Gothic Paneuropean"/>
                <a:ea typeface="Century Gothic Paneuropean"/>
                <a:cs typeface="Century Gothic Paneuropean"/>
                <a:sym typeface="Century Gothic Paneuropean"/>
              </a:rPr>
              <a:t>In method overriding, we declare a object of a particular class to call method of that class and overcomes the method overriding. For a method to be overridden, it must have same name, return type and method signature. An overridden method is called using reference variable to which it belongs.</a:t>
            </a:r>
          </a:p>
          <a:p>
            <a:pPr marL="571500" indent="-571500">
              <a:lnSpc>
                <a:spcPts val="5096"/>
              </a:lnSpc>
              <a:buFont typeface="Arial" panose="020B0604020202020204" pitchFamily="34" charset="0"/>
              <a:buChar char="•"/>
            </a:pPr>
            <a:r>
              <a:rPr lang="en-US" sz="3640" dirty="0" smtClean="0">
                <a:solidFill>
                  <a:srgbClr val="000000"/>
                </a:solidFill>
                <a:latin typeface="Century Gothic Paneuropean"/>
                <a:ea typeface="Century Gothic Paneuropean"/>
                <a:cs typeface="Century Gothic Paneuropean"/>
                <a:sym typeface="Century Gothic Paneuropean"/>
              </a:rPr>
              <a:t>In dynamic method dispatch, we create new reference variable of superclass, which will point to the subclass object, in turn calls subclass overridden method. When a superclass reference variable refers to a subclass object, and an overridden method is called using this reference, the </a:t>
            </a:r>
            <a:r>
              <a:rPr lang="en-US" sz="3640" dirty="0" err="1" smtClean="0">
                <a:solidFill>
                  <a:srgbClr val="000000"/>
                </a:solidFill>
                <a:latin typeface="Century Gothic Paneuropean"/>
                <a:ea typeface="Century Gothic Paneuropean"/>
                <a:cs typeface="Century Gothic Paneuropean"/>
                <a:sym typeface="Century Gothic Paneuropean"/>
              </a:rPr>
              <a:t>JVM</a:t>
            </a:r>
            <a:r>
              <a:rPr lang="en-US" sz="3640" dirty="0" smtClean="0">
                <a:solidFill>
                  <a:srgbClr val="000000"/>
                </a:solidFill>
                <a:latin typeface="Century Gothic Paneuropean"/>
                <a:ea typeface="Century Gothic Paneuropean"/>
                <a:cs typeface="Century Gothic Paneuropean"/>
                <a:sym typeface="Century Gothic Paneuropean"/>
              </a:rPr>
              <a:t> determines which version of the  method to execute based on object’s actual type.</a:t>
            </a:r>
          </a:p>
          <a:p>
            <a:pPr marL="571500" indent="-571500">
              <a:lnSpc>
                <a:spcPts val="5096"/>
              </a:lnSpc>
              <a:buFont typeface="Arial" panose="020B0604020202020204" pitchFamily="34" charset="0"/>
              <a:buChar char="•"/>
            </a:pPr>
            <a:r>
              <a:rPr lang="en-US" sz="3640" dirty="0" smtClean="0">
                <a:solidFill>
                  <a:srgbClr val="000000"/>
                </a:solidFill>
                <a:latin typeface="Century Gothic Paneuropean"/>
                <a:ea typeface="Century Gothic Paneuropean"/>
                <a:cs typeface="Century Gothic Paneuropean"/>
                <a:sym typeface="Century Gothic Paneuropean"/>
              </a:rPr>
              <a:t>Both supports runtime polymorphism.</a:t>
            </a:r>
          </a:p>
        </p:txBody>
      </p:sp>
    </p:spTree>
    <p:extLst>
      <p:ext uri="{BB962C8B-B14F-4D97-AF65-F5344CB8AC3E}">
        <p14:creationId xmlns:p14="http://schemas.microsoft.com/office/powerpoint/2010/main" val="209803489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POLYMORPHISM</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2" y="2033935"/>
            <a:ext cx="15537445" cy="2572948"/>
          </a:xfrm>
          <a:prstGeom prst="rect">
            <a:avLst/>
          </a:prstGeom>
        </p:spPr>
        <p:txBody>
          <a:bodyPr wrap="square" lIns="0" tIns="0" rIns="0" bIns="0" rtlCol="0" anchor="t">
            <a:spAutoFit/>
          </a:bodyPr>
          <a:lstStyle/>
          <a:p>
            <a:pPr>
              <a:lnSpc>
                <a:spcPts val="5096"/>
              </a:lnSpc>
            </a:pPr>
            <a:r>
              <a:rPr lang="en-US" sz="3640" dirty="0" smtClean="0">
                <a:solidFill>
                  <a:srgbClr val="000000"/>
                </a:solidFill>
                <a:latin typeface="Century Gothic Paneuropean"/>
                <a:ea typeface="Century Gothic Paneuropean"/>
                <a:cs typeface="Century Gothic Paneuropean"/>
                <a:sym typeface="Century Gothic Paneuropean"/>
              </a:rPr>
              <a:t>Polymorphism of OOPs </a:t>
            </a:r>
            <a:r>
              <a:rPr lang="en-US" sz="3640" dirty="0">
                <a:solidFill>
                  <a:srgbClr val="000000"/>
                </a:solidFill>
                <a:latin typeface="Century Gothic Paneuropean"/>
                <a:ea typeface="Century Gothic Paneuropean"/>
                <a:cs typeface="Century Gothic Paneuropean"/>
                <a:sym typeface="Century Gothic Paneuropean"/>
              </a:rPr>
              <a:t>in Java, allows objects to take on many forms. The word "polymorphism" </a:t>
            </a:r>
            <a:r>
              <a:rPr lang="en-US" sz="3640" dirty="0" smtClean="0">
                <a:solidFill>
                  <a:srgbClr val="000000"/>
                </a:solidFill>
                <a:latin typeface="Century Gothic Paneuropean"/>
                <a:ea typeface="Century Gothic Paneuropean"/>
                <a:cs typeface="Century Gothic Paneuropean"/>
                <a:sym typeface="Century Gothic Paneuropean"/>
              </a:rPr>
              <a:t>means </a:t>
            </a:r>
            <a:r>
              <a:rPr lang="en-US" sz="3640" dirty="0">
                <a:solidFill>
                  <a:srgbClr val="000000"/>
                </a:solidFill>
                <a:latin typeface="Century Gothic Paneuropean"/>
                <a:ea typeface="Century Gothic Paneuropean"/>
                <a:cs typeface="Century Gothic Paneuropean"/>
                <a:sym typeface="Century Gothic Paneuropean"/>
              </a:rPr>
              <a:t>"many forms." It enables a single action to be performed in different ways, based on the object performing the action. </a:t>
            </a:r>
          </a:p>
        </p:txBody>
      </p:sp>
      <p:pic>
        <p:nvPicPr>
          <p:cNvPr id="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4809733"/>
            <a:ext cx="10132616" cy="5066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0802175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POLYMORPHISM</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2" y="2033935"/>
            <a:ext cx="15978088" cy="7848302"/>
          </a:xfrm>
          <a:prstGeom prst="rect">
            <a:avLst/>
          </a:prstGeom>
        </p:spPr>
        <p:txBody>
          <a:bodyPr wrap="square" lIns="0" tIns="0" rIns="0" bIns="0" rtlCol="0" anchor="t">
            <a:spAutoFit/>
          </a:bodyPr>
          <a:lstStyle/>
          <a:p>
            <a:pPr marL="571500" indent="-571500">
              <a:lnSpc>
                <a:spcPts val="5096"/>
              </a:lnSpc>
              <a:buFont typeface="Arial" panose="020B0604020202020204" pitchFamily="34" charset="0"/>
              <a:buChar char="•"/>
            </a:pPr>
            <a:r>
              <a:rPr lang="en-US" sz="3640" b="1" u="sng" dirty="0">
                <a:solidFill>
                  <a:srgbClr val="000000"/>
                </a:solidFill>
                <a:latin typeface="Century Gothic Paneuropean"/>
                <a:ea typeface="Century Gothic Paneuropean"/>
                <a:cs typeface="Century Gothic Paneuropean"/>
                <a:sym typeface="Century Gothic Paneuropean"/>
              </a:rPr>
              <a:t>Compile-time Polymorphism (Static Polymorphism/Method Overloading): </a:t>
            </a:r>
            <a:r>
              <a:rPr lang="en-US" sz="3640" dirty="0">
                <a:solidFill>
                  <a:srgbClr val="000000"/>
                </a:solidFill>
                <a:latin typeface="Century Gothic Paneuropean"/>
                <a:ea typeface="Century Gothic Paneuropean"/>
                <a:cs typeface="Century Gothic Paneuropean"/>
                <a:sym typeface="Century Gothic Paneuropean"/>
              </a:rPr>
              <a:t>This occurs when multiple methods </a:t>
            </a:r>
            <a:r>
              <a:rPr lang="en-US" sz="3640" dirty="0" smtClean="0">
                <a:solidFill>
                  <a:srgbClr val="000000"/>
                </a:solidFill>
                <a:latin typeface="Century Gothic Paneuropean"/>
                <a:ea typeface="Century Gothic Paneuropean"/>
                <a:cs typeface="Century Gothic Paneuropean"/>
                <a:sym typeface="Century Gothic Paneuropean"/>
              </a:rPr>
              <a:t>within </a:t>
            </a:r>
            <a:r>
              <a:rPr lang="en-US" sz="3640" dirty="0">
                <a:solidFill>
                  <a:srgbClr val="000000"/>
                </a:solidFill>
                <a:latin typeface="Century Gothic Paneuropean"/>
                <a:ea typeface="Century Gothic Paneuropean"/>
                <a:cs typeface="Century Gothic Paneuropean"/>
                <a:sym typeface="Century Gothic Paneuropean"/>
              </a:rPr>
              <a:t>same class share </a:t>
            </a:r>
            <a:r>
              <a:rPr lang="en-US" sz="3640" dirty="0" smtClean="0">
                <a:solidFill>
                  <a:srgbClr val="000000"/>
                </a:solidFill>
                <a:latin typeface="Century Gothic Paneuropean"/>
                <a:ea typeface="Century Gothic Paneuropean"/>
                <a:cs typeface="Century Gothic Paneuropean"/>
                <a:sym typeface="Century Gothic Paneuropean"/>
              </a:rPr>
              <a:t>same </a:t>
            </a:r>
            <a:r>
              <a:rPr lang="en-US" sz="3640" dirty="0">
                <a:solidFill>
                  <a:srgbClr val="000000"/>
                </a:solidFill>
                <a:latin typeface="Century Gothic Paneuropean"/>
                <a:ea typeface="Century Gothic Paneuropean"/>
                <a:cs typeface="Century Gothic Paneuropean"/>
                <a:sym typeface="Century Gothic Paneuropean"/>
              </a:rPr>
              <a:t>name but have different parameter </a:t>
            </a:r>
            <a:r>
              <a:rPr lang="en-US" sz="3640" dirty="0" smtClean="0">
                <a:solidFill>
                  <a:srgbClr val="000000"/>
                </a:solidFill>
                <a:latin typeface="Century Gothic Paneuropean"/>
                <a:ea typeface="Century Gothic Paneuropean"/>
                <a:cs typeface="Century Gothic Paneuropean"/>
                <a:sym typeface="Century Gothic Paneuropean"/>
              </a:rPr>
              <a:t>lists. The </a:t>
            </a:r>
            <a:r>
              <a:rPr lang="en-US" sz="3640" dirty="0">
                <a:solidFill>
                  <a:srgbClr val="000000"/>
                </a:solidFill>
                <a:latin typeface="Century Gothic Paneuropean"/>
                <a:ea typeface="Century Gothic Paneuropean"/>
                <a:cs typeface="Century Gothic Paneuropean"/>
                <a:sym typeface="Century Gothic Paneuropean"/>
              </a:rPr>
              <a:t>Java compiler determines which overloaded method to call based on </a:t>
            </a:r>
            <a:r>
              <a:rPr lang="en-US" sz="3640" dirty="0" smtClean="0">
                <a:solidFill>
                  <a:srgbClr val="000000"/>
                </a:solidFill>
                <a:latin typeface="Century Gothic Paneuropean"/>
                <a:ea typeface="Century Gothic Paneuropean"/>
                <a:cs typeface="Century Gothic Paneuropean"/>
                <a:sym typeface="Century Gothic Paneuropean"/>
              </a:rPr>
              <a:t>arguments </a:t>
            </a:r>
            <a:r>
              <a:rPr lang="en-US" sz="3640" dirty="0">
                <a:solidFill>
                  <a:srgbClr val="000000"/>
                </a:solidFill>
                <a:latin typeface="Century Gothic Paneuropean"/>
                <a:ea typeface="Century Gothic Paneuropean"/>
                <a:cs typeface="Century Gothic Paneuropean"/>
                <a:sym typeface="Century Gothic Paneuropean"/>
              </a:rPr>
              <a:t>passed during </a:t>
            </a:r>
            <a:r>
              <a:rPr lang="en-US" sz="3640" dirty="0" smtClean="0">
                <a:solidFill>
                  <a:srgbClr val="000000"/>
                </a:solidFill>
                <a:latin typeface="Century Gothic Paneuropean"/>
                <a:ea typeface="Century Gothic Paneuropean"/>
                <a:cs typeface="Century Gothic Paneuropean"/>
                <a:sym typeface="Century Gothic Paneuropean"/>
              </a:rPr>
              <a:t>method </a:t>
            </a:r>
            <a:r>
              <a:rPr lang="en-US" sz="3640" dirty="0">
                <a:solidFill>
                  <a:srgbClr val="000000"/>
                </a:solidFill>
                <a:latin typeface="Century Gothic Paneuropean"/>
                <a:ea typeface="Century Gothic Paneuropean"/>
                <a:cs typeface="Century Gothic Paneuropean"/>
                <a:sym typeface="Century Gothic Paneuropean"/>
              </a:rPr>
              <a:t>invocation at compile time.</a:t>
            </a:r>
            <a:endParaRPr lang="en-US" sz="3640" b="1" u="sng" dirty="0" smtClean="0">
              <a:solidFill>
                <a:srgbClr val="000000"/>
              </a:solidFill>
              <a:latin typeface="Century Gothic Paneuropean"/>
              <a:ea typeface="Century Gothic Paneuropean"/>
              <a:cs typeface="Century Gothic Paneuropean"/>
              <a:sym typeface="Century Gothic Paneuropean"/>
            </a:endParaRPr>
          </a:p>
          <a:p>
            <a:pPr marL="571500" indent="-571500">
              <a:lnSpc>
                <a:spcPts val="5096"/>
              </a:lnSpc>
              <a:buFont typeface="Arial" panose="020B0604020202020204" pitchFamily="34" charset="0"/>
              <a:buChar char="•"/>
            </a:pPr>
            <a:r>
              <a:rPr lang="en-US" sz="3640" b="1" u="sng" dirty="0" smtClean="0">
                <a:solidFill>
                  <a:srgbClr val="000000"/>
                </a:solidFill>
                <a:latin typeface="Century Gothic Paneuropean"/>
                <a:ea typeface="Century Gothic Paneuropean"/>
                <a:cs typeface="Century Gothic Paneuropean"/>
                <a:sym typeface="Century Gothic Paneuropean"/>
              </a:rPr>
              <a:t>Runtime </a:t>
            </a:r>
            <a:r>
              <a:rPr lang="en-US" sz="3640" b="1" u="sng" dirty="0">
                <a:solidFill>
                  <a:srgbClr val="000000"/>
                </a:solidFill>
                <a:latin typeface="Century Gothic Paneuropean"/>
                <a:ea typeface="Century Gothic Paneuropean"/>
                <a:cs typeface="Century Gothic Paneuropean"/>
                <a:sym typeface="Century Gothic Paneuropean"/>
              </a:rPr>
              <a:t>Polymorphism (Dynamic Polymorphism/Method Overriding</a:t>
            </a:r>
            <a:r>
              <a:rPr lang="en-US" sz="3640" b="1" u="sng" dirty="0" smtClean="0">
                <a:solidFill>
                  <a:srgbClr val="000000"/>
                </a:solidFill>
                <a:latin typeface="Century Gothic Paneuropean"/>
                <a:ea typeface="Century Gothic Paneuropean"/>
                <a:cs typeface="Century Gothic Paneuropean"/>
                <a:sym typeface="Century Gothic Paneuropean"/>
              </a:rPr>
              <a:t>): </a:t>
            </a:r>
            <a:r>
              <a:rPr lang="en-US" sz="3640" dirty="0" smtClean="0">
                <a:solidFill>
                  <a:srgbClr val="000000"/>
                </a:solidFill>
                <a:latin typeface="Century Gothic Paneuropean"/>
                <a:ea typeface="Century Gothic Paneuropean"/>
                <a:cs typeface="Century Gothic Paneuropean"/>
                <a:sym typeface="Century Gothic Paneuropean"/>
              </a:rPr>
              <a:t>This </a:t>
            </a:r>
            <a:r>
              <a:rPr lang="en-US" sz="3640" dirty="0">
                <a:solidFill>
                  <a:srgbClr val="000000"/>
                </a:solidFill>
                <a:latin typeface="Century Gothic Paneuropean"/>
                <a:ea typeface="Century Gothic Paneuropean"/>
                <a:cs typeface="Century Gothic Paneuropean"/>
                <a:sym typeface="Century Gothic Paneuropean"/>
              </a:rPr>
              <a:t>occurs when a subclass provides a specific implementation for a method that is already defined in its </a:t>
            </a:r>
            <a:r>
              <a:rPr lang="en-US" sz="3640" dirty="0" smtClean="0">
                <a:solidFill>
                  <a:srgbClr val="000000"/>
                </a:solidFill>
                <a:latin typeface="Century Gothic Paneuropean"/>
                <a:ea typeface="Century Gothic Paneuropean"/>
                <a:cs typeface="Century Gothic Paneuropean"/>
                <a:sym typeface="Century Gothic Paneuropean"/>
              </a:rPr>
              <a:t>superclass. The </a:t>
            </a:r>
            <a:r>
              <a:rPr lang="en-US" sz="3640" dirty="0">
                <a:solidFill>
                  <a:srgbClr val="000000"/>
                </a:solidFill>
                <a:latin typeface="Century Gothic Paneuropean"/>
                <a:ea typeface="Century Gothic Paneuropean"/>
                <a:cs typeface="Century Gothic Paneuropean"/>
                <a:sym typeface="Century Gothic Paneuropean"/>
              </a:rPr>
              <a:t>method to be executed is determined at runtime, based on the actual type of the object being referred to by the reference variable. This relies on inheritance and </a:t>
            </a:r>
            <a:r>
              <a:rPr lang="en-US" sz="3640" dirty="0" err="1">
                <a:solidFill>
                  <a:srgbClr val="000000"/>
                </a:solidFill>
                <a:latin typeface="Century Gothic Paneuropean"/>
                <a:ea typeface="Century Gothic Paneuropean"/>
                <a:cs typeface="Century Gothic Paneuropean"/>
                <a:sym typeface="Century Gothic Paneuropean"/>
              </a:rPr>
              <a:t>upcasting</a:t>
            </a:r>
            <a:r>
              <a:rPr lang="en-US" sz="3640" dirty="0">
                <a:solidFill>
                  <a:srgbClr val="000000"/>
                </a:solidFill>
                <a:latin typeface="Century Gothic Paneuropean"/>
                <a:ea typeface="Century Gothic Paneuropean"/>
                <a:cs typeface="Century Gothic Paneuropean"/>
                <a:sym typeface="Century Gothic Paneuropean"/>
              </a:rPr>
              <a:t>, where a superclass reference variable refers to an object of a subclass. </a:t>
            </a:r>
          </a:p>
        </p:txBody>
      </p:sp>
    </p:spTree>
    <p:extLst>
      <p:ext uri="{BB962C8B-B14F-4D97-AF65-F5344CB8AC3E}">
        <p14:creationId xmlns:p14="http://schemas.microsoft.com/office/powerpoint/2010/main" val="376690186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ABSTRACT CLASS</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2" y="2033935"/>
            <a:ext cx="15537445" cy="610873"/>
          </a:xfrm>
          <a:prstGeom prst="rect">
            <a:avLst/>
          </a:prstGeom>
        </p:spPr>
        <p:txBody>
          <a:bodyPr wrap="square" lIns="0" tIns="0" rIns="0" bIns="0" rtlCol="0" anchor="t">
            <a:spAutoFit/>
          </a:bodyPr>
          <a:lstStyle/>
          <a:p>
            <a:pPr>
              <a:lnSpc>
                <a:spcPts val="5096"/>
              </a:lnSpc>
            </a:pPr>
            <a:r>
              <a:rPr lang="en-US" sz="3640" b="1" u="sng" dirty="0" smtClean="0">
                <a:solidFill>
                  <a:srgbClr val="000000"/>
                </a:solidFill>
                <a:latin typeface="Century Gothic Paneuropean"/>
                <a:ea typeface="Century Gothic Paneuropean"/>
                <a:cs typeface="Century Gothic Paneuropean"/>
                <a:sym typeface="Century Gothic Paneuropean"/>
              </a:rPr>
              <a:t> </a:t>
            </a:r>
            <a:endParaRPr lang="en-US" sz="3640" dirty="0">
              <a:solidFill>
                <a:srgbClr val="000000"/>
              </a:solidFill>
              <a:latin typeface="Century Gothic Paneuropean"/>
              <a:ea typeface="Century Gothic Paneuropean"/>
              <a:cs typeface="Century Gothic Paneuropean"/>
              <a:sym typeface="Century Gothic Paneuropean"/>
            </a:endParaRPr>
          </a:p>
        </p:txBody>
      </p:sp>
      <p:sp>
        <p:nvSpPr>
          <p:cNvPr id="10" name="Rectangle 9"/>
          <p:cNvSpPr/>
          <p:nvPr/>
        </p:nvSpPr>
        <p:spPr>
          <a:xfrm>
            <a:off x="1037211" y="2339371"/>
            <a:ext cx="15514745" cy="7934480"/>
          </a:xfrm>
          <a:prstGeom prst="rect">
            <a:avLst/>
          </a:prstGeom>
        </p:spPr>
        <p:txBody>
          <a:bodyPr wrap="square">
            <a:spAutoFit/>
          </a:bodyPr>
          <a:lstStyle/>
          <a:p>
            <a:r>
              <a:rPr lang="en-US" sz="3640" dirty="0">
                <a:solidFill>
                  <a:srgbClr val="000000"/>
                </a:solidFill>
                <a:latin typeface="Century Gothic Paneuropean"/>
                <a:ea typeface="Century Gothic Paneuropean"/>
                <a:cs typeface="Century Gothic Paneuropean"/>
              </a:rPr>
              <a:t>• </a:t>
            </a:r>
            <a:r>
              <a:rPr lang="en-US" sz="3640" dirty="0" smtClean="0">
                <a:solidFill>
                  <a:srgbClr val="000000"/>
                </a:solidFill>
                <a:latin typeface="Century Gothic Paneuropean"/>
                <a:ea typeface="Century Gothic Paneuropean"/>
                <a:cs typeface="Century Gothic Paneuropean"/>
              </a:rPr>
              <a:t>A </a:t>
            </a:r>
            <a:r>
              <a:rPr lang="en-US" sz="3640" dirty="0">
                <a:solidFill>
                  <a:srgbClr val="000000"/>
                </a:solidFill>
                <a:latin typeface="Century Gothic Paneuropean"/>
                <a:ea typeface="Century Gothic Paneuropean"/>
                <a:cs typeface="Century Gothic Paneuropean"/>
              </a:rPr>
              <a:t>class which is declared with the abstract keyword is known as an abstract class in Java. It can have abstract and non-abstract methods (method with the body). </a:t>
            </a:r>
            <a:endParaRPr lang="en-US" sz="3640" dirty="0" smtClean="0">
              <a:solidFill>
                <a:srgbClr val="000000"/>
              </a:solidFill>
              <a:latin typeface="Century Gothic Paneuropean"/>
              <a:ea typeface="Century Gothic Paneuropean"/>
              <a:cs typeface="Century Gothic Paneuropean"/>
            </a:endParaRPr>
          </a:p>
          <a:p>
            <a:r>
              <a:rPr lang="en-US" sz="3640" dirty="0" smtClean="0">
                <a:solidFill>
                  <a:srgbClr val="000000"/>
                </a:solidFill>
                <a:latin typeface="Century Gothic Paneuropean"/>
                <a:ea typeface="Century Gothic Paneuropean"/>
                <a:cs typeface="Century Gothic Paneuropean"/>
              </a:rPr>
              <a:t>• </a:t>
            </a:r>
            <a:r>
              <a:rPr lang="en-US" sz="3640" dirty="0">
                <a:solidFill>
                  <a:srgbClr val="000000"/>
                </a:solidFill>
                <a:latin typeface="Century Gothic Paneuropean"/>
                <a:ea typeface="Century Gothic Paneuropean"/>
                <a:cs typeface="Century Gothic Paneuropean"/>
              </a:rPr>
              <a:t>Abstraction is a process of hiding the implementation details and showing only functionality to the user. </a:t>
            </a:r>
            <a:endParaRPr lang="en-US" sz="3640" dirty="0" smtClean="0">
              <a:solidFill>
                <a:srgbClr val="000000"/>
              </a:solidFill>
              <a:latin typeface="Century Gothic Paneuropean"/>
              <a:ea typeface="Century Gothic Paneuropean"/>
              <a:cs typeface="Century Gothic Paneuropean"/>
            </a:endParaRPr>
          </a:p>
          <a:p>
            <a:r>
              <a:rPr lang="en-US" sz="3640" dirty="0" smtClean="0">
                <a:solidFill>
                  <a:srgbClr val="000000"/>
                </a:solidFill>
                <a:latin typeface="Century Gothic Paneuropean"/>
                <a:ea typeface="Century Gothic Paneuropean"/>
                <a:cs typeface="Century Gothic Paneuropean"/>
              </a:rPr>
              <a:t>• </a:t>
            </a:r>
            <a:r>
              <a:rPr lang="en-US" sz="3640" dirty="0">
                <a:solidFill>
                  <a:srgbClr val="000000"/>
                </a:solidFill>
                <a:latin typeface="Century Gothic Paneuropean"/>
                <a:ea typeface="Century Gothic Paneuropean"/>
                <a:cs typeface="Century Gothic Paneuropean"/>
              </a:rPr>
              <a:t>Another way, it shows only essential things to the user and hides the internal details, for example, sending SMS where you type the text and send the message. You don't know the internal processing about the message delivery. </a:t>
            </a:r>
            <a:endParaRPr lang="en-US" sz="3640" dirty="0" smtClean="0">
              <a:solidFill>
                <a:srgbClr val="000000"/>
              </a:solidFill>
              <a:latin typeface="Century Gothic Paneuropean"/>
              <a:ea typeface="Century Gothic Paneuropean"/>
              <a:cs typeface="Century Gothic Paneuropean"/>
            </a:endParaRPr>
          </a:p>
          <a:p>
            <a:r>
              <a:rPr lang="en-US" sz="3640" dirty="0" smtClean="0">
                <a:solidFill>
                  <a:srgbClr val="000000"/>
                </a:solidFill>
                <a:latin typeface="Century Gothic Paneuropean"/>
                <a:ea typeface="Century Gothic Paneuropean"/>
                <a:cs typeface="Century Gothic Paneuropean"/>
              </a:rPr>
              <a:t>• </a:t>
            </a:r>
            <a:r>
              <a:rPr lang="en-US" sz="3640" dirty="0">
                <a:solidFill>
                  <a:srgbClr val="000000"/>
                </a:solidFill>
                <a:latin typeface="Century Gothic Paneuropean"/>
                <a:ea typeface="Century Gothic Paneuropean"/>
                <a:cs typeface="Century Gothic Paneuropean"/>
              </a:rPr>
              <a:t>Abstraction lets you focus on what the object does instead of how it does it. </a:t>
            </a:r>
            <a:endParaRPr lang="en-US" sz="3640" dirty="0" smtClean="0">
              <a:solidFill>
                <a:srgbClr val="000000"/>
              </a:solidFill>
              <a:latin typeface="Century Gothic Paneuropean"/>
              <a:ea typeface="Century Gothic Paneuropean"/>
              <a:cs typeface="Century Gothic Paneuropean"/>
            </a:endParaRPr>
          </a:p>
          <a:p>
            <a:r>
              <a:rPr lang="en-US" sz="3640" dirty="0" smtClean="0">
                <a:solidFill>
                  <a:srgbClr val="000000"/>
                </a:solidFill>
                <a:latin typeface="Century Gothic Paneuropean"/>
                <a:ea typeface="Century Gothic Paneuropean"/>
                <a:cs typeface="Century Gothic Paneuropean"/>
              </a:rPr>
              <a:t>• </a:t>
            </a:r>
            <a:r>
              <a:rPr lang="en-US" sz="3640" dirty="0">
                <a:solidFill>
                  <a:srgbClr val="000000"/>
                </a:solidFill>
                <a:latin typeface="Century Gothic Paneuropean"/>
                <a:ea typeface="Century Gothic Paneuropean"/>
                <a:cs typeface="Century Gothic Paneuropean"/>
              </a:rPr>
              <a:t>There are two ways to achieve abstraction in java </a:t>
            </a:r>
            <a:r>
              <a:rPr lang="en-US" sz="3640" dirty="0" smtClean="0">
                <a:solidFill>
                  <a:srgbClr val="000000"/>
                </a:solidFill>
                <a:latin typeface="Century Gothic Paneuropean"/>
                <a:ea typeface="Century Gothic Paneuropean"/>
                <a:cs typeface="Century Gothic Paneuropean"/>
              </a:rPr>
              <a:t>–</a:t>
            </a:r>
          </a:p>
          <a:p>
            <a:pPr lvl="2"/>
            <a:r>
              <a:rPr lang="en-US" sz="3640" dirty="0">
                <a:solidFill>
                  <a:srgbClr val="000000"/>
                </a:solidFill>
                <a:latin typeface="Century Gothic Paneuropean"/>
                <a:ea typeface="Century Gothic Paneuropean"/>
                <a:cs typeface="Century Gothic Paneuropean"/>
              </a:rPr>
              <a:t> </a:t>
            </a:r>
            <a:r>
              <a:rPr lang="en-US" sz="3640" dirty="0" smtClean="0">
                <a:solidFill>
                  <a:srgbClr val="000000"/>
                </a:solidFill>
                <a:latin typeface="Century Gothic Paneuropean"/>
                <a:ea typeface="Century Gothic Paneuropean"/>
                <a:cs typeface="Century Gothic Paneuropean"/>
              </a:rPr>
              <a:t>-- </a:t>
            </a:r>
            <a:r>
              <a:rPr lang="en-US" sz="3640" dirty="0">
                <a:solidFill>
                  <a:srgbClr val="000000"/>
                </a:solidFill>
                <a:latin typeface="Century Gothic Paneuropean"/>
                <a:ea typeface="Century Gothic Paneuropean"/>
                <a:cs typeface="Century Gothic Paneuropean"/>
              </a:rPr>
              <a:t>Abstract class </a:t>
            </a:r>
            <a:r>
              <a:rPr lang="en-US" sz="3640" dirty="0" smtClean="0">
                <a:solidFill>
                  <a:srgbClr val="000000"/>
                </a:solidFill>
                <a:latin typeface="Century Gothic Paneuropean"/>
                <a:ea typeface="Century Gothic Paneuropean"/>
                <a:cs typeface="Century Gothic Paneuropean"/>
              </a:rPr>
              <a:t> </a:t>
            </a:r>
          </a:p>
          <a:p>
            <a:pPr lvl="2"/>
            <a:r>
              <a:rPr lang="en-US" sz="3640" dirty="0" smtClean="0">
                <a:solidFill>
                  <a:srgbClr val="000000"/>
                </a:solidFill>
                <a:latin typeface="Century Gothic Paneuropean"/>
                <a:ea typeface="Century Gothic Paneuropean"/>
                <a:cs typeface="Century Gothic Paneuropean"/>
              </a:rPr>
              <a:t> -- </a:t>
            </a:r>
            <a:r>
              <a:rPr lang="en-US" sz="3640" dirty="0">
                <a:solidFill>
                  <a:srgbClr val="000000"/>
                </a:solidFill>
                <a:latin typeface="Century Gothic Paneuropean"/>
                <a:ea typeface="Century Gothic Paneuropean"/>
                <a:cs typeface="Century Gothic Paneuropean"/>
              </a:rPr>
              <a:t>Interface </a:t>
            </a:r>
          </a:p>
        </p:txBody>
      </p:sp>
    </p:spTree>
    <p:extLst>
      <p:ext uri="{BB962C8B-B14F-4D97-AF65-F5344CB8AC3E}">
        <p14:creationId xmlns:p14="http://schemas.microsoft.com/office/powerpoint/2010/main" val="214361423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ABSTRACT CLASS</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2" y="2033935"/>
            <a:ext cx="15537445" cy="610873"/>
          </a:xfrm>
          <a:prstGeom prst="rect">
            <a:avLst/>
          </a:prstGeom>
        </p:spPr>
        <p:txBody>
          <a:bodyPr wrap="square" lIns="0" tIns="0" rIns="0" bIns="0" rtlCol="0" anchor="t">
            <a:spAutoFit/>
          </a:bodyPr>
          <a:lstStyle/>
          <a:p>
            <a:pPr>
              <a:lnSpc>
                <a:spcPts val="5096"/>
              </a:lnSpc>
            </a:pPr>
            <a:r>
              <a:rPr lang="en-US" sz="3640" b="1" u="sng" dirty="0" smtClean="0">
                <a:solidFill>
                  <a:srgbClr val="000000"/>
                </a:solidFill>
                <a:latin typeface="Century Gothic Paneuropean"/>
                <a:ea typeface="Century Gothic Paneuropean"/>
                <a:cs typeface="Century Gothic Paneuropean"/>
                <a:sym typeface="Century Gothic Paneuropean"/>
              </a:rPr>
              <a:t> </a:t>
            </a:r>
            <a:endParaRPr lang="en-US" sz="3640" dirty="0">
              <a:solidFill>
                <a:srgbClr val="000000"/>
              </a:solidFill>
              <a:latin typeface="Century Gothic Paneuropean"/>
              <a:ea typeface="Century Gothic Paneuropean"/>
              <a:cs typeface="Century Gothic Paneuropean"/>
              <a:sym typeface="Century Gothic Paneuropean"/>
            </a:endParaRPr>
          </a:p>
        </p:txBody>
      </p:sp>
      <p:sp>
        <p:nvSpPr>
          <p:cNvPr id="10" name="Rectangle 9"/>
          <p:cNvSpPr/>
          <p:nvPr/>
        </p:nvSpPr>
        <p:spPr>
          <a:xfrm>
            <a:off x="1037211" y="2339371"/>
            <a:ext cx="15514745" cy="652486"/>
          </a:xfrm>
          <a:prstGeom prst="rect">
            <a:avLst/>
          </a:prstGeom>
        </p:spPr>
        <p:txBody>
          <a:bodyPr wrap="square">
            <a:spAutoFit/>
          </a:bodyPr>
          <a:lstStyle/>
          <a:p>
            <a:r>
              <a:rPr lang="en-US" sz="3640" dirty="0" smtClean="0">
                <a:solidFill>
                  <a:srgbClr val="000000"/>
                </a:solidFill>
                <a:latin typeface="Century Gothic Paneuropean"/>
                <a:ea typeface="Century Gothic Paneuropean"/>
                <a:cs typeface="Century Gothic Paneuropean"/>
              </a:rPr>
              <a:t> </a:t>
            </a:r>
            <a:endParaRPr lang="en-US" sz="3640" dirty="0">
              <a:solidFill>
                <a:srgbClr val="000000"/>
              </a:solidFill>
              <a:latin typeface="Century Gothic Paneuropean"/>
              <a:ea typeface="Century Gothic Paneuropean"/>
              <a:cs typeface="Century Gothic Paneuropean"/>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1862" y="2644808"/>
            <a:ext cx="9734550" cy="57120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3611732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ABSTRACT CLASS</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2" y="2033935"/>
            <a:ext cx="15537445" cy="610873"/>
          </a:xfrm>
          <a:prstGeom prst="rect">
            <a:avLst/>
          </a:prstGeom>
        </p:spPr>
        <p:txBody>
          <a:bodyPr wrap="square" lIns="0" tIns="0" rIns="0" bIns="0" rtlCol="0" anchor="t">
            <a:spAutoFit/>
          </a:bodyPr>
          <a:lstStyle/>
          <a:p>
            <a:pPr>
              <a:lnSpc>
                <a:spcPts val="5096"/>
              </a:lnSpc>
            </a:pPr>
            <a:r>
              <a:rPr lang="en-US" sz="3640" b="1" u="sng" dirty="0" smtClean="0">
                <a:solidFill>
                  <a:srgbClr val="000000"/>
                </a:solidFill>
                <a:latin typeface="Century Gothic Paneuropean"/>
                <a:ea typeface="Century Gothic Paneuropean"/>
                <a:cs typeface="Century Gothic Paneuropean"/>
                <a:sym typeface="Century Gothic Paneuropean"/>
              </a:rPr>
              <a:t> </a:t>
            </a:r>
            <a:endParaRPr lang="en-US" sz="3640" dirty="0">
              <a:solidFill>
                <a:srgbClr val="000000"/>
              </a:solidFill>
              <a:latin typeface="Century Gothic Paneuropean"/>
              <a:ea typeface="Century Gothic Paneuropean"/>
              <a:cs typeface="Century Gothic Paneuropean"/>
              <a:sym typeface="Century Gothic Paneuropean"/>
            </a:endParaRPr>
          </a:p>
        </p:txBody>
      </p:sp>
      <p:sp>
        <p:nvSpPr>
          <p:cNvPr id="10" name="Rectangle 9"/>
          <p:cNvSpPr/>
          <p:nvPr/>
        </p:nvSpPr>
        <p:spPr>
          <a:xfrm>
            <a:off x="1037211" y="2339371"/>
            <a:ext cx="15514745" cy="652486"/>
          </a:xfrm>
          <a:prstGeom prst="rect">
            <a:avLst/>
          </a:prstGeom>
        </p:spPr>
        <p:txBody>
          <a:bodyPr wrap="square">
            <a:spAutoFit/>
          </a:bodyPr>
          <a:lstStyle/>
          <a:p>
            <a:r>
              <a:rPr lang="en-US" sz="3640" dirty="0" smtClean="0">
                <a:solidFill>
                  <a:srgbClr val="000000"/>
                </a:solidFill>
                <a:latin typeface="Century Gothic Paneuropean"/>
                <a:ea typeface="Century Gothic Paneuropean"/>
                <a:cs typeface="Century Gothic Paneuropean"/>
              </a:rPr>
              <a:t> </a:t>
            </a:r>
            <a:endParaRPr lang="en-US" sz="3640" dirty="0">
              <a:solidFill>
                <a:srgbClr val="000000"/>
              </a:solidFill>
              <a:latin typeface="Century Gothic Paneuropean"/>
              <a:ea typeface="Century Gothic Paneuropean"/>
              <a:cs typeface="Century Gothic Paneuropean"/>
            </a:endParaRPr>
          </a:p>
        </p:txBody>
      </p:sp>
      <p:sp>
        <p:nvSpPr>
          <p:cNvPr id="11" name="AutoShape 2" descr="Java Abstract Class and Abstrac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2" name="Picture 4" descr="Java Abstract Class and Abstract Methods | by Kamran Babayev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0937" y="2339371"/>
            <a:ext cx="9296400" cy="72337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172289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ABSTRACT CLASS</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2" y="2033935"/>
            <a:ext cx="15537445" cy="610873"/>
          </a:xfrm>
          <a:prstGeom prst="rect">
            <a:avLst/>
          </a:prstGeom>
        </p:spPr>
        <p:txBody>
          <a:bodyPr wrap="square" lIns="0" tIns="0" rIns="0" bIns="0" rtlCol="0" anchor="t">
            <a:spAutoFit/>
          </a:bodyPr>
          <a:lstStyle/>
          <a:p>
            <a:pPr>
              <a:lnSpc>
                <a:spcPts val="5096"/>
              </a:lnSpc>
            </a:pPr>
            <a:r>
              <a:rPr lang="en-US" sz="3640" b="1" u="sng" dirty="0" smtClean="0">
                <a:solidFill>
                  <a:srgbClr val="000000"/>
                </a:solidFill>
                <a:latin typeface="Century Gothic Paneuropean"/>
                <a:ea typeface="Century Gothic Paneuropean"/>
                <a:cs typeface="Century Gothic Paneuropean"/>
                <a:sym typeface="Century Gothic Paneuropean"/>
              </a:rPr>
              <a:t> </a:t>
            </a:r>
            <a:endParaRPr lang="en-US" sz="3640" dirty="0">
              <a:solidFill>
                <a:srgbClr val="000000"/>
              </a:solidFill>
              <a:latin typeface="Century Gothic Paneuropean"/>
              <a:ea typeface="Century Gothic Paneuropean"/>
              <a:cs typeface="Century Gothic Paneuropean"/>
              <a:sym typeface="Century Gothic Paneuropean"/>
            </a:endParaRPr>
          </a:p>
        </p:txBody>
      </p:sp>
      <p:sp>
        <p:nvSpPr>
          <p:cNvPr id="10" name="Rectangle 9"/>
          <p:cNvSpPr/>
          <p:nvPr/>
        </p:nvSpPr>
        <p:spPr>
          <a:xfrm>
            <a:off x="1037212" y="2339371"/>
            <a:ext cx="8101926" cy="7478970"/>
          </a:xfrm>
          <a:prstGeom prst="rect">
            <a:avLst/>
          </a:prstGeom>
        </p:spPr>
        <p:txBody>
          <a:bodyPr wrap="square">
            <a:spAutoFit/>
          </a:bodyPr>
          <a:lstStyle/>
          <a:p>
            <a:r>
              <a:rPr lang="en-US" sz="2400" dirty="0">
                <a:solidFill>
                  <a:srgbClr val="000000"/>
                </a:solidFill>
                <a:latin typeface="Century Gothic Paneuropean"/>
                <a:ea typeface="Century Gothic Paneuropean"/>
                <a:cs typeface="Century Gothic Paneuropean"/>
              </a:rPr>
              <a:t>abstract class Shape </a:t>
            </a:r>
            <a:r>
              <a:rPr lang="en-US" sz="2400" dirty="0" smtClean="0">
                <a:solidFill>
                  <a:srgbClr val="000000"/>
                </a:solidFill>
                <a:latin typeface="Century Gothic Paneuropean"/>
                <a:ea typeface="Century Gothic Paneuropean"/>
                <a:cs typeface="Century Gothic Paneuropean"/>
              </a:rPr>
              <a:t>{</a:t>
            </a:r>
            <a:endParaRPr lang="en-US" sz="2400" dirty="0">
              <a:solidFill>
                <a:srgbClr val="000000"/>
              </a:solidFill>
              <a:latin typeface="Century Gothic Paneuropean"/>
              <a:ea typeface="Century Gothic Paneuropean"/>
              <a:cs typeface="Century Gothic Paneuropean"/>
            </a:endParaRPr>
          </a:p>
          <a:p>
            <a:r>
              <a:rPr lang="en-US" sz="2400" dirty="0">
                <a:solidFill>
                  <a:srgbClr val="000000"/>
                </a:solidFill>
                <a:latin typeface="Century Gothic Paneuropean"/>
                <a:ea typeface="Century Gothic Paneuropean"/>
                <a:cs typeface="Century Gothic Paneuropean"/>
              </a:rPr>
              <a:t>    String color</a:t>
            </a:r>
            <a:r>
              <a:rPr lang="en-US" sz="2400" dirty="0" smtClean="0">
                <a:solidFill>
                  <a:srgbClr val="000000"/>
                </a:solidFill>
                <a:latin typeface="Century Gothic Paneuropean"/>
                <a:ea typeface="Century Gothic Paneuropean"/>
                <a:cs typeface="Century Gothic Paneuropean"/>
              </a:rPr>
              <a:t>;</a:t>
            </a:r>
            <a:endParaRPr lang="en-US" sz="2400" dirty="0">
              <a:solidFill>
                <a:srgbClr val="000000"/>
              </a:solidFill>
              <a:latin typeface="Century Gothic Paneuropean"/>
              <a:ea typeface="Century Gothic Paneuropean"/>
              <a:cs typeface="Century Gothic Paneuropean"/>
            </a:endParaRPr>
          </a:p>
          <a:p>
            <a:r>
              <a:rPr lang="en-US" sz="2400" dirty="0">
                <a:solidFill>
                  <a:srgbClr val="000000"/>
                </a:solidFill>
                <a:latin typeface="Century Gothic Paneuropean"/>
                <a:ea typeface="Century Gothic Paneuropean"/>
                <a:cs typeface="Century Gothic Paneuropean"/>
              </a:rPr>
              <a:t>    Shape(String color) {</a:t>
            </a:r>
          </a:p>
          <a:p>
            <a:r>
              <a:rPr lang="en-US" sz="2400" dirty="0">
                <a:solidFill>
                  <a:srgbClr val="000000"/>
                </a:solidFill>
                <a:latin typeface="Century Gothic Paneuropean"/>
                <a:ea typeface="Century Gothic Paneuropean"/>
                <a:cs typeface="Century Gothic Paneuropean"/>
              </a:rPr>
              <a:t>        </a:t>
            </a:r>
            <a:r>
              <a:rPr lang="en-US" sz="2400" dirty="0" err="1">
                <a:solidFill>
                  <a:srgbClr val="000000"/>
                </a:solidFill>
                <a:latin typeface="Century Gothic Paneuropean"/>
                <a:ea typeface="Century Gothic Paneuropean"/>
                <a:cs typeface="Century Gothic Paneuropean"/>
              </a:rPr>
              <a:t>this.color</a:t>
            </a:r>
            <a:r>
              <a:rPr lang="en-US" sz="2400" dirty="0">
                <a:solidFill>
                  <a:srgbClr val="000000"/>
                </a:solidFill>
                <a:latin typeface="Century Gothic Paneuropean"/>
                <a:ea typeface="Century Gothic Paneuropean"/>
                <a:cs typeface="Century Gothic Paneuropean"/>
              </a:rPr>
              <a:t> = color</a:t>
            </a:r>
            <a:r>
              <a:rPr lang="en-US" sz="2400" dirty="0" smtClean="0">
                <a:solidFill>
                  <a:srgbClr val="000000"/>
                </a:solidFill>
                <a:latin typeface="Century Gothic Paneuropean"/>
                <a:ea typeface="Century Gothic Paneuropean"/>
                <a:cs typeface="Century Gothic Paneuropean"/>
              </a:rPr>
              <a:t>;}</a:t>
            </a:r>
            <a:endParaRPr lang="en-US" sz="2400" dirty="0">
              <a:solidFill>
                <a:srgbClr val="000000"/>
              </a:solidFill>
              <a:latin typeface="Century Gothic Paneuropean"/>
              <a:ea typeface="Century Gothic Paneuropean"/>
              <a:cs typeface="Century Gothic Paneuropean"/>
            </a:endParaRPr>
          </a:p>
          <a:p>
            <a:r>
              <a:rPr lang="en-US" sz="2400" dirty="0">
                <a:solidFill>
                  <a:srgbClr val="000000"/>
                </a:solidFill>
                <a:latin typeface="Century Gothic Paneuropean"/>
                <a:ea typeface="Century Gothic Paneuropean"/>
                <a:cs typeface="Century Gothic Paneuropean"/>
              </a:rPr>
              <a:t>    abstract double area</a:t>
            </a:r>
            <a:r>
              <a:rPr lang="en-US" sz="2400" dirty="0" smtClean="0">
                <a:solidFill>
                  <a:srgbClr val="000000"/>
                </a:solidFill>
                <a:latin typeface="Century Gothic Paneuropean"/>
                <a:ea typeface="Century Gothic Paneuropean"/>
                <a:cs typeface="Century Gothic Paneuropean"/>
              </a:rPr>
              <a:t>();</a:t>
            </a:r>
            <a:endParaRPr lang="en-US" sz="2400" dirty="0">
              <a:solidFill>
                <a:srgbClr val="000000"/>
              </a:solidFill>
              <a:latin typeface="Century Gothic Paneuropean"/>
              <a:ea typeface="Century Gothic Paneuropean"/>
              <a:cs typeface="Century Gothic Paneuropean"/>
            </a:endParaRPr>
          </a:p>
          <a:p>
            <a:r>
              <a:rPr lang="en-US" sz="2400" dirty="0">
                <a:solidFill>
                  <a:srgbClr val="000000"/>
                </a:solidFill>
                <a:latin typeface="Century Gothic Paneuropean"/>
                <a:ea typeface="Century Gothic Paneuropean"/>
                <a:cs typeface="Century Gothic Paneuropean"/>
              </a:rPr>
              <a:t>    void </a:t>
            </a:r>
            <a:r>
              <a:rPr lang="en-US" sz="2400" dirty="0" err="1">
                <a:solidFill>
                  <a:srgbClr val="000000"/>
                </a:solidFill>
                <a:latin typeface="Century Gothic Paneuropean"/>
                <a:ea typeface="Century Gothic Paneuropean"/>
                <a:cs typeface="Century Gothic Paneuropean"/>
              </a:rPr>
              <a:t>getColor</a:t>
            </a:r>
            <a:r>
              <a:rPr lang="en-US" sz="2400" dirty="0">
                <a:solidFill>
                  <a:srgbClr val="000000"/>
                </a:solidFill>
                <a:latin typeface="Century Gothic Paneuropean"/>
                <a:ea typeface="Century Gothic Paneuropean"/>
                <a:cs typeface="Century Gothic Paneuropean"/>
              </a:rPr>
              <a:t>() {</a:t>
            </a:r>
          </a:p>
          <a:p>
            <a:r>
              <a:rPr lang="en-US" sz="2400" dirty="0">
                <a:solidFill>
                  <a:srgbClr val="000000"/>
                </a:solidFill>
                <a:latin typeface="Century Gothic Paneuropean"/>
                <a:ea typeface="Century Gothic Paneuropean"/>
                <a:cs typeface="Century Gothic Paneuropean"/>
              </a:rPr>
              <a:t>        </a:t>
            </a:r>
            <a:r>
              <a:rPr lang="en-US" sz="2400" dirty="0" err="1">
                <a:solidFill>
                  <a:srgbClr val="000000"/>
                </a:solidFill>
                <a:latin typeface="Century Gothic Paneuropean"/>
                <a:ea typeface="Century Gothic Paneuropean"/>
                <a:cs typeface="Century Gothic Paneuropean"/>
              </a:rPr>
              <a:t>System.out.println</a:t>
            </a:r>
            <a:r>
              <a:rPr lang="en-US" sz="2400" dirty="0">
                <a:solidFill>
                  <a:srgbClr val="000000"/>
                </a:solidFill>
                <a:latin typeface="Century Gothic Paneuropean"/>
                <a:ea typeface="Century Gothic Paneuropean"/>
                <a:cs typeface="Century Gothic Paneuropean"/>
              </a:rPr>
              <a:t>("Color: " + color</a:t>
            </a:r>
            <a:r>
              <a:rPr lang="en-US" sz="2400" dirty="0" smtClean="0">
                <a:solidFill>
                  <a:srgbClr val="000000"/>
                </a:solidFill>
                <a:latin typeface="Century Gothic Paneuropean"/>
                <a:ea typeface="Century Gothic Paneuropean"/>
                <a:cs typeface="Century Gothic Paneuropean"/>
              </a:rPr>
              <a:t>);}}</a:t>
            </a:r>
            <a:endParaRPr lang="en-US" sz="2400" dirty="0">
              <a:solidFill>
                <a:srgbClr val="000000"/>
              </a:solidFill>
              <a:latin typeface="Century Gothic Paneuropean"/>
              <a:ea typeface="Century Gothic Paneuropean"/>
              <a:cs typeface="Century Gothic Paneuropean"/>
            </a:endParaRPr>
          </a:p>
          <a:p>
            <a:r>
              <a:rPr lang="en-US" sz="2400" dirty="0">
                <a:solidFill>
                  <a:srgbClr val="000000"/>
                </a:solidFill>
                <a:latin typeface="Century Gothic Paneuropean"/>
                <a:ea typeface="Century Gothic Paneuropean"/>
                <a:cs typeface="Century Gothic Paneuropean"/>
              </a:rPr>
              <a:t>class Circle extends Shape </a:t>
            </a:r>
            <a:r>
              <a:rPr lang="en-US" sz="2400" dirty="0" smtClean="0">
                <a:solidFill>
                  <a:srgbClr val="000000"/>
                </a:solidFill>
                <a:latin typeface="Century Gothic Paneuropean"/>
                <a:ea typeface="Century Gothic Paneuropean"/>
                <a:cs typeface="Century Gothic Paneuropean"/>
              </a:rPr>
              <a:t>{</a:t>
            </a:r>
            <a:endParaRPr lang="en-US" sz="2400" dirty="0">
              <a:solidFill>
                <a:srgbClr val="000000"/>
              </a:solidFill>
              <a:latin typeface="Century Gothic Paneuropean"/>
              <a:ea typeface="Century Gothic Paneuropean"/>
              <a:cs typeface="Century Gothic Paneuropean"/>
            </a:endParaRPr>
          </a:p>
          <a:p>
            <a:r>
              <a:rPr lang="en-US" sz="2400" dirty="0">
                <a:solidFill>
                  <a:srgbClr val="000000"/>
                </a:solidFill>
                <a:latin typeface="Century Gothic Paneuropean"/>
                <a:ea typeface="Century Gothic Paneuropean"/>
                <a:cs typeface="Century Gothic Paneuropean"/>
              </a:rPr>
              <a:t>    </a:t>
            </a:r>
            <a:r>
              <a:rPr lang="en-US" sz="2400" dirty="0" err="1">
                <a:solidFill>
                  <a:srgbClr val="000000"/>
                </a:solidFill>
                <a:latin typeface="Century Gothic Paneuropean"/>
                <a:ea typeface="Century Gothic Paneuropean"/>
                <a:cs typeface="Century Gothic Paneuropean"/>
              </a:rPr>
              <a:t>int</a:t>
            </a:r>
            <a:r>
              <a:rPr lang="en-US" sz="2400" dirty="0">
                <a:solidFill>
                  <a:srgbClr val="000000"/>
                </a:solidFill>
                <a:latin typeface="Century Gothic Paneuropean"/>
                <a:ea typeface="Century Gothic Paneuropean"/>
                <a:cs typeface="Century Gothic Paneuropean"/>
              </a:rPr>
              <a:t> radius</a:t>
            </a:r>
            <a:r>
              <a:rPr lang="en-US" sz="2400" dirty="0" smtClean="0">
                <a:solidFill>
                  <a:srgbClr val="000000"/>
                </a:solidFill>
                <a:latin typeface="Century Gothic Paneuropean"/>
                <a:ea typeface="Century Gothic Paneuropean"/>
                <a:cs typeface="Century Gothic Paneuropean"/>
              </a:rPr>
              <a:t>;</a:t>
            </a:r>
            <a:endParaRPr lang="en-US" sz="2400" dirty="0">
              <a:solidFill>
                <a:srgbClr val="000000"/>
              </a:solidFill>
              <a:latin typeface="Century Gothic Paneuropean"/>
              <a:ea typeface="Century Gothic Paneuropean"/>
              <a:cs typeface="Century Gothic Paneuropean"/>
            </a:endParaRPr>
          </a:p>
          <a:p>
            <a:r>
              <a:rPr lang="en-US" sz="2400" dirty="0">
                <a:solidFill>
                  <a:srgbClr val="000000"/>
                </a:solidFill>
                <a:latin typeface="Century Gothic Paneuropean"/>
                <a:ea typeface="Century Gothic Paneuropean"/>
                <a:cs typeface="Century Gothic Paneuropean"/>
              </a:rPr>
              <a:t>    Circle(String color, </a:t>
            </a:r>
            <a:r>
              <a:rPr lang="en-US" sz="2400" dirty="0" err="1">
                <a:solidFill>
                  <a:srgbClr val="000000"/>
                </a:solidFill>
                <a:latin typeface="Century Gothic Paneuropean"/>
                <a:ea typeface="Century Gothic Paneuropean"/>
                <a:cs typeface="Century Gothic Paneuropean"/>
              </a:rPr>
              <a:t>int</a:t>
            </a:r>
            <a:r>
              <a:rPr lang="en-US" sz="2400" dirty="0">
                <a:solidFill>
                  <a:srgbClr val="000000"/>
                </a:solidFill>
                <a:latin typeface="Century Gothic Paneuropean"/>
                <a:ea typeface="Century Gothic Paneuropean"/>
                <a:cs typeface="Century Gothic Paneuropean"/>
              </a:rPr>
              <a:t> radius) {</a:t>
            </a:r>
          </a:p>
          <a:p>
            <a:r>
              <a:rPr lang="en-US" sz="2400" dirty="0">
                <a:solidFill>
                  <a:srgbClr val="000000"/>
                </a:solidFill>
                <a:latin typeface="Century Gothic Paneuropean"/>
                <a:ea typeface="Century Gothic Paneuropean"/>
                <a:cs typeface="Century Gothic Paneuropean"/>
              </a:rPr>
              <a:t>        super(color);</a:t>
            </a:r>
          </a:p>
          <a:p>
            <a:r>
              <a:rPr lang="en-US" sz="2400" dirty="0">
                <a:solidFill>
                  <a:srgbClr val="000000"/>
                </a:solidFill>
                <a:latin typeface="Century Gothic Paneuropean"/>
                <a:ea typeface="Century Gothic Paneuropean"/>
                <a:cs typeface="Century Gothic Paneuropean"/>
              </a:rPr>
              <a:t>        </a:t>
            </a:r>
            <a:r>
              <a:rPr lang="en-US" sz="2400" dirty="0" err="1">
                <a:solidFill>
                  <a:srgbClr val="000000"/>
                </a:solidFill>
                <a:latin typeface="Century Gothic Paneuropean"/>
                <a:ea typeface="Century Gothic Paneuropean"/>
                <a:cs typeface="Century Gothic Paneuropean"/>
              </a:rPr>
              <a:t>this.radius</a:t>
            </a:r>
            <a:r>
              <a:rPr lang="en-US" sz="2400" dirty="0">
                <a:solidFill>
                  <a:srgbClr val="000000"/>
                </a:solidFill>
                <a:latin typeface="Century Gothic Paneuropean"/>
                <a:ea typeface="Century Gothic Paneuropean"/>
                <a:cs typeface="Century Gothic Paneuropean"/>
              </a:rPr>
              <a:t> = radius</a:t>
            </a:r>
            <a:r>
              <a:rPr lang="en-US" sz="2400" dirty="0" smtClean="0">
                <a:solidFill>
                  <a:srgbClr val="000000"/>
                </a:solidFill>
                <a:latin typeface="Century Gothic Paneuropean"/>
                <a:ea typeface="Century Gothic Paneuropean"/>
                <a:cs typeface="Century Gothic Paneuropean"/>
              </a:rPr>
              <a:t>;}</a:t>
            </a:r>
            <a:endParaRPr lang="en-US" sz="2400" dirty="0">
              <a:solidFill>
                <a:srgbClr val="000000"/>
              </a:solidFill>
              <a:latin typeface="Century Gothic Paneuropean"/>
              <a:ea typeface="Century Gothic Paneuropean"/>
              <a:cs typeface="Century Gothic Paneuropean"/>
            </a:endParaRPr>
          </a:p>
          <a:p>
            <a:r>
              <a:rPr lang="en-US" sz="2400" dirty="0">
                <a:solidFill>
                  <a:srgbClr val="000000"/>
                </a:solidFill>
                <a:latin typeface="Century Gothic Paneuropean"/>
                <a:ea typeface="Century Gothic Paneuropean"/>
                <a:cs typeface="Century Gothic Paneuropean"/>
              </a:rPr>
              <a:t>    double area() {</a:t>
            </a:r>
          </a:p>
          <a:p>
            <a:r>
              <a:rPr lang="en-US" sz="2400" dirty="0">
                <a:solidFill>
                  <a:srgbClr val="000000"/>
                </a:solidFill>
                <a:latin typeface="Century Gothic Paneuropean"/>
                <a:ea typeface="Century Gothic Paneuropean"/>
                <a:cs typeface="Century Gothic Paneuropean"/>
              </a:rPr>
              <a:t>        return 3.14 * radius * radius</a:t>
            </a:r>
            <a:r>
              <a:rPr lang="en-US" sz="2400" dirty="0" smtClean="0">
                <a:solidFill>
                  <a:srgbClr val="000000"/>
                </a:solidFill>
                <a:latin typeface="Century Gothic Paneuropean"/>
                <a:ea typeface="Century Gothic Paneuropean"/>
                <a:cs typeface="Century Gothic Paneuropean"/>
              </a:rPr>
              <a:t>;}}</a:t>
            </a:r>
            <a:endParaRPr lang="en-US" sz="2400" dirty="0">
              <a:solidFill>
                <a:srgbClr val="000000"/>
              </a:solidFill>
              <a:latin typeface="Century Gothic Paneuropean"/>
              <a:ea typeface="Century Gothic Paneuropean"/>
              <a:cs typeface="Century Gothic Paneuropean"/>
            </a:endParaRPr>
          </a:p>
          <a:p>
            <a:r>
              <a:rPr lang="en-US" sz="2400" dirty="0">
                <a:solidFill>
                  <a:srgbClr val="000000"/>
                </a:solidFill>
                <a:latin typeface="Century Gothic Paneuropean"/>
                <a:ea typeface="Century Gothic Paneuropean"/>
                <a:cs typeface="Century Gothic Paneuropean"/>
              </a:rPr>
              <a:t>public class </a:t>
            </a:r>
            <a:r>
              <a:rPr lang="en-US" sz="2400" dirty="0" err="1">
                <a:solidFill>
                  <a:srgbClr val="000000"/>
                </a:solidFill>
                <a:latin typeface="Century Gothic Paneuropean"/>
                <a:ea typeface="Century Gothic Paneuropean"/>
                <a:cs typeface="Century Gothic Paneuropean"/>
              </a:rPr>
              <a:t>GFG</a:t>
            </a:r>
            <a:r>
              <a:rPr lang="en-US" sz="2400" dirty="0">
                <a:solidFill>
                  <a:srgbClr val="000000"/>
                </a:solidFill>
                <a:latin typeface="Century Gothic Paneuropean"/>
                <a:ea typeface="Century Gothic Paneuropean"/>
                <a:cs typeface="Century Gothic Paneuropean"/>
              </a:rPr>
              <a:t>{</a:t>
            </a:r>
          </a:p>
          <a:p>
            <a:r>
              <a:rPr lang="en-US" sz="2400" dirty="0">
                <a:solidFill>
                  <a:srgbClr val="000000"/>
                </a:solidFill>
                <a:latin typeface="Century Gothic Paneuropean"/>
                <a:ea typeface="Century Gothic Paneuropean"/>
                <a:cs typeface="Century Gothic Paneuropean"/>
              </a:rPr>
              <a:t>    public static void main(String[] </a:t>
            </a:r>
            <a:r>
              <a:rPr lang="en-US" sz="2400" dirty="0" err="1">
                <a:solidFill>
                  <a:srgbClr val="000000"/>
                </a:solidFill>
                <a:latin typeface="Century Gothic Paneuropean"/>
                <a:ea typeface="Century Gothic Paneuropean"/>
                <a:cs typeface="Century Gothic Paneuropean"/>
              </a:rPr>
              <a:t>args</a:t>
            </a:r>
            <a:r>
              <a:rPr lang="en-US" sz="2400" dirty="0">
                <a:solidFill>
                  <a:srgbClr val="000000"/>
                </a:solidFill>
                <a:latin typeface="Century Gothic Paneuropean"/>
                <a:ea typeface="Century Gothic Paneuropean"/>
                <a:cs typeface="Century Gothic Paneuropean"/>
              </a:rPr>
              <a:t>) {</a:t>
            </a:r>
          </a:p>
          <a:p>
            <a:r>
              <a:rPr lang="en-US" sz="2400" dirty="0">
                <a:solidFill>
                  <a:srgbClr val="000000"/>
                </a:solidFill>
                <a:latin typeface="Century Gothic Paneuropean"/>
                <a:ea typeface="Century Gothic Paneuropean"/>
                <a:cs typeface="Century Gothic Paneuropean"/>
              </a:rPr>
              <a:t>        Shape s = new Circle("Red", 5);</a:t>
            </a:r>
          </a:p>
          <a:p>
            <a:r>
              <a:rPr lang="en-US" sz="2400" dirty="0">
                <a:solidFill>
                  <a:srgbClr val="000000"/>
                </a:solidFill>
                <a:latin typeface="Century Gothic Paneuropean"/>
                <a:ea typeface="Century Gothic Paneuropean"/>
                <a:cs typeface="Century Gothic Paneuropean"/>
              </a:rPr>
              <a:t>        </a:t>
            </a:r>
            <a:r>
              <a:rPr lang="en-US" sz="2400" dirty="0" err="1">
                <a:solidFill>
                  <a:srgbClr val="000000"/>
                </a:solidFill>
                <a:latin typeface="Century Gothic Paneuropean"/>
                <a:ea typeface="Century Gothic Paneuropean"/>
                <a:cs typeface="Century Gothic Paneuropean"/>
              </a:rPr>
              <a:t>s.getColor</a:t>
            </a:r>
            <a:r>
              <a:rPr lang="en-US" sz="2400" dirty="0">
                <a:solidFill>
                  <a:srgbClr val="000000"/>
                </a:solidFill>
                <a:latin typeface="Century Gothic Paneuropean"/>
                <a:ea typeface="Century Gothic Paneuropean"/>
                <a:cs typeface="Century Gothic Paneuropean"/>
              </a:rPr>
              <a:t>();</a:t>
            </a:r>
          </a:p>
          <a:p>
            <a:r>
              <a:rPr lang="en-US" sz="2400" dirty="0">
                <a:solidFill>
                  <a:srgbClr val="000000"/>
                </a:solidFill>
                <a:latin typeface="Century Gothic Paneuropean"/>
                <a:ea typeface="Century Gothic Paneuropean"/>
                <a:cs typeface="Century Gothic Paneuropean"/>
              </a:rPr>
              <a:t>        </a:t>
            </a:r>
            <a:r>
              <a:rPr lang="en-US" sz="2400" dirty="0" err="1">
                <a:solidFill>
                  <a:srgbClr val="000000"/>
                </a:solidFill>
                <a:latin typeface="Century Gothic Paneuropean"/>
                <a:ea typeface="Century Gothic Paneuropean"/>
                <a:cs typeface="Century Gothic Paneuropean"/>
              </a:rPr>
              <a:t>System.out.println</a:t>
            </a:r>
            <a:r>
              <a:rPr lang="en-US" sz="2400" dirty="0">
                <a:solidFill>
                  <a:srgbClr val="000000"/>
                </a:solidFill>
                <a:latin typeface="Century Gothic Paneuropean"/>
                <a:ea typeface="Century Gothic Paneuropean"/>
                <a:cs typeface="Century Gothic Paneuropean"/>
              </a:rPr>
              <a:t>("Area: " + </a:t>
            </a:r>
            <a:r>
              <a:rPr lang="en-US" sz="2400" dirty="0" err="1">
                <a:solidFill>
                  <a:srgbClr val="000000"/>
                </a:solidFill>
                <a:latin typeface="Century Gothic Paneuropean"/>
                <a:ea typeface="Century Gothic Paneuropean"/>
                <a:cs typeface="Century Gothic Paneuropean"/>
              </a:rPr>
              <a:t>s.area</a:t>
            </a:r>
            <a:r>
              <a:rPr lang="en-US" sz="2400" dirty="0">
                <a:solidFill>
                  <a:srgbClr val="000000"/>
                </a:solidFill>
                <a:latin typeface="Century Gothic Paneuropean"/>
                <a:ea typeface="Century Gothic Paneuropean"/>
                <a:cs typeface="Century Gothic Paneuropean"/>
              </a:rPr>
              <a:t>());</a:t>
            </a:r>
          </a:p>
          <a:p>
            <a:r>
              <a:rPr lang="en-US" sz="2400" dirty="0">
                <a:solidFill>
                  <a:srgbClr val="000000"/>
                </a:solidFill>
                <a:latin typeface="Century Gothic Paneuropean"/>
                <a:ea typeface="Century Gothic Paneuropean"/>
                <a:cs typeface="Century Gothic Paneuropean"/>
              </a:rPr>
              <a:t>    </a:t>
            </a:r>
            <a:r>
              <a:rPr lang="en-US" sz="2400" dirty="0" smtClean="0">
                <a:solidFill>
                  <a:srgbClr val="000000"/>
                </a:solidFill>
                <a:latin typeface="Century Gothic Paneuropean"/>
                <a:ea typeface="Century Gothic Paneuropean"/>
                <a:cs typeface="Century Gothic Paneuropean"/>
              </a:rPr>
              <a:t>}}</a:t>
            </a:r>
            <a:endParaRPr lang="en-US" sz="2400" dirty="0">
              <a:solidFill>
                <a:srgbClr val="000000"/>
              </a:solidFill>
              <a:latin typeface="Century Gothic Paneuropean"/>
              <a:ea typeface="Century Gothic Paneuropean"/>
              <a:cs typeface="Century Gothic Paneuropean"/>
            </a:endParaRPr>
          </a:p>
        </p:txBody>
      </p:sp>
      <p:sp>
        <p:nvSpPr>
          <p:cNvPr id="11" name="Rectangle 1"/>
          <p:cNvSpPr>
            <a:spLocks noChangeArrowheads="1"/>
          </p:cNvSpPr>
          <p:nvPr/>
        </p:nvSpPr>
        <p:spPr bwMode="auto">
          <a:xfrm>
            <a:off x="10134600" y="2862565"/>
            <a:ext cx="6200134" cy="1796603"/>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33308"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3600" b="0" i="0" u="none" strike="noStrike" cap="none" normalizeH="0" baseline="0" dirty="0" smtClean="0">
                <a:ln>
                  <a:noFill/>
                </a:ln>
                <a:solidFill>
                  <a:schemeClr val="tx1"/>
                </a:solidFill>
                <a:effectLst/>
                <a:latin typeface="Consolas" pitchFamily="49" charset="0"/>
                <a:cs typeface="Arial" pitchFamily="34" charset="0"/>
              </a:rPr>
              <a:t>OUTPUT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3600" b="0" i="0" u="none" strike="noStrike" cap="none" normalizeH="0" baseline="0" dirty="0" smtClean="0">
                <a:ln>
                  <a:noFill/>
                </a:ln>
                <a:solidFill>
                  <a:schemeClr val="tx1"/>
                </a:solidFill>
                <a:effectLst/>
                <a:latin typeface="Consolas" pitchFamily="49" charset="0"/>
                <a:cs typeface="Arial" pitchFamily="34" charset="0"/>
              </a:rPr>
              <a:t>Color: Red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3600" b="0" i="0" u="none" strike="noStrike" cap="none" normalizeH="0" baseline="0" dirty="0" smtClean="0">
                <a:ln>
                  <a:noFill/>
                </a:ln>
                <a:solidFill>
                  <a:schemeClr val="tx1"/>
                </a:solidFill>
                <a:effectLst/>
                <a:latin typeface="Consolas" pitchFamily="49" charset="0"/>
                <a:cs typeface="Arial" pitchFamily="34" charset="0"/>
              </a:rPr>
              <a:t>Area: 78.5</a:t>
            </a:r>
            <a:r>
              <a:rPr kumimoji="0" lang="en-US" altLang="en-US" sz="3600" b="0" i="0" u="none" strike="noStrike" cap="none" normalizeH="0" baseline="0" dirty="0" smtClean="0">
                <a:ln>
                  <a:noFill/>
                </a:ln>
                <a:solidFill>
                  <a:schemeClr val="tx1"/>
                </a:solidFill>
                <a:effectLst/>
                <a:latin typeface="Arial" pitchFamily="34" charset="0"/>
                <a:cs typeface="Arial" pitchFamily="34" charset="0"/>
              </a:rPr>
              <a:t> </a:t>
            </a:r>
          </a:p>
        </p:txBody>
      </p:sp>
    </p:spTree>
    <p:extLst>
      <p:ext uri="{BB962C8B-B14F-4D97-AF65-F5344CB8AC3E}">
        <p14:creationId xmlns:p14="http://schemas.microsoft.com/office/powerpoint/2010/main" val="420775500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ABSTRACT CLASS</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2" y="2033935"/>
            <a:ext cx="15537445" cy="610873"/>
          </a:xfrm>
          <a:prstGeom prst="rect">
            <a:avLst/>
          </a:prstGeom>
        </p:spPr>
        <p:txBody>
          <a:bodyPr wrap="square" lIns="0" tIns="0" rIns="0" bIns="0" rtlCol="0" anchor="t">
            <a:spAutoFit/>
          </a:bodyPr>
          <a:lstStyle/>
          <a:p>
            <a:pPr>
              <a:lnSpc>
                <a:spcPts val="5096"/>
              </a:lnSpc>
            </a:pPr>
            <a:r>
              <a:rPr lang="en-US" sz="3640" b="1" u="sng" dirty="0" smtClean="0">
                <a:solidFill>
                  <a:srgbClr val="000000"/>
                </a:solidFill>
                <a:latin typeface="Century Gothic Paneuropean"/>
                <a:ea typeface="Century Gothic Paneuropean"/>
                <a:cs typeface="Century Gothic Paneuropean"/>
                <a:sym typeface="Century Gothic Paneuropean"/>
              </a:rPr>
              <a:t> </a:t>
            </a:r>
            <a:endParaRPr lang="en-US" sz="3640" dirty="0">
              <a:solidFill>
                <a:srgbClr val="000000"/>
              </a:solidFill>
              <a:latin typeface="Century Gothic Paneuropean"/>
              <a:ea typeface="Century Gothic Paneuropean"/>
              <a:cs typeface="Century Gothic Paneuropean"/>
              <a:sym typeface="Century Gothic Paneuropean"/>
            </a:endParaRPr>
          </a:p>
        </p:txBody>
      </p:sp>
      <p:sp>
        <p:nvSpPr>
          <p:cNvPr id="10" name="Rectangle 9"/>
          <p:cNvSpPr/>
          <p:nvPr/>
        </p:nvSpPr>
        <p:spPr>
          <a:xfrm>
            <a:off x="1037211" y="2339371"/>
            <a:ext cx="15514745" cy="6494085"/>
          </a:xfrm>
          <a:prstGeom prst="rect">
            <a:avLst/>
          </a:prstGeom>
        </p:spPr>
        <p:txBody>
          <a:bodyPr wrap="square">
            <a:spAutoFit/>
          </a:bodyPr>
          <a:lstStyle/>
          <a:p>
            <a:pPr marL="342900" indent="-342900">
              <a:buFont typeface="Arial" panose="020B0604020202020204" pitchFamily="34" charset="0"/>
              <a:buChar char="•"/>
            </a:pPr>
            <a:r>
              <a:rPr lang="en-US" sz="3200" dirty="0">
                <a:solidFill>
                  <a:srgbClr val="000000"/>
                </a:solidFill>
                <a:latin typeface="Century Gothic Paneuropean"/>
                <a:ea typeface="Century Gothic Paneuropean"/>
                <a:cs typeface="Century Gothic Paneuropean"/>
              </a:rPr>
              <a:t>In Java, just like in C++ an instance of an abstract class cannot be created, we can have references to abstract class type though. It is as shown below via the clean Java program</a:t>
            </a:r>
            <a:r>
              <a:rPr lang="en-US" sz="3200" dirty="0" smtClean="0">
                <a:solidFill>
                  <a:srgbClr val="000000"/>
                </a:solidFill>
                <a:latin typeface="Century Gothic Paneuropean"/>
                <a:ea typeface="Century Gothic Paneuropean"/>
                <a:cs typeface="Century Gothic Paneuropean"/>
              </a:rPr>
              <a:t>.</a:t>
            </a:r>
          </a:p>
          <a:p>
            <a:pPr marL="342900" indent="-342900">
              <a:buFont typeface="Arial" panose="020B0604020202020204" pitchFamily="34" charset="0"/>
              <a:buChar char="•"/>
            </a:pPr>
            <a:r>
              <a:rPr lang="en-US" sz="3200" dirty="0">
                <a:solidFill>
                  <a:srgbClr val="000000"/>
                </a:solidFill>
                <a:latin typeface="Century Gothic Paneuropean"/>
                <a:ea typeface="Century Gothic Paneuropean"/>
                <a:cs typeface="Century Gothic Paneuropean"/>
              </a:rPr>
              <a:t>Like C++, an abstract class can contain constructors in Java. And a constructor of an abstract class is called when an instance of an inherited class is created. </a:t>
            </a:r>
            <a:endParaRPr lang="en-US" sz="3200" dirty="0" smtClean="0">
              <a:solidFill>
                <a:srgbClr val="000000"/>
              </a:solidFill>
              <a:latin typeface="Century Gothic Paneuropean"/>
              <a:ea typeface="Century Gothic Paneuropean"/>
              <a:cs typeface="Century Gothic Paneuropean"/>
            </a:endParaRPr>
          </a:p>
          <a:p>
            <a:pPr marL="342900" indent="-342900">
              <a:buFont typeface="Arial" panose="020B0604020202020204" pitchFamily="34" charset="0"/>
              <a:buChar char="•"/>
            </a:pPr>
            <a:r>
              <a:rPr lang="en-US" sz="3200" dirty="0">
                <a:solidFill>
                  <a:srgbClr val="000000"/>
                </a:solidFill>
                <a:latin typeface="Century Gothic Paneuropean"/>
                <a:ea typeface="Century Gothic Paneuropean"/>
                <a:cs typeface="Century Gothic Paneuropean"/>
              </a:rPr>
              <a:t>In Java, we can have an abstract class without any abstract method. This allows us to create classes that cannot be instantiated but can only be inherited. </a:t>
            </a:r>
            <a:endParaRPr lang="en-US" sz="3200" dirty="0" smtClean="0">
              <a:solidFill>
                <a:srgbClr val="000000"/>
              </a:solidFill>
              <a:latin typeface="Century Gothic Paneuropean"/>
              <a:ea typeface="Century Gothic Paneuropean"/>
              <a:cs typeface="Century Gothic Paneuropean"/>
            </a:endParaRPr>
          </a:p>
          <a:p>
            <a:pPr marL="342900" indent="-342900">
              <a:buFont typeface="Arial" panose="020B0604020202020204" pitchFamily="34" charset="0"/>
              <a:buChar char="•"/>
            </a:pPr>
            <a:r>
              <a:rPr lang="en-US" sz="3200" dirty="0">
                <a:solidFill>
                  <a:srgbClr val="000000"/>
                </a:solidFill>
                <a:latin typeface="Century Gothic Paneuropean"/>
                <a:ea typeface="Century Gothic Paneuropean"/>
                <a:cs typeface="Century Gothic Paneuropean"/>
              </a:rPr>
              <a:t>Abstract classes can also have final methods (methods that cannot be overridden</a:t>
            </a:r>
            <a:r>
              <a:rPr lang="en-US" sz="3200" dirty="0" smtClean="0">
                <a:solidFill>
                  <a:srgbClr val="000000"/>
                </a:solidFill>
                <a:latin typeface="Century Gothic Paneuropean"/>
                <a:ea typeface="Century Gothic Paneuropean"/>
                <a:cs typeface="Century Gothic Paneuropean"/>
              </a:rPr>
              <a:t>)</a:t>
            </a:r>
          </a:p>
          <a:p>
            <a:pPr marL="342900" indent="-342900">
              <a:buFont typeface="Arial" panose="020B0604020202020204" pitchFamily="34" charset="0"/>
              <a:buChar char="•"/>
            </a:pPr>
            <a:r>
              <a:rPr lang="en-US" sz="3200" dirty="0">
                <a:solidFill>
                  <a:srgbClr val="000000"/>
                </a:solidFill>
                <a:latin typeface="Century Gothic Paneuropean"/>
                <a:ea typeface="Century Gothic Paneuropean"/>
                <a:cs typeface="Century Gothic Paneuropean"/>
              </a:rPr>
              <a:t>For any abstract java class we are not allowed to create an object i.e., for an abstract class instantiation is not possible. </a:t>
            </a:r>
          </a:p>
        </p:txBody>
      </p:sp>
    </p:spTree>
    <p:extLst>
      <p:ext uri="{BB962C8B-B14F-4D97-AF65-F5344CB8AC3E}">
        <p14:creationId xmlns:p14="http://schemas.microsoft.com/office/powerpoint/2010/main" val="237062581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a:solidFill>
                  <a:srgbClr val="000000"/>
                </a:solidFill>
                <a:latin typeface="Century Gothic Paneuropean Bold"/>
                <a:ea typeface="Century Gothic Paneuropean Bold"/>
                <a:cs typeface="Century Gothic Paneuropean Bold"/>
                <a:sym typeface="Century Gothic Paneuropean Bold"/>
              </a:rPr>
              <a:t>Final in Inheritance</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2" y="2033935"/>
            <a:ext cx="15537445" cy="610873"/>
          </a:xfrm>
          <a:prstGeom prst="rect">
            <a:avLst/>
          </a:prstGeom>
        </p:spPr>
        <p:txBody>
          <a:bodyPr wrap="square" lIns="0" tIns="0" rIns="0" bIns="0" rtlCol="0" anchor="t">
            <a:spAutoFit/>
          </a:bodyPr>
          <a:lstStyle/>
          <a:p>
            <a:pPr>
              <a:lnSpc>
                <a:spcPts val="5096"/>
              </a:lnSpc>
            </a:pPr>
            <a:r>
              <a:rPr lang="en-US" sz="3640" b="1" u="sng" dirty="0" smtClean="0">
                <a:solidFill>
                  <a:srgbClr val="000000"/>
                </a:solidFill>
                <a:latin typeface="Century Gothic Paneuropean"/>
                <a:ea typeface="Century Gothic Paneuropean"/>
                <a:cs typeface="Century Gothic Paneuropean"/>
                <a:sym typeface="Century Gothic Paneuropean"/>
              </a:rPr>
              <a:t> </a:t>
            </a:r>
            <a:endParaRPr lang="en-US" sz="3640" dirty="0">
              <a:solidFill>
                <a:srgbClr val="000000"/>
              </a:solidFill>
              <a:latin typeface="Century Gothic Paneuropean"/>
              <a:ea typeface="Century Gothic Paneuropean"/>
              <a:cs typeface="Century Gothic Paneuropean"/>
              <a:sym typeface="Century Gothic Paneuropean"/>
            </a:endParaRPr>
          </a:p>
        </p:txBody>
      </p:sp>
      <p:sp>
        <p:nvSpPr>
          <p:cNvPr id="11" name="Rectangle 10"/>
          <p:cNvSpPr/>
          <p:nvPr/>
        </p:nvSpPr>
        <p:spPr>
          <a:xfrm>
            <a:off x="950267" y="2339371"/>
            <a:ext cx="15665933" cy="6814173"/>
          </a:xfrm>
          <a:prstGeom prst="rect">
            <a:avLst/>
          </a:prstGeom>
        </p:spPr>
        <p:txBody>
          <a:bodyPr wrap="square">
            <a:spAutoFit/>
          </a:bodyPr>
          <a:lstStyle/>
          <a:p>
            <a:r>
              <a:rPr lang="en-US" sz="3640" b="1" dirty="0" smtClean="0">
                <a:solidFill>
                  <a:srgbClr val="000000"/>
                </a:solidFill>
                <a:latin typeface="Century Gothic Paneuropean"/>
                <a:ea typeface="Century Gothic Paneuropean"/>
                <a:cs typeface="Century Gothic Paneuropean"/>
              </a:rPr>
              <a:t>1. </a:t>
            </a:r>
            <a:r>
              <a:rPr lang="en-US" sz="3640" b="1" u="sng" dirty="0" smtClean="0">
                <a:solidFill>
                  <a:srgbClr val="000000"/>
                </a:solidFill>
                <a:latin typeface="Century Gothic Paneuropean"/>
                <a:ea typeface="Century Gothic Paneuropean"/>
                <a:cs typeface="Century Gothic Paneuropean"/>
              </a:rPr>
              <a:t>Using </a:t>
            </a:r>
            <a:r>
              <a:rPr lang="en-US" sz="3640" b="1" u="sng" dirty="0">
                <a:solidFill>
                  <a:srgbClr val="000000"/>
                </a:solidFill>
                <a:latin typeface="Century Gothic Paneuropean"/>
                <a:ea typeface="Century Gothic Paneuropean"/>
                <a:cs typeface="Century Gothic Paneuropean"/>
              </a:rPr>
              <a:t>final to Prevent </a:t>
            </a:r>
            <a:r>
              <a:rPr lang="en-US" sz="3640" b="1" dirty="0" smtClean="0">
                <a:solidFill>
                  <a:srgbClr val="000000"/>
                </a:solidFill>
                <a:latin typeface="Century Gothic Paneuropean"/>
                <a:ea typeface="Century Gothic Paneuropean"/>
                <a:cs typeface="Century Gothic Paneuropean"/>
              </a:rPr>
              <a:t>Overriding – </a:t>
            </a:r>
          </a:p>
          <a:p>
            <a:r>
              <a:rPr lang="en-US" sz="3640" dirty="0" smtClean="0">
                <a:solidFill>
                  <a:srgbClr val="000000"/>
                </a:solidFill>
                <a:latin typeface="Century Gothic Paneuropean"/>
                <a:ea typeface="Century Gothic Paneuropean"/>
                <a:cs typeface="Century Gothic Paneuropean"/>
              </a:rPr>
              <a:t>While </a:t>
            </a:r>
            <a:r>
              <a:rPr lang="en-US" sz="3640" dirty="0">
                <a:solidFill>
                  <a:srgbClr val="000000"/>
                </a:solidFill>
                <a:latin typeface="Century Gothic Paneuropean"/>
                <a:ea typeface="Century Gothic Paneuropean"/>
                <a:cs typeface="Century Gothic Paneuropean"/>
              </a:rPr>
              <a:t>method overriding is one of Java’s most powerful features, there will be times </a:t>
            </a:r>
            <a:r>
              <a:rPr lang="en-US" sz="3640" dirty="0" smtClean="0">
                <a:solidFill>
                  <a:srgbClr val="000000"/>
                </a:solidFill>
                <a:latin typeface="Century Gothic Paneuropean"/>
                <a:ea typeface="Century Gothic Paneuropean"/>
                <a:cs typeface="Century Gothic Paneuropean"/>
              </a:rPr>
              <a:t>when you </a:t>
            </a:r>
            <a:r>
              <a:rPr lang="en-US" sz="3640" dirty="0">
                <a:solidFill>
                  <a:srgbClr val="000000"/>
                </a:solidFill>
                <a:latin typeface="Century Gothic Paneuropean"/>
                <a:ea typeface="Century Gothic Paneuropean"/>
                <a:cs typeface="Century Gothic Paneuropean"/>
              </a:rPr>
              <a:t>will want to prevent it from occurring. To disallow a method from being </a:t>
            </a:r>
            <a:r>
              <a:rPr lang="en-US" sz="3640" dirty="0" smtClean="0">
                <a:solidFill>
                  <a:srgbClr val="000000"/>
                </a:solidFill>
                <a:latin typeface="Century Gothic Paneuropean"/>
                <a:ea typeface="Century Gothic Paneuropean"/>
                <a:cs typeface="Century Gothic Paneuropean"/>
              </a:rPr>
              <a:t>overridden, specify </a:t>
            </a:r>
            <a:r>
              <a:rPr lang="en-US" sz="3640" dirty="0">
                <a:solidFill>
                  <a:srgbClr val="000000"/>
                </a:solidFill>
                <a:latin typeface="Century Gothic Paneuropean"/>
                <a:ea typeface="Century Gothic Paneuropean"/>
                <a:cs typeface="Century Gothic Paneuropean"/>
              </a:rPr>
              <a:t>final as a modifier at the start of its declaration. Methods declared as final </a:t>
            </a:r>
            <a:r>
              <a:rPr lang="en-US" sz="3640" dirty="0" smtClean="0">
                <a:solidFill>
                  <a:srgbClr val="000000"/>
                </a:solidFill>
                <a:latin typeface="Century Gothic Paneuropean"/>
                <a:ea typeface="Century Gothic Paneuropean"/>
                <a:cs typeface="Century Gothic Paneuropean"/>
              </a:rPr>
              <a:t>cannot be </a:t>
            </a:r>
            <a:r>
              <a:rPr lang="en-US" sz="3640" dirty="0">
                <a:solidFill>
                  <a:srgbClr val="000000"/>
                </a:solidFill>
                <a:latin typeface="Century Gothic Paneuropean"/>
                <a:ea typeface="Century Gothic Paneuropean"/>
                <a:cs typeface="Century Gothic Paneuropean"/>
              </a:rPr>
              <a:t>overridden. The following fragment illustrates final:</a:t>
            </a:r>
          </a:p>
          <a:p>
            <a:r>
              <a:rPr lang="en-US" sz="3640" dirty="0">
                <a:solidFill>
                  <a:srgbClr val="000000"/>
                </a:solidFill>
                <a:latin typeface="Century Gothic Paneuropean"/>
                <a:ea typeface="Century Gothic Paneuropean"/>
                <a:cs typeface="Century Gothic Paneuropean"/>
              </a:rPr>
              <a:t>class A {</a:t>
            </a:r>
          </a:p>
          <a:p>
            <a:r>
              <a:rPr lang="en-US" sz="3640" dirty="0">
                <a:solidFill>
                  <a:srgbClr val="000000"/>
                </a:solidFill>
                <a:latin typeface="Century Gothic Paneuropean"/>
                <a:ea typeface="Century Gothic Paneuropean"/>
                <a:cs typeface="Century Gothic Paneuropean"/>
              </a:rPr>
              <a:t>final void meth() {</a:t>
            </a:r>
          </a:p>
          <a:p>
            <a:r>
              <a:rPr lang="en-US" sz="3640" dirty="0" err="1">
                <a:solidFill>
                  <a:srgbClr val="000000"/>
                </a:solidFill>
                <a:latin typeface="Century Gothic Paneuropean"/>
                <a:ea typeface="Century Gothic Paneuropean"/>
                <a:cs typeface="Century Gothic Paneuropean"/>
              </a:rPr>
              <a:t>System.out.println</a:t>
            </a:r>
            <a:r>
              <a:rPr lang="en-US" sz="3640" dirty="0">
                <a:solidFill>
                  <a:srgbClr val="000000"/>
                </a:solidFill>
                <a:latin typeface="Century Gothic Paneuropean"/>
                <a:ea typeface="Century Gothic Paneuropean"/>
                <a:cs typeface="Century Gothic Paneuropean"/>
              </a:rPr>
              <a:t>("This is a final method</a:t>
            </a:r>
            <a:r>
              <a:rPr lang="en-US" sz="3640" dirty="0" smtClean="0">
                <a:solidFill>
                  <a:srgbClr val="000000"/>
                </a:solidFill>
                <a:latin typeface="Century Gothic Paneuropean"/>
                <a:ea typeface="Century Gothic Paneuropean"/>
                <a:cs typeface="Century Gothic Paneuropean"/>
              </a:rPr>
              <a:t>.");}}</a:t>
            </a:r>
            <a:endParaRPr lang="en-US" sz="3640" dirty="0">
              <a:solidFill>
                <a:srgbClr val="000000"/>
              </a:solidFill>
              <a:latin typeface="Century Gothic Paneuropean"/>
              <a:ea typeface="Century Gothic Paneuropean"/>
              <a:cs typeface="Century Gothic Paneuropean"/>
            </a:endParaRPr>
          </a:p>
          <a:p>
            <a:r>
              <a:rPr lang="en-US" sz="3640" dirty="0">
                <a:solidFill>
                  <a:srgbClr val="000000"/>
                </a:solidFill>
                <a:latin typeface="Century Gothic Paneuropean"/>
                <a:ea typeface="Century Gothic Paneuropean"/>
                <a:cs typeface="Century Gothic Paneuropean"/>
              </a:rPr>
              <a:t>class B extends A {</a:t>
            </a:r>
          </a:p>
          <a:p>
            <a:r>
              <a:rPr lang="en-US" sz="3640" dirty="0">
                <a:solidFill>
                  <a:srgbClr val="000000"/>
                </a:solidFill>
                <a:latin typeface="Century Gothic Paneuropean"/>
                <a:ea typeface="Century Gothic Paneuropean"/>
                <a:cs typeface="Century Gothic Paneuropean"/>
              </a:rPr>
              <a:t>void meth() { // ERROR! Can't override.</a:t>
            </a:r>
          </a:p>
          <a:p>
            <a:r>
              <a:rPr lang="en-US" sz="3640" dirty="0" err="1">
                <a:solidFill>
                  <a:srgbClr val="000000"/>
                </a:solidFill>
                <a:latin typeface="Century Gothic Paneuropean"/>
                <a:ea typeface="Century Gothic Paneuropean"/>
                <a:cs typeface="Century Gothic Paneuropean"/>
              </a:rPr>
              <a:t>System.out.println</a:t>
            </a:r>
            <a:r>
              <a:rPr lang="en-US" sz="3640" dirty="0">
                <a:solidFill>
                  <a:srgbClr val="000000"/>
                </a:solidFill>
                <a:latin typeface="Century Gothic Paneuropean"/>
                <a:ea typeface="Century Gothic Paneuropean"/>
                <a:cs typeface="Century Gothic Paneuropean"/>
              </a:rPr>
              <a:t>("Illegal</a:t>
            </a:r>
            <a:r>
              <a:rPr lang="en-US" sz="3640" dirty="0" smtClean="0">
                <a:solidFill>
                  <a:srgbClr val="000000"/>
                </a:solidFill>
                <a:latin typeface="Century Gothic Paneuropean"/>
                <a:ea typeface="Century Gothic Paneuropean"/>
                <a:cs typeface="Century Gothic Paneuropean"/>
              </a:rPr>
              <a:t>!");}}</a:t>
            </a:r>
            <a:endParaRPr lang="en-US" sz="3640" dirty="0">
              <a:solidFill>
                <a:srgbClr val="000000"/>
              </a:solidFill>
              <a:latin typeface="Century Gothic Paneuropean"/>
              <a:ea typeface="Century Gothic Paneuropean"/>
              <a:cs typeface="Century Gothic Paneuropean"/>
            </a:endParaRPr>
          </a:p>
        </p:txBody>
      </p:sp>
    </p:spTree>
    <p:extLst>
      <p:ext uri="{BB962C8B-B14F-4D97-AF65-F5344CB8AC3E}">
        <p14:creationId xmlns:p14="http://schemas.microsoft.com/office/powerpoint/2010/main" val="238642268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a:solidFill>
                  <a:srgbClr val="000000"/>
                </a:solidFill>
                <a:latin typeface="Century Gothic Paneuropean Bold"/>
                <a:ea typeface="Century Gothic Paneuropean Bold"/>
                <a:cs typeface="Century Gothic Paneuropean Bold"/>
                <a:sym typeface="Century Gothic Paneuropean Bold"/>
              </a:rPr>
              <a:t>Final in Inheritance</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78755" y="888078"/>
            <a:ext cx="15537445" cy="610873"/>
          </a:xfrm>
          <a:prstGeom prst="rect">
            <a:avLst/>
          </a:prstGeom>
        </p:spPr>
        <p:txBody>
          <a:bodyPr wrap="square" lIns="0" tIns="0" rIns="0" bIns="0" rtlCol="0" anchor="t">
            <a:spAutoFit/>
          </a:bodyPr>
          <a:lstStyle/>
          <a:p>
            <a:pPr>
              <a:lnSpc>
                <a:spcPts val="5096"/>
              </a:lnSpc>
            </a:pPr>
            <a:r>
              <a:rPr lang="en-US" sz="3640" b="1" u="sng" dirty="0" smtClean="0">
                <a:solidFill>
                  <a:srgbClr val="000000"/>
                </a:solidFill>
                <a:latin typeface="Century Gothic Paneuropean"/>
                <a:ea typeface="Century Gothic Paneuropean"/>
                <a:cs typeface="Century Gothic Paneuropean"/>
                <a:sym typeface="Century Gothic Paneuropean"/>
              </a:rPr>
              <a:t> </a:t>
            </a:r>
            <a:endParaRPr lang="en-US" sz="3640" dirty="0">
              <a:solidFill>
                <a:srgbClr val="000000"/>
              </a:solidFill>
              <a:latin typeface="Century Gothic Paneuropean"/>
              <a:ea typeface="Century Gothic Paneuropean"/>
              <a:cs typeface="Century Gothic Paneuropean"/>
              <a:sym typeface="Century Gothic Paneuropean"/>
            </a:endParaRPr>
          </a:p>
        </p:txBody>
      </p:sp>
      <p:sp>
        <p:nvSpPr>
          <p:cNvPr id="11" name="Rectangle 10"/>
          <p:cNvSpPr/>
          <p:nvPr/>
        </p:nvSpPr>
        <p:spPr>
          <a:xfrm>
            <a:off x="950267" y="2339371"/>
            <a:ext cx="15665933" cy="7374326"/>
          </a:xfrm>
          <a:prstGeom prst="rect">
            <a:avLst/>
          </a:prstGeom>
        </p:spPr>
        <p:txBody>
          <a:bodyPr wrap="square">
            <a:spAutoFit/>
          </a:bodyPr>
          <a:lstStyle/>
          <a:p>
            <a:r>
              <a:rPr lang="en-US" sz="3640" b="1" dirty="0" smtClean="0">
                <a:solidFill>
                  <a:srgbClr val="000000"/>
                </a:solidFill>
                <a:latin typeface="Century Gothic Paneuropean"/>
                <a:ea typeface="Century Gothic Paneuropean"/>
                <a:cs typeface="Century Gothic Paneuropean"/>
              </a:rPr>
              <a:t>2. </a:t>
            </a:r>
            <a:r>
              <a:rPr lang="en-US" sz="3640" b="1" u="sng" dirty="0" smtClean="0">
                <a:solidFill>
                  <a:srgbClr val="000000"/>
                </a:solidFill>
                <a:latin typeface="Century Gothic Paneuropean"/>
                <a:ea typeface="Century Gothic Paneuropean"/>
                <a:cs typeface="Century Gothic Paneuropean"/>
              </a:rPr>
              <a:t>Using </a:t>
            </a:r>
            <a:r>
              <a:rPr lang="en-US" sz="3640" b="1" u="sng" dirty="0">
                <a:solidFill>
                  <a:srgbClr val="000000"/>
                </a:solidFill>
                <a:latin typeface="Century Gothic Paneuropean"/>
                <a:ea typeface="Century Gothic Paneuropean"/>
                <a:cs typeface="Century Gothic Paneuropean"/>
              </a:rPr>
              <a:t>final to Prevent </a:t>
            </a:r>
            <a:r>
              <a:rPr lang="en-US" sz="3640" b="1" u="sng" dirty="0" smtClean="0">
                <a:solidFill>
                  <a:srgbClr val="000000"/>
                </a:solidFill>
                <a:latin typeface="Century Gothic Paneuropean"/>
                <a:ea typeface="Century Gothic Paneuropean"/>
                <a:cs typeface="Century Gothic Paneuropean"/>
              </a:rPr>
              <a:t>Inheritance -</a:t>
            </a:r>
            <a:endParaRPr lang="en-US" sz="3640" b="1" u="sng" dirty="0">
              <a:solidFill>
                <a:srgbClr val="000000"/>
              </a:solidFill>
              <a:latin typeface="Century Gothic Paneuropean"/>
              <a:ea typeface="Century Gothic Paneuropean"/>
              <a:cs typeface="Century Gothic Paneuropean"/>
            </a:endParaRPr>
          </a:p>
          <a:p>
            <a:r>
              <a:rPr lang="en-US" sz="3640" dirty="0">
                <a:solidFill>
                  <a:srgbClr val="000000"/>
                </a:solidFill>
                <a:latin typeface="Century Gothic Paneuropean"/>
                <a:ea typeface="Century Gothic Paneuropean"/>
                <a:cs typeface="Century Gothic Paneuropean"/>
              </a:rPr>
              <a:t>Sometimes you will want to prevent a class from being inherited. To do this, precede </a:t>
            </a:r>
            <a:r>
              <a:rPr lang="en-US" sz="3640" dirty="0" smtClean="0">
                <a:solidFill>
                  <a:srgbClr val="000000"/>
                </a:solidFill>
                <a:latin typeface="Century Gothic Paneuropean"/>
                <a:ea typeface="Century Gothic Paneuropean"/>
                <a:cs typeface="Century Gothic Paneuropean"/>
              </a:rPr>
              <a:t>the class </a:t>
            </a:r>
            <a:r>
              <a:rPr lang="en-US" sz="3640" dirty="0">
                <a:solidFill>
                  <a:srgbClr val="000000"/>
                </a:solidFill>
                <a:latin typeface="Century Gothic Paneuropean"/>
                <a:ea typeface="Century Gothic Paneuropean"/>
                <a:cs typeface="Century Gothic Paneuropean"/>
              </a:rPr>
              <a:t>declaration with final. Declaring a class as final implicitly declares all of its methods </a:t>
            </a:r>
            <a:r>
              <a:rPr lang="en-US" sz="3640" dirty="0" smtClean="0">
                <a:solidFill>
                  <a:srgbClr val="000000"/>
                </a:solidFill>
                <a:latin typeface="Century Gothic Paneuropean"/>
                <a:ea typeface="Century Gothic Paneuropean"/>
                <a:cs typeface="Century Gothic Paneuropean"/>
              </a:rPr>
              <a:t>as final</a:t>
            </a:r>
            <a:r>
              <a:rPr lang="en-US" sz="3640" dirty="0">
                <a:solidFill>
                  <a:srgbClr val="000000"/>
                </a:solidFill>
                <a:latin typeface="Century Gothic Paneuropean"/>
                <a:ea typeface="Century Gothic Paneuropean"/>
                <a:cs typeface="Century Gothic Paneuropean"/>
              </a:rPr>
              <a:t>, too. As you might expect, it is illegal to declare a class as both abstract and final since</a:t>
            </a:r>
          </a:p>
          <a:p>
            <a:r>
              <a:rPr lang="en-US" sz="3640" dirty="0">
                <a:solidFill>
                  <a:srgbClr val="000000"/>
                </a:solidFill>
                <a:latin typeface="Century Gothic Paneuropean"/>
                <a:ea typeface="Century Gothic Paneuropean"/>
                <a:cs typeface="Century Gothic Paneuropean"/>
              </a:rPr>
              <a:t>an abstract class is incomplete by itself and relies upon its subclasses to provide </a:t>
            </a:r>
            <a:r>
              <a:rPr lang="en-US" sz="3640" dirty="0" smtClean="0">
                <a:solidFill>
                  <a:srgbClr val="000000"/>
                </a:solidFill>
                <a:latin typeface="Century Gothic Paneuropean"/>
                <a:ea typeface="Century Gothic Paneuropean"/>
                <a:cs typeface="Century Gothic Paneuropean"/>
              </a:rPr>
              <a:t>complete implementations</a:t>
            </a:r>
            <a:r>
              <a:rPr lang="en-US" sz="3640" dirty="0">
                <a:solidFill>
                  <a:srgbClr val="000000"/>
                </a:solidFill>
                <a:latin typeface="Century Gothic Paneuropean"/>
                <a:ea typeface="Century Gothic Paneuropean"/>
                <a:cs typeface="Century Gothic Paneuropean"/>
              </a:rPr>
              <a:t>.</a:t>
            </a:r>
          </a:p>
          <a:p>
            <a:r>
              <a:rPr lang="en-US" sz="3640" dirty="0">
                <a:solidFill>
                  <a:srgbClr val="000000"/>
                </a:solidFill>
                <a:latin typeface="Century Gothic Paneuropean"/>
                <a:ea typeface="Century Gothic Paneuropean"/>
                <a:cs typeface="Century Gothic Paneuropean"/>
              </a:rPr>
              <a:t>Here is an example of a final class:</a:t>
            </a:r>
          </a:p>
          <a:p>
            <a:r>
              <a:rPr lang="en-US" sz="3640" dirty="0">
                <a:solidFill>
                  <a:srgbClr val="000000"/>
                </a:solidFill>
                <a:latin typeface="Century Gothic Paneuropean"/>
                <a:ea typeface="Century Gothic Paneuropean"/>
                <a:cs typeface="Century Gothic Paneuropean"/>
              </a:rPr>
              <a:t>final class A {</a:t>
            </a:r>
          </a:p>
          <a:p>
            <a:r>
              <a:rPr lang="en-US" sz="3640" dirty="0" smtClean="0">
                <a:solidFill>
                  <a:srgbClr val="000000"/>
                </a:solidFill>
                <a:latin typeface="Century Gothic Paneuropean"/>
                <a:ea typeface="Century Gothic Paneuropean"/>
                <a:cs typeface="Century Gothic Paneuropean"/>
              </a:rPr>
              <a:t>//...}</a:t>
            </a:r>
            <a:endParaRPr lang="en-US" sz="3640" dirty="0">
              <a:solidFill>
                <a:srgbClr val="000000"/>
              </a:solidFill>
              <a:latin typeface="Century Gothic Paneuropean"/>
              <a:ea typeface="Century Gothic Paneuropean"/>
              <a:cs typeface="Century Gothic Paneuropean"/>
            </a:endParaRPr>
          </a:p>
          <a:p>
            <a:r>
              <a:rPr lang="en-US" sz="3640" dirty="0">
                <a:solidFill>
                  <a:srgbClr val="000000"/>
                </a:solidFill>
                <a:latin typeface="Century Gothic Paneuropean"/>
                <a:ea typeface="Century Gothic Paneuropean"/>
                <a:cs typeface="Century Gothic Paneuropean"/>
              </a:rPr>
              <a:t>// The following class is illegal.</a:t>
            </a:r>
          </a:p>
          <a:p>
            <a:r>
              <a:rPr lang="en-US" sz="3640" dirty="0">
                <a:solidFill>
                  <a:srgbClr val="000000"/>
                </a:solidFill>
                <a:latin typeface="Century Gothic Paneuropean"/>
                <a:ea typeface="Century Gothic Paneuropean"/>
                <a:cs typeface="Century Gothic Paneuropean"/>
              </a:rPr>
              <a:t>class B extends A { // ERROR! Can't subclass A</a:t>
            </a:r>
          </a:p>
          <a:p>
            <a:r>
              <a:rPr lang="en-US" sz="3640" dirty="0" smtClean="0">
                <a:solidFill>
                  <a:srgbClr val="000000"/>
                </a:solidFill>
                <a:latin typeface="Century Gothic Paneuropean"/>
                <a:ea typeface="Century Gothic Paneuropean"/>
                <a:cs typeface="Century Gothic Paneuropean"/>
              </a:rPr>
              <a:t>//...}</a:t>
            </a:r>
            <a:endParaRPr lang="en-US" sz="3640" dirty="0">
              <a:solidFill>
                <a:srgbClr val="000000"/>
              </a:solidFill>
              <a:latin typeface="Century Gothic Paneuropean"/>
              <a:ea typeface="Century Gothic Paneuropean"/>
              <a:cs typeface="Century Gothic Paneuropean"/>
            </a:endParaRPr>
          </a:p>
        </p:txBody>
      </p:sp>
    </p:spTree>
    <p:extLst>
      <p:ext uri="{BB962C8B-B14F-4D97-AF65-F5344CB8AC3E}">
        <p14:creationId xmlns:p14="http://schemas.microsoft.com/office/powerpoint/2010/main" val="152602917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3082</TotalTime>
  <Words>4041</Words>
  <Application>Microsoft Office PowerPoint</Application>
  <PresentationFormat>Custom</PresentationFormat>
  <Paragraphs>556</Paragraphs>
  <Slides>47</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Arial</vt:lpstr>
      <vt:lpstr>Consolas</vt:lpstr>
      <vt:lpstr>Wingdings</vt:lpstr>
      <vt:lpstr>Calibri</vt:lpstr>
      <vt:lpstr>Century Gothic Paneuropean Bold</vt:lpstr>
      <vt:lpstr>Century Gothic Paneuropean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90</cp:revision>
  <dcterms:created xsi:type="dcterms:W3CDTF">2006-08-16T00:00:00Z</dcterms:created>
  <dcterms:modified xsi:type="dcterms:W3CDTF">2026-04-08T17:12:39Z</dcterms:modified>
  <dc:identifier>DAGyNv6r3lM</dc:identifier>
</cp:coreProperties>
</file>