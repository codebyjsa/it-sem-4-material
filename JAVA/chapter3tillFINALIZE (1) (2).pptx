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8" r:id="rId3"/>
    <p:sldId id="269" r:id="rId4"/>
    <p:sldId id="270" r:id="rId5"/>
    <p:sldId id="272" r:id="rId6"/>
    <p:sldId id="257" r:id="rId7"/>
    <p:sldId id="264" r:id="rId8"/>
    <p:sldId id="265" r:id="rId9"/>
    <p:sldId id="258" r:id="rId10"/>
    <p:sldId id="273" r:id="rId11"/>
    <p:sldId id="259" r:id="rId12"/>
    <p:sldId id="285" r:id="rId13"/>
    <p:sldId id="260" r:id="rId14"/>
    <p:sldId id="275" r:id="rId15"/>
    <p:sldId id="284" r:id="rId16"/>
    <p:sldId id="279" r:id="rId17"/>
    <p:sldId id="281" r:id="rId18"/>
    <p:sldId id="276" r:id="rId19"/>
    <p:sldId id="274" r:id="rId20"/>
    <p:sldId id="277" r:id="rId21"/>
    <p:sldId id="282" r:id="rId22"/>
    <p:sldId id="280" r:id="rId23"/>
    <p:sldId id="283" r:id="rId24"/>
    <p:sldId id="286" r:id="rId25"/>
    <p:sldId id="296" r:id="rId26"/>
    <p:sldId id="302" r:id="rId27"/>
    <p:sldId id="313" r:id="rId28"/>
    <p:sldId id="295" r:id="rId29"/>
    <p:sldId id="301" r:id="rId30"/>
    <p:sldId id="299" r:id="rId31"/>
    <p:sldId id="294" r:id="rId32"/>
    <p:sldId id="300" r:id="rId33"/>
    <p:sldId id="288" r:id="rId34"/>
    <p:sldId id="303" r:id="rId35"/>
    <p:sldId id="298" r:id="rId36"/>
    <p:sldId id="304" r:id="rId37"/>
    <p:sldId id="289" r:id="rId38"/>
    <p:sldId id="305" r:id="rId39"/>
    <p:sldId id="306" r:id="rId40"/>
    <p:sldId id="291" r:id="rId41"/>
    <p:sldId id="287" r:id="rId42"/>
    <p:sldId id="290" r:id="rId43"/>
    <p:sldId id="307" r:id="rId44"/>
    <p:sldId id="308" r:id="rId45"/>
    <p:sldId id="309" r:id="rId46"/>
    <p:sldId id="292" r:id="rId47"/>
    <p:sldId id="310" r:id="rId48"/>
    <p:sldId id="311" r:id="rId49"/>
    <p:sldId id="312" r:id="rId50"/>
    <p:sldId id="266" r:id="rId51"/>
  </p:sldIdLst>
  <p:sldSz cx="18288000" cy="10287000"/>
  <p:notesSz cx="6858000" cy="9144000"/>
  <p:embeddedFontLst>
    <p:embeddedFont>
      <p:font typeface="Consolas" panose="020B0609020204030204" pitchFamily="49" charset="0"/>
      <p:regular r:id="rId52"/>
      <p:bold r:id="rId53"/>
      <p:italic r:id="rId54"/>
      <p:boldItalic r:id="rId55"/>
    </p:embeddedFont>
    <p:embeddedFont>
      <p:font typeface="Century Gothic Paneuropean Bold" panose="020B0604020202020204" charset="0"/>
      <p:regular r:id="rId56"/>
    </p:embeddedFont>
    <p:embeddedFont>
      <p:font typeface="Calibri" panose="020F0502020204030204" pitchFamily="34" charset="0"/>
      <p:regular r:id="rId57"/>
      <p:bold r:id="rId58"/>
      <p:italic r:id="rId59"/>
      <p:boldItalic r:id="rId60"/>
    </p:embeddedFont>
    <p:embeddedFont>
      <p:font typeface="Century Gothic Paneuropean" panose="020B0604020202020204" charset="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9" d="100"/>
          <a:sy n="49" d="100"/>
        </p:scale>
        <p:origin x="-576"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61"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12155"/>
            <a:ext cx="15665930" cy="1304460"/>
          </a:xfrm>
          <a:prstGeom prst="rect">
            <a:avLst/>
          </a:prstGeom>
        </p:spPr>
        <p:txBody>
          <a:bodyPr wrap="square" lIns="0" tIns="0" rIns="0" bIns="0" rtlCol="0" anchor="t">
            <a:spAutoFit/>
          </a:bodyPr>
          <a:lstStyle/>
          <a:p>
            <a:pPr algn="ctr">
              <a:lnSpc>
                <a:spcPts val="11469"/>
              </a:lnSpc>
            </a:pPr>
            <a:r>
              <a:rPr lang="en-US" sz="6000" b="1" dirty="0">
                <a:solidFill>
                  <a:srgbClr val="000000"/>
                </a:solidFill>
                <a:latin typeface="Century Gothic Paneuropean Bold"/>
                <a:ea typeface="Century Gothic Paneuropean Bold"/>
                <a:cs typeface="Century Gothic Paneuropean Bold"/>
                <a:sym typeface="Century Gothic Paneuropean Bold"/>
              </a:rPr>
              <a:t>INTRODUCING CLASSES</a:t>
            </a:r>
          </a:p>
        </p:txBody>
      </p:sp>
      <p:sp>
        <p:nvSpPr>
          <p:cNvPr id="9" name="TextBox 9"/>
          <p:cNvSpPr txBox="1"/>
          <p:nvPr/>
        </p:nvSpPr>
        <p:spPr>
          <a:xfrm>
            <a:off x="1142999" y="2634574"/>
            <a:ext cx="15537445" cy="4924425"/>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t>The class is the core of Java &amp; it forms the basis for object-oriented programming in Java.</a:t>
            </a:r>
          </a:p>
          <a:p>
            <a:pPr marL="571500" indent="-571500">
              <a:buFont typeface="Arial" panose="020B0604020202020204" pitchFamily="34" charset="0"/>
              <a:buChar char="•"/>
            </a:pPr>
            <a:r>
              <a:rPr lang="en-US" sz="4000" dirty="0" smtClean="0"/>
              <a:t>The </a:t>
            </a:r>
            <a:r>
              <a:rPr lang="en-US" sz="4000" dirty="0"/>
              <a:t>most important thing to understand about a class is that it defines a new data type</a:t>
            </a:r>
            <a:r>
              <a:rPr lang="en-US" sz="4000" dirty="0" smtClean="0"/>
              <a:t>.</a:t>
            </a:r>
          </a:p>
          <a:p>
            <a:pPr marL="571500" indent="-571500">
              <a:buFont typeface="Arial" panose="020B0604020202020204" pitchFamily="34" charset="0"/>
              <a:buChar char="•"/>
            </a:pPr>
            <a:r>
              <a:rPr lang="en-US" sz="4000" dirty="0" smtClean="0"/>
              <a:t>Just like other data type int, float, double, others , Class is another data type of reference datatypes. </a:t>
            </a:r>
            <a:endParaRPr lang="en-US" sz="4000" dirty="0"/>
          </a:p>
          <a:p>
            <a:pPr marL="571500" indent="-571500">
              <a:buFont typeface="Arial" panose="020B0604020202020204" pitchFamily="34" charset="0"/>
              <a:buChar char="•"/>
            </a:pPr>
            <a:r>
              <a:rPr lang="en-US" sz="4000" dirty="0" smtClean="0"/>
              <a:t>Once </a:t>
            </a:r>
            <a:r>
              <a:rPr lang="en-US" sz="4000" dirty="0"/>
              <a:t>defined, this new type can be used to create objects of that type.</a:t>
            </a:r>
          </a:p>
          <a:p>
            <a:pPr marL="571500" indent="-571500">
              <a:buFont typeface="Arial" panose="020B0604020202020204" pitchFamily="34" charset="0"/>
              <a:buChar char="•"/>
            </a:pPr>
            <a:r>
              <a:rPr lang="en-US" sz="4000" dirty="0" smtClean="0"/>
              <a:t>A </a:t>
            </a:r>
            <a:r>
              <a:rPr lang="en-US" sz="4000" dirty="0"/>
              <a:t>class is a template for an object and an object is an instance of a class.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3246778" y="878709"/>
            <a:ext cx="11201400" cy="923330"/>
          </a:xfrm>
          <a:prstGeom prst="rect">
            <a:avLst/>
          </a:prstGeom>
        </p:spPr>
        <p:txBody>
          <a:bodyPr wrap="square" lIns="0" tIns="0" rIns="0" bIns="0" rtlCol="0" anchor="t">
            <a:spAutoFit/>
          </a:bodyPr>
          <a:lstStyle/>
          <a:p>
            <a:r>
              <a:rPr lang="en-US" sz="6000" b="1" dirty="0"/>
              <a:t>GENERAL FORM OF A CLASS</a:t>
            </a:r>
            <a:endParaRPr lang="en-US" sz="6000" dirty="0"/>
          </a:p>
        </p:txBody>
      </p:sp>
      <p:sp>
        <p:nvSpPr>
          <p:cNvPr id="9" name="TextBox 9"/>
          <p:cNvSpPr txBox="1"/>
          <p:nvPr/>
        </p:nvSpPr>
        <p:spPr>
          <a:xfrm>
            <a:off x="1142999" y="2331826"/>
            <a:ext cx="15537445" cy="8002191"/>
          </a:xfrm>
          <a:prstGeom prst="rect">
            <a:avLst/>
          </a:prstGeom>
        </p:spPr>
        <p:txBody>
          <a:bodyPr wrap="square" lIns="0" tIns="0" rIns="0" bIns="0" rtlCol="0" anchor="t">
            <a:spAutoFit/>
          </a:bodyPr>
          <a:lstStyle/>
          <a:p>
            <a:r>
              <a:rPr lang="en-US" sz="4000" dirty="0" smtClean="0"/>
              <a:t>•</a:t>
            </a:r>
            <a:r>
              <a:rPr lang="en-US" sz="4000" dirty="0"/>
              <a:t>When defining a class, the data that it contains and the code that operates on that data has to be specified.</a:t>
            </a:r>
          </a:p>
          <a:p>
            <a:r>
              <a:rPr lang="en-US" sz="4000" dirty="0"/>
              <a:t>•A class is declared by use of the ‘class’ keyword.</a:t>
            </a:r>
          </a:p>
          <a:p>
            <a:r>
              <a:rPr lang="en-US" sz="4000" dirty="0" smtClean="0"/>
              <a:t>• Syntax :-  class Classname{</a:t>
            </a:r>
          </a:p>
          <a:p>
            <a:pPr lvl="1"/>
            <a:r>
              <a:rPr lang="en-US" sz="4000" dirty="0" smtClean="0"/>
              <a:t>			type </a:t>
            </a:r>
            <a:r>
              <a:rPr lang="en-US" sz="4000" dirty="0"/>
              <a:t>instance_variable1</a:t>
            </a:r>
            <a:r>
              <a:rPr lang="en-US" sz="4000" dirty="0" smtClean="0"/>
              <a:t>;  </a:t>
            </a:r>
          </a:p>
          <a:p>
            <a:r>
              <a:rPr lang="en-US" sz="4000" dirty="0" smtClean="0"/>
              <a:t>			type </a:t>
            </a:r>
            <a:r>
              <a:rPr lang="en-US" sz="4000" dirty="0"/>
              <a:t>methodname1(parameter_list</a:t>
            </a:r>
            <a:r>
              <a:rPr lang="en-US" sz="4000" dirty="0" smtClean="0"/>
              <a:t>){</a:t>
            </a:r>
            <a:endParaRPr lang="en-US" sz="4000" dirty="0"/>
          </a:p>
          <a:p>
            <a:pPr lvl="6"/>
            <a:r>
              <a:rPr lang="en-US" sz="4000" dirty="0"/>
              <a:t>//body of </a:t>
            </a:r>
            <a:r>
              <a:rPr lang="en-US" sz="4000" dirty="0" smtClean="0"/>
              <a:t>method}</a:t>
            </a:r>
            <a:endParaRPr lang="en-US" sz="4000" dirty="0"/>
          </a:p>
          <a:p>
            <a:pPr lvl="6"/>
            <a:r>
              <a:rPr lang="en-US" sz="4000" dirty="0" smtClean="0"/>
              <a:t>} </a:t>
            </a:r>
            <a:endParaRPr lang="en-US" sz="4000" dirty="0"/>
          </a:p>
          <a:p>
            <a:pPr marL="1028700" lvl="1" indent="-571500">
              <a:buFont typeface="Arial" panose="020B0604020202020204" pitchFamily="34" charset="0"/>
              <a:buChar char="•"/>
            </a:pPr>
            <a:r>
              <a:rPr lang="en-US" sz="4000" dirty="0"/>
              <a:t>The data or variables, defined within a class are called instance variables.</a:t>
            </a:r>
          </a:p>
          <a:p>
            <a:pPr marL="1028700" lvl="1" indent="-571500">
              <a:buFont typeface="Arial" panose="020B0604020202020204" pitchFamily="34" charset="0"/>
              <a:buChar char="•"/>
            </a:pPr>
            <a:r>
              <a:rPr lang="en-US" sz="4000" dirty="0" smtClean="0"/>
              <a:t>The </a:t>
            </a:r>
            <a:r>
              <a:rPr lang="en-US" sz="4000" dirty="0"/>
              <a:t>code is contained within methods.</a:t>
            </a:r>
          </a:p>
          <a:p>
            <a:pPr marL="1028700" lvl="1" indent="-571500">
              <a:buFont typeface="Arial" panose="020B0604020202020204" pitchFamily="34" charset="0"/>
              <a:buChar char="•"/>
            </a:pPr>
            <a:r>
              <a:rPr lang="en-US" sz="4000" dirty="0" smtClean="0"/>
              <a:t>It </a:t>
            </a:r>
            <a:r>
              <a:rPr lang="en-US" sz="4000" dirty="0"/>
              <a:t>is the methods that determine how a class data can be used</a:t>
            </a:r>
            <a:r>
              <a:rPr lang="en-US" sz="4000" dirty="0" smtClean="0"/>
              <a:t>.</a:t>
            </a:r>
            <a:r>
              <a:rPr lang="en-US" sz="4000" dirty="0"/>
              <a:t>						</a:t>
            </a:r>
            <a:endParaRPr lang="en-US" sz="4000" dirty="0" smtClean="0"/>
          </a:p>
        </p:txBody>
      </p:sp>
    </p:spTree>
    <p:extLst>
      <p:ext uri="{BB962C8B-B14F-4D97-AF65-F5344CB8AC3E}">
        <p14:creationId xmlns:p14="http://schemas.microsoft.com/office/powerpoint/2010/main" val="3237333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5715000" y="847916"/>
            <a:ext cx="7878422" cy="923330"/>
          </a:xfrm>
          <a:prstGeom prst="rect">
            <a:avLst/>
          </a:prstGeom>
        </p:spPr>
        <p:txBody>
          <a:bodyPr wrap="square" lIns="0" tIns="0" rIns="0" bIns="0" rtlCol="0" anchor="t">
            <a:spAutoFit/>
          </a:bodyPr>
          <a:lstStyle/>
          <a:p>
            <a:r>
              <a:rPr lang="en-US" sz="6000" b="1" dirty="0"/>
              <a:t>A SIMPLE CLASS</a:t>
            </a:r>
            <a:endParaRPr lang="en-US" sz="6000" dirty="0"/>
          </a:p>
        </p:txBody>
      </p:sp>
      <p:sp>
        <p:nvSpPr>
          <p:cNvPr id="9" name="TextBox 9"/>
          <p:cNvSpPr txBox="1"/>
          <p:nvPr/>
        </p:nvSpPr>
        <p:spPr>
          <a:xfrm>
            <a:off x="1142999" y="2634574"/>
            <a:ext cx="15537445" cy="6155531"/>
          </a:xfrm>
          <a:prstGeom prst="rect">
            <a:avLst/>
          </a:prstGeom>
        </p:spPr>
        <p:txBody>
          <a:bodyPr wrap="square" lIns="0" tIns="0" rIns="0" bIns="0" rtlCol="0" anchor="t">
            <a:spAutoFit/>
          </a:bodyPr>
          <a:lstStyle/>
          <a:p>
            <a:r>
              <a:rPr lang="en-US" sz="4000" dirty="0" smtClean="0"/>
              <a:t>We create a </a:t>
            </a:r>
            <a:r>
              <a:rPr lang="en-US" sz="4000" dirty="0"/>
              <a:t>class called Box that defines 3 instance variables: width, height and </a:t>
            </a:r>
            <a:r>
              <a:rPr lang="en-US" sz="4000" dirty="0" smtClean="0"/>
              <a:t>depth</a:t>
            </a:r>
          </a:p>
          <a:p>
            <a:pPr lvl="3"/>
            <a:r>
              <a:rPr lang="en-US" sz="4000" b="1" dirty="0"/>
              <a:t>class Box {</a:t>
            </a:r>
          </a:p>
          <a:p>
            <a:pPr lvl="3"/>
            <a:r>
              <a:rPr lang="en-US" sz="4000" b="1" dirty="0"/>
              <a:t>double width;</a:t>
            </a:r>
          </a:p>
          <a:p>
            <a:pPr lvl="3"/>
            <a:r>
              <a:rPr lang="en-US" sz="4000" b="1" dirty="0"/>
              <a:t>double height;</a:t>
            </a:r>
          </a:p>
          <a:p>
            <a:pPr lvl="3"/>
            <a:r>
              <a:rPr lang="en-US" sz="4000" b="1" dirty="0"/>
              <a:t>double depth;</a:t>
            </a:r>
          </a:p>
          <a:p>
            <a:pPr lvl="3"/>
            <a:r>
              <a:rPr lang="en-US" sz="4000" b="1" dirty="0"/>
              <a:t>}</a:t>
            </a:r>
            <a:endParaRPr lang="en-US" sz="4000" b="1" dirty="0" smtClean="0"/>
          </a:p>
          <a:p>
            <a:pPr marL="571500" indent="-571500">
              <a:buFont typeface="Arial" panose="020B0604020202020204" pitchFamily="34" charset="0"/>
              <a:buChar char="•"/>
            </a:pPr>
            <a:r>
              <a:rPr lang="en-US" sz="4000" dirty="0"/>
              <a:t>A class defines a new type of data. In this case, the new data type is called Box.</a:t>
            </a:r>
          </a:p>
          <a:p>
            <a:pPr marL="571500" indent="-571500">
              <a:buFont typeface="Arial" panose="020B0604020202020204" pitchFamily="34" charset="0"/>
              <a:buChar char="•"/>
            </a:pPr>
            <a:r>
              <a:rPr lang="en-US" sz="4000" dirty="0" smtClean="0"/>
              <a:t>This </a:t>
            </a:r>
            <a:r>
              <a:rPr lang="en-US" sz="4000" dirty="0"/>
              <a:t>name is used to declare objects of type Box</a:t>
            </a:r>
            <a:r>
              <a:rPr lang="en-US" sz="4000" dirty="0" smtClean="0"/>
              <a:t>. </a:t>
            </a:r>
            <a:endParaRPr lang="en-US" sz="4000" dirty="0"/>
          </a:p>
        </p:txBody>
      </p:sp>
    </p:spTree>
    <p:extLst>
      <p:ext uri="{BB962C8B-B14F-4D97-AF65-F5344CB8AC3E}">
        <p14:creationId xmlns:p14="http://schemas.microsoft.com/office/powerpoint/2010/main" val="2036968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3246778" y="878709"/>
            <a:ext cx="11201400" cy="923330"/>
          </a:xfrm>
          <a:prstGeom prst="rect">
            <a:avLst/>
          </a:prstGeom>
        </p:spPr>
        <p:txBody>
          <a:bodyPr wrap="square" lIns="0" tIns="0" rIns="0" bIns="0" rtlCol="0" anchor="t">
            <a:spAutoFit/>
          </a:bodyPr>
          <a:lstStyle/>
          <a:p>
            <a:r>
              <a:rPr lang="en-US" sz="6000" b="1" dirty="0" smtClean="0"/>
              <a:t>DECLARING OBJECT IN A </a:t>
            </a:r>
            <a:r>
              <a:rPr lang="en-US" sz="6000" b="1" dirty="0"/>
              <a:t>CLASS</a:t>
            </a:r>
            <a:endParaRPr lang="en-US" sz="6000" dirty="0"/>
          </a:p>
        </p:txBody>
      </p:sp>
      <p:sp>
        <p:nvSpPr>
          <p:cNvPr id="11" name="Rectangle 10"/>
          <p:cNvSpPr/>
          <p:nvPr/>
        </p:nvSpPr>
        <p:spPr>
          <a:xfrm>
            <a:off x="704126" y="2164404"/>
            <a:ext cx="16870022" cy="7478970"/>
          </a:xfrm>
          <a:prstGeom prst="rect">
            <a:avLst/>
          </a:prstGeom>
        </p:spPr>
        <p:txBody>
          <a:bodyPr wrap="square">
            <a:spAutoFit/>
          </a:bodyPr>
          <a:lstStyle/>
          <a:p>
            <a:pPr lvl="0"/>
            <a:r>
              <a:rPr lang="en-US" sz="4000" dirty="0">
                <a:solidFill>
                  <a:prstClr val="black"/>
                </a:solidFill>
              </a:rPr>
              <a:t>To create a Box object, the following statement is used.</a:t>
            </a:r>
          </a:p>
          <a:p>
            <a:pPr lvl="5"/>
            <a:r>
              <a:rPr lang="en-US" sz="4000" b="1" dirty="0">
                <a:solidFill>
                  <a:prstClr val="black"/>
                </a:solidFill>
              </a:rPr>
              <a:t>Box mybox= new Box( );</a:t>
            </a:r>
          </a:p>
          <a:p>
            <a:pPr lvl="0"/>
            <a:r>
              <a:rPr lang="en-US" sz="4000" dirty="0">
                <a:solidFill>
                  <a:prstClr val="black"/>
                </a:solidFill>
              </a:rPr>
              <a:t>•Each time you create an instance of a class, you are creating an object that contains its own copy of each instance variable defined by the class.</a:t>
            </a:r>
          </a:p>
          <a:p>
            <a:pPr lvl="0"/>
            <a:r>
              <a:rPr lang="en-US" sz="4000" dirty="0">
                <a:solidFill>
                  <a:prstClr val="black"/>
                </a:solidFill>
              </a:rPr>
              <a:t>•Thus every Box object will contain its own copies of the instance variables: width, height and depth</a:t>
            </a:r>
            <a:r>
              <a:rPr lang="en-US" sz="4000" dirty="0" smtClean="0">
                <a:solidFill>
                  <a:prstClr val="black"/>
                </a:solidFill>
              </a:rPr>
              <a:t>.</a:t>
            </a:r>
            <a:endParaRPr lang="en-US" sz="4000" dirty="0">
              <a:solidFill>
                <a:prstClr val="black"/>
              </a:solidFill>
            </a:endParaRPr>
          </a:p>
          <a:p>
            <a:pPr lvl="0"/>
            <a:r>
              <a:rPr lang="en-US" sz="4000" dirty="0" smtClean="0">
                <a:solidFill>
                  <a:prstClr val="black"/>
                </a:solidFill>
              </a:rPr>
              <a:t>To </a:t>
            </a:r>
            <a:r>
              <a:rPr lang="en-US" sz="4000" dirty="0">
                <a:solidFill>
                  <a:prstClr val="black"/>
                </a:solidFill>
              </a:rPr>
              <a:t>access these variables, the dot (.) operator is used.</a:t>
            </a:r>
          </a:p>
          <a:p>
            <a:pPr lvl="0"/>
            <a:r>
              <a:rPr lang="en-US" sz="4000" dirty="0">
                <a:solidFill>
                  <a:prstClr val="black"/>
                </a:solidFill>
              </a:rPr>
              <a:t>•The dot operator links the name of the object with the name of an instance variable</a:t>
            </a:r>
            <a:r>
              <a:rPr lang="en-US" sz="4000" dirty="0" smtClean="0">
                <a:solidFill>
                  <a:prstClr val="black"/>
                </a:solidFill>
              </a:rPr>
              <a:t>.</a:t>
            </a:r>
            <a:endParaRPr lang="en-US" sz="4000" dirty="0">
              <a:solidFill>
                <a:prstClr val="black"/>
              </a:solidFill>
            </a:endParaRPr>
          </a:p>
          <a:p>
            <a:pPr lvl="6"/>
            <a:r>
              <a:rPr lang="en-US" sz="4000" b="1" dirty="0">
                <a:solidFill>
                  <a:prstClr val="black"/>
                </a:solidFill>
              </a:rPr>
              <a:t>eg. mybox.width= 100</a:t>
            </a:r>
            <a:r>
              <a:rPr lang="en-US" sz="4000" b="1" dirty="0" smtClean="0">
                <a:solidFill>
                  <a:prstClr val="black"/>
                </a:solidFill>
              </a:rPr>
              <a:t>;</a:t>
            </a:r>
            <a:endParaRPr lang="en-US" sz="4000" b="1" dirty="0">
              <a:solidFill>
                <a:prstClr val="black"/>
              </a:solidFill>
            </a:endParaRPr>
          </a:p>
          <a:p>
            <a:pPr marL="571500" indent="-571500">
              <a:buFont typeface="Arial" panose="020B0604020202020204" pitchFamily="34" charset="0"/>
              <a:buChar char="•"/>
            </a:pPr>
            <a:r>
              <a:rPr lang="en-US" sz="4000" dirty="0"/>
              <a:t>Changes to the instance variables of one object have no effect on the instance variables of another in the case of having more than one or two objects</a:t>
            </a:r>
            <a:r>
              <a:rPr lang="en-US" sz="4000" dirty="0" smtClean="0"/>
              <a:t>.</a:t>
            </a:r>
            <a:endParaRPr lang="en-US" sz="4000" dirty="0"/>
          </a:p>
        </p:txBody>
      </p:sp>
    </p:spTree>
    <p:extLst>
      <p:ext uri="{BB962C8B-B14F-4D97-AF65-F5344CB8AC3E}">
        <p14:creationId xmlns:p14="http://schemas.microsoft.com/office/powerpoint/2010/main" val="20800095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3246778" y="878709"/>
            <a:ext cx="11201400" cy="923330"/>
          </a:xfrm>
          <a:prstGeom prst="rect">
            <a:avLst/>
          </a:prstGeom>
        </p:spPr>
        <p:txBody>
          <a:bodyPr wrap="square" lIns="0" tIns="0" rIns="0" bIns="0" rtlCol="0" anchor="t">
            <a:spAutoFit/>
          </a:bodyPr>
          <a:lstStyle/>
          <a:p>
            <a:r>
              <a:rPr lang="en-US" sz="6000" b="1" dirty="0" smtClean="0"/>
              <a:t>DECLARING OBJECT </a:t>
            </a:r>
            <a:endParaRPr lang="en-US" sz="6000" dirty="0"/>
          </a:p>
        </p:txBody>
      </p:sp>
      <p:sp>
        <p:nvSpPr>
          <p:cNvPr id="11" name="Rectangle 10"/>
          <p:cNvSpPr/>
          <p:nvPr/>
        </p:nvSpPr>
        <p:spPr>
          <a:xfrm>
            <a:off x="704126" y="2164404"/>
            <a:ext cx="16870022" cy="6863417"/>
          </a:xfrm>
          <a:prstGeom prst="rect">
            <a:avLst/>
          </a:prstGeom>
        </p:spPr>
        <p:txBody>
          <a:bodyPr wrap="square">
            <a:spAutoFit/>
          </a:bodyPr>
          <a:lstStyle/>
          <a:p>
            <a:pPr marL="571500" indent="-571500">
              <a:buFont typeface="Arial" panose="020B0604020202020204" pitchFamily="34" charset="0"/>
              <a:buChar char="•"/>
            </a:pPr>
            <a:r>
              <a:rPr lang="en-US" sz="4000" dirty="0"/>
              <a:t>Obtaining objects of a class is a two-step process</a:t>
            </a:r>
          </a:p>
          <a:p>
            <a:pPr marL="1028700" lvl="1" indent="-571500">
              <a:buFont typeface="Wingdings" panose="05000000000000000000" pitchFamily="2" charset="2"/>
              <a:buChar char="q"/>
            </a:pPr>
            <a:r>
              <a:rPr lang="en-US" sz="4000" dirty="0" smtClean="0"/>
              <a:t>Declare </a:t>
            </a:r>
            <a:r>
              <a:rPr lang="en-US" sz="4000" dirty="0"/>
              <a:t>a variable of the class type</a:t>
            </a:r>
          </a:p>
          <a:p>
            <a:pPr marL="1028700" lvl="1" indent="-571500">
              <a:buFont typeface="Wingdings" panose="05000000000000000000" pitchFamily="2" charset="2"/>
              <a:buChar char="q"/>
            </a:pPr>
            <a:r>
              <a:rPr lang="en-US" sz="4000" dirty="0" smtClean="0"/>
              <a:t>Acquire </a:t>
            </a:r>
            <a:r>
              <a:rPr lang="en-US" sz="4000" dirty="0"/>
              <a:t>an actual physical copy of the object and assign it to that variable, using the new operator</a:t>
            </a:r>
            <a:r>
              <a:rPr lang="en-US" sz="4000" dirty="0" smtClean="0"/>
              <a:t>.</a:t>
            </a:r>
          </a:p>
          <a:p>
            <a:pPr marL="571500" indent="-571500">
              <a:buFont typeface="Arial" panose="020B0604020202020204" pitchFamily="34" charset="0"/>
              <a:buChar char="•"/>
            </a:pPr>
            <a:r>
              <a:rPr lang="en-US" sz="4000" dirty="0"/>
              <a:t>The new operator dynamically allocates memory for an object and returns a reference to it.</a:t>
            </a:r>
          </a:p>
          <a:p>
            <a:pPr marL="571500" indent="-571500">
              <a:buFont typeface="Arial" panose="020B0604020202020204" pitchFamily="34" charset="0"/>
              <a:buChar char="•"/>
            </a:pPr>
            <a:r>
              <a:rPr lang="en-US" sz="4000" dirty="0" smtClean="0"/>
              <a:t>This </a:t>
            </a:r>
            <a:r>
              <a:rPr lang="en-US" sz="4000" dirty="0"/>
              <a:t>reference is then stored in the variable.</a:t>
            </a:r>
          </a:p>
          <a:p>
            <a:pPr marL="571500" indent="-571500">
              <a:buFont typeface="Arial" panose="020B0604020202020204" pitchFamily="34" charset="0"/>
              <a:buChar char="•"/>
            </a:pPr>
            <a:r>
              <a:rPr lang="en-US" sz="4000" dirty="0" smtClean="0"/>
              <a:t>This </a:t>
            </a:r>
            <a:r>
              <a:rPr lang="en-US" sz="4000" dirty="0"/>
              <a:t>reference is more or less, the address in memory of the object allocated by new</a:t>
            </a:r>
            <a:r>
              <a:rPr lang="en-US" sz="4000" dirty="0" smtClean="0"/>
              <a:t>.</a:t>
            </a:r>
            <a:endParaRPr lang="en-US" sz="4000" dirty="0"/>
          </a:p>
          <a:p>
            <a:pPr lvl="5"/>
            <a:r>
              <a:rPr lang="en-US" sz="4000" b="1" dirty="0"/>
              <a:t>Box mybox; // declares reference to object</a:t>
            </a:r>
          </a:p>
          <a:p>
            <a:pPr lvl="5"/>
            <a:r>
              <a:rPr lang="en-US" sz="4000" b="1" dirty="0"/>
              <a:t>mybox= new Box( ); // allocate a Box object</a:t>
            </a:r>
          </a:p>
        </p:txBody>
      </p:sp>
    </p:spTree>
    <p:extLst>
      <p:ext uri="{BB962C8B-B14F-4D97-AF65-F5344CB8AC3E}">
        <p14:creationId xmlns:p14="http://schemas.microsoft.com/office/powerpoint/2010/main" val="13154832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02374"/>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Declaring Object</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1308050"/>
          </a:xfrm>
          <a:prstGeom prst="rect">
            <a:avLst/>
          </a:prstGeom>
        </p:spPr>
        <p:txBody>
          <a:bodyPr wrap="square" lIns="0" tIns="0" rIns="0" bIns="0" rtlCol="0" anchor="t">
            <a:spAutoFit/>
          </a:bodyPr>
          <a:lstStyle/>
          <a:p>
            <a:pPr lvl="0"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Box mybox ;</a:t>
            </a:r>
          </a:p>
          <a:p>
            <a:pPr lvl="0" algn="just">
              <a:lnSpc>
                <a:spcPts val="5096"/>
              </a:lnSpc>
            </a:pPr>
            <a:endParaRPr lang="en-US" sz="3200" b="1" dirty="0" smtClean="0">
              <a:solidFill>
                <a:srgbClr val="000000"/>
              </a:solidFill>
              <a:latin typeface="Century Gothic Paneuropean"/>
              <a:ea typeface="Century Gothic Paneuropean"/>
              <a:cs typeface="Century Gothic Paneuropean"/>
              <a:sym typeface="Century Gothic Paneuropean"/>
            </a:endParaRPr>
          </a:p>
        </p:txBody>
      </p:sp>
      <p:cxnSp>
        <p:nvCxnSpPr>
          <p:cNvPr id="11" name="Straight Arrow Connector 10"/>
          <p:cNvCxnSpPr/>
          <p:nvPr/>
        </p:nvCxnSpPr>
        <p:spPr>
          <a:xfrm>
            <a:off x="5029200" y="3060199"/>
            <a:ext cx="2309913"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847478" y="2460367"/>
            <a:ext cx="7832965" cy="1569660"/>
          </a:xfrm>
          <a:prstGeom prst="rect">
            <a:avLst/>
          </a:prstGeom>
          <a:noFill/>
        </p:spPr>
        <p:txBody>
          <a:bodyPr wrap="square" rtlCol="0">
            <a:spAutoFit/>
          </a:bodyPr>
          <a:lstStyle/>
          <a:p>
            <a:r>
              <a:rPr lang="en-US" sz="3200" dirty="0" smtClean="0">
                <a:solidFill>
                  <a:srgbClr val="000000"/>
                </a:solidFill>
                <a:latin typeface="Century Gothic Paneuropean"/>
                <a:ea typeface="Century Gothic Paneuropean"/>
                <a:cs typeface="Century Gothic Paneuropean"/>
                <a:sym typeface="Century Gothic Paneuropean"/>
              </a:rPr>
              <a:t>A variable named mybox declared,  just </a:t>
            </a:r>
            <a:r>
              <a:rPr lang="en-US" sz="3200" dirty="0" smtClean="0">
                <a:solidFill>
                  <a:srgbClr val="000000"/>
                </a:solidFill>
                <a:latin typeface="Century Gothic Paneuropean"/>
                <a:cs typeface="Century Gothic Paneuropean"/>
                <a:sym typeface="Century Gothic Paneuropean"/>
              </a:rPr>
              <a:t>refrence to the object and no actual object is created</a:t>
            </a:r>
            <a:endParaRPr lang="en-US" dirty="0"/>
          </a:p>
        </p:txBody>
      </p:sp>
      <p:sp>
        <p:nvSpPr>
          <p:cNvPr id="14" name="TextBox 13"/>
          <p:cNvSpPr txBox="1"/>
          <p:nvPr/>
        </p:nvSpPr>
        <p:spPr>
          <a:xfrm>
            <a:off x="732177" y="3787304"/>
            <a:ext cx="16359087" cy="3639458"/>
          </a:xfrm>
          <a:prstGeom prst="rect">
            <a:avLst/>
          </a:prstGeom>
          <a:noFill/>
        </p:spPr>
        <p:txBody>
          <a:bodyPr wrap="square" rtlCol="0">
            <a:spAutoFit/>
          </a:bodyPr>
          <a:lstStyle/>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Box – class name</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mybox – name of variable of type class</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Reference </a:t>
            </a:r>
            <a:r>
              <a:rPr lang="en-US" sz="3200" dirty="0">
                <a:solidFill>
                  <a:srgbClr val="000000"/>
                </a:solidFill>
                <a:latin typeface="Century Gothic Paneuropean"/>
                <a:ea typeface="Century Gothic Paneuropean"/>
                <a:cs typeface="Century Gothic Paneuropean"/>
                <a:sym typeface="Century Gothic Paneuropean"/>
              </a:rPr>
              <a:t>Variable of type box is created</a:t>
            </a:r>
          </a:p>
          <a:p>
            <a:pPr marL="457200" lvl="0" indent="-4572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Memory is allocated only for </a:t>
            </a: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dirty="0">
                <a:solidFill>
                  <a:srgbClr val="000000"/>
                </a:solidFill>
                <a:latin typeface="Century Gothic Paneuropean"/>
                <a:ea typeface="Century Gothic Paneuropean"/>
                <a:cs typeface="Century Gothic Paneuropean"/>
                <a:sym typeface="Century Gothic Paneuropean"/>
              </a:rPr>
              <a:t>reference variable mybox, not </a:t>
            </a:r>
            <a:r>
              <a:rPr lang="en-US" sz="3200" dirty="0" smtClean="0">
                <a:solidFill>
                  <a:srgbClr val="000000"/>
                </a:solidFill>
                <a:latin typeface="Century Gothic Paneuropean"/>
                <a:ea typeface="Century Gothic Paneuropean"/>
                <a:cs typeface="Century Gothic Paneuropean"/>
                <a:sym typeface="Century Gothic Paneuropean"/>
              </a:rPr>
              <a:t>for </a:t>
            </a:r>
            <a:r>
              <a:rPr lang="en-US" sz="3200" dirty="0">
                <a:solidFill>
                  <a:srgbClr val="000000"/>
                </a:solidFill>
                <a:latin typeface="Century Gothic Paneuropean"/>
                <a:ea typeface="Century Gothic Paneuropean"/>
                <a:cs typeface="Century Gothic Paneuropean"/>
                <a:sym typeface="Century Gothic Paneuropean"/>
              </a:rPr>
              <a:t>actual object</a:t>
            </a:r>
          </a:p>
          <a:p>
            <a:pPr marL="457200" lvl="0" indent="-4572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Right now, it does not point to any real box object.</a:t>
            </a:r>
          </a:p>
          <a:p>
            <a:endParaRPr lang="en-US" dirty="0"/>
          </a:p>
        </p:txBody>
      </p:sp>
      <p:sp>
        <p:nvSpPr>
          <p:cNvPr id="23" name="Rectangle 22"/>
          <p:cNvSpPr/>
          <p:nvPr/>
        </p:nvSpPr>
        <p:spPr>
          <a:xfrm>
            <a:off x="6621494" y="7426762"/>
            <a:ext cx="1981200" cy="6858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p:cNvSpPr txBox="1"/>
          <p:nvPr/>
        </p:nvSpPr>
        <p:spPr>
          <a:xfrm>
            <a:off x="5019472" y="8163977"/>
            <a:ext cx="5025520" cy="1077218"/>
          </a:xfrm>
          <a:prstGeom prst="rect">
            <a:avLst/>
          </a:prstGeom>
          <a:noFill/>
        </p:spPr>
        <p:txBody>
          <a:bodyPr wrap="square" rtlCol="0">
            <a:spAutoFit/>
          </a:bodyPr>
          <a:lstStyle/>
          <a:p>
            <a:pPr algn="ctr"/>
            <a:r>
              <a:rPr lang="en-US" sz="3200" dirty="0">
                <a:solidFill>
                  <a:srgbClr val="000000"/>
                </a:solidFill>
                <a:latin typeface="Century Gothic Paneuropean"/>
                <a:ea typeface="Century Gothic Paneuropean"/>
                <a:cs typeface="Century Gothic Paneuropean"/>
                <a:sym typeface="Century Gothic Paneuropean"/>
              </a:rPr>
              <a:t>mybox</a:t>
            </a:r>
          </a:p>
          <a:p>
            <a:pPr algn="ctr"/>
            <a:r>
              <a:rPr lang="en-US" sz="3200" dirty="0">
                <a:solidFill>
                  <a:srgbClr val="000000"/>
                </a:solidFill>
                <a:latin typeface="Century Gothic Paneuropean"/>
                <a:ea typeface="Century Gothic Paneuropean"/>
                <a:cs typeface="Century Gothic Paneuropean"/>
              </a:rPr>
              <a:t>(</a:t>
            </a:r>
            <a:r>
              <a:rPr lang="en-US" sz="3200" dirty="0" smtClean="0">
                <a:solidFill>
                  <a:srgbClr val="000000"/>
                </a:solidFill>
                <a:latin typeface="Century Gothic Paneuropean"/>
                <a:ea typeface="Century Gothic Paneuropean"/>
                <a:cs typeface="Century Gothic Paneuropean"/>
              </a:rPr>
              <a:t>reference </a:t>
            </a:r>
            <a:r>
              <a:rPr lang="en-US" sz="3200" dirty="0">
                <a:solidFill>
                  <a:srgbClr val="000000"/>
                </a:solidFill>
                <a:latin typeface="Century Gothic Paneuropean"/>
                <a:ea typeface="Century Gothic Paneuropean"/>
                <a:cs typeface="Century Gothic Paneuropean"/>
              </a:rPr>
              <a:t>variable)</a:t>
            </a:r>
          </a:p>
        </p:txBody>
      </p:sp>
    </p:spTree>
    <p:extLst>
      <p:ext uri="{BB962C8B-B14F-4D97-AF65-F5344CB8AC3E}">
        <p14:creationId xmlns:p14="http://schemas.microsoft.com/office/powerpoint/2010/main" val="29146063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876041"/>
            <a:ext cx="18297728" cy="410959"/>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02374"/>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Declaring Object</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3000" y="2449494"/>
            <a:ext cx="15537445" cy="492443"/>
          </a:xfrm>
          <a:prstGeom prst="rect">
            <a:avLst/>
          </a:prstGeom>
        </p:spPr>
        <p:txBody>
          <a:bodyPr wrap="square" lIns="0" tIns="0" rIns="0" bIns="0" rtlCol="0" anchor="t">
            <a:spAutoFit/>
          </a:bodyPr>
          <a:lstStyle/>
          <a:p>
            <a:pPr lvl="0"/>
            <a:r>
              <a:rPr lang="en-US" sz="3200" dirty="0" smtClean="0">
                <a:solidFill>
                  <a:srgbClr val="000000"/>
                </a:solidFill>
                <a:latin typeface="Century Gothic Paneuropean"/>
                <a:ea typeface="Century Gothic Paneuropean"/>
                <a:cs typeface="Century Gothic Paneuropean"/>
                <a:sym typeface="Century Gothic Paneuropean"/>
              </a:rPr>
              <a:t>  </a:t>
            </a:r>
            <a:endParaRPr lang="en-US" dirty="0">
              <a:solidFill>
                <a:prstClr val="black"/>
              </a:solidFill>
            </a:endParaRPr>
          </a:p>
        </p:txBody>
      </p:sp>
      <p:sp>
        <p:nvSpPr>
          <p:cNvPr id="10" name="Rectangle 9"/>
          <p:cNvSpPr/>
          <p:nvPr/>
        </p:nvSpPr>
        <p:spPr>
          <a:xfrm>
            <a:off x="1142999" y="2719354"/>
            <a:ext cx="9144000" cy="1342675"/>
          </a:xfrm>
          <a:prstGeom prst="rect">
            <a:avLst/>
          </a:prstGeom>
        </p:spPr>
        <p:txBody>
          <a:bodyPr>
            <a:spAutoFit/>
          </a:bodyPr>
          <a:lstStyle/>
          <a:p>
            <a:pPr lvl="0"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mybox  = new Box ( ) </a:t>
            </a:r>
            <a:r>
              <a:rPr lang="en-US" sz="3200" b="1" dirty="0">
                <a:solidFill>
                  <a:srgbClr val="000000"/>
                </a:solidFill>
                <a:latin typeface="Century Gothic Paneuropean"/>
                <a:ea typeface="Century Gothic Paneuropean"/>
                <a:cs typeface="Century Gothic Paneuropean"/>
                <a:sym typeface="Century Gothic Paneuropean"/>
              </a:rPr>
              <a:t>;</a:t>
            </a:r>
          </a:p>
          <a:p>
            <a:pPr lvl="0" algn="just">
              <a:lnSpc>
                <a:spcPts val="5096"/>
              </a:lnSpc>
            </a:pPr>
            <a:endParaRPr lang="en-US" sz="3200" b="1" dirty="0">
              <a:solidFill>
                <a:srgbClr val="000000"/>
              </a:solidFill>
              <a:latin typeface="Century Gothic Paneuropean"/>
              <a:ea typeface="Century Gothic Paneuropean"/>
              <a:cs typeface="Century Gothic Paneuropean"/>
              <a:sym typeface="Century Gothic Paneuropean"/>
            </a:endParaRPr>
          </a:p>
        </p:txBody>
      </p:sp>
      <p:cxnSp>
        <p:nvCxnSpPr>
          <p:cNvPr id="11" name="Straight Arrow Connector 10"/>
          <p:cNvCxnSpPr/>
          <p:nvPr/>
        </p:nvCxnSpPr>
        <p:spPr>
          <a:xfrm>
            <a:off x="5996181" y="3234324"/>
            <a:ext cx="1723637"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931285" y="2449494"/>
            <a:ext cx="8991600" cy="1569660"/>
          </a:xfrm>
          <a:prstGeom prst="rect">
            <a:avLst/>
          </a:prstGeom>
        </p:spPr>
        <p:txBody>
          <a:bodyPr wrap="square">
            <a:spAutoFit/>
          </a:bodyPr>
          <a:lstStyle/>
          <a:p>
            <a:pPr lvl="0"/>
            <a:r>
              <a:rPr lang="en-US" sz="3200" dirty="0">
                <a:solidFill>
                  <a:srgbClr val="000000"/>
                </a:solidFill>
                <a:latin typeface="Century Gothic Paneuropean"/>
                <a:ea typeface="Century Gothic Paneuropean"/>
                <a:cs typeface="Century Gothic Paneuropean"/>
                <a:sym typeface="Century Gothic Paneuropean"/>
              </a:rPr>
              <a:t>New operator dynamically allocates memory for an object and returns reference to it (address in the memory)  </a:t>
            </a:r>
            <a:endParaRPr lang="en-US" dirty="0">
              <a:solidFill>
                <a:prstClr val="black"/>
              </a:solidFill>
            </a:endParaRPr>
          </a:p>
        </p:txBody>
      </p:sp>
      <p:sp>
        <p:nvSpPr>
          <p:cNvPr id="17" name="Rectangle 16"/>
          <p:cNvSpPr/>
          <p:nvPr/>
        </p:nvSpPr>
        <p:spPr>
          <a:xfrm>
            <a:off x="2286000" y="8752602"/>
            <a:ext cx="9144000" cy="584775"/>
          </a:xfrm>
          <a:prstGeom prst="rect">
            <a:avLst/>
          </a:prstGeom>
        </p:spPr>
        <p:txBody>
          <a:bodyPr>
            <a:spAutoFit/>
          </a:bodyPr>
          <a:lstStyle/>
          <a:p>
            <a:pPr lvl="0" algn="ctr"/>
            <a:r>
              <a:rPr lang="en-US" sz="3200" dirty="0" smtClean="0">
                <a:solidFill>
                  <a:srgbClr val="000000"/>
                </a:solidFill>
                <a:latin typeface="Century Gothic Paneuropean"/>
                <a:ea typeface="Century Gothic Paneuropean"/>
                <a:cs typeface="Century Gothic Paneuropean"/>
                <a:sym typeface="Century Gothic Paneuropean"/>
              </a:rPr>
              <a:t> </a:t>
            </a:r>
            <a:endParaRPr lang="en-US" sz="3200" dirty="0">
              <a:solidFill>
                <a:srgbClr val="000000"/>
              </a:solidFill>
              <a:latin typeface="Century Gothic Paneuropean"/>
              <a:ea typeface="Century Gothic Paneuropean"/>
              <a:cs typeface="Century Gothic Paneuropean"/>
            </a:endParaRPr>
          </a:p>
        </p:txBody>
      </p:sp>
      <p:sp>
        <p:nvSpPr>
          <p:cNvPr id="29" name="Rectangle 28"/>
          <p:cNvSpPr/>
          <p:nvPr/>
        </p:nvSpPr>
        <p:spPr>
          <a:xfrm>
            <a:off x="960778" y="4107696"/>
            <a:ext cx="15773401" cy="5978560"/>
          </a:xfrm>
          <a:prstGeom prst="rect">
            <a:avLst/>
          </a:prstGeom>
        </p:spPr>
        <p:txBody>
          <a:bodyPr wrap="square">
            <a:spAutoFit/>
          </a:bodyPr>
          <a:lstStyle/>
          <a:p>
            <a:pPr marL="457200" lvl="0" indent="-457200" algn="just">
              <a:lnSpc>
                <a:spcPts val="5096"/>
              </a:lnSpc>
              <a:buFont typeface="Arial" panose="020B0604020202020204" pitchFamily="34" charset="0"/>
              <a:buChar char="•"/>
            </a:pPr>
            <a:r>
              <a:rPr lang="en-US" sz="3200" b="1" dirty="0" smtClean="0">
                <a:solidFill>
                  <a:srgbClr val="000000"/>
                </a:solidFill>
                <a:latin typeface="Century Gothic Paneuropean"/>
                <a:ea typeface="Century Gothic Paneuropean"/>
                <a:cs typeface="Century Gothic Paneuropean"/>
                <a:sym typeface="Century Gothic Paneuropean"/>
              </a:rPr>
              <a:t>new</a:t>
            </a:r>
            <a:r>
              <a:rPr lang="en-US" sz="3200" dirty="0" smtClean="0">
                <a:solidFill>
                  <a:srgbClr val="000000"/>
                </a:solidFill>
                <a:latin typeface="Century Gothic Paneuropean"/>
                <a:ea typeface="Century Gothic Paneuropean"/>
                <a:cs typeface="Century Gothic Paneuropean"/>
                <a:sym typeface="Century Gothic Paneuropean"/>
              </a:rPr>
              <a:t> – new operator actually creates an object in heap memory.</a:t>
            </a:r>
          </a:p>
          <a:p>
            <a:pPr marL="457200" lvl="0" indent="-457200" algn="just">
              <a:lnSpc>
                <a:spcPts val="5096"/>
              </a:lnSpc>
              <a:buFont typeface="Arial" panose="020B0604020202020204" pitchFamily="34" charset="0"/>
              <a:buChar char="•"/>
            </a:pPr>
            <a:r>
              <a:rPr lang="en-US" sz="3200" b="1" dirty="0" smtClean="0">
                <a:solidFill>
                  <a:srgbClr val="000000"/>
                </a:solidFill>
                <a:latin typeface="Century Gothic Paneuropean"/>
                <a:ea typeface="Century Gothic Paneuropean"/>
                <a:cs typeface="Century Gothic Paneuropean"/>
                <a:sym typeface="Century Gothic Paneuropean"/>
              </a:rPr>
              <a:t>mybox </a:t>
            </a:r>
            <a:r>
              <a:rPr lang="en-US" sz="3200" dirty="0" smtClean="0">
                <a:solidFill>
                  <a:srgbClr val="000000"/>
                </a:solidFill>
                <a:latin typeface="Century Gothic Paneuropean"/>
                <a:ea typeface="Century Gothic Paneuropean"/>
                <a:cs typeface="Century Gothic Paneuropean"/>
                <a:sym typeface="Century Gothic Paneuropean"/>
              </a:rPr>
              <a:t>– identifier of class type</a:t>
            </a:r>
          </a:p>
          <a:p>
            <a:pPr marL="457200" lvl="0" indent="-457200" algn="just">
              <a:lnSpc>
                <a:spcPts val="5096"/>
              </a:lnSpc>
              <a:buFont typeface="Arial" panose="020B0604020202020204" pitchFamily="34" charset="0"/>
              <a:buChar char="•"/>
            </a:pPr>
            <a:r>
              <a:rPr lang="en-US" sz="3200" b="1" dirty="0">
                <a:solidFill>
                  <a:srgbClr val="000000"/>
                </a:solidFill>
                <a:latin typeface="Century Gothic Paneuropean"/>
                <a:ea typeface="Century Gothic Paneuropean"/>
                <a:cs typeface="Century Gothic Paneuropean"/>
                <a:sym typeface="Century Gothic Paneuropean"/>
              </a:rPr>
              <a:t>B</a:t>
            </a:r>
            <a:r>
              <a:rPr lang="en-US" sz="3200" b="1" dirty="0" smtClean="0">
                <a:solidFill>
                  <a:srgbClr val="000000"/>
                </a:solidFill>
                <a:latin typeface="Century Gothic Paneuropean"/>
                <a:ea typeface="Century Gothic Paneuropean"/>
                <a:cs typeface="Century Gothic Paneuropean"/>
                <a:sym typeface="Century Gothic Paneuropean"/>
              </a:rPr>
              <a:t>ox( )–  </a:t>
            </a:r>
            <a:r>
              <a:rPr lang="en-US" sz="3200" dirty="0" smtClean="0">
                <a:solidFill>
                  <a:srgbClr val="000000"/>
                </a:solidFill>
                <a:latin typeface="Century Gothic Paneuropean"/>
                <a:ea typeface="Century Gothic Paneuropean"/>
                <a:cs typeface="Century Gothic Paneuropean"/>
                <a:sym typeface="Century Gothic Paneuropean"/>
              </a:rPr>
              <a:t>Default Constructor is called</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The reference variable mybox is assigned to the memory address of this object</a:t>
            </a:r>
          </a:p>
          <a:p>
            <a:pPr lvl="1"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How Constructor ?????</a:t>
            </a:r>
          </a:p>
          <a:p>
            <a:pPr marL="365760" lvl="0"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dirty="0">
                <a:solidFill>
                  <a:srgbClr val="000000"/>
                </a:solidFill>
                <a:latin typeface="Century Gothic Paneuropean"/>
                <a:ea typeface="Century Gothic Paneuropean"/>
                <a:cs typeface="Century Gothic Paneuropean"/>
                <a:sym typeface="Century Gothic Paneuropean"/>
              </a:rPr>
              <a:t>With Java new operator, allocates memory in heap to the object. Automatically initialize with default values – zero, null or false. Java provides default constructor if no constructor is defined explicitly</a:t>
            </a:r>
            <a:r>
              <a:rPr lang="en-US" sz="3200" dirty="0" smtClean="0">
                <a:solidFill>
                  <a:srgbClr val="000000"/>
                </a:solidFill>
                <a:latin typeface="Century Gothic Paneuropean"/>
                <a:ea typeface="Century Gothic Paneuropean"/>
                <a:cs typeface="Century Gothic Paneuropean"/>
                <a:sym typeface="Century Gothic Paneuropean"/>
              </a:rPr>
              <a:t>. </a:t>
            </a:r>
            <a:endParaRPr lang="en-US" sz="320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29674955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876041"/>
            <a:ext cx="18297728" cy="410959"/>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02374"/>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Declaring Object</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492443"/>
          </a:xfrm>
          <a:prstGeom prst="rect">
            <a:avLst/>
          </a:prstGeom>
        </p:spPr>
        <p:txBody>
          <a:bodyPr wrap="square" lIns="0" tIns="0" rIns="0" bIns="0" rtlCol="0" anchor="t">
            <a:spAutoFit/>
          </a:bodyPr>
          <a:lstStyle/>
          <a:p>
            <a:pPr lvl="0"/>
            <a:r>
              <a:rPr lang="en-US" sz="3200" dirty="0" smtClean="0">
                <a:solidFill>
                  <a:srgbClr val="000000"/>
                </a:solidFill>
                <a:latin typeface="Century Gothic Paneuropean"/>
                <a:ea typeface="Century Gothic Paneuropean"/>
                <a:cs typeface="Century Gothic Paneuropean"/>
                <a:sym typeface="Century Gothic Paneuropean"/>
              </a:rPr>
              <a:t>  </a:t>
            </a:r>
            <a:endParaRPr lang="en-US" dirty="0">
              <a:solidFill>
                <a:prstClr val="black"/>
              </a:solidFill>
            </a:endParaRPr>
          </a:p>
        </p:txBody>
      </p:sp>
      <p:sp>
        <p:nvSpPr>
          <p:cNvPr id="10" name="Rectangle 9"/>
          <p:cNvSpPr/>
          <p:nvPr/>
        </p:nvSpPr>
        <p:spPr>
          <a:xfrm>
            <a:off x="1108952" y="2209457"/>
            <a:ext cx="9144000" cy="1342675"/>
          </a:xfrm>
          <a:prstGeom prst="rect">
            <a:avLst/>
          </a:prstGeom>
        </p:spPr>
        <p:txBody>
          <a:bodyPr>
            <a:spAutoFit/>
          </a:bodyPr>
          <a:lstStyle/>
          <a:p>
            <a:pPr lvl="0"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mybox  = new Box ( ) </a:t>
            </a:r>
            <a:r>
              <a:rPr lang="en-US" sz="3200" b="1" dirty="0">
                <a:solidFill>
                  <a:srgbClr val="000000"/>
                </a:solidFill>
                <a:latin typeface="Century Gothic Paneuropean"/>
                <a:ea typeface="Century Gothic Paneuropean"/>
                <a:cs typeface="Century Gothic Paneuropean"/>
                <a:sym typeface="Century Gothic Paneuropean"/>
              </a:rPr>
              <a:t>;</a:t>
            </a:r>
          </a:p>
          <a:p>
            <a:pPr lvl="0" algn="just">
              <a:lnSpc>
                <a:spcPts val="5096"/>
              </a:lnSpc>
            </a:pPr>
            <a:endParaRPr lang="en-US" sz="3200" b="1" dirty="0">
              <a:solidFill>
                <a:srgbClr val="000000"/>
              </a:solidFill>
              <a:latin typeface="Century Gothic Paneuropean"/>
              <a:ea typeface="Century Gothic Paneuropean"/>
              <a:cs typeface="Century Gothic Paneuropean"/>
              <a:sym typeface="Century Gothic Paneuropean"/>
            </a:endParaRPr>
          </a:p>
        </p:txBody>
      </p:sp>
      <p:cxnSp>
        <p:nvCxnSpPr>
          <p:cNvPr id="11" name="Straight Arrow Connector 10"/>
          <p:cNvCxnSpPr/>
          <p:nvPr/>
        </p:nvCxnSpPr>
        <p:spPr>
          <a:xfrm>
            <a:off x="5996181" y="2634574"/>
            <a:ext cx="1723637" cy="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8153400" y="2237188"/>
            <a:ext cx="8991600" cy="1569660"/>
          </a:xfrm>
          <a:prstGeom prst="rect">
            <a:avLst/>
          </a:prstGeom>
        </p:spPr>
        <p:txBody>
          <a:bodyPr wrap="square">
            <a:spAutoFit/>
          </a:bodyPr>
          <a:lstStyle/>
          <a:p>
            <a:pPr lvl="0"/>
            <a:r>
              <a:rPr lang="en-US" sz="3200" dirty="0">
                <a:solidFill>
                  <a:srgbClr val="000000"/>
                </a:solidFill>
                <a:latin typeface="Century Gothic Paneuropean"/>
                <a:ea typeface="Century Gothic Paneuropean"/>
                <a:cs typeface="Century Gothic Paneuropean"/>
                <a:sym typeface="Century Gothic Paneuropean"/>
              </a:rPr>
              <a:t>New operator dynamically allocates memory for an object and returns reference to it (address in the memory)  </a:t>
            </a:r>
            <a:endParaRPr lang="en-US" dirty="0">
              <a:solidFill>
                <a:prstClr val="black"/>
              </a:solidFill>
            </a:endParaRPr>
          </a:p>
        </p:txBody>
      </p:sp>
      <p:sp>
        <p:nvSpPr>
          <p:cNvPr id="15" name="Rectangle 14"/>
          <p:cNvSpPr/>
          <p:nvPr/>
        </p:nvSpPr>
        <p:spPr>
          <a:xfrm>
            <a:off x="3200400" y="5295900"/>
            <a:ext cx="1981200" cy="6858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3200" dirty="0">
              <a:solidFill>
                <a:srgbClr val="000000"/>
              </a:solidFill>
              <a:latin typeface="Century Gothic Paneuropean"/>
              <a:ea typeface="Century Gothic Paneuropean"/>
              <a:cs typeface="Century Gothic Paneuropean"/>
            </a:endParaRPr>
          </a:p>
        </p:txBody>
      </p:sp>
      <p:sp>
        <p:nvSpPr>
          <p:cNvPr id="17" name="Rectangle 16"/>
          <p:cNvSpPr/>
          <p:nvPr/>
        </p:nvSpPr>
        <p:spPr>
          <a:xfrm>
            <a:off x="1600200" y="6671646"/>
            <a:ext cx="5791200" cy="1077218"/>
          </a:xfrm>
          <a:prstGeom prst="rect">
            <a:avLst/>
          </a:prstGeom>
        </p:spPr>
        <p:txBody>
          <a:bodyPr wrap="square">
            <a:spAutoFit/>
          </a:bodyPr>
          <a:lstStyle/>
          <a:p>
            <a:pPr lvl="0" algn="ctr"/>
            <a:r>
              <a:rPr lang="en-US" sz="3200" dirty="0">
                <a:solidFill>
                  <a:srgbClr val="000000"/>
                </a:solidFill>
                <a:latin typeface="Century Gothic Paneuropean"/>
                <a:ea typeface="Century Gothic Paneuropean"/>
                <a:cs typeface="Century Gothic Paneuropean"/>
                <a:sym typeface="Century Gothic Paneuropean"/>
              </a:rPr>
              <a:t>mybox</a:t>
            </a:r>
          </a:p>
          <a:p>
            <a:pPr lvl="0" algn="ctr"/>
            <a:r>
              <a:rPr lang="en-US" sz="3200" dirty="0">
                <a:solidFill>
                  <a:srgbClr val="000000"/>
                </a:solidFill>
                <a:latin typeface="Century Gothic Paneuropean"/>
                <a:ea typeface="Century Gothic Paneuropean"/>
                <a:cs typeface="Century Gothic Paneuropean"/>
              </a:rPr>
              <a:t>(</a:t>
            </a:r>
            <a:r>
              <a:rPr lang="en-US" sz="3200" dirty="0" smtClean="0">
                <a:solidFill>
                  <a:srgbClr val="000000"/>
                </a:solidFill>
                <a:latin typeface="Century Gothic Paneuropean"/>
                <a:ea typeface="Century Gothic Paneuropean"/>
                <a:cs typeface="Century Gothic Paneuropean"/>
              </a:rPr>
              <a:t>reference </a:t>
            </a:r>
            <a:r>
              <a:rPr lang="en-US" sz="3200" dirty="0">
                <a:solidFill>
                  <a:srgbClr val="000000"/>
                </a:solidFill>
                <a:latin typeface="Century Gothic Paneuropean"/>
                <a:ea typeface="Century Gothic Paneuropean"/>
                <a:cs typeface="Century Gothic Paneuropean"/>
              </a:rPr>
              <a:t>variable)</a:t>
            </a:r>
          </a:p>
        </p:txBody>
      </p:sp>
      <p:cxnSp>
        <p:nvCxnSpPr>
          <p:cNvPr id="18" name="Straight Arrow Connector 17"/>
          <p:cNvCxnSpPr/>
          <p:nvPr/>
        </p:nvCxnSpPr>
        <p:spPr>
          <a:xfrm>
            <a:off x="7780771" y="5684383"/>
            <a:ext cx="2261900" cy="0"/>
          </a:xfrm>
          <a:prstGeom prst="straightConnector1">
            <a:avLst/>
          </a:prstGeom>
          <a:ln w="57150">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2192000" y="4975311"/>
            <a:ext cx="3352800" cy="229611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3200" dirty="0">
              <a:solidFill>
                <a:srgbClr val="000000"/>
              </a:solidFill>
              <a:latin typeface="Century Gothic Paneuropean"/>
              <a:ea typeface="Century Gothic Paneuropean"/>
              <a:cs typeface="Century Gothic Paneuropean"/>
            </a:endParaRPr>
          </a:p>
        </p:txBody>
      </p:sp>
      <p:cxnSp>
        <p:nvCxnSpPr>
          <p:cNvPr id="21" name="Straight Connector 20"/>
          <p:cNvCxnSpPr/>
          <p:nvPr/>
        </p:nvCxnSpPr>
        <p:spPr>
          <a:xfrm>
            <a:off x="12192000" y="5684383"/>
            <a:ext cx="3352800" cy="0"/>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2192000" y="6438900"/>
            <a:ext cx="3352800" cy="0"/>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2824375" y="5099608"/>
            <a:ext cx="2062264" cy="584775"/>
          </a:xfrm>
          <a:prstGeom prst="rect">
            <a:avLst/>
          </a:prstGeom>
          <a:noFill/>
        </p:spPr>
        <p:txBody>
          <a:bodyPr wrap="square" rtlCol="0">
            <a:spAutoFit/>
          </a:bodyPr>
          <a:lstStyle/>
          <a:p>
            <a:r>
              <a:rPr lang="en-US" sz="3200" b="1" dirty="0" smtClean="0"/>
              <a:t>WIDTH</a:t>
            </a:r>
            <a:endParaRPr lang="en-US" sz="3200" b="1" dirty="0"/>
          </a:p>
        </p:txBody>
      </p:sp>
      <p:sp>
        <p:nvSpPr>
          <p:cNvPr id="24" name="TextBox 23"/>
          <p:cNvSpPr txBox="1"/>
          <p:nvPr/>
        </p:nvSpPr>
        <p:spPr>
          <a:xfrm>
            <a:off x="12824375" y="5830979"/>
            <a:ext cx="2062264" cy="584775"/>
          </a:xfrm>
          <a:prstGeom prst="rect">
            <a:avLst/>
          </a:prstGeom>
          <a:noFill/>
        </p:spPr>
        <p:txBody>
          <a:bodyPr wrap="square" rtlCol="0">
            <a:spAutoFit/>
          </a:bodyPr>
          <a:lstStyle/>
          <a:p>
            <a:r>
              <a:rPr lang="en-US" sz="3200" b="1" dirty="0" smtClean="0"/>
              <a:t>HEIGHT</a:t>
            </a:r>
            <a:endParaRPr lang="en-US" sz="3200" b="1" dirty="0"/>
          </a:p>
        </p:txBody>
      </p:sp>
      <p:sp>
        <p:nvSpPr>
          <p:cNvPr id="25" name="TextBox 24"/>
          <p:cNvSpPr txBox="1"/>
          <p:nvPr/>
        </p:nvSpPr>
        <p:spPr>
          <a:xfrm>
            <a:off x="12866605" y="6625480"/>
            <a:ext cx="2062264" cy="584775"/>
          </a:xfrm>
          <a:prstGeom prst="rect">
            <a:avLst/>
          </a:prstGeom>
          <a:noFill/>
        </p:spPr>
        <p:txBody>
          <a:bodyPr wrap="square" rtlCol="0">
            <a:spAutoFit/>
          </a:bodyPr>
          <a:lstStyle/>
          <a:p>
            <a:r>
              <a:rPr lang="en-US" sz="3200" b="1" dirty="0" smtClean="0"/>
              <a:t>DEPTH</a:t>
            </a:r>
            <a:endParaRPr lang="en-US" sz="3200" b="1" dirty="0"/>
          </a:p>
        </p:txBody>
      </p:sp>
      <p:sp>
        <p:nvSpPr>
          <p:cNvPr id="27" name="Rectangle 26"/>
          <p:cNvSpPr/>
          <p:nvPr/>
        </p:nvSpPr>
        <p:spPr>
          <a:xfrm>
            <a:off x="13078760" y="7539944"/>
            <a:ext cx="1579279" cy="584775"/>
          </a:xfrm>
          <a:prstGeom prst="rect">
            <a:avLst/>
          </a:prstGeom>
        </p:spPr>
        <p:txBody>
          <a:bodyPr wrap="none">
            <a:spAutoFit/>
          </a:bodyPr>
          <a:lstStyle/>
          <a:p>
            <a:pPr lvl="0" algn="ctr"/>
            <a:r>
              <a:rPr lang="en-US" sz="3200" dirty="0" smtClean="0">
                <a:solidFill>
                  <a:srgbClr val="000000"/>
                </a:solidFill>
                <a:latin typeface="Century Gothic Paneuropean"/>
                <a:ea typeface="Century Gothic Paneuropean"/>
                <a:cs typeface="Century Gothic Paneuropean"/>
                <a:sym typeface="Century Gothic Paneuropean"/>
              </a:rPr>
              <a:t>Object</a:t>
            </a:r>
            <a:endParaRPr lang="en-US" sz="3200" dirty="0">
              <a:solidFill>
                <a:srgbClr val="000000"/>
              </a:solidFill>
              <a:latin typeface="Century Gothic Paneuropean"/>
              <a:ea typeface="Century Gothic Paneuropean"/>
              <a:cs typeface="Century Gothic Paneuropean"/>
              <a:sym typeface="Century Gothic Paneuropean"/>
            </a:endParaRPr>
          </a:p>
        </p:txBody>
      </p:sp>
      <p:sp>
        <p:nvSpPr>
          <p:cNvPr id="26" name="Rectangle 25"/>
          <p:cNvSpPr/>
          <p:nvPr/>
        </p:nvSpPr>
        <p:spPr>
          <a:xfrm>
            <a:off x="1210383" y="8420100"/>
            <a:ext cx="15786171" cy="746358"/>
          </a:xfrm>
          <a:prstGeom prst="rect">
            <a:avLst/>
          </a:prstGeom>
        </p:spPr>
        <p:txBody>
          <a:bodyPr wrap="square">
            <a:spAutoFit/>
          </a:bodyPr>
          <a:lstStyle/>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 Width , Height and Depth are the data members </a:t>
            </a:r>
            <a:endParaRPr lang="en-US" sz="320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362631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0" y="9793173"/>
            <a:ext cx="18297728" cy="49382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482920"/>
            <a:ext cx="16206686"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Assigning Object Reference Variable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356733"/>
            <a:ext cx="15537445" cy="6540252"/>
          </a:xfrm>
          <a:prstGeom prst="rect">
            <a:avLst/>
          </a:prstGeom>
        </p:spPr>
        <p:txBody>
          <a:bodyPr wrap="square" lIns="0" tIns="0" rIns="0" bIns="0" rtlCol="0" anchor="t">
            <a:spAutoFit/>
          </a:bodyPr>
          <a:lstStyle/>
          <a:p>
            <a:pPr algn="ctr">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Box b1 = new Box ();</a:t>
            </a:r>
          </a:p>
          <a:p>
            <a:pPr algn="ctr">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Box b2 = b1 ;</a:t>
            </a:r>
          </a:p>
          <a:p>
            <a:pPr marL="571500" indent="-5715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1 &amp;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2 are two distinct objects.</a:t>
            </a:r>
          </a:p>
          <a:p>
            <a:pPr marL="571500" indent="-5715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Assignment of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1 &amp;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2 did not allocate any memory or copy any part of original object.</a:t>
            </a:r>
          </a:p>
          <a:p>
            <a:pPr marL="571500" indent="-5715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Simply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1 &amp;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2 refer to the same object.</a:t>
            </a:r>
          </a:p>
          <a:p>
            <a:pPr marL="571500" indent="-5715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Also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1 &amp;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2 are not linked in any way.</a:t>
            </a:r>
          </a:p>
          <a:p>
            <a:pPr marL="571500" indent="-5715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Once assignment of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2 to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1 is done, the job is finished, any further changes to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1 will not affect </a:t>
            </a:r>
            <a:r>
              <a:rPr lang="en-US" sz="3200" dirty="0">
                <a:solidFill>
                  <a:srgbClr val="000000"/>
                </a:solidFill>
                <a:latin typeface="Century Gothic Paneuropean"/>
                <a:ea typeface="Century Gothic Paneuropean"/>
                <a:cs typeface="Century Gothic Paneuropean"/>
                <a:sym typeface="Century Gothic Paneuropean"/>
              </a:rPr>
              <a:t>b</a:t>
            </a:r>
            <a:r>
              <a:rPr lang="en-US" sz="3200" dirty="0" smtClean="0">
                <a:solidFill>
                  <a:srgbClr val="000000"/>
                </a:solidFill>
                <a:latin typeface="Century Gothic Paneuropean"/>
                <a:ea typeface="Century Gothic Paneuropean"/>
                <a:cs typeface="Century Gothic Paneuropean"/>
                <a:sym typeface="Century Gothic Paneuropean"/>
              </a:rPr>
              <a:t>2 as assignment is already done once .</a:t>
            </a:r>
          </a:p>
          <a:p>
            <a:pPr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b="1" dirty="0" smtClean="0">
                <a:solidFill>
                  <a:srgbClr val="000000"/>
                </a:solidFill>
                <a:latin typeface="Century Gothic Paneuropean"/>
                <a:ea typeface="Century Gothic Paneuropean"/>
                <a:cs typeface="Century Gothic Paneuropean"/>
                <a:sym typeface="Century Gothic Paneuropean"/>
              </a:rPr>
              <a:t> </a:t>
            </a:r>
            <a:endParaRPr lang="en-US" sz="3200" dirty="0" smtClean="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29810098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0" y="9793173"/>
            <a:ext cx="18297728" cy="49382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482920"/>
            <a:ext cx="16206686"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Assigning Object Reference Variable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3000" y="6210300"/>
            <a:ext cx="15537445" cy="3270126"/>
          </a:xfrm>
          <a:prstGeom prst="rect">
            <a:avLst/>
          </a:prstGeom>
        </p:spPr>
        <p:txBody>
          <a:bodyPr wrap="square" lIns="0" tIns="0" rIns="0" bIns="0" rtlCol="0" anchor="t">
            <a:spAutoFit/>
          </a:bodyPr>
          <a:lstStyle/>
          <a:p>
            <a:pPr algn="ctr">
              <a:lnSpc>
                <a:spcPts val="5096"/>
              </a:lnSpc>
            </a:pPr>
            <a:endParaRPr lang="en-US" sz="3200" dirty="0" smtClean="0">
              <a:solidFill>
                <a:srgbClr val="000000"/>
              </a:solidFill>
              <a:latin typeface="Century Gothic Paneuropean"/>
              <a:ea typeface="Century Gothic Paneuropean"/>
              <a:cs typeface="Century Gothic Paneuropean"/>
              <a:sym typeface="Century Gothic Paneuropean"/>
            </a:endParaRPr>
          </a:p>
          <a:p>
            <a:pPr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b="1" dirty="0" smtClean="0">
                <a:solidFill>
                  <a:srgbClr val="000000"/>
                </a:solidFill>
                <a:latin typeface="Century Gothic Paneuropean"/>
                <a:ea typeface="Century Gothic Paneuropean"/>
                <a:cs typeface="Century Gothic Paneuropean"/>
                <a:sym typeface="Century Gothic Paneuropean"/>
              </a:rPr>
              <a:t>set b1 =null ; </a:t>
            </a:r>
          </a:p>
          <a:p>
            <a:pPr marL="571500" indent="-5715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b2 will still point to the original object.</a:t>
            </a:r>
          </a:p>
          <a:p>
            <a:pPr marL="571500" indent="-5715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The above assignment (b1 = null;) will simply unhook b1 from the original object, without affecting the object or affecting b2</a:t>
            </a:r>
            <a:r>
              <a:rPr lang="en-US" sz="3200" dirty="0" smtClean="0">
                <a:solidFill>
                  <a:srgbClr val="000000"/>
                </a:solidFill>
                <a:latin typeface="Century Gothic Paneuropean"/>
                <a:ea typeface="Century Gothic Paneuropean"/>
                <a:cs typeface="Century Gothic Paneuropean"/>
                <a:sym typeface="Century Gothic Paneuropean"/>
              </a:rPr>
              <a:t>.</a:t>
            </a:r>
            <a:endParaRPr lang="en-US" sz="3200" dirty="0">
              <a:solidFill>
                <a:srgbClr val="000000"/>
              </a:solidFill>
              <a:latin typeface="Century Gothic Paneuropean"/>
              <a:ea typeface="Century Gothic Paneuropean"/>
              <a:cs typeface="Century Gothic Paneuropean"/>
              <a:sym typeface="Century Gothic Paneuropean"/>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480553"/>
            <a:ext cx="8229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59324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639300"/>
            <a:ext cx="18297728" cy="647700"/>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Introducing Methods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78756" y="2400300"/>
            <a:ext cx="15537445" cy="9156353"/>
          </a:xfrm>
          <a:prstGeom prst="rect">
            <a:avLst/>
          </a:prstGeom>
        </p:spPr>
        <p:txBody>
          <a:bodyPr wrap="square" lIns="0" tIns="0" rIns="0" bIns="0" rtlCol="0" anchor="t">
            <a:spAutoFit/>
          </a:bodyPr>
          <a:lstStyle/>
          <a:p>
            <a:pPr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General Syntax  :-</a:t>
            </a:r>
            <a:endParaRPr lang="en-US" sz="3200" dirty="0">
              <a:solidFill>
                <a:srgbClr val="000000"/>
              </a:solidFill>
              <a:latin typeface="Century Gothic Paneuropean"/>
              <a:ea typeface="Century Gothic Paneuropean"/>
              <a:cs typeface="Century Gothic Paneuropean"/>
              <a:sym typeface="Century Gothic Paneuropean"/>
            </a:endParaRPr>
          </a:p>
          <a:p>
            <a:pPr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b="1" dirty="0" smtClean="0">
                <a:solidFill>
                  <a:srgbClr val="000000"/>
                </a:solidFill>
                <a:latin typeface="Century Gothic Paneuropean"/>
                <a:ea typeface="Century Gothic Paneuropean"/>
                <a:cs typeface="Century Gothic Paneuropean"/>
                <a:sym typeface="Century Gothic Paneuropean"/>
              </a:rPr>
              <a:t>type name (parameter - list){</a:t>
            </a:r>
          </a:p>
          <a:p>
            <a:pPr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	//body of method }</a:t>
            </a: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type – type defines the type of data returned</a:t>
            </a:r>
          </a:p>
          <a:p>
            <a:pPr lvl="2"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void – when method does not return any value</a:t>
            </a:r>
          </a:p>
          <a:p>
            <a:pPr lvl="2"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Data type(int, double, class type etc.) – when method returns some value</a:t>
            </a:r>
            <a:endParaRPr lang="en-US" sz="3200"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name – name of the method</a:t>
            </a: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Parameter </a:t>
            </a:r>
            <a:r>
              <a:rPr lang="en-US" sz="3200" dirty="0">
                <a:solidFill>
                  <a:srgbClr val="000000"/>
                </a:solidFill>
                <a:latin typeface="Century Gothic Paneuropean"/>
                <a:ea typeface="Century Gothic Paneuropean"/>
                <a:cs typeface="Century Gothic Paneuropean"/>
                <a:sym typeface="Century Gothic Paneuropean"/>
              </a:rPr>
              <a:t>List – Parameter </a:t>
            </a:r>
            <a:r>
              <a:rPr lang="en-US" sz="3200" dirty="0" smtClean="0">
                <a:solidFill>
                  <a:srgbClr val="000000"/>
                </a:solidFill>
                <a:latin typeface="Century Gothic Paneuropean"/>
                <a:ea typeface="Century Gothic Paneuropean"/>
                <a:cs typeface="Century Gothic Paneuropean"/>
                <a:sym typeface="Century Gothic Paneuropean"/>
              </a:rPr>
              <a:t>are the variables </a:t>
            </a:r>
            <a:r>
              <a:rPr lang="en-US" sz="3200" dirty="0">
                <a:solidFill>
                  <a:srgbClr val="000000"/>
                </a:solidFill>
                <a:latin typeface="Century Gothic Paneuropean"/>
                <a:ea typeface="Century Gothic Paneuropean"/>
                <a:cs typeface="Century Gothic Paneuropean"/>
                <a:sym typeface="Century Gothic Paneuropean"/>
              </a:rPr>
              <a:t>that receive the value of arguments passed to the method when it is </a:t>
            </a:r>
            <a:r>
              <a:rPr lang="en-US" sz="3200" dirty="0" smtClean="0">
                <a:solidFill>
                  <a:srgbClr val="000000"/>
                </a:solidFill>
                <a:latin typeface="Century Gothic Paneuropean"/>
                <a:ea typeface="Century Gothic Paneuropean"/>
                <a:cs typeface="Century Gothic Paneuropean"/>
                <a:sym typeface="Century Gothic Paneuropean"/>
              </a:rPr>
              <a:t>called. Sequence </a:t>
            </a:r>
            <a:r>
              <a:rPr lang="en-US" sz="3200" dirty="0">
                <a:solidFill>
                  <a:srgbClr val="000000"/>
                </a:solidFill>
                <a:latin typeface="Century Gothic Paneuropean"/>
                <a:ea typeface="Century Gothic Paneuropean"/>
                <a:cs typeface="Century Gothic Paneuropean"/>
                <a:sym typeface="Century Gothic Paneuropean"/>
              </a:rPr>
              <a:t>of type and identifier pairs </a:t>
            </a:r>
            <a:r>
              <a:rPr lang="en-US" sz="3200" dirty="0" smtClean="0">
                <a:solidFill>
                  <a:srgbClr val="000000"/>
                </a:solidFill>
                <a:latin typeface="Century Gothic Paneuropean"/>
                <a:ea typeface="Century Gothic Paneuropean"/>
                <a:cs typeface="Century Gothic Paneuropean"/>
                <a:sym typeface="Century Gothic Paneuropean"/>
              </a:rPr>
              <a:t>separated </a:t>
            </a:r>
            <a:r>
              <a:rPr lang="en-US" sz="3200" dirty="0">
                <a:solidFill>
                  <a:srgbClr val="000000"/>
                </a:solidFill>
                <a:latin typeface="Century Gothic Paneuropean"/>
                <a:ea typeface="Century Gothic Paneuropean"/>
                <a:cs typeface="Century Gothic Paneuropean"/>
                <a:sym typeface="Century Gothic Paneuropean"/>
              </a:rPr>
              <a:t>by commas </a:t>
            </a:r>
            <a:endParaRPr lang="en-US" sz="3200" dirty="0" smtClean="0">
              <a:solidFill>
                <a:srgbClr val="000000"/>
              </a:solidFill>
              <a:latin typeface="Century Gothic Paneuropean"/>
              <a:ea typeface="Century Gothic Paneuropean"/>
              <a:cs typeface="Century Gothic Paneuropean"/>
              <a:sym typeface="Century Gothic Paneuropean"/>
            </a:endParaRPr>
          </a:p>
          <a:p>
            <a:pPr marL="457200" indent="-4572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Return statement </a:t>
            </a:r>
            <a:r>
              <a:rPr lang="en-US" sz="3200" dirty="0" smtClean="0">
                <a:solidFill>
                  <a:srgbClr val="000000"/>
                </a:solidFill>
                <a:latin typeface="Century Gothic Paneuropean"/>
                <a:ea typeface="Century Gothic Paneuropean"/>
                <a:cs typeface="Century Gothic Paneuropean"/>
                <a:sym typeface="Century Gothic Paneuropean"/>
              </a:rPr>
              <a:t>– return </a:t>
            </a:r>
            <a:r>
              <a:rPr lang="en-US" sz="3200" dirty="0">
                <a:solidFill>
                  <a:srgbClr val="000000"/>
                </a:solidFill>
                <a:latin typeface="Century Gothic Paneuropean"/>
                <a:ea typeface="Century Gothic Paneuropean"/>
                <a:cs typeface="Century Gothic Paneuropean"/>
                <a:sym typeface="Century Gothic Paneuropean"/>
              </a:rPr>
              <a:t>value;(if return type is not void)</a:t>
            </a:r>
          </a:p>
          <a:p>
            <a:pPr marL="457200" indent="-457200" algn="just">
              <a:lnSpc>
                <a:spcPts val="5096"/>
              </a:lnSpc>
              <a:buFont typeface="Arial" panose="020B0604020202020204" pitchFamily="34" charset="0"/>
              <a:buChar char="•"/>
            </a:pPr>
            <a:endParaRPr lang="en-US" sz="3200" dirty="0">
              <a:solidFill>
                <a:srgbClr val="000000"/>
              </a:solidFill>
              <a:latin typeface="Century Gothic Paneuropean"/>
              <a:ea typeface="Century Gothic Paneuropean"/>
              <a:cs typeface="Century Gothic Paneuropean"/>
              <a:sym typeface="Century Gothic Paneuropean"/>
            </a:endParaRPr>
          </a:p>
          <a:p>
            <a:pPr algn="just">
              <a:lnSpc>
                <a:spcPts val="5096"/>
              </a:lnSpc>
            </a:pPr>
            <a:endParaRPr lang="en-US" sz="3200" dirty="0" smtClean="0">
              <a:solidFill>
                <a:srgbClr val="000000"/>
              </a:solidFill>
              <a:latin typeface="Century Gothic Paneuropean"/>
              <a:ea typeface="Century Gothic Paneuropean"/>
              <a:cs typeface="Century Gothic Paneuropean"/>
              <a:sym typeface="Century Gothic Paneuropean"/>
            </a:endParaRPr>
          </a:p>
          <a:p>
            <a:pPr marL="457200" indent="-457200" algn="just">
              <a:lnSpc>
                <a:spcPts val="5096"/>
              </a:lnSpc>
              <a:buFont typeface="Arial" panose="020B0604020202020204" pitchFamily="34" charset="0"/>
              <a:buChar char="•"/>
            </a:pPr>
            <a:endParaRPr lang="en-US" sz="3200" dirty="0" smtClean="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35980694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639300"/>
            <a:ext cx="18297728" cy="647700"/>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Introducing Methods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78756" y="2400300"/>
            <a:ext cx="15537445" cy="7017306"/>
          </a:xfrm>
          <a:prstGeom prst="rect">
            <a:avLst/>
          </a:prstGeom>
        </p:spPr>
        <p:txBody>
          <a:bodyPr wrap="square" lIns="0" tIns="0" rIns="0" bIns="0" rtlCol="0" anchor="t">
            <a:spAutoFit/>
          </a:bodyPr>
          <a:lstStyle/>
          <a:p>
            <a:r>
              <a:rPr lang="en-US" sz="2400" b="1" dirty="0">
                <a:solidFill>
                  <a:srgbClr val="7F0055"/>
                </a:solidFill>
                <a:latin typeface="Consolas"/>
              </a:rPr>
              <a:t>package</a:t>
            </a:r>
            <a:r>
              <a:rPr lang="en-US" sz="2400" dirty="0">
                <a:solidFill>
                  <a:srgbClr val="000000"/>
                </a:solidFill>
                <a:latin typeface="Consolas"/>
              </a:rPr>
              <a:t> </a:t>
            </a:r>
            <a:r>
              <a:rPr lang="en-US" sz="2400" dirty="0" err="1">
                <a:solidFill>
                  <a:srgbClr val="000000"/>
                </a:solidFill>
                <a:latin typeface="Consolas"/>
              </a:rPr>
              <a:t>basicsofjava</a:t>
            </a:r>
            <a:r>
              <a:rPr lang="en-US" sz="2400" dirty="0">
                <a:solidFill>
                  <a:srgbClr val="000000"/>
                </a:solidFill>
                <a:latin typeface="Consolas"/>
              </a:rPr>
              <a:t>;</a:t>
            </a:r>
          </a:p>
          <a:p>
            <a:r>
              <a:rPr lang="en-US" sz="2400" b="1" dirty="0">
                <a:solidFill>
                  <a:srgbClr val="7F0055"/>
                </a:solidFill>
                <a:latin typeface="Consolas"/>
              </a:rPr>
              <a:t>class</a:t>
            </a:r>
            <a:r>
              <a:rPr lang="en-US" sz="2400" dirty="0">
                <a:solidFill>
                  <a:srgbClr val="000000"/>
                </a:solidFill>
                <a:latin typeface="Consolas"/>
              </a:rPr>
              <a:t> Box</a:t>
            </a:r>
            <a:r>
              <a:rPr lang="en-US" sz="2400" dirty="0" smtClean="0">
                <a:solidFill>
                  <a:srgbClr val="000000"/>
                </a:solidFill>
                <a:latin typeface="Consolas"/>
              </a:rPr>
              <a:t>{</a:t>
            </a:r>
          </a:p>
          <a:p>
            <a:r>
              <a:rPr lang="en-US" sz="2400" dirty="0">
                <a:solidFill>
                  <a:srgbClr val="000000"/>
                </a:solidFill>
                <a:latin typeface="Consolas"/>
              </a:rPr>
              <a:t>	</a:t>
            </a:r>
            <a:r>
              <a:rPr lang="en-US" sz="2400" b="1" dirty="0" smtClean="0">
                <a:solidFill>
                  <a:srgbClr val="7F0055"/>
                </a:solidFill>
                <a:latin typeface="Consolas"/>
              </a:rPr>
              <a:t>double</a:t>
            </a:r>
            <a:r>
              <a:rPr lang="en-US" sz="2400" dirty="0" smtClean="0">
                <a:solidFill>
                  <a:srgbClr val="000000"/>
                </a:solidFill>
                <a:latin typeface="Consolas"/>
              </a:rPr>
              <a:t> </a:t>
            </a:r>
            <a:r>
              <a:rPr lang="en-US" sz="2400" dirty="0" smtClean="0">
                <a:solidFill>
                  <a:srgbClr val="6A3E3E"/>
                </a:solidFill>
                <a:latin typeface="Consolas"/>
              </a:rPr>
              <a:t>height</a:t>
            </a:r>
            <a:r>
              <a:rPr lang="en-US" sz="2400" dirty="0" smtClean="0">
                <a:solidFill>
                  <a:srgbClr val="000000"/>
                </a:solidFill>
                <a:latin typeface="Consolas"/>
              </a:rPr>
              <a:t>;</a:t>
            </a:r>
          </a:p>
          <a:p>
            <a:r>
              <a:rPr lang="en-US" sz="2400" dirty="0">
                <a:solidFill>
                  <a:srgbClr val="000000"/>
                </a:solidFill>
                <a:latin typeface="Consolas"/>
              </a:rPr>
              <a:t>	</a:t>
            </a:r>
            <a:r>
              <a:rPr lang="en-US" sz="2400" b="1" dirty="0" smtClean="0">
                <a:solidFill>
                  <a:srgbClr val="7F0055"/>
                </a:solidFill>
                <a:latin typeface="Consolas"/>
              </a:rPr>
              <a:t>double</a:t>
            </a:r>
            <a:r>
              <a:rPr lang="en-US" sz="2400" dirty="0" smtClean="0">
                <a:solidFill>
                  <a:srgbClr val="000000"/>
                </a:solidFill>
                <a:latin typeface="Consolas"/>
              </a:rPr>
              <a:t> </a:t>
            </a:r>
            <a:r>
              <a:rPr lang="en-US" sz="2400" dirty="0" smtClean="0">
                <a:solidFill>
                  <a:srgbClr val="6A3E3E"/>
                </a:solidFill>
                <a:latin typeface="Consolas"/>
              </a:rPr>
              <a:t>width</a:t>
            </a:r>
            <a:r>
              <a:rPr lang="en-US" sz="2400" dirty="0" smtClean="0">
                <a:solidFill>
                  <a:srgbClr val="000000"/>
                </a:solidFill>
                <a:latin typeface="Consolas"/>
              </a:rPr>
              <a:t>;</a:t>
            </a:r>
          </a:p>
          <a:p>
            <a:r>
              <a:rPr lang="en-US" sz="2400" dirty="0">
                <a:solidFill>
                  <a:srgbClr val="000000"/>
                </a:solidFill>
                <a:latin typeface="Consolas"/>
              </a:rPr>
              <a:t>	</a:t>
            </a:r>
            <a:r>
              <a:rPr lang="en-US" sz="2400" b="1" dirty="0" smtClean="0">
                <a:solidFill>
                  <a:srgbClr val="7F0055"/>
                </a:solidFill>
                <a:latin typeface="Consolas"/>
              </a:rPr>
              <a:t>double</a:t>
            </a:r>
            <a:r>
              <a:rPr lang="en-US" sz="2400" dirty="0" smtClean="0">
                <a:solidFill>
                  <a:srgbClr val="000000"/>
                </a:solidFill>
                <a:latin typeface="Consolas"/>
              </a:rPr>
              <a:t> </a:t>
            </a:r>
            <a:r>
              <a:rPr lang="en-US" sz="2400" dirty="0" smtClean="0">
                <a:solidFill>
                  <a:srgbClr val="6A3E3E"/>
                </a:solidFill>
                <a:latin typeface="Consolas"/>
              </a:rPr>
              <a:t>depth;</a:t>
            </a:r>
            <a:endParaRPr lang="en-US" sz="2400" dirty="0">
              <a:solidFill>
                <a:srgbClr val="000000"/>
              </a:solidFill>
              <a:latin typeface="Consolas"/>
            </a:endParaRPr>
          </a:p>
          <a:p>
            <a:pPr lvl="2"/>
            <a:r>
              <a:rPr lang="en-US" sz="2400" b="1" dirty="0">
                <a:solidFill>
                  <a:srgbClr val="7F0055"/>
                </a:solidFill>
                <a:latin typeface="Consolas"/>
              </a:rPr>
              <a:t>double</a:t>
            </a:r>
            <a:r>
              <a:rPr lang="en-US" sz="2400" dirty="0">
                <a:solidFill>
                  <a:srgbClr val="000000"/>
                </a:solidFill>
                <a:latin typeface="Consolas"/>
              </a:rPr>
              <a:t> </a:t>
            </a:r>
            <a:r>
              <a:rPr lang="en-US" sz="2400" dirty="0" err="1">
                <a:solidFill>
                  <a:srgbClr val="0000C0"/>
                </a:solidFill>
                <a:latin typeface="Consolas"/>
              </a:rPr>
              <a:t>vol1</a:t>
            </a:r>
            <a:r>
              <a:rPr lang="en-US" sz="2400" dirty="0">
                <a:solidFill>
                  <a:srgbClr val="000000"/>
                </a:solidFill>
                <a:latin typeface="Consolas"/>
              </a:rPr>
              <a:t>;</a:t>
            </a:r>
          </a:p>
          <a:p>
            <a:pPr lvl="2"/>
            <a:r>
              <a:rPr lang="en-US" sz="2400" b="1" dirty="0">
                <a:solidFill>
                  <a:srgbClr val="7F0055"/>
                </a:solidFill>
                <a:latin typeface="Consolas"/>
              </a:rPr>
              <a:t>void</a:t>
            </a:r>
            <a:r>
              <a:rPr lang="en-US" sz="2400" dirty="0">
                <a:solidFill>
                  <a:srgbClr val="000000"/>
                </a:solidFill>
                <a:latin typeface="Consolas"/>
              </a:rPr>
              <a:t> </a:t>
            </a:r>
            <a:r>
              <a:rPr lang="en-US" sz="2400" dirty="0" smtClean="0">
                <a:solidFill>
                  <a:srgbClr val="000000"/>
                </a:solidFill>
                <a:latin typeface="Consolas"/>
              </a:rPr>
              <a:t>volume () </a:t>
            </a:r>
            <a:r>
              <a:rPr lang="en-US" sz="2400" dirty="0">
                <a:solidFill>
                  <a:srgbClr val="000000"/>
                </a:solidFill>
                <a:latin typeface="Consolas"/>
              </a:rPr>
              <a:t>{		</a:t>
            </a:r>
            <a:r>
              <a:rPr lang="en-US" sz="2400" dirty="0" smtClean="0">
                <a:solidFill>
                  <a:srgbClr val="000000"/>
                </a:solidFill>
                <a:latin typeface="Consolas"/>
              </a:rPr>
              <a:t> </a:t>
            </a:r>
            <a:endParaRPr lang="en-US" sz="2400" dirty="0">
              <a:solidFill>
                <a:srgbClr val="000000"/>
              </a:solidFill>
              <a:latin typeface="Consolas"/>
            </a:endParaRPr>
          </a:p>
          <a:p>
            <a:pPr lvl="2"/>
            <a:r>
              <a:rPr lang="en-US" sz="2400" dirty="0" err="1">
                <a:solidFill>
                  <a:srgbClr val="0000C0"/>
                </a:solidFill>
                <a:latin typeface="Consolas"/>
              </a:rPr>
              <a:t>vol1</a:t>
            </a:r>
            <a:r>
              <a:rPr lang="en-US" sz="2400" dirty="0">
                <a:solidFill>
                  <a:srgbClr val="000000"/>
                </a:solidFill>
                <a:latin typeface="Consolas"/>
              </a:rPr>
              <a:t>=</a:t>
            </a:r>
            <a:r>
              <a:rPr lang="en-US" sz="2400" dirty="0">
                <a:solidFill>
                  <a:srgbClr val="6A3E3E"/>
                </a:solidFill>
                <a:latin typeface="Consolas"/>
              </a:rPr>
              <a:t>height</a:t>
            </a:r>
            <a:r>
              <a:rPr lang="en-US" sz="2400" dirty="0">
                <a:solidFill>
                  <a:srgbClr val="000000"/>
                </a:solidFill>
                <a:latin typeface="Consolas"/>
              </a:rPr>
              <a:t>*</a:t>
            </a:r>
            <a:r>
              <a:rPr lang="en-US" sz="2400" dirty="0">
                <a:solidFill>
                  <a:srgbClr val="6A3E3E"/>
                </a:solidFill>
                <a:latin typeface="Consolas"/>
              </a:rPr>
              <a:t>depth</a:t>
            </a:r>
            <a:r>
              <a:rPr lang="en-US" sz="2400" dirty="0">
                <a:solidFill>
                  <a:srgbClr val="000000"/>
                </a:solidFill>
                <a:latin typeface="Consolas"/>
              </a:rPr>
              <a:t>*</a:t>
            </a:r>
            <a:r>
              <a:rPr lang="en-US" sz="2400" dirty="0">
                <a:solidFill>
                  <a:srgbClr val="6A3E3E"/>
                </a:solidFill>
                <a:latin typeface="Consolas"/>
              </a:rPr>
              <a:t>width</a:t>
            </a:r>
            <a:r>
              <a:rPr lang="en-US" sz="2400" dirty="0">
                <a:solidFill>
                  <a:srgbClr val="000000"/>
                </a:solidFill>
                <a:latin typeface="Consolas"/>
              </a:rPr>
              <a:t>;</a:t>
            </a:r>
          </a:p>
          <a:p>
            <a:pPr lvl="2"/>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err="1">
                <a:solidFill>
                  <a:srgbClr val="0000C0"/>
                </a:solidFill>
                <a:latin typeface="Consolas"/>
              </a:rPr>
              <a:t>vol1</a:t>
            </a:r>
            <a:r>
              <a:rPr lang="en-US" sz="2400" dirty="0" smtClean="0">
                <a:solidFill>
                  <a:srgbClr val="000000"/>
                </a:solidFill>
                <a:latin typeface="Consolas"/>
              </a:rPr>
              <a:t>);}</a:t>
            </a:r>
            <a:endParaRPr lang="en-US" sz="2400" dirty="0">
              <a:solidFill>
                <a:srgbClr val="000000"/>
              </a:solidFill>
              <a:latin typeface="Consolas"/>
            </a:endParaRPr>
          </a:p>
          <a:p>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BoxDemo</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err="1">
                <a:solidFill>
                  <a:srgbClr val="6A3E3E"/>
                </a:solidFill>
                <a:latin typeface="Consolas"/>
              </a:rPr>
              <a:t>args</a:t>
            </a:r>
            <a:r>
              <a:rPr lang="en-US" sz="2400" dirty="0">
                <a:solidFill>
                  <a:srgbClr val="000000"/>
                </a:solidFill>
                <a:latin typeface="Consolas"/>
              </a:rPr>
              <a:t>) {</a:t>
            </a:r>
          </a:p>
          <a:p>
            <a:pPr lvl="2"/>
            <a:r>
              <a:rPr lang="en-US" sz="2400" dirty="0">
                <a:solidFill>
                  <a:srgbClr val="000000"/>
                </a:solidFill>
                <a:latin typeface="Consolas"/>
              </a:rPr>
              <a:t>Box </a:t>
            </a:r>
            <a:r>
              <a:rPr lang="en-US" sz="2400" dirty="0" err="1">
                <a:solidFill>
                  <a:srgbClr val="6A3E3E"/>
                </a:solidFill>
                <a:latin typeface="Consolas"/>
              </a:rPr>
              <a:t>mybox</a:t>
            </a:r>
            <a:r>
              <a:rPr lang="en-US" sz="2400" dirty="0">
                <a:solidFill>
                  <a:srgbClr val="000000"/>
                </a:solidFill>
                <a:latin typeface="Consolas"/>
              </a:rPr>
              <a:t> =</a:t>
            </a:r>
            <a:r>
              <a:rPr lang="en-US" sz="2400" b="1" dirty="0">
                <a:solidFill>
                  <a:srgbClr val="7F0055"/>
                </a:solidFill>
                <a:latin typeface="Consolas"/>
              </a:rPr>
              <a:t>new</a:t>
            </a:r>
            <a:r>
              <a:rPr lang="en-US" sz="2400" dirty="0">
                <a:solidFill>
                  <a:srgbClr val="000000"/>
                </a:solidFill>
                <a:latin typeface="Consolas"/>
              </a:rPr>
              <a:t> Box</a:t>
            </a:r>
            <a:r>
              <a:rPr lang="en-US" sz="2400" dirty="0" smtClean="0">
                <a:solidFill>
                  <a:srgbClr val="000000"/>
                </a:solidFill>
                <a:latin typeface="Consolas"/>
              </a:rPr>
              <a:t>();</a:t>
            </a:r>
          </a:p>
          <a:p>
            <a:pPr lvl="2"/>
            <a:r>
              <a:rPr lang="en-US" sz="2400" dirty="0" err="1" smtClean="0">
                <a:solidFill>
                  <a:srgbClr val="000000"/>
                </a:solidFill>
                <a:latin typeface="Consolas"/>
              </a:rPr>
              <a:t>mybox.width</a:t>
            </a:r>
            <a:r>
              <a:rPr lang="en-US" sz="2400" dirty="0" smtClean="0">
                <a:solidFill>
                  <a:srgbClr val="000000"/>
                </a:solidFill>
                <a:latin typeface="Consolas"/>
              </a:rPr>
              <a:t>=78;</a:t>
            </a:r>
          </a:p>
          <a:p>
            <a:pPr lvl="2"/>
            <a:r>
              <a:rPr lang="en-US" sz="2400" dirty="0" err="1" smtClean="0">
                <a:solidFill>
                  <a:srgbClr val="000000"/>
                </a:solidFill>
                <a:latin typeface="Consolas"/>
              </a:rPr>
              <a:t>mybox.height</a:t>
            </a:r>
            <a:r>
              <a:rPr lang="en-US" sz="2400" dirty="0" smtClean="0">
                <a:solidFill>
                  <a:srgbClr val="000000"/>
                </a:solidFill>
                <a:latin typeface="Consolas"/>
              </a:rPr>
              <a:t>=56;</a:t>
            </a:r>
          </a:p>
          <a:p>
            <a:pPr lvl="2"/>
            <a:r>
              <a:rPr lang="en-US" sz="2400" dirty="0" err="1" smtClean="0">
                <a:solidFill>
                  <a:srgbClr val="000000"/>
                </a:solidFill>
                <a:latin typeface="Consolas"/>
              </a:rPr>
              <a:t>Mybox.depth</a:t>
            </a:r>
            <a:r>
              <a:rPr lang="en-US" sz="2400" dirty="0" smtClean="0">
                <a:solidFill>
                  <a:srgbClr val="000000"/>
                </a:solidFill>
                <a:latin typeface="Consolas"/>
              </a:rPr>
              <a:t>=40;</a:t>
            </a:r>
            <a:endParaRPr lang="en-US" sz="2400" dirty="0">
              <a:solidFill>
                <a:srgbClr val="000000"/>
              </a:solidFill>
              <a:latin typeface="Consolas"/>
            </a:endParaRPr>
          </a:p>
          <a:p>
            <a:pPr lvl="2"/>
            <a:r>
              <a:rPr lang="en-US" sz="2400" dirty="0" err="1">
                <a:solidFill>
                  <a:srgbClr val="6A3E3E"/>
                </a:solidFill>
                <a:latin typeface="Consolas"/>
              </a:rPr>
              <a:t>mybox</a:t>
            </a:r>
            <a:r>
              <a:rPr lang="en-US" sz="2400" dirty="0" err="1">
                <a:solidFill>
                  <a:srgbClr val="000000"/>
                </a:solidFill>
                <a:latin typeface="Consolas"/>
              </a:rPr>
              <a:t>.volume</a:t>
            </a:r>
            <a:r>
              <a:rPr lang="en-US" sz="2400" dirty="0" smtClean="0">
                <a:solidFill>
                  <a:srgbClr val="000000"/>
                </a:solidFill>
                <a:latin typeface="Consolas"/>
              </a:rPr>
              <a:t>();</a:t>
            </a:r>
            <a:r>
              <a:rPr lang="en-US" sz="2400" dirty="0">
                <a:solidFill>
                  <a:srgbClr val="000000"/>
                </a:solidFill>
                <a:latin typeface="Consolas"/>
              </a:rPr>
              <a:t>	</a:t>
            </a:r>
          </a:p>
          <a:p>
            <a:r>
              <a:rPr lang="en-US" sz="2400" dirty="0" smtClean="0">
                <a:solidFill>
                  <a:srgbClr val="000000"/>
                </a:solidFill>
                <a:latin typeface="Consolas"/>
              </a:rPr>
              <a:t>  }</a:t>
            </a:r>
            <a:endParaRPr lang="en-US" sz="2400" dirty="0">
              <a:solidFill>
                <a:srgbClr val="000000"/>
              </a:solidFill>
              <a:latin typeface="Consolas"/>
            </a:endParaRPr>
          </a:p>
          <a:p>
            <a:r>
              <a:rPr lang="en-US" sz="2400" dirty="0">
                <a:solidFill>
                  <a:srgbClr val="000000"/>
                </a:solidFill>
                <a:latin typeface="Consolas"/>
              </a:rPr>
              <a:t>}</a:t>
            </a:r>
          </a:p>
        </p:txBody>
      </p:sp>
    </p:spTree>
    <p:extLst>
      <p:ext uri="{BB962C8B-B14F-4D97-AF65-F5344CB8AC3E}">
        <p14:creationId xmlns:p14="http://schemas.microsoft.com/office/powerpoint/2010/main" val="3660817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Adding Methods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540252"/>
          </a:xfrm>
          <a:prstGeom prst="rect">
            <a:avLst/>
          </a:prstGeom>
        </p:spPr>
        <p:txBody>
          <a:bodyPr wrap="square" lIns="0" tIns="0" rIns="0" bIns="0" rtlCol="0" anchor="t">
            <a:spAutoFit/>
          </a:bodyPr>
          <a:lstStyle/>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Perfectly fine to create class containing only data, no methods but makes long and less flexible.</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We need Methods to access instance variables defined by class</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Using Methods, we can hide the specific layout of the internal data structure behind cleaner method abstraction.</a:t>
            </a:r>
          </a:p>
          <a:p>
            <a:pPr lvl="1"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Volume( ){</a:t>
            </a:r>
          </a:p>
          <a:p>
            <a:pPr lvl="1"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	//body of code</a:t>
            </a:r>
          </a:p>
          <a:p>
            <a:pPr lvl="1"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a:t>
            </a:r>
          </a:p>
          <a:p>
            <a:pPr lvl="1" algn="just">
              <a:lnSpc>
                <a:spcPts val="5096"/>
              </a:lnSpc>
            </a:pPr>
            <a:r>
              <a:rPr lang="en-US" sz="3200" b="1" dirty="0" err="1" smtClean="0">
                <a:solidFill>
                  <a:srgbClr val="000000"/>
                </a:solidFill>
                <a:latin typeface="Century Gothic Paneuropean"/>
                <a:ea typeface="Century Gothic Paneuropean"/>
                <a:cs typeface="Century Gothic Paneuropean"/>
                <a:sym typeface="Century Gothic Paneuropean"/>
              </a:rPr>
              <a:t>Object.Volume</a:t>
            </a:r>
            <a:r>
              <a:rPr lang="en-US" sz="3200" b="1" dirty="0" smtClean="0">
                <a:solidFill>
                  <a:srgbClr val="000000"/>
                </a:solidFill>
                <a:latin typeface="Century Gothic Paneuropean"/>
                <a:ea typeface="Century Gothic Paneuropean"/>
                <a:cs typeface="Century Gothic Paneuropean"/>
                <a:sym typeface="Century Gothic Paneuropean"/>
              </a:rPr>
              <a:t>();</a:t>
            </a:r>
          </a:p>
          <a:p>
            <a:pPr marL="457200" lvl="0" indent="-457200" algn="just">
              <a:lnSpc>
                <a:spcPts val="5096"/>
              </a:lnSpc>
              <a:buFont typeface="Arial" panose="020B0604020202020204" pitchFamily="34" charset="0"/>
              <a:buChar char="•"/>
            </a:pPr>
            <a:endParaRPr lang="en-US" sz="320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39041737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a:t>ADDING A METHOD THAT TAKES PARAMETERS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381001" y="2634574"/>
            <a:ext cx="16916400" cy="4578176"/>
          </a:xfrm>
          <a:prstGeom prst="rect">
            <a:avLst/>
          </a:prstGeom>
        </p:spPr>
        <p:txBody>
          <a:bodyPr wrap="square" lIns="0" tIns="0" rIns="0" bIns="0" rtlCol="0" anchor="t">
            <a:spAutoFit/>
          </a:bodyPr>
          <a:lstStyle/>
          <a:p>
            <a:pPr lvl="1">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class </a:t>
            </a:r>
            <a:r>
              <a:rPr lang="en-US" sz="3200" dirty="0" err="1" smtClean="0">
                <a:solidFill>
                  <a:srgbClr val="000000"/>
                </a:solidFill>
                <a:latin typeface="Century Gothic Paneuropean"/>
                <a:ea typeface="Century Gothic Paneuropean"/>
                <a:cs typeface="Century Gothic Paneuropean"/>
                <a:sym typeface="Century Gothic Paneuropean"/>
              </a:rPr>
              <a:t>className</a:t>
            </a:r>
            <a:r>
              <a:rPr lang="en-US" sz="3200" dirty="0" smtClean="0">
                <a:solidFill>
                  <a:srgbClr val="000000"/>
                </a:solidFill>
                <a:latin typeface="Century Gothic Paneuropean"/>
                <a:ea typeface="Century Gothic Paneuropean"/>
                <a:cs typeface="Century Gothic Paneuropean"/>
                <a:sym typeface="Century Gothic Paneuropean"/>
              </a:rPr>
              <a:t>{</a:t>
            </a:r>
          </a:p>
          <a:p>
            <a:pPr lvl="2">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Void Volume(datatype </a:t>
            </a:r>
            <a:r>
              <a:rPr lang="en-US" sz="3200" dirty="0" err="1" smtClean="0">
                <a:solidFill>
                  <a:srgbClr val="000000"/>
                </a:solidFill>
                <a:latin typeface="Century Gothic Paneuropean"/>
                <a:ea typeface="Century Gothic Paneuropean"/>
                <a:cs typeface="Century Gothic Paneuropean"/>
                <a:sym typeface="Century Gothic Paneuropean"/>
              </a:rPr>
              <a:t>parameter1</a:t>
            </a:r>
            <a:r>
              <a:rPr lang="en-US" sz="3200" dirty="0" smtClean="0">
                <a:solidFill>
                  <a:srgbClr val="000000"/>
                </a:solidFill>
                <a:latin typeface="Century Gothic Paneuropean"/>
                <a:ea typeface="Century Gothic Paneuropean"/>
                <a:cs typeface="Century Gothic Paneuropean"/>
                <a:sym typeface="Century Gothic Paneuropean"/>
              </a:rPr>
              <a:t>, datatype </a:t>
            </a:r>
            <a:r>
              <a:rPr lang="en-US" sz="3200" dirty="0" err="1" smtClean="0">
                <a:solidFill>
                  <a:srgbClr val="000000"/>
                </a:solidFill>
                <a:latin typeface="Century Gothic Paneuropean"/>
                <a:ea typeface="Century Gothic Paneuropean"/>
                <a:cs typeface="Century Gothic Paneuropean"/>
                <a:sym typeface="Century Gothic Paneuropean"/>
              </a:rPr>
              <a:t>parameter2</a:t>
            </a:r>
            <a:r>
              <a:rPr lang="en-US" sz="3200" dirty="0" smtClean="0">
                <a:solidFill>
                  <a:srgbClr val="000000"/>
                </a:solidFill>
                <a:latin typeface="Century Gothic Paneuropean"/>
                <a:ea typeface="Century Gothic Paneuropean"/>
                <a:cs typeface="Century Gothic Paneuropean"/>
                <a:sym typeface="Century Gothic Paneuropean"/>
              </a:rPr>
              <a:t>){</a:t>
            </a:r>
            <a:endParaRPr lang="en-US" sz="3200" dirty="0">
              <a:solidFill>
                <a:srgbClr val="000000"/>
              </a:solidFill>
              <a:latin typeface="Century Gothic Paneuropean"/>
              <a:ea typeface="Century Gothic Paneuropean"/>
              <a:cs typeface="Century Gothic Paneuropean"/>
              <a:sym typeface="Century Gothic Paneuropean"/>
            </a:endParaRPr>
          </a:p>
          <a:p>
            <a:pPr lvl="2">
              <a:lnSpc>
                <a:spcPts val="5096"/>
              </a:lnSpc>
            </a:pPr>
            <a:r>
              <a:rPr lang="en-US" sz="3200" dirty="0">
                <a:solidFill>
                  <a:srgbClr val="000000"/>
                </a:solidFill>
                <a:latin typeface="Century Gothic Paneuropean"/>
                <a:ea typeface="Century Gothic Paneuropean"/>
                <a:cs typeface="Century Gothic Paneuropean"/>
                <a:sym typeface="Century Gothic Paneuropean"/>
              </a:rPr>
              <a:t>	//body of code</a:t>
            </a:r>
          </a:p>
          <a:p>
            <a:pPr lvl="2">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a:t>
            </a:r>
          </a:p>
          <a:p>
            <a:pPr lvl="1">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a:t>
            </a:r>
          </a:p>
          <a:p>
            <a:pPr lvl="1">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Inside public main method</a:t>
            </a:r>
          </a:p>
          <a:p>
            <a:pPr lvl="1">
              <a:lnSpc>
                <a:spcPts val="5096"/>
              </a:lnSpc>
            </a:pPr>
            <a:r>
              <a:rPr lang="en-US" sz="3200" dirty="0" err="1" smtClean="0">
                <a:solidFill>
                  <a:srgbClr val="000000"/>
                </a:solidFill>
                <a:latin typeface="Century Gothic Paneuropean"/>
                <a:ea typeface="Century Gothic Paneuropean"/>
                <a:cs typeface="Century Gothic Paneuropean"/>
                <a:sym typeface="Century Gothic Paneuropean"/>
              </a:rPr>
              <a:t>Object.Volume</a:t>
            </a: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dirty="0" err="1" smtClean="0">
                <a:solidFill>
                  <a:srgbClr val="000000"/>
                </a:solidFill>
                <a:latin typeface="Century Gothic Paneuropean"/>
                <a:ea typeface="Century Gothic Paneuropean"/>
                <a:cs typeface="Century Gothic Paneuropean"/>
                <a:sym typeface="Century Gothic Paneuropean"/>
              </a:rPr>
              <a:t>value1</a:t>
            </a:r>
            <a:r>
              <a:rPr lang="en-US" sz="3200" dirty="0" smtClean="0">
                <a:solidFill>
                  <a:srgbClr val="000000"/>
                </a:solidFill>
                <a:latin typeface="Century Gothic Paneuropean"/>
                <a:ea typeface="Century Gothic Paneuropean"/>
                <a:cs typeface="Century Gothic Paneuropean"/>
                <a:sym typeface="Century Gothic Paneuropean"/>
              </a:rPr>
              <a:t>, value 2);</a:t>
            </a:r>
          </a:p>
        </p:txBody>
      </p:sp>
    </p:spTree>
    <p:extLst>
      <p:ext uri="{BB962C8B-B14F-4D97-AF65-F5344CB8AC3E}">
        <p14:creationId xmlns:p14="http://schemas.microsoft.com/office/powerpoint/2010/main" val="39628304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a:t>ADDING A METHOD THAT TAKES PARAMETERS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381001" y="2634574"/>
            <a:ext cx="16916400" cy="4801314"/>
          </a:xfrm>
          <a:prstGeom prst="rect">
            <a:avLst/>
          </a:prstGeom>
        </p:spPr>
        <p:txBody>
          <a:bodyPr wrap="square" lIns="0" tIns="0" rIns="0" bIns="0" rtlCol="0" anchor="t">
            <a:spAutoFit/>
          </a:bodyPr>
          <a:lstStyle/>
          <a:p>
            <a:r>
              <a:rPr lang="en-US" sz="2400" b="1" dirty="0">
                <a:solidFill>
                  <a:srgbClr val="7F0055"/>
                </a:solidFill>
                <a:latin typeface="Consolas"/>
              </a:rPr>
              <a:t>package</a:t>
            </a:r>
            <a:r>
              <a:rPr lang="en-US" sz="2400" dirty="0">
                <a:solidFill>
                  <a:srgbClr val="000000"/>
                </a:solidFill>
                <a:latin typeface="Consolas"/>
              </a:rPr>
              <a:t> </a:t>
            </a:r>
            <a:r>
              <a:rPr lang="en-US" sz="2400" dirty="0" err="1">
                <a:solidFill>
                  <a:srgbClr val="000000"/>
                </a:solidFill>
                <a:latin typeface="Consolas"/>
              </a:rPr>
              <a:t>basicsofjava</a:t>
            </a:r>
            <a:r>
              <a:rPr lang="en-US" sz="2400" dirty="0">
                <a:solidFill>
                  <a:srgbClr val="000000"/>
                </a:solidFill>
                <a:latin typeface="Consolas"/>
              </a:rPr>
              <a:t>;</a:t>
            </a:r>
          </a:p>
          <a:p>
            <a:r>
              <a:rPr lang="en-US" sz="2400" b="1" dirty="0">
                <a:solidFill>
                  <a:srgbClr val="7F0055"/>
                </a:solidFill>
                <a:latin typeface="Consolas"/>
              </a:rPr>
              <a:t>class</a:t>
            </a:r>
            <a:r>
              <a:rPr lang="en-US" sz="2400" dirty="0">
                <a:solidFill>
                  <a:srgbClr val="000000"/>
                </a:solidFill>
                <a:latin typeface="Consolas"/>
              </a:rPr>
              <a:t> Box{</a:t>
            </a:r>
          </a:p>
          <a:p>
            <a:pPr lvl="2"/>
            <a:r>
              <a:rPr lang="en-US" sz="2400" b="1" dirty="0">
                <a:solidFill>
                  <a:srgbClr val="7F0055"/>
                </a:solidFill>
                <a:latin typeface="Consolas"/>
              </a:rPr>
              <a:t>double</a:t>
            </a:r>
            <a:r>
              <a:rPr lang="en-US" sz="2400" dirty="0">
                <a:solidFill>
                  <a:srgbClr val="000000"/>
                </a:solidFill>
                <a:latin typeface="Consolas"/>
              </a:rPr>
              <a:t> </a:t>
            </a:r>
            <a:r>
              <a:rPr lang="en-US" sz="2400" dirty="0" err="1">
                <a:solidFill>
                  <a:srgbClr val="0000C0"/>
                </a:solidFill>
                <a:latin typeface="Consolas"/>
              </a:rPr>
              <a:t>vol1</a:t>
            </a:r>
            <a:r>
              <a:rPr lang="en-US" sz="2400" dirty="0">
                <a:solidFill>
                  <a:srgbClr val="000000"/>
                </a:solidFill>
                <a:latin typeface="Consolas"/>
              </a:rPr>
              <a:t>;</a:t>
            </a:r>
          </a:p>
          <a:p>
            <a:pPr lvl="2"/>
            <a:r>
              <a:rPr lang="en-US" sz="2400" dirty="0" smtClean="0">
                <a:solidFill>
                  <a:srgbClr val="000000"/>
                </a:solidFill>
                <a:latin typeface="Consolas"/>
              </a:rPr>
              <a:t>void </a:t>
            </a:r>
            <a:r>
              <a:rPr lang="en-US" sz="2400" dirty="0">
                <a:solidFill>
                  <a:srgbClr val="000000"/>
                </a:solidFill>
                <a:latin typeface="Consolas"/>
              </a:rPr>
              <a:t>volume(</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height</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width</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depth</a:t>
            </a:r>
            <a:r>
              <a:rPr lang="en-US" sz="2400" dirty="0">
                <a:solidFill>
                  <a:srgbClr val="000000"/>
                </a:solidFill>
                <a:latin typeface="Consolas"/>
              </a:rPr>
              <a:t>) {		//void type method</a:t>
            </a:r>
          </a:p>
          <a:p>
            <a:pPr lvl="2"/>
            <a:r>
              <a:rPr lang="en-US" sz="2400" dirty="0" err="1">
                <a:solidFill>
                  <a:srgbClr val="0000C0"/>
                </a:solidFill>
                <a:latin typeface="Consolas"/>
              </a:rPr>
              <a:t>vol1</a:t>
            </a:r>
            <a:r>
              <a:rPr lang="en-US" sz="2400" dirty="0">
                <a:solidFill>
                  <a:srgbClr val="000000"/>
                </a:solidFill>
                <a:latin typeface="Consolas"/>
              </a:rPr>
              <a:t>=</a:t>
            </a:r>
            <a:r>
              <a:rPr lang="en-US" sz="2400" dirty="0">
                <a:solidFill>
                  <a:srgbClr val="6A3E3E"/>
                </a:solidFill>
                <a:latin typeface="Consolas"/>
              </a:rPr>
              <a:t>height</a:t>
            </a:r>
            <a:r>
              <a:rPr lang="en-US" sz="2400" dirty="0">
                <a:solidFill>
                  <a:srgbClr val="000000"/>
                </a:solidFill>
                <a:latin typeface="Consolas"/>
              </a:rPr>
              <a:t>*</a:t>
            </a:r>
            <a:r>
              <a:rPr lang="en-US" sz="2400" dirty="0">
                <a:solidFill>
                  <a:srgbClr val="6A3E3E"/>
                </a:solidFill>
                <a:latin typeface="Consolas"/>
              </a:rPr>
              <a:t>depth</a:t>
            </a:r>
            <a:r>
              <a:rPr lang="en-US" sz="2400" dirty="0">
                <a:solidFill>
                  <a:srgbClr val="000000"/>
                </a:solidFill>
                <a:latin typeface="Consolas"/>
              </a:rPr>
              <a:t>*</a:t>
            </a:r>
            <a:r>
              <a:rPr lang="en-US" sz="2400" dirty="0">
                <a:solidFill>
                  <a:srgbClr val="6A3E3E"/>
                </a:solidFill>
                <a:latin typeface="Consolas"/>
              </a:rPr>
              <a:t>width</a:t>
            </a:r>
            <a:r>
              <a:rPr lang="en-US" sz="2400" dirty="0" smtClean="0">
                <a:solidFill>
                  <a:srgbClr val="000000"/>
                </a:solidFill>
                <a:latin typeface="Consolas"/>
              </a:rPr>
              <a:t>;</a:t>
            </a:r>
          </a:p>
          <a:p>
            <a:pPr lvl="2"/>
            <a:r>
              <a:rPr lang="en-US" sz="2400" dirty="0" err="1" smtClean="0">
                <a:solidFill>
                  <a:srgbClr val="000000"/>
                </a:solidFill>
                <a:latin typeface="Consolas"/>
              </a:rPr>
              <a:t>System.</a:t>
            </a:r>
            <a:r>
              <a:rPr lang="en-US" sz="2400" b="1" i="1" dirty="0" err="1" smtClean="0">
                <a:solidFill>
                  <a:srgbClr val="0000C0"/>
                </a:solidFill>
                <a:latin typeface="Consolas"/>
              </a:rPr>
              <a:t>out</a:t>
            </a:r>
            <a:r>
              <a:rPr lang="en-US" sz="2400" dirty="0" err="1" smtClean="0">
                <a:solidFill>
                  <a:srgbClr val="000000"/>
                </a:solidFill>
                <a:latin typeface="Consolas"/>
              </a:rPr>
              <a:t>.println</a:t>
            </a:r>
            <a:r>
              <a:rPr lang="en-US" sz="2400" dirty="0" smtClean="0">
                <a:solidFill>
                  <a:srgbClr val="000000"/>
                </a:solidFill>
                <a:latin typeface="Consolas"/>
              </a:rPr>
              <a:t>(+</a:t>
            </a:r>
            <a:r>
              <a:rPr lang="en-US" sz="2400" dirty="0" err="1" smtClean="0">
                <a:solidFill>
                  <a:srgbClr val="0000C0"/>
                </a:solidFill>
                <a:latin typeface="Consolas"/>
              </a:rPr>
              <a:t>vol1</a:t>
            </a:r>
            <a:r>
              <a:rPr lang="en-US" sz="2400" dirty="0" smtClean="0">
                <a:solidFill>
                  <a:srgbClr val="000000"/>
                </a:solidFill>
                <a:latin typeface="Consolas"/>
              </a:rPr>
              <a:t>);</a:t>
            </a:r>
            <a:endParaRPr lang="en-US" sz="2400" dirty="0">
              <a:solidFill>
                <a:srgbClr val="000000"/>
              </a:solidFill>
              <a:latin typeface="Consolas"/>
            </a:endParaRPr>
          </a:p>
          <a:p>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BoxDemo</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err="1">
                <a:solidFill>
                  <a:srgbClr val="6A3E3E"/>
                </a:solidFill>
                <a:latin typeface="Consolas"/>
              </a:rPr>
              <a:t>args</a:t>
            </a:r>
            <a:r>
              <a:rPr lang="en-US" sz="2400" dirty="0">
                <a:solidFill>
                  <a:srgbClr val="000000"/>
                </a:solidFill>
                <a:latin typeface="Consolas"/>
              </a:rPr>
              <a:t>) {</a:t>
            </a:r>
          </a:p>
          <a:p>
            <a:pPr lvl="2"/>
            <a:r>
              <a:rPr lang="en-US" sz="2400" dirty="0">
                <a:solidFill>
                  <a:srgbClr val="000000"/>
                </a:solidFill>
                <a:latin typeface="Consolas"/>
              </a:rPr>
              <a:t>Box </a:t>
            </a:r>
            <a:r>
              <a:rPr lang="en-US" sz="2400" dirty="0" err="1">
                <a:solidFill>
                  <a:srgbClr val="6A3E3E"/>
                </a:solidFill>
                <a:latin typeface="Consolas"/>
              </a:rPr>
              <a:t>mybox</a:t>
            </a:r>
            <a:r>
              <a:rPr lang="en-US" sz="2400" dirty="0">
                <a:solidFill>
                  <a:srgbClr val="000000"/>
                </a:solidFill>
                <a:latin typeface="Consolas"/>
              </a:rPr>
              <a:t> =</a:t>
            </a:r>
            <a:r>
              <a:rPr lang="en-US" sz="2400" b="1" dirty="0">
                <a:solidFill>
                  <a:srgbClr val="7F0055"/>
                </a:solidFill>
                <a:latin typeface="Consolas"/>
              </a:rPr>
              <a:t>new</a:t>
            </a:r>
            <a:r>
              <a:rPr lang="en-US" sz="2400" dirty="0">
                <a:solidFill>
                  <a:srgbClr val="000000"/>
                </a:solidFill>
                <a:latin typeface="Consolas"/>
              </a:rPr>
              <a:t> Box();</a:t>
            </a:r>
          </a:p>
          <a:p>
            <a:pPr lvl="2"/>
            <a:r>
              <a:rPr lang="en-US" sz="2400" dirty="0" err="1">
                <a:solidFill>
                  <a:srgbClr val="6A3E3E"/>
                </a:solidFill>
                <a:latin typeface="Consolas"/>
              </a:rPr>
              <a:t>mybox</a:t>
            </a:r>
            <a:r>
              <a:rPr lang="en-US" sz="2400" dirty="0" err="1">
                <a:solidFill>
                  <a:srgbClr val="000000"/>
                </a:solidFill>
                <a:latin typeface="Consolas"/>
              </a:rPr>
              <a:t>.volume</a:t>
            </a:r>
            <a:r>
              <a:rPr lang="en-US" sz="2400" dirty="0">
                <a:solidFill>
                  <a:srgbClr val="000000"/>
                </a:solidFill>
                <a:latin typeface="Consolas"/>
              </a:rPr>
              <a:t>(100,200,900);	</a:t>
            </a:r>
          </a:p>
          <a:p>
            <a:r>
              <a:rPr lang="en-US" sz="2400" dirty="0">
                <a:solidFill>
                  <a:srgbClr val="000000"/>
                </a:solidFill>
                <a:latin typeface="Consolas"/>
              </a:rPr>
              <a:t>}</a:t>
            </a:r>
          </a:p>
          <a:p>
            <a:r>
              <a:rPr lang="en-US" sz="2400" dirty="0">
                <a:solidFill>
                  <a:srgbClr val="000000"/>
                </a:solidFill>
                <a:latin typeface="Consolas"/>
              </a:rPr>
              <a:t>}</a:t>
            </a:r>
          </a:p>
        </p:txBody>
      </p:sp>
    </p:spTree>
    <p:extLst>
      <p:ext uri="{BB962C8B-B14F-4D97-AF65-F5344CB8AC3E}">
        <p14:creationId xmlns:p14="http://schemas.microsoft.com/office/powerpoint/2010/main" val="37993032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a:t>ADDING A METHOD THAT TAKES PARAMETERS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5886227"/>
          </a:xfrm>
          <a:prstGeom prst="rect">
            <a:avLst/>
          </a:prstGeom>
        </p:spPr>
        <p:txBody>
          <a:bodyPr wrap="square" lIns="0" tIns="0" rIns="0" bIns="0" rtlCol="0" anchor="t">
            <a:spAutoFit/>
          </a:bodyPr>
          <a:lstStyle/>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 To define a method that accepts parameters, you need to specify data type and a name for each parameter within the parentheses() of method.</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Multiple Parameters  are </a:t>
            </a:r>
            <a:r>
              <a:rPr lang="en-US" sz="3200" dirty="0" err="1" smtClean="0">
                <a:solidFill>
                  <a:srgbClr val="000000"/>
                </a:solidFill>
                <a:latin typeface="Century Gothic Paneuropean"/>
                <a:ea typeface="Century Gothic Paneuropean"/>
                <a:cs typeface="Century Gothic Paneuropean"/>
                <a:sym typeface="Century Gothic Paneuropean"/>
              </a:rPr>
              <a:t>seperated</a:t>
            </a:r>
            <a:r>
              <a:rPr lang="en-US" sz="3200" dirty="0" smtClean="0">
                <a:solidFill>
                  <a:srgbClr val="000000"/>
                </a:solidFill>
                <a:latin typeface="Century Gothic Paneuropean"/>
                <a:ea typeface="Century Gothic Paneuropean"/>
                <a:cs typeface="Century Gothic Paneuropean"/>
                <a:sym typeface="Century Gothic Paneuropean"/>
              </a:rPr>
              <a:t> by comma forming parameter list.</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Inside the method’s curly braces { } , write code that uses passed-in parameters to perform task.</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After declaring the method with parameters, now call the method using dot operator and pass actual values called arguments for each parameter.</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Ensure data type of arguments and parameters are same and in correct order.</a:t>
            </a:r>
          </a:p>
        </p:txBody>
      </p:sp>
    </p:spTree>
    <p:extLst>
      <p:ext uri="{BB962C8B-B14F-4D97-AF65-F5344CB8AC3E}">
        <p14:creationId xmlns:p14="http://schemas.microsoft.com/office/powerpoint/2010/main" val="41488513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a:t>ADDING A METHOD THAT TAKES PARAMETERS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5886227"/>
          </a:xfrm>
          <a:prstGeom prst="rect">
            <a:avLst/>
          </a:prstGeom>
        </p:spPr>
        <p:txBody>
          <a:bodyPr wrap="square" lIns="0" tIns="0" rIns="0" bIns="0" rtlCol="0" anchor="t">
            <a:spAutoFit/>
          </a:bodyPr>
          <a:lstStyle/>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 To define a method that accepts parameters, you need to specify data type and a name for each parameter within the parentheses() of method.</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Multiple Parameters  are separated by comma forming parameter list.</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Inside the method’s curly braces { } , write code that uses passed-in parameters to perform task.</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After declaring the method with parameters, now call the method using dot operator and pass actual values called arguments for each parameter.</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Ensure data type of arguments and parameters are same and in correct order.</a:t>
            </a:r>
          </a:p>
        </p:txBody>
      </p:sp>
    </p:spTree>
    <p:extLst>
      <p:ext uri="{BB962C8B-B14F-4D97-AF65-F5344CB8AC3E}">
        <p14:creationId xmlns:p14="http://schemas.microsoft.com/office/powerpoint/2010/main" val="38067206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RETURNING A VALUE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5886227"/>
          </a:xfrm>
          <a:prstGeom prst="rect">
            <a:avLst/>
          </a:prstGeom>
        </p:spPr>
        <p:txBody>
          <a:bodyPr wrap="square" lIns="0" tIns="0" rIns="0" bIns="0" rtlCol="0" anchor="t">
            <a:spAutoFit/>
          </a:bodyPr>
          <a:lstStyle/>
          <a:p>
            <a:pPr lvl="0"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 Syntax :-</a:t>
            </a:r>
            <a:endParaRPr lang="en-US" sz="3200" dirty="0" smtClean="0">
              <a:solidFill>
                <a:srgbClr val="000000"/>
              </a:solidFill>
              <a:latin typeface="Century Gothic Paneuropean"/>
              <a:ea typeface="Century Gothic Paneuropean"/>
              <a:cs typeface="Century Gothic Paneuropean"/>
              <a:sym typeface="Century Gothic Paneuropean"/>
            </a:endParaRPr>
          </a:p>
          <a:p>
            <a:pPr lvl="1" algn="just">
              <a:lnSpc>
                <a:spcPts val="5096"/>
              </a:lnSpc>
            </a:pPr>
            <a:r>
              <a:rPr lang="en-US" sz="3200" dirty="0" err="1" smtClean="0">
                <a:solidFill>
                  <a:srgbClr val="000000"/>
                </a:solidFill>
                <a:latin typeface="Century Gothic Paneuropean"/>
                <a:ea typeface="Century Gothic Paneuropean"/>
                <a:cs typeface="Century Gothic Paneuropean"/>
                <a:sym typeface="Century Gothic Paneuropean"/>
              </a:rPr>
              <a:t>returnType</a:t>
            </a: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dirty="0" err="1" smtClean="0">
                <a:solidFill>
                  <a:srgbClr val="000000"/>
                </a:solidFill>
                <a:latin typeface="Century Gothic Paneuropean"/>
                <a:ea typeface="Century Gothic Paneuropean"/>
                <a:cs typeface="Century Gothic Paneuropean"/>
                <a:sym typeface="Century Gothic Paneuropean"/>
              </a:rPr>
              <a:t>methodName</a:t>
            </a:r>
            <a:r>
              <a:rPr lang="en-US" sz="3200" dirty="0" smtClean="0">
                <a:solidFill>
                  <a:srgbClr val="000000"/>
                </a:solidFill>
                <a:latin typeface="Century Gothic Paneuropean"/>
                <a:ea typeface="Century Gothic Paneuropean"/>
                <a:cs typeface="Century Gothic Paneuropean"/>
                <a:sym typeface="Century Gothic Paneuropean"/>
              </a:rPr>
              <a:t>( parameter list){</a:t>
            </a:r>
            <a:endParaRPr lang="en-US" sz="3200" dirty="0">
              <a:solidFill>
                <a:srgbClr val="000000"/>
              </a:solidFill>
              <a:latin typeface="Century Gothic Paneuropean"/>
              <a:ea typeface="Century Gothic Paneuropean"/>
              <a:cs typeface="Century Gothic Paneuropean"/>
              <a:sym typeface="Century Gothic Paneuropean"/>
            </a:endParaRPr>
          </a:p>
          <a:p>
            <a:pPr lvl="1" algn="just">
              <a:lnSpc>
                <a:spcPts val="5096"/>
              </a:lnSpc>
            </a:pPr>
            <a:r>
              <a:rPr lang="en-US" sz="3200"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 method body</a:t>
            </a:r>
          </a:p>
          <a:p>
            <a:pPr lvl="1"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	return </a:t>
            </a:r>
            <a:r>
              <a:rPr lang="en-US" sz="3200" dirty="0" err="1" smtClean="0">
                <a:solidFill>
                  <a:srgbClr val="000000"/>
                </a:solidFill>
                <a:latin typeface="Century Gothic Paneuropean"/>
                <a:ea typeface="Century Gothic Paneuropean"/>
                <a:cs typeface="Century Gothic Paneuropean"/>
                <a:sym typeface="Century Gothic Paneuropean"/>
              </a:rPr>
              <a:t>ValueToReturn</a:t>
            </a:r>
            <a:r>
              <a:rPr lang="en-US" sz="3200" dirty="0" smtClean="0">
                <a:solidFill>
                  <a:srgbClr val="000000"/>
                </a:solidFill>
                <a:latin typeface="Century Gothic Paneuropean"/>
                <a:ea typeface="Century Gothic Paneuropean"/>
                <a:cs typeface="Century Gothic Paneuropean"/>
                <a:sym typeface="Century Gothic Paneuropean"/>
              </a:rPr>
              <a:t>;</a:t>
            </a:r>
          </a:p>
          <a:p>
            <a:pPr lvl="1"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a:t>
            </a:r>
          </a:p>
          <a:p>
            <a:pPr marL="914400" lvl="1" indent="-457200" algn="just">
              <a:lnSpc>
                <a:spcPts val="5096"/>
              </a:lnSpc>
              <a:buFont typeface="Arial" panose="020B0604020202020204" pitchFamily="34" charset="0"/>
              <a:buChar char="•"/>
            </a:pPr>
            <a:r>
              <a:rPr lang="en-US" sz="3200" dirty="0" err="1">
                <a:solidFill>
                  <a:srgbClr val="000000"/>
                </a:solidFill>
                <a:latin typeface="Century Gothic Paneuropean"/>
                <a:ea typeface="Century Gothic Paneuropean"/>
                <a:cs typeface="Century Gothic Paneuropean"/>
                <a:sym typeface="Century Gothic Paneuropean"/>
              </a:rPr>
              <a:t>returnType</a:t>
            </a:r>
            <a:r>
              <a:rPr lang="en-US" sz="3200"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 the data type of the value the method will return</a:t>
            </a:r>
          </a:p>
          <a:p>
            <a:pPr marL="914400" lvl="1" indent="-457200" algn="just">
              <a:lnSpc>
                <a:spcPts val="5096"/>
              </a:lnSpc>
              <a:buFont typeface="Arial" panose="020B0604020202020204" pitchFamily="34" charset="0"/>
              <a:buChar char="•"/>
            </a:pPr>
            <a:r>
              <a:rPr lang="en-US" sz="3200" dirty="0" err="1" smtClean="0">
                <a:solidFill>
                  <a:srgbClr val="000000"/>
                </a:solidFill>
                <a:latin typeface="Century Gothic Paneuropean"/>
                <a:ea typeface="Century Gothic Paneuropean"/>
                <a:cs typeface="Century Gothic Paneuropean"/>
                <a:sym typeface="Century Gothic Paneuropean"/>
              </a:rPr>
              <a:t>methodName</a:t>
            </a:r>
            <a:r>
              <a:rPr lang="en-US" sz="3200" dirty="0" smtClean="0">
                <a:solidFill>
                  <a:srgbClr val="000000"/>
                </a:solidFill>
                <a:latin typeface="Century Gothic Paneuropean"/>
                <a:ea typeface="Century Gothic Paneuropean"/>
                <a:cs typeface="Century Gothic Paneuropean"/>
                <a:sym typeface="Century Gothic Paneuropean"/>
              </a:rPr>
              <a:t>  - the name of the method</a:t>
            </a:r>
          </a:p>
          <a:p>
            <a:pPr marL="914400" lvl="1" indent="-4572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parameter </a:t>
            </a:r>
            <a:r>
              <a:rPr lang="en-US" sz="3200" dirty="0" smtClean="0">
                <a:solidFill>
                  <a:srgbClr val="000000"/>
                </a:solidFill>
                <a:latin typeface="Century Gothic Paneuropean"/>
                <a:ea typeface="Century Gothic Paneuropean"/>
                <a:cs typeface="Century Gothic Paneuropean"/>
                <a:sym typeface="Century Gothic Paneuropean"/>
              </a:rPr>
              <a:t>list – contains parameter passed, can be empty also</a:t>
            </a:r>
          </a:p>
          <a:p>
            <a:pPr marL="914400" lvl="1" indent="-4572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r</a:t>
            </a:r>
            <a:r>
              <a:rPr lang="en-US" sz="3200" dirty="0" smtClean="0">
                <a:solidFill>
                  <a:srgbClr val="000000"/>
                </a:solidFill>
                <a:latin typeface="Century Gothic Paneuropean"/>
                <a:ea typeface="Century Gothic Paneuropean"/>
                <a:cs typeface="Century Gothic Paneuropean"/>
                <a:sym typeface="Century Gothic Paneuropean"/>
              </a:rPr>
              <a:t>eturn – used to send a value back to the caller</a:t>
            </a:r>
            <a:endParaRPr lang="en-US" sz="3200" b="1"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674405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RETURNING A VALUE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6540252"/>
          </a:xfrm>
          <a:prstGeom prst="rect">
            <a:avLst/>
          </a:prstGeom>
        </p:spPr>
        <p:txBody>
          <a:bodyPr wrap="square" lIns="0" tIns="0" rIns="0" bIns="0" rtlCol="0" anchor="t">
            <a:spAutoFit/>
          </a:bodyPr>
          <a:lstStyle/>
          <a:p>
            <a:pPr lvl="0" algn="just">
              <a:lnSpc>
                <a:spcPts val="5096"/>
              </a:lnSpc>
            </a:pPr>
            <a:r>
              <a:rPr lang="en-US" sz="3200" dirty="0" smtClean="0">
                <a:solidFill>
                  <a:srgbClr val="000000"/>
                </a:solidFill>
                <a:latin typeface="Century Gothic Paneuropean"/>
                <a:ea typeface="Century Gothic Paneuropean"/>
                <a:cs typeface="Century Gothic Paneuropean"/>
                <a:sym typeface="Century Gothic Paneuropean"/>
              </a:rPr>
              <a:t>In Java, a method returns a value using the return statement.</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To declare a method with a return type</a:t>
            </a:r>
            <a:r>
              <a:rPr lang="en-US" sz="3200"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Instead of void, specify the data type of the value the method will return (</a:t>
            </a:r>
            <a:r>
              <a:rPr lang="en-US" sz="3200" dirty="0" err="1" smtClean="0">
                <a:solidFill>
                  <a:srgbClr val="000000"/>
                </a:solidFill>
                <a:latin typeface="Century Gothic Paneuropean"/>
                <a:ea typeface="Century Gothic Paneuropean"/>
                <a:cs typeface="Century Gothic Paneuropean"/>
                <a:sym typeface="Century Gothic Paneuropean"/>
              </a:rPr>
              <a:t>eg</a:t>
            </a:r>
            <a:r>
              <a:rPr lang="en-US" sz="3200" dirty="0" smtClean="0">
                <a:solidFill>
                  <a:srgbClr val="000000"/>
                </a:solidFill>
                <a:latin typeface="Century Gothic Paneuropean"/>
                <a:ea typeface="Century Gothic Paneuropean"/>
                <a:cs typeface="Century Gothic Paneuropean"/>
                <a:sym typeface="Century Gothic Paneuropean"/>
              </a:rPr>
              <a:t>. </a:t>
            </a:r>
            <a:r>
              <a:rPr lang="en-US" sz="3200" dirty="0" err="1" smtClean="0">
                <a:solidFill>
                  <a:srgbClr val="000000"/>
                </a:solidFill>
                <a:latin typeface="Century Gothic Paneuropean"/>
                <a:ea typeface="Century Gothic Paneuropean"/>
                <a:cs typeface="Century Gothic Paneuropean"/>
                <a:sym typeface="Century Gothic Paneuropean"/>
              </a:rPr>
              <a:t>int</a:t>
            </a:r>
            <a:r>
              <a:rPr lang="en-US" sz="3200" dirty="0" smtClean="0">
                <a:solidFill>
                  <a:srgbClr val="000000"/>
                </a:solidFill>
                <a:latin typeface="Century Gothic Paneuropean"/>
                <a:ea typeface="Century Gothic Paneuropean"/>
                <a:cs typeface="Century Gothic Paneuropean"/>
                <a:sym typeface="Century Gothic Paneuropean"/>
              </a:rPr>
              <a:t>, float, string, </a:t>
            </a:r>
            <a:r>
              <a:rPr lang="en-US" sz="3200" dirty="0" err="1" smtClean="0">
                <a:solidFill>
                  <a:srgbClr val="000000"/>
                </a:solidFill>
                <a:latin typeface="Century Gothic Paneuropean"/>
                <a:ea typeface="Century Gothic Paneuropean"/>
                <a:cs typeface="Century Gothic Paneuropean"/>
                <a:sym typeface="Century Gothic Paneuropean"/>
              </a:rPr>
              <a:t>boolean</a:t>
            </a:r>
            <a:r>
              <a:rPr lang="en-US" sz="3200" dirty="0" smtClean="0">
                <a:solidFill>
                  <a:srgbClr val="000000"/>
                </a:solidFill>
                <a:latin typeface="Century Gothic Paneuropean"/>
                <a:ea typeface="Century Gothic Paneuropean"/>
                <a:cs typeface="Century Gothic Paneuropean"/>
                <a:sym typeface="Century Gothic Paneuropean"/>
              </a:rPr>
              <a:t> , class type etc.)</a:t>
            </a: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Use the return keyword inside the method’s body followed by the value you want to return.</a:t>
            </a: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Call the method using dot operator and we get the returned value.</a:t>
            </a: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Any method not declared as void must have a return type and return statement.</a:t>
            </a:r>
          </a:p>
          <a:p>
            <a:pPr marL="45720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The return statement is the last statement to execute in a method. </a:t>
            </a:r>
            <a:endParaRPr lang="en-US" sz="320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38929470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RETURNING A VALUE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7194277"/>
          </a:xfrm>
          <a:prstGeom prst="rect">
            <a:avLst/>
          </a:prstGeom>
        </p:spPr>
        <p:txBody>
          <a:bodyPr wrap="square" lIns="0" tIns="0" rIns="0" bIns="0" rtlCol="0" anchor="t">
            <a:spAutoFit/>
          </a:bodyPr>
          <a:lstStyle/>
          <a:p>
            <a:pPr lvl="0" algn="just">
              <a:lnSpc>
                <a:spcPts val="5096"/>
              </a:lnSpc>
            </a:pPr>
            <a:r>
              <a:rPr lang="en-US" sz="3200" b="1" dirty="0">
                <a:solidFill>
                  <a:srgbClr val="000000"/>
                </a:solidFill>
                <a:latin typeface="Century Gothic Paneuropean"/>
                <a:ea typeface="Century Gothic Paneuropean"/>
                <a:cs typeface="Century Gothic Paneuropean"/>
                <a:sym typeface="Century Gothic Paneuropean"/>
              </a:rPr>
              <a:t>Important points about returning values :-</a:t>
            </a:r>
          </a:p>
          <a:p>
            <a:pPr marL="1371600" lvl="2" indent="-457200" algn="just">
              <a:lnSpc>
                <a:spcPts val="5096"/>
              </a:lnSpc>
              <a:buFont typeface="Wingdings" panose="05000000000000000000" pitchFamily="2" charset="2"/>
              <a:buChar char="q"/>
            </a:pPr>
            <a:r>
              <a:rPr lang="en-US" sz="3200" dirty="0">
                <a:solidFill>
                  <a:srgbClr val="000000"/>
                </a:solidFill>
                <a:latin typeface="Century Gothic Paneuropean"/>
                <a:ea typeface="Century Gothic Paneuropean"/>
                <a:cs typeface="Century Gothic Paneuropean"/>
                <a:sym typeface="Century Gothic Paneuropean"/>
              </a:rPr>
              <a:t>The type of the data returned by a method must be compatible with the return type specified by the method.</a:t>
            </a:r>
          </a:p>
          <a:p>
            <a:pPr marL="1371600" lvl="2" indent="-457200" algn="just">
              <a:lnSpc>
                <a:spcPts val="5096"/>
              </a:lnSpc>
              <a:buFont typeface="Wingdings" panose="05000000000000000000" pitchFamily="2" charset="2"/>
              <a:buChar char="q"/>
            </a:pPr>
            <a:r>
              <a:rPr lang="en-US" sz="3200" dirty="0">
                <a:solidFill>
                  <a:srgbClr val="000000"/>
                </a:solidFill>
                <a:latin typeface="Century Gothic Paneuropean"/>
                <a:ea typeface="Century Gothic Paneuropean"/>
                <a:cs typeface="Century Gothic Paneuropean"/>
                <a:sym typeface="Century Gothic Paneuropean"/>
              </a:rPr>
              <a:t>The variable receiving the value returned by a method must also be compatible with the return type specified for the </a:t>
            </a:r>
            <a:r>
              <a:rPr lang="en-US" sz="3200" dirty="0" smtClean="0">
                <a:solidFill>
                  <a:srgbClr val="000000"/>
                </a:solidFill>
                <a:latin typeface="Century Gothic Paneuropean"/>
                <a:ea typeface="Century Gothic Paneuropean"/>
                <a:cs typeface="Century Gothic Paneuropean"/>
                <a:sym typeface="Century Gothic Paneuropean"/>
              </a:rPr>
              <a:t>method.</a:t>
            </a:r>
          </a:p>
          <a:p>
            <a:pPr algn="just">
              <a:lnSpc>
                <a:spcPts val="5096"/>
              </a:lnSpc>
            </a:pPr>
            <a:r>
              <a:rPr lang="en-US" sz="3200" b="1" dirty="0" smtClean="0">
                <a:solidFill>
                  <a:srgbClr val="000000"/>
                </a:solidFill>
                <a:latin typeface="Century Gothic Paneuropean"/>
                <a:ea typeface="Century Gothic Paneuropean"/>
                <a:cs typeface="Century Gothic Paneuropean"/>
                <a:sym typeface="Century Gothic Paneuropean"/>
              </a:rPr>
              <a:t>Parameter </a:t>
            </a:r>
            <a:r>
              <a:rPr lang="en-US" sz="3200" b="1" dirty="0">
                <a:solidFill>
                  <a:srgbClr val="000000"/>
                </a:solidFill>
                <a:latin typeface="Century Gothic Paneuropean"/>
                <a:ea typeface="Century Gothic Paneuropean"/>
                <a:cs typeface="Century Gothic Paneuropean"/>
                <a:sym typeface="Century Gothic Paneuropean"/>
              </a:rPr>
              <a:t>&amp; </a:t>
            </a:r>
            <a:r>
              <a:rPr lang="en-US" sz="3200" b="1" dirty="0" smtClean="0">
                <a:solidFill>
                  <a:srgbClr val="000000"/>
                </a:solidFill>
                <a:latin typeface="Century Gothic Paneuropean"/>
                <a:ea typeface="Century Gothic Paneuropean"/>
                <a:cs typeface="Century Gothic Paneuropean"/>
                <a:sym typeface="Century Gothic Paneuropean"/>
              </a:rPr>
              <a:t>Argument :-</a:t>
            </a:r>
            <a:endParaRPr lang="en-US" sz="3200" b="1" dirty="0">
              <a:solidFill>
                <a:srgbClr val="000000"/>
              </a:solidFill>
              <a:latin typeface="Century Gothic Paneuropean"/>
              <a:ea typeface="Century Gothic Paneuropean"/>
              <a:cs typeface="Century Gothic Paneuropean"/>
              <a:sym typeface="Century Gothic Paneuropean"/>
            </a:endParaRPr>
          </a:p>
          <a:p>
            <a:pPr marL="1371600" lvl="2" indent="-457200" algn="just">
              <a:lnSpc>
                <a:spcPts val="5096"/>
              </a:lnSpc>
              <a:buFont typeface="Wingdings" panose="05000000000000000000" pitchFamily="2" charset="2"/>
              <a:buChar char="q"/>
            </a:pPr>
            <a:r>
              <a:rPr lang="en-US" sz="3200" dirty="0" smtClean="0">
                <a:solidFill>
                  <a:srgbClr val="000000"/>
                </a:solidFill>
                <a:latin typeface="Century Gothic Paneuropean"/>
                <a:ea typeface="Century Gothic Paneuropean"/>
                <a:cs typeface="Century Gothic Paneuropean"/>
                <a:sym typeface="Century Gothic Paneuropean"/>
              </a:rPr>
              <a:t>A </a:t>
            </a:r>
            <a:r>
              <a:rPr lang="en-US" sz="3200" dirty="0">
                <a:solidFill>
                  <a:srgbClr val="000000"/>
                </a:solidFill>
                <a:latin typeface="Century Gothic Paneuropean"/>
                <a:ea typeface="Century Gothic Paneuropean"/>
                <a:cs typeface="Century Gothic Paneuropean"/>
                <a:sym typeface="Century Gothic Paneuropean"/>
              </a:rPr>
              <a:t>parameter is a variable defined </a:t>
            </a:r>
            <a:r>
              <a:rPr lang="en-US" sz="3200" dirty="0" smtClean="0">
                <a:solidFill>
                  <a:srgbClr val="000000"/>
                </a:solidFill>
                <a:latin typeface="Century Gothic Paneuropean"/>
                <a:ea typeface="Century Gothic Paneuropean"/>
                <a:cs typeface="Century Gothic Paneuropean"/>
                <a:sym typeface="Century Gothic Paneuropean"/>
              </a:rPr>
              <a:t>inside </a:t>
            </a:r>
            <a:r>
              <a:rPr lang="en-US" sz="3200" dirty="0">
                <a:solidFill>
                  <a:srgbClr val="000000"/>
                </a:solidFill>
                <a:latin typeface="Century Gothic Paneuropean"/>
                <a:ea typeface="Century Gothic Paneuropean"/>
                <a:cs typeface="Century Gothic Paneuropean"/>
                <a:sym typeface="Century Gothic Paneuropean"/>
              </a:rPr>
              <a:t>a method that receives a value when the method is called</a:t>
            </a:r>
            <a:r>
              <a:rPr lang="en-US" sz="3200" dirty="0" smtClean="0">
                <a:solidFill>
                  <a:srgbClr val="000000"/>
                </a:solidFill>
                <a:latin typeface="Century Gothic Paneuropean"/>
                <a:ea typeface="Century Gothic Paneuropean"/>
                <a:cs typeface="Century Gothic Paneuropean"/>
                <a:sym typeface="Century Gothic Paneuropean"/>
              </a:rPr>
              <a:t>. Parameters exist only inside the method scope.</a:t>
            </a:r>
            <a:endParaRPr lang="en-US" sz="3200" dirty="0">
              <a:solidFill>
                <a:srgbClr val="000000"/>
              </a:solidFill>
              <a:latin typeface="Century Gothic Paneuropean"/>
              <a:ea typeface="Century Gothic Paneuropean"/>
              <a:cs typeface="Century Gothic Paneuropean"/>
              <a:sym typeface="Century Gothic Paneuropean"/>
            </a:endParaRPr>
          </a:p>
          <a:p>
            <a:pPr marL="1371600" lvl="2" indent="-457200" algn="just">
              <a:lnSpc>
                <a:spcPts val="5096"/>
              </a:lnSpc>
              <a:buFont typeface="Wingdings" panose="05000000000000000000" pitchFamily="2" charset="2"/>
              <a:buChar char="q"/>
            </a:pPr>
            <a:r>
              <a:rPr lang="en-US" sz="3200" dirty="0" smtClean="0">
                <a:solidFill>
                  <a:srgbClr val="000000"/>
                </a:solidFill>
                <a:latin typeface="Century Gothic Paneuropean"/>
                <a:ea typeface="Century Gothic Paneuropean"/>
                <a:cs typeface="Century Gothic Paneuropean"/>
                <a:sym typeface="Century Gothic Paneuropean"/>
              </a:rPr>
              <a:t>An </a:t>
            </a:r>
            <a:r>
              <a:rPr lang="en-US" sz="3200" dirty="0">
                <a:solidFill>
                  <a:srgbClr val="000000"/>
                </a:solidFill>
                <a:latin typeface="Century Gothic Paneuropean"/>
                <a:ea typeface="Century Gothic Paneuropean"/>
                <a:cs typeface="Century Gothic Paneuropean"/>
                <a:sym typeface="Century Gothic Paneuropean"/>
              </a:rPr>
              <a:t>argument is </a:t>
            </a:r>
            <a:r>
              <a:rPr lang="en-US" sz="3200" dirty="0" smtClean="0">
                <a:solidFill>
                  <a:srgbClr val="000000"/>
                </a:solidFill>
                <a:latin typeface="Century Gothic Paneuropean"/>
                <a:ea typeface="Century Gothic Paneuropean"/>
                <a:cs typeface="Century Gothic Paneuropean"/>
                <a:sym typeface="Century Gothic Paneuropean"/>
              </a:rPr>
              <a:t>actual values </a:t>
            </a:r>
            <a:r>
              <a:rPr lang="en-US" sz="3200" dirty="0">
                <a:solidFill>
                  <a:srgbClr val="000000"/>
                </a:solidFill>
                <a:latin typeface="Century Gothic Paneuropean"/>
                <a:ea typeface="Century Gothic Paneuropean"/>
                <a:cs typeface="Century Gothic Paneuropean"/>
                <a:sym typeface="Century Gothic Paneuropean"/>
              </a:rPr>
              <a:t>that is passed to a method when it is </a:t>
            </a:r>
            <a:r>
              <a:rPr lang="en-US" sz="3200" dirty="0" smtClean="0">
                <a:solidFill>
                  <a:srgbClr val="000000"/>
                </a:solidFill>
                <a:latin typeface="Century Gothic Paneuropean"/>
                <a:ea typeface="Century Gothic Paneuropean"/>
                <a:cs typeface="Century Gothic Paneuropean"/>
                <a:sym typeface="Century Gothic Paneuropean"/>
              </a:rPr>
              <a:t>called.</a:t>
            </a:r>
            <a:endParaRPr lang="en-US" sz="3200" dirty="0">
              <a:solidFill>
                <a:srgbClr val="000000"/>
              </a:solidFill>
              <a:latin typeface="Century Gothic Paneuropean"/>
              <a:ea typeface="Century Gothic Paneuropean"/>
              <a:cs typeface="Century Gothic Paneuropean"/>
              <a:sym typeface="Century Gothic Paneuropean"/>
            </a:endParaRPr>
          </a:p>
        </p:txBody>
      </p:sp>
    </p:spTree>
    <p:extLst>
      <p:ext uri="{BB962C8B-B14F-4D97-AF65-F5344CB8AC3E}">
        <p14:creationId xmlns:p14="http://schemas.microsoft.com/office/powerpoint/2010/main" val="25825377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RETURNING A VALUE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247900"/>
            <a:ext cx="15537445" cy="7386638"/>
          </a:xfrm>
          <a:prstGeom prst="rect">
            <a:avLst/>
          </a:prstGeom>
        </p:spPr>
        <p:txBody>
          <a:bodyPr wrap="square" lIns="0" tIns="0" rIns="0" bIns="0" rtlCol="0" anchor="t">
            <a:spAutoFit/>
          </a:bodyPr>
          <a:lstStyle/>
          <a:p>
            <a:r>
              <a:rPr lang="en-US" sz="2400" b="1" dirty="0">
                <a:solidFill>
                  <a:srgbClr val="7F0055"/>
                </a:solidFill>
                <a:latin typeface="Consolas"/>
              </a:rPr>
              <a:t>package</a:t>
            </a:r>
            <a:r>
              <a:rPr lang="en-US" sz="2400" dirty="0">
                <a:solidFill>
                  <a:srgbClr val="000000"/>
                </a:solidFill>
                <a:latin typeface="Consolas"/>
              </a:rPr>
              <a:t> </a:t>
            </a:r>
            <a:r>
              <a:rPr lang="en-US" sz="2400" dirty="0" err="1">
                <a:solidFill>
                  <a:srgbClr val="000000"/>
                </a:solidFill>
                <a:latin typeface="Consolas"/>
              </a:rPr>
              <a:t>basicsofjava</a:t>
            </a:r>
            <a:r>
              <a:rPr lang="en-US" sz="2400" dirty="0">
                <a:solidFill>
                  <a:srgbClr val="000000"/>
                </a:solidFill>
                <a:latin typeface="Consolas"/>
              </a:rPr>
              <a:t>;</a:t>
            </a:r>
          </a:p>
          <a:p>
            <a:r>
              <a:rPr lang="en-US" sz="2400" b="1" dirty="0">
                <a:solidFill>
                  <a:srgbClr val="7F0055"/>
                </a:solidFill>
                <a:latin typeface="Consolas"/>
              </a:rPr>
              <a:t>class</a:t>
            </a:r>
            <a:r>
              <a:rPr lang="en-US" sz="2400" dirty="0">
                <a:solidFill>
                  <a:srgbClr val="000000"/>
                </a:solidFill>
                <a:latin typeface="Consolas"/>
              </a:rPr>
              <a:t> Box{</a:t>
            </a:r>
          </a:p>
          <a:p>
            <a:pPr lvl="2"/>
            <a:r>
              <a:rPr lang="en-US" sz="2400" b="1" dirty="0">
                <a:solidFill>
                  <a:srgbClr val="7F0055"/>
                </a:solidFill>
                <a:latin typeface="Consolas"/>
              </a:rPr>
              <a:t>double</a:t>
            </a:r>
            <a:r>
              <a:rPr lang="en-US" sz="2400" dirty="0">
                <a:solidFill>
                  <a:srgbClr val="000000"/>
                </a:solidFill>
                <a:latin typeface="Consolas"/>
              </a:rPr>
              <a:t> </a:t>
            </a:r>
            <a:r>
              <a:rPr lang="en-US" sz="2400" dirty="0" err="1">
                <a:solidFill>
                  <a:srgbClr val="0000C0"/>
                </a:solidFill>
                <a:latin typeface="Consolas"/>
              </a:rPr>
              <a:t>vol1</a:t>
            </a:r>
            <a:r>
              <a:rPr lang="en-US" sz="2400" dirty="0">
                <a:solidFill>
                  <a:srgbClr val="000000"/>
                </a:solidFill>
                <a:latin typeface="Consolas"/>
              </a:rPr>
              <a:t>;</a:t>
            </a:r>
          </a:p>
          <a:p>
            <a:pPr lvl="2"/>
            <a:r>
              <a:rPr lang="en-US" sz="2400" b="1" dirty="0">
                <a:solidFill>
                  <a:srgbClr val="7F0055"/>
                </a:solidFill>
                <a:latin typeface="Consolas"/>
              </a:rPr>
              <a:t>void</a:t>
            </a:r>
            <a:r>
              <a:rPr lang="en-US" sz="2400" dirty="0">
                <a:solidFill>
                  <a:srgbClr val="000000"/>
                </a:solidFill>
                <a:latin typeface="Consolas"/>
              </a:rPr>
              <a:t> volume(</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height</a:t>
            </a:r>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width</a:t>
            </a:r>
            <a:r>
              <a:rPr lang="en-US" sz="2400" dirty="0" smtClean="0">
                <a:solidFill>
                  <a:srgbClr val="000000"/>
                </a:solidFill>
                <a:latin typeface="Consolas"/>
              </a:rPr>
              <a:t>, </a:t>
            </a:r>
            <a:r>
              <a:rPr lang="en-US" sz="2400" b="1" dirty="0" smtClean="0">
                <a:solidFill>
                  <a:srgbClr val="7F0055"/>
                </a:solidFill>
                <a:latin typeface="Consolas"/>
              </a:rPr>
              <a:t>double</a:t>
            </a:r>
            <a:r>
              <a:rPr lang="en-US" sz="2400" dirty="0" smtClean="0">
                <a:solidFill>
                  <a:srgbClr val="000000"/>
                </a:solidFill>
                <a:latin typeface="Consolas"/>
              </a:rPr>
              <a:t> </a:t>
            </a:r>
            <a:r>
              <a:rPr lang="en-US" sz="2400" dirty="0">
                <a:solidFill>
                  <a:srgbClr val="6A3E3E"/>
                </a:solidFill>
                <a:latin typeface="Consolas"/>
              </a:rPr>
              <a:t>depth</a:t>
            </a:r>
            <a:r>
              <a:rPr lang="en-US" sz="2400" dirty="0">
                <a:solidFill>
                  <a:srgbClr val="000000"/>
                </a:solidFill>
                <a:latin typeface="Consolas"/>
              </a:rPr>
              <a:t>) </a:t>
            </a:r>
            <a:r>
              <a:rPr lang="en-US" sz="2400" dirty="0" smtClean="0">
                <a:solidFill>
                  <a:srgbClr val="000000"/>
                </a:solidFill>
                <a:latin typeface="Consolas"/>
              </a:rPr>
              <a:t>{		//void type method</a:t>
            </a:r>
            <a:endParaRPr lang="en-US" sz="2400" dirty="0">
              <a:solidFill>
                <a:srgbClr val="000000"/>
              </a:solidFill>
              <a:latin typeface="Consolas"/>
            </a:endParaRPr>
          </a:p>
          <a:p>
            <a:pPr lvl="2"/>
            <a:r>
              <a:rPr lang="en-US" sz="2400" dirty="0" err="1">
                <a:solidFill>
                  <a:srgbClr val="0000C0"/>
                </a:solidFill>
                <a:latin typeface="Consolas"/>
              </a:rPr>
              <a:t>vol1</a:t>
            </a:r>
            <a:r>
              <a:rPr lang="en-US" sz="2400" dirty="0">
                <a:solidFill>
                  <a:srgbClr val="000000"/>
                </a:solidFill>
                <a:latin typeface="Consolas"/>
              </a:rPr>
              <a:t>=</a:t>
            </a:r>
            <a:r>
              <a:rPr lang="en-US" sz="2400" dirty="0">
                <a:solidFill>
                  <a:srgbClr val="6A3E3E"/>
                </a:solidFill>
                <a:latin typeface="Consolas"/>
              </a:rPr>
              <a:t>height</a:t>
            </a:r>
            <a:r>
              <a:rPr lang="en-US" sz="2400" dirty="0">
                <a:solidFill>
                  <a:srgbClr val="000000"/>
                </a:solidFill>
                <a:latin typeface="Consolas"/>
              </a:rPr>
              <a:t>*</a:t>
            </a:r>
            <a:r>
              <a:rPr lang="en-US" sz="2400" dirty="0">
                <a:solidFill>
                  <a:srgbClr val="6A3E3E"/>
                </a:solidFill>
                <a:latin typeface="Consolas"/>
              </a:rPr>
              <a:t>depth</a:t>
            </a:r>
            <a:r>
              <a:rPr lang="en-US" sz="2400" dirty="0">
                <a:solidFill>
                  <a:srgbClr val="000000"/>
                </a:solidFill>
                <a:latin typeface="Consolas"/>
              </a:rPr>
              <a:t>*</a:t>
            </a:r>
            <a:r>
              <a:rPr lang="en-US" sz="2400" dirty="0">
                <a:solidFill>
                  <a:srgbClr val="6A3E3E"/>
                </a:solidFill>
                <a:latin typeface="Consolas"/>
              </a:rPr>
              <a:t>width</a:t>
            </a:r>
            <a:r>
              <a:rPr lang="en-US" sz="2400" dirty="0">
                <a:solidFill>
                  <a:srgbClr val="000000"/>
                </a:solidFill>
                <a:latin typeface="Consolas"/>
              </a:rPr>
              <a:t>;</a:t>
            </a:r>
          </a:p>
          <a:p>
            <a:pPr lvl="2"/>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err="1">
                <a:solidFill>
                  <a:srgbClr val="0000C0"/>
                </a:solidFill>
                <a:latin typeface="Consolas"/>
              </a:rPr>
              <a:t>vol1</a:t>
            </a:r>
            <a:r>
              <a:rPr lang="en-US" sz="2400" dirty="0">
                <a:solidFill>
                  <a:srgbClr val="000000"/>
                </a:solidFill>
                <a:latin typeface="Consolas"/>
              </a:rPr>
              <a:t>);}</a:t>
            </a:r>
          </a:p>
          <a:p>
            <a:pPr lvl="3"/>
            <a:r>
              <a:rPr lang="en-US" sz="2400" b="1" dirty="0" err="1">
                <a:solidFill>
                  <a:srgbClr val="7F0055"/>
                </a:solidFill>
                <a:latin typeface="Consolas"/>
              </a:rPr>
              <a:t>int</a:t>
            </a:r>
            <a:r>
              <a:rPr lang="en-US" sz="2400" dirty="0">
                <a:solidFill>
                  <a:srgbClr val="000000"/>
                </a:solidFill>
                <a:latin typeface="Consolas"/>
              </a:rPr>
              <a:t> </a:t>
            </a:r>
            <a:r>
              <a:rPr lang="en-US" sz="2400" dirty="0" err="1">
                <a:solidFill>
                  <a:srgbClr val="0000C0"/>
                </a:solidFill>
                <a:latin typeface="Consolas"/>
              </a:rPr>
              <a:t>vol2</a:t>
            </a:r>
            <a:r>
              <a:rPr lang="en-US" sz="2400" dirty="0">
                <a:solidFill>
                  <a:srgbClr val="000000"/>
                </a:solidFill>
                <a:latin typeface="Consolas"/>
              </a:rPr>
              <a:t>;</a:t>
            </a:r>
          </a:p>
          <a:p>
            <a:pPr lvl="3"/>
            <a:r>
              <a:rPr lang="en-US" sz="2400" b="1" dirty="0" err="1">
                <a:solidFill>
                  <a:srgbClr val="7F0055"/>
                </a:solidFill>
                <a:latin typeface="Consolas"/>
              </a:rPr>
              <a:t>int</a:t>
            </a:r>
            <a:r>
              <a:rPr lang="en-US" sz="2400" dirty="0">
                <a:solidFill>
                  <a:srgbClr val="000000"/>
                </a:solidFill>
                <a:latin typeface="Consolas"/>
              </a:rPr>
              <a:t> cube(</a:t>
            </a:r>
            <a:r>
              <a:rPr lang="en-US" sz="2400" b="1" dirty="0" err="1">
                <a:solidFill>
                  <a:srgbClr val="7F0055"/>
                </a:solidFill>
                <a:latin typeface="Consolas"/>
              </a:rPr>
              <a:t>int</a:t>
            </a:r>
            <a:r>
              <a:rPr lang="en-US" sz="2400" dirty="0">
                <a:solidFill>
                  <a:srgbClr val="000000"/>
                </a:solidFill>
                <a:latin typeface="Consolas"/>
              </a:rPr>
              <a:t> </a:t>
            </a:r>
            <a:r>
              <a:rPr lang="en-US" sz="2400" dirty="0">
                <a:solidFill>
                  <a:srgbClr val="6A3E3E"/>
                </a:solidFill>
                <a:latin typeface="Consolas"/>
              </a:rPr>
              <a:t>a</a:t>
            </a:r>
            <a:r>
              <a:rPr lang="en-US" sz="2400" dirty="0">
                <a:solidFill>
                  <a:srgbClr val="000000"/>
                </a:solidFill>
                <a:latin typeface="Consolas"/>
              </a:rPr>
              <a:t>) </a:t>
            </a:r>
            <a:r>
              <a:rPr lang="en-US" sz="2400" dirty="0" smtClean="0">
                <a:solidFill>
                  <a:srgbClr val="000000"/>
                </a:solidFill>
                <a:latin typeface="Consolas"/>
              </a:rPr>
              <a:t>{								//return type </a:t>
            </a:r>
            <a:r>
              <a:rPr lang="en-US" sz="2400" dirty="0" err="1" smtClean="0">
                <a:solidFill>
                  <a:srgbClr val="000000"/>
                </a:solidFill>
                <a:latin typeface="Consolas"/>
              </a:rPr>
              <a:t>int</a:t>
            </a:r>
            <a:r>
              <a:rPr lang="en-US" sz="2400" dirty="0" smtClean="0">
                <a:solidFill>
                  <a:srgbClr val="000000"/>
                </a:solidFill>
                <a:latin typeface="Consolas"/>
              </a:rPr>
              <a:t> method</a:t>
            </a:r>
            <a:endParaRPr lang="en-US" sz="2400" dirty="0">
              <a:solidFill>
                <a:srgbClr val="000000"/>
              </a:solidFill>
              <a:latin typeface="Consolas"/>
            </a:endParaRPr>
          </a:p>
          <a:p>
            <a:pPr lvl="3"/>
            <a:r>
              <a:rPr lang="en-US" sz="2400" dirty="0" err="1">
                <a:solidFill>
                  <a:srgbClr val="0000C0"/>
                </a:solidFill>
                <a:latin typeface="Consolas"/>
              </a:rPr>
              <a:t>vol2</a:t>
            </a:r>
            <a:r>
              <a:rPr lang="en-US" sz="2400" dirty="0">
                <a:solidFill>
                  <a:srgbClr val="000000"/>
                </a:solidFill>
                <a:latin typeface="Consolas"/>
              </a:rPr>
              <a:t>=</a:t>
            </a:r>
            <a:r>
              <a:rPr lang="en-US" sz="2400" dirty="0">
                <a:solidFill>
                  <a:srgbClr val="6A3E3E"/>
                </a:solidFill>
                <a:latin typeface="Consolas"/>
              </a:rPr>
              <a:t>a</a:t>
            </a:r>
            <a:r>
              <a:rPr lang="en-US" sz="2400" dirty="0">
                <a:solidFill>
                  <a:srgbClr val="000000"/>
                </a:solidFill>
                <a:latin typeface="Consolas"/>
              </a:rPr>
              <a:t>*</a:t>
            </a:r>
            <a:r>
              <a:rPr lang="en-US" sz="2400" dirty="0">
                <a:solidFill>
                  <a:srgbClr val="6A3E3E"/>
                </a:solidFill>
                <a:latin typeface="Consolas"/>
              </a:rPr>
              <a:t>a</a:t>
            </a:r>
            <a:r>
              <a:rPr lang="en-US" sz="2400" dirty="0">
                <a:solidFill>
                  <a:srgbClr val="000000"/>
                </a:solidFill>
                <a:latin typeface="Consolas"/>
              </a:rPr>
              <a:t>*</a:t>
            </a:r>
            <a:r>
              <a:rPr lang="en-US" sz="2400" dirty="0">
                <a:solidFill>
                  <a:srgbClr val="6A3E3E"/>
                </a:solidFill>
                <a:latin typeface="Consolas"/>
              </a:rPr>
              <a:t>a</a:t>
            </a:r>
            <a:r>
              <a:rPr lang="en-US" sz="2400" dirty="0">
                <a:solidFill>
                  <a:srgbClr val="000000"/>
                </a:solidFill>
                <a:latin typeface="Consolas"/>
              </a:rPr>
              <a:t>;</a:t>
            </a:r>
          </a:p>
          <a:p>
            <a:pPr lvl="3"/>
            <a:r>
              <a:rPr lang="en-US" sz="2400" b="1" dirty="0">
                <a:solidFill>
                  <a:srgbClr val="7F0055"/>
                </a:solidFill>
                <a:latin typeface="Consolas"/>
              </a:rPr>
              <a:t>return</a:t>
            </a:r>
            <a:r>
              <a:rPr lang="en-US" sz="2400" dirty="0">
                <a:solidFill>
                  <a:srgbClr val="000000"/>
                </a:solidFill>
                <a:latin typeface="Consolas"/>
              </a:rPr>
              <a:t> </a:t>
            </a:r>
            <a:r>
              <a:rPr lang="en-US" sz="2400" dirty="0" err="1">
                <a:solidFill>
                  <a:srgbClr val="0000C0"/>
                </a:solidFill>
                <a:latin typeface="Consolas"/>
              </a:rPr>
              <a:t>vol2</a:t>
            </a:r>
            <a:r>
              <a:rPr lang="en-US" sz="2400" dirty="0" smtClean="0">
                <a:solidFill>
                  <a:srgbClr val="000000"/>
                </a:solidFill>
                <a:latin typeface="Consolas"/>
              </a:rPr>
              <a:t>;}</a:t>
            </a:r>
            <a:endParaRPr lang="en-US" sz="2400" dirty="0">
              <a:solidFill>
                <a:srgbClr val="000000"/>
              </a:solidFill>
              <a:latin typeface="Consolas"/>
            </a:endParaRPr>
          </a:p>
          <a:p>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BoxDemo</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err="1">
                <a:solidFill>
                  <a:srgbClr val="6A3E3E"/>
                </a:solidFill>
                <a:latin typeface="Consolas"/>
              </a:rPr>
              <a:t>args</a:t>
            </a:r>
            <a:r>
              <a:rPr lang="en-US" sz="2400" dirty="0">
                <a:solidFill>
                  <a:srgbClr val="000000"/>
                </a:solidFill>
                <a:latin typeface="Consolas"/>
              </a:rPr>
              <a:t>) {</a:t>
            </a:r>
          </a:p>
          <a:p>
            <a:pPr lvl="2"/>
            <a:r>
              <a:rPr lang="en-US" sz="2400" dirty="0">
                <a:solidFill>
                  <a:srgbClr val="000000"/>
                </a:solidFill>
                <a:latin typeface="Consolas"/>
              </a:rPr>
              <a:t>Box </a:t>
            </a:r>
            <a:r>
              <a:rPr lang="en-US" sz="2400" dirty="0" err="1">
                <a:solidFill>
                  <a:srgbClr val="6A3E3E"/>
                </a:solidFill>
                <a:latin typeface="Consolas"/>
              </a:rPr>
              <a:t>mybox</a:t>
            </a:r>
            <a:r>
              <a:rPr lang="en-US" sz="2400" dirty="0">
                <a:solidFill>
                  <a:srgbClr val="000000"/>
                </a:solidFill>
                <a:latin typeface="Consolas"/>
              </a:rPr>
              <a:t> =</a:t>
            </a:r>
            <a:r>
              <a:rPr lang="en-US" sz="2400" b="1" dirty="0">
                <a:solidFill>
                  <a:srgbClr val="7F0055"/>
                </a:solidFill>
                <a:latin typeface="Consolas"/>
              </a:rPr>
              <a:t>new</a:t>
            </a:r>
            <a:r>
              <a:rPr lang="en-US" sz="2400" dirty="0">
                <a:solidFill>
                  <a:srgbClr val="000000"/>
                </a:solidFill>
                <a:latin typeface="Consolas"/>
              </a:rPr>
              <a:t> Box();</a:t>
            </a:r>
          </a:p>
          <a:p>
            <a:pPr lvl="2"/>
            <a:r>
              <a:rPr lang="en-US" sz="2400" dirty="0" err="1">
                <a:solidFill>
                  <a:srgbClr val="6A3E3E"/>
                </a:solidFill>
                <a:latin typeface="Consolas"/>
              </a:rPr>
              <a:t>mybox</a:t>
            </a:r>
            <a:r>
              <a:rPr lang="en-US" sz="2400" dirty="0" err="1">
                <a:solidFill>
                  <a:srgbClr val="000000"/>
                </a:solidFill>
                <a:latin typeface="Consolas"/>
              </a:rPr>
              <a:t>.volume</a:t>
            </a:r>
            <a:r>
              <a:rPr lang="en-US" sz="2400" dirty="0">
                <a:solidFill>
                  <a:srgbClr val="000000"/>
                </a:solidFill>
                <a:latin typeface="Consolas"/>
              </a:rPr>
              <a:t>(100,200,900</a:t>
            </a:r>
            <a:r>
              <a:rPr lang="en-US" sz="2400" dirty="0" smtClean="0">
                <a:solidFill>
                  <a:srgbClr val="000000"/>
                </a:solidFill>
                <a:latin typeface="Consolas"/>
              </a:rPr>
              <a:t>);	</a:t>
            </a:r>
          </a:p>
          <a:p>
            <a:pPr lvl="2"/>
            <a:r>
              <a:rPr lang="en-US" sz="2400" dirty="0" err="1" smtClean="0">
                <a:solidFill>
                  <a:srgbClr val="000000"/>
                </a:solidFill>
                <a:latin typeface="Consolas"/>
              </a:rPr>
              <a:t>System.</a:t>
            </a:r>
            <a:r>
              <a:rPr lang="en-US" sz="2400" b="1" i="1" dirty="0" err="1" smtClean="0">
                <a:solidFill>
                  <a:srgbClr val="0000C0"/>
                </a:solidFill>
                <a:latin typeface="Consolas"/>
              </a:rPr>
              <a:t>out</a:t>
            </a:r>
            <a:r>
              <a:rPr lang="en-US" sz="2400" dirty="0" err="1" smtClean="0">
                <a:solidFill>
                  <a:srgbClr val="000000"/>
                </a:solidFill>
                <a:latin typeface="Consolas"/>
              </a:rPr>
              <a:t>.println</a:t>
            </a:r>
            <a:r>
              <a:rPr lang="en-US" sz="2400" dirty="0" smtClean="0">
                <a:solidFill>
                  <a:srgbClr val="000000"/>
                </a:solidFill>
                <a:latin typeface="Consolas"/>
              </a:rPr>
              <a:t>(</a:t>
            </a:r>
            <a:r>
              <a:rPr lang="en-US" sz="2400" dirty="0" err="1" smtClean="0">
                <a:solidFill>
                  <a:srgbClr val="6A3E3E"/>
                </a:solidFill>
                <a:latin typeface="Consolas"/>
              </a:rPr>
              <a:t>mybox.cube</a:t>
            </a:r>
            <a:r>
              <a:rPr lang="en-US" sz="2400" dirty="0" smtClean="0">
                <a:solidFill>
                  <a:srgbClr val="6A3E3E"/>
                </a:solidFill>
                <a:latin typeface="Consolas"/>
              </a:rPr>
              <a:t>(22</a:t>
            </a:r>
            <a:r>
              <a:rPr lang="en-US" sz="2400" dirty="0" smtClean="0">
                <a:solidFill>
                  <a:srgbClr val="000000"/>
                </a:solidFill>
                <a:latin typeface="Consolas"/>
              </a:rPr>
              <a:t>); 	      	//directly printing returned value</a:t>
            </a:r>
            <a:endParaRPr lang="en-US" sz="2400" dirty="0">
              <a:solidFill>
                <a:srgbClr val="000000"/>
              </a:solidFill>
              <a:latin typeface="Consolas"/>
            </a:endParaRPr>
          </a:p>
          <a:p>
            <a:pPr lvl="2"/>
            <a:r>
              <a:rPr lang="en-US" sz="2400" b="1" dirty="0" err="1">
                <a:solidFill>
                  <a:srgbClr val="7F0055"/>
                </a:solidFill>
                <a:latin typeface="Consolas"/>
              </a:rPr>
              <a:t>int</a:t>
            </a:r>
            <a:r>
              <a:rPr lang="en-US" sz="2400" dirty="0">
                <a:solidFill>
                  <a:srgbClr val="000000"/>
                </a:solidFill>
                <a:latin typeface="Consolas"/>
              </a:rPr>
              <a:t> </a:t>
            </a:r>
            <a:r>
              <a:rPr lang="en-US" sz="2400" dirty="0" err="1">
                <a:solidFill>
                  <a:srgbClr val="6A3E3E"/>
                </a:solidFill>
                <a:latin typeface="Consolas"/>
              </a:rPr>
              <a:t>i</a:t>
            </a:r>
            <a:r>
              <a:rPr lang="en-US" sz="2400" dirty="0">
                <a:solidFill>
                  <a:srgbClr val="000000"/>
                </a:solidFill>
                <a:latin typeface="Consolas"/>
              </a:rPr>
              <a:t> = </a:t>
            </a:r>
            <a:r>
              <a:rPr lang="en-US" sz="2400" dirty="0" err="1">
                <a:solidFill>
                  <a:srgbClr val="6A3E3E"/>
                </a:solidFill>
                <a:latin typeface="Consolas"/>
              </a:rPr>
              <a:t>mybox</a:t>
            </a:r>
            <a:r>
              <a:rPr lang="en-US" sz="2400" dirty="0" err="1">
                <a:solidFill>
                  <a:srgbClr val="000000"/>
                </a:solidFill>
                <a:latin typeface="Consolas"/>
              </a:rPr>
              <a:t>.cube</a:t>
            </a:r>
            <a:r>
              <a:rPr lang="en-US" sz="2400" dirty="0">
                <a:solidFill>
                  <a:srgbClr val="000000"/>
                </a:solidFill>
                <a:latin typeface="Consolas"/>
              </a:rPr>
              <a:t>(55</a:t>
            </a:r>
            <a:r>
              <a:rPr lang="en-US" sz="2400" dirty="0" smtClean="0">
                <a:solidFill>
                  <a:srgbClr val="000000"/>
                </a:solidFill>
                <a:latin typeface="Consolas"/>
              </a:rPr>
              <a:t>);					//storing return value in variable </a:t>
            </a:r>
            <a:endParaRPr lang="en-US" sz="2400" dirty="0">
              <a:solidFill>
                <a:srgbClr val="000000"/>
              </a:solidFill>
              <a:latin typeface="Consolas"/>
            </a:endParaRPr>
          </a:p>
          <a:p>
            <a:pPr lvl="2"/>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err="1">
                <a:solidFill>
                  <a:srgbClr val="6A3E3E"/>
                </a:solidFill>
                <a:latin typeface="Consolas"/>
              </a:rPr>
              <a:t>i</a:t>
            </a:r>
            <a:r>
              <a:rPr lang="en-US" sz="2400" dirty="0" smtClean="0">
                <a:solidFill>
                  <a:srgbClr val="000000"/>
                </a:solidFill>
                <a:latin typeface="Consolas"/>
              </a:rPr>
              <a:t>);					// printing the variable</a:t>
            </a:r>
            <a:endParaRPr lang="en-US" sz="2400" dirty="0">
              <a:solidFill>
                <a:srgbClr val="000000"/>
              </a:solidFill>
              <a:latin typeface="Consolas"/>
            </a:endParaRPr>
          </a:p>
          <a:p>
            <a:r>
              <a:rPr lang="en-US" sz="2400" dirty="0">
                <a:solidFill>
                  <a:srgbClr val="000000"/>
                </a:solidFill>
                <a:latin typeface="Consolas"/>
              </a:rPr>
              <a:t>}</a:t>
            </a:r>
          </a:p>
          <a:p>
            <a:r>
              <a:rPr lang="en-US" sz="2400" dirty="0">
                <a:solidFill>
                  <a:srgbClr val="000000"/>
                </a:solidFill>
                <a:latin typeface="Consolas"/>
              </a:rPr>
              <a:t>}</a:t>
            </a:r>
            <a:endParaRPr lang="en-US" sz="2400" dirty="0">
              <a:solidFill>
                <a:srgbClr val="000000"/>
              </a:solidFill>
              <a:effectLst/>
              <a:latin typeface="Consolas"/>
            </a:endParaRPr>
          </a:p>
        </p:txBody>
      </p:sp>
    </p:spTree>
    <p:extLst>
      <p:ext uri="{BB962C8B-B14F-4D97-AF65-F5344CB8AC3E}">
        <p14:creationId xmlns:p14="http://schemas.microsoft.com/office/powerpoint/2010/main" val="29230176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CONSTRUCTOR</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247900"/>
            <a:ext cx="15537445" cy="7792582"/>
          </a:xfrm>
          <a:prstGeom prst="rect">
            <a:avLst/>
          </a:prstGeom>
        </p:spPr>
        <p:txBody>
          <a:bodyPr wrap="square" lIns="0" tIns="0" rIns="0" bIns="0" rtlCol="0" anchor="t">
            <a:spAutoFit/>
          </a:bodyPr>
          <a:lstStyle/>
          <a:p>
            <a:pPr marL="457200" lvl="0" indent="-457200" algn="just">
              <a:lnSpc>
                <a:spcPts val="5096"/>
              </a:lnSpc>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sym typeface="Century Gothic Paneuropean"/>
              </a:rPr>
              <a:t>Java allows objects to initialize themselves when they are created.</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This </a:t>
            </a:r>
            <a:r>
              <a:rPr lang="en-US" sz="3200" dirty="0">
                <a:solidFill>
                  <a:srgbClr val="000000"/>
                </a:solidFill>
                <a:latin typeface="Century Gothic Paneuropean"/>
                <a:ea typeface="Century Gothic Paneuropean"/>
                <a:cs typeface="Century Gothic Paneuropean"/>
                <a:sym typeface="Century Gothic Paneuropean"/>
              </a:rPr>
              <a:t>automatic initialization is performed through the use of a constructor.</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A </a:t>
            </a:r>
            <a:r>
              <a:rPr lang="en-US" sz="3200" dirty="0">
                <a:solidFill>
                  <a:srgbClr val="000000"/>
                </a:solidFill>
                <a:latin typeface="Century Gothic Paneuropean"/>
                <a:ea typeface="Century Gothic Paneuropean"/>
                <a:cs typeface="Century Gothic Paneuropean"/>
                <a:sym typeface="Century Gothic Paneuropean"/>
              </a:rPr>
              <a:t>constructor initializes an object immediately upon creation.</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It </a:t>
            </a:r>
            <a:r>
              <a:rPr lang="en-US" sz="3200" dirty="0">
                <a:solidFill>
                  <a:srgbClr val="000000"/>
                </a:solidFill>
                <a:latin typeface="Century Gothic Paneuropean"/>
                <a:ea typeface="Century Gothic Paneuropean"/>
                <a:cs typeface="Century Gothic Paneuropean"/>
                <a:sym typeface="Century Gothic Paneuropean"/>
              </a:rPr>
              <a:t>has the same name as the class in which it resides and is syntactically similar to a method.</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Once </a:t>
            </a:r>
            <a:r>
              <a:rPr lang="en-US" sz="3200" dirty="0">
                <a:solidFill>
                  <a:srgbClr val="000000"/>
                </a:solidFill>
                <a:latin typeface="Century Gothic Paneuropean"/>
                <a:ea typeface="Century Gothic Paneuropean"/>
                <a:cs typeface="Century Gothic Paneuropean"/>
                <a:sym typeface="Century Gothic Paneuropean"/>
              </a:rPr>
              <a:t>defined, the constructor is automatically called immediately after the object is created before the new operator completes.</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They </a:t>
            </a:r>
            <a:r>
              <a:rPr lang="en-US" sz="3200" dirty="0">
                <a:solidFill>
                  <a:srgbClr val="000000"/>
                </a:solidFill>
                <a:latin typeface="Century Gothic Paneuropean"/>
                <a:ea typeface="Century Gothic Paneuropean"/>
                <a:cs typeface="Century Gothic Paneuropean"/>
                <a:sym typeface="Century Gothic Paneuropean"/>
              </a:rPr>
              <a:t>have no return type, not even void, because the implicit return type of a class’ constructor is the class itself.</a:t>
            </a:r>
          </a:p>
          <a:p>
            <a:pPr marL="457200" lvl="0" indent="-457200" algn="just">
              <a:lnSpc>
                <a:spcPts val="5096"/>
              </a:lnSpc>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sym typeface="Century Gothic Paneuropean"/>
              </a:rPr>
              <a:t>It </a:t>
            </a:r>
            <a:r>
              <a:rPr lang="en-US" sz="3200" dirty="0">
                <a:solidFill>
                  <a:srgbClr val="000000"/>
                </a:solidFill>
                <a:latin typeface="Century Gothic Paneuropean"/>
                <a:ea typeface="Century Gothic Paneuropean"/>
                <a:cs typeface="Century Gothic Paneuropean"/>
                <a:sym typeface="Century Gothic Paneuropean"/>
              </a:rPr>
              <a:t>is the constructor’s job to initialize the internal state of an object so that the code creating an instance will have a fully initialized, usable object immediately.</a:t>
            </a:r>
            <a:endParaRPr lang="en-US" sz="2400" dirty="0"/>
          </a:p>
        </p:txBody>
      </p:sp>
    </p:spTree>
    <p:extLst>
      <p:ext uri="{BB962C8B-B14F-4D97-AF65-F5344CB8AC3E}">
        <p14:creationId xmlns:p14="http://schemas.microsoft.com/office/powerpoint/2010/main" val="27262742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CONSTRUCTOR</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8125301"/>
          </a:xfrm>
          <a:prstGeom prst="rect">
            <a:avLst/>
          </a:prstGeom>
        </p:spPr>
        <p:txBody>
          <a:bodyPr wrap="square" lIns="0" tIns="0" rIns="0" bIns="0" rtlCol="0" anchor="t">
            <a:spAutoFit/>
          </a:bodyPr>
          <a:lstStyle/>
          <a:p>
            <a:r>
              <a:rPr lang="en-US" sz="2400" b="1" dirty="0" smtClean="0">
                <a:solidFill>
                  <a:srgbClr val="7F0055"/>
                </a:solidFill>
                <a:latin typeface="Consolas"/>
              </a:rPr>
              <a:t>class</a:t>
            </a:r>
            <a:r>
              <a:rPr lang="en-US" sz="2400" dirty="0" smtClean="0">
                <a:solidFill>
                  <a:srgbClr val="000000"/>
                </a:solidFill>
                <a:latin typeface="Consolas"/>
              </a:rPr>
              <a:t> </a:t>
            </a:r>
            <a:r>
              <a:rPr lang="en-US" sz="2400" dirty="0">
                <a:solidFill>
                  <a:srgbClr val="000000"/>
                </a:solidFill>
                <a:latin typeface="Consolas"/>
              </a:rPr>
              <a:t>Box{</a:t>
            </a:r>
          </a:p>
          <a:p>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height</a:t>
            </a:r>
            <a:r>
              <a:rPr lang="en-US" sz="2400" dirty="0">
                <a:solidFill>
                  <a:srgbClr val="000000"/>
                </a:solidFill>
                <a:latin typeface="Consolas"/>
              </a:rPr>
              <a:t>;</a:t>
            </a:r>
          </a:p>
          <a:p>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width</a:t>
            </a:r>
            <a:r>
              <a:rPr lang="en-US" sz="2400" dirty="0">
                <a:solidFill>
                  <a:srgbClr val="000000"/>
                </a:solidFill>
                <a:latin typeface="Consolas"/>
              </a:rPr>
              <a:t>;</a:t>
            </a:r>
          </a:p>
          <a:p>
            <a:r>
              <a:rPr lang="en-US" sz="2400" dirty="0">
                <a:solidFill>
                  <a:srgbClr val="000000"/>
                </a:solidFill>
                <a:latin typeface="Consolas"/>
              </a:rPr>
              <a:t>	</a:t>
            </a:r>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depth;</a:t>
            </a:r>
            <a:endParaRPr lang="en-US" sz="2400" dirty="0">
              <a:solidFill>
                <a:srgbClr val="000000"/>
              </a:solidFill>
              <a:latin typeface="Consolas"/>
            </a:endParaRPr>
          </a:p>
          <a:p>
            <a:pPr lvl="2"/>
            <a:r>
              <a:rPr lang="en-US" sz="2400" b="1" dirty="0">
                <a:solidFill>
                  <a:srgbClr val="7F0055"/>
                </a:solidFill>
                <a:latin typeface="Consolas"/>
              </a:rPr>
              <a:t>double</a:t>
            </a:r>
            <a:r>
              <a:rPr lang="en-US" sz="2400" dirty="0">
                <a:solidFill>
                  <a:srgbClr val="000000"/>
                </a:solidFill>
                <a:latin typeface="Consolas"/>
              </a:rPr>
              <a:t> </a:t>
            </a:r>
            <a:r>
              <a:rPr lang="en-US" sz="2400" dirty="0" err="1">
                <a:solidFill>
                  <a:srgbClr val="0000C0"/>
                </a:solidFill>
                <a:latin typeface="Consolas"/>
              </a:rPr>
              <a:t>vol1</a:t>
            </a:r>
            <a:r>
              <a:rPr lang="en-US" sz="2400" dirty="0">
                <a:solidFill>
                  <a:srgbClr val="000000"/>
                </a:solidFill>
                <a:latin typeface="Consolas"/>
              </a:rPr>
              <a:t>;</a:t>
            </a:r>
          </a:p>
          <a:p>
            <a:pPr lvl="2"/>
            <a:r>
              <a:rPr lang="en-US" sz="2400" b="1" dirty="0">
                <a:solidFill>
                  <a:srgbClr val="7F0055"/>
                </a:solidFill>
                <a:latin typeface="Consolas"/>
              </a:rPr>
              <a:t>void</a:t>
            </a:r>
            <a:r>
              <a:rPr lang="en-US" sz="2400" dirty="0">
                <a:solidFill>
                  <a:srgbClr val="000000"/>
                </a:solidFill>
                <a:latin typeface="Consolas"/>
              </a:rPr>
              <a:t> volume () {		 </a:t>
            </a:r>
          </a:p>
          <a:p>
            <a:pPr lvl="2"/>
            <a:r>
              <a:rPr lang="en-US" sz="2400" dirty="0" err="1">
                <a:solidFill>
                  <a:srgbClr val="0000C0"/>
                </a:solidFill>
                <a:latin typeface="Consolas"/>
              </a:rPr>
              <a:t>vol1</a:t>
            </a:r>
            <a:r>
              <a:rPr lang="en-US" sz="2400" dirty="0">
                <a:solidFill>
                  <a:srgbClr val="000000"/>
                </a:solidFill>
                <a:latin typeface="Consolas"/>
              </a:rPr>
              <a:t>=</a:t>
            </a:r>
            <a:r>
              <a:rPr lang="en-US" sz="2400" dirty="0">
                <a:solidFill>
                  <a:srgbClr val="6A3E3E"/>
                </a:solidFill>
                <a:latin typeface="Consolas"/>
              </a:rPr>
              <a:t>height</a:t>
            </a:r>
            <a:r>
              <a:rPr lang="en-US" sz="2400" dirty="0">
                <a:solidFill>
                  <a:srgbClr val="000000"/>
                </a:solidFill>
                <a:latin typeface="Consolas"/>
              </a:rPr>
              <a:t>*</a:t>
            </a:r>
            <a:r>
              <a:rPr lang="en-US" sz="2400" dirty="0">
                <a:solidFill>
                  <a:srgbClr val="6A3E3E"/>
                </a:solidFill>
                <a:latin typeface="Consolas"/>
              </a:rPr>
              <a:t>depth</a:t>
            </a:r>
            <a:r>
              <a:rPr lang="en-US" sz="2400" dirty="0">
                <a:solidFill>
                  <a:srgbClr val="000000"/>
                </a:solidFill>
                <a:latin typeface="Consolas"/>
              </a:rPr>
              <a:t>*</a:t>
            </a:r>
            <a:r>
              <a:rPr lang="en-US" sz="2400" dirty="0">
                <a:solidFill>
                  <a:srgbClr val="6A3E3E"/>
                </a:solidFill>
                <a:latin typeface="Consolas"/>
              </a:rPr>
              <a:t>width</a:t>
            </a:r>
            <a:r>
              <a:rPr lang="en-US" sz="2400" dirty="0">
                <a:solidFill>
                  <a:srgbClr val="000000"/>
                </a:solidFill>
                <a:latin typeface="Consolas"/>
              </a:rPr>
              <a:t>;</a:t>
            </a:r>
          </a:p>
          <a:p>
            <a:pPr lvl="2"/>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err="1">
                <a:solidFill>
                  <a:srgbClr val="0000C0"/>
                </a:solidFill>
                <a:latin typeface="Consolas"/>
              </a:rPr>
              <a:t>vol1</a:t>
            </a:r>
            <a:r>
              <a:rPr lang="en-US" sz="2400" dirty="0" smtClean="0">
                <a:solidFill>
                  <a:srgbClr val="000000"/>
                </a:solidFill>
                <a:latin typeface="Consolas"/>
              </a:rPr>
              <a:t>);}</a:t>
            </a:r>
          </a:p>
          <a:p>
            <a:pPr lvl="3"/>
            <a:r>
              <a:rPr lang="en-US" sz="2400" dirty="0" smtClean="0">
                <a:solidFill>
                  <a:srgbClr val="000000"/>
                </a:solidFill>
                <a:latin typeface="Consolas"/>
              </a:rPr>
              <a:t>Box(){</a:t>
            </a:r>
          </a:p>
          <a:p>
            <a:pPr lvl="3"/>
            <a:r>
              <a:rPr lang="en-US" sz="2400" dirty="0">
                <a:solidFill>
                  <a:srgbClr val="000000"/>
                </a:solidFill>
                <a:latin typeface="Consolas"/>
              </a:rPr>
              <a:t>w</a:t>
            </a:r>
            <a:r>
              <a:rPr lang="en-US" sz="2400" dirty="0" smtClean="0">
                <a:solidFill>
                  <a:srgbClr val="000000"/>
                </a:solidFill>
                <a:latin typeface="Consolas"/>
              </a:rPr>
              <a:t>idth=10;</a:t>
            </a:r>
          </a:p>
          <a:p>
            <a:pPr lvl="3"/>
            <a:r>
              <a:rPr lang="en-US" sz="2400" dirty="0">
                <a:solidFill>
                  <a:srgbClr val="000000"/>
                </a:solidFill>
                <a:latin typeface="Consolas"/>
              </a:rPr>
              <a:t>h</a:t>
            </a:r>
            <a:r>
              <a:rPr lang="en-US" sz="2400" dirty="0" smtClean="0">
                <a:solidFill>
                  <a:srgbClr val="000000"/>
                </a:solidFill>
                <a:latin typeface="Consolas"/>
              </a:rPr>
              <a:t>eight=10;</a:t>
            </a:r>
          </a:p>
          <a:p>
            <a:pPr lvl="3"/>
            <a:r>
              <a:rPr lang="en-US" sz="2400" dirty="0" smtClean="0">
                <a:solidFill>
                  <a:srgbClr val="000000"/>
                </a:solidFill>
                <a:latin typeface="Consolas"/>
              </a:rPr>
              <a:t>depth=10;</a:t>
            </a:r>
          </a:p>
          <a:p>
            <a:pPr lvl="2"/>
            <a:r>
              <a:rPr lang="en-US" sz="2400" dirty="0" smtClean="0">
                <a:solidFill>
                  <a:srgbClr val="000000"/>
                </a:solidFill>
                <a:latin typeface="Consolas"/>
              </a:rPr>
              <a:t>}} </a:t>
            </a:r>
            <a:endParaRPr lang="en-US" sz="2400" dirty="0">
              <a:solidFill>
                <a:srgbClr val="000000"/>
              </a:solidFill>
              <a:latin typeface="Consolas"/>
            </a:endParaRP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BoxDemo</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err="1">
                <a:solidFill>
                  <a:srgbClr val="6A3E3E"/>
                </a:solidFill>
                <a:latin typeface="Consolas"/>
              </a:rPr>
              <a:t>args</a:t>
            </a:r>
            <a:r>
              <a:rPr lang="en-US" sz="2400" dirty="0">
                <a:solidFill>
                  <a:srgbClr val="000000"/>
                </a:solidFill>
                <a:latin typeface="Consolas"/>
              </a:rPr>
              <a:t>) {</a:t>
            </a:r>
          </a:p>
          <a:p>
            <a:pPr lvl="2"/>
            <a:r>
              <a:rPr lang="en-US" sz="2400" dirty="0">
                <a:solidFill>
                  <a:srgbClr val="000000"/>
                </a:solidFill>
                <a:latin typeface="Consolas"/>
              </a:rPr>
              <a:t>Box </a:t>
            </a:r>
            <a:r>
              <a:rPr lang="en-US" sz="2400" dirty="0" err="1">
                <a:solidFill>
                  <a:srgbClr val="6A3E3E"/>
                </a:solidFill>
                <a:latin typeface="Consolas"/>
              </a:rPr>
              <a:t>mybox</a:t>
            </a:r>
            <a:r>
              <a:rPr lang="en-US" sz="2400" dirty="0">
                <a:solidFill>
                  <a:srgbClr val="000000"/>
                </a:solidFill>
                <a:latin typeface="Consolas"/>
              </a:rPr>
              <a:t> =</a:t>
            </a:r>
            <a:r>
              <a:rPr lang="en-US" sz="2400" b="1" dirty="0">
                <a:solidFill>
                  <a:srgbClr val="7F0055"/>
                </a:solidFill>
                <a:latin typeface="Consolas"/>
              </a:rPr>
              <a:t>new</a:t>
            </a:r>
            <a:r>
              <a:rPr lang="en-US" sz="2400" dirty="0">
                <a:solidFill>
                  <a:srgbClr val="000000"/>
                </a:solidFill>
                <a:latin typeface="Consolas"/>
              </a:rPr>
              <a:t> Box</a:t>
            </a:r>
            <a:r>
              <a:rPr lang="en-US" sz="2400" dirty="0" smtClean="0">
                <a:solidFill>
                  <a:srgbClr val="000000"/>
                </a:solidFill>
                <a:latin typeface="Consolas"/>
              </a:rPr>
              <a:t>();</a:t>
            </a:r>
          </a:p>
          <a:p>
            <a:pPr lvl="2"/>
            <a:r>
              <a:rPr lang="en-US" sz="2400" dirty="0" err="1" smtClean="0">
                <a:solidFill>
                  <a:srgbClr val="000000"/>
                </a:solidFill>
                <a:latin typeface="Consolas"/>
              </a:rPr>
              <a:t>Mybox.volume</a:t>
            </a:r>
            <a:r>
              <a:rPr lang="en-US" sz="2400" dirty="0" smtClean="0">
                <a:solidFill>
                  <a:srgbClr val="000000"/>
                </a:solidFill>
                <a:latin typeface="Consolas"/>
              </a:rPr>
              <a:t>();</a:t>
            </a:r>
            <a:endParaRPr lang="en-US" sz="2400" dirty="0">
              <a:solidFill>
                <a:srgbClr val="000000"/>
              </a:solidFill>
              <a:latin typeface="Consolas"/>
            </a:endParaRPr>
          </a:p>
          <a:p>
            <a:pPr lvl="2"/>
            <a:r>
              <a:rPr lang="en-US" sz="2400" dirty="0" err="1">
                <a:solidFill>
                  <a:srgbClr val="000000"/>
                </a:solidFill>
                <a:latin typeface="Consolas"/>
              </a:rPr>
              <a:t>mybox.width</a:t>
            </a:r>
            <a:r>
              <a:rPr lang="en-US" sz="2400" dirty="0">
                <a:solidFill>
                  <a:srgbClr val="000000"/>
                </a:solidFill>
                <a:latin typeface="Consolas"/>
              </a:rPr>
              <a:t>=78;</a:t>
            </a:r>
          </a:p>
          <a:p>
            <a:pPr lvl="2"/>
            <a:r>
              <a:rPr lang="en-US" sz="2400" dirty="0" err="1">
                <a:solidFill>
                  <a:srgbClr val="000000"/>
                </a:solidFill>
                <a:latin typeface="Consolas"/>
              </a:rPr>
              <a:t>mybox.height</a:t>
            </a:r>
            <a:r>
              <a:rPr lang="en-US" sz="2400" dirty="0">
                <a:solidFill>
                  <a:srgbClr val="000000"/>
                </a:solidFill>
                <a:latin typeface="Consolas"/>
              </a:rPr>
              <a:t>=56;</a:t>
            </a:r>
          </a:p>
          <a:p>
            <a:pPr lvl="2"/>
            <a:r>
              <a:rPr lang="en-US" sz="2400" dirty="0" err="1" smtClean="0">
                <a:solidFill>
                  <a:srgbClr val="000000"/>
                </a:solidFill>
                <a:latin typeface="Consolas"/>
              </a:rPr>
              <a:t>mybox.depth</a:t>
            </a:r>
            <a:r>
              <a:rPr lang="en-US" sz="2400" dirty="0" smtClean="0">
                <a:solidFill>
                  <a:srgbClr val="000000"/>
                </a:solidFill>
                <a:latin typeface="Consolas"/>
              </a:rPr>
              <a:t>=40</a:t>
            </a:r>
            <a:r>
              <a:rPr lang="en-US" sz="2400" dirty="0">
                <a:solidFill>
                  <a:srgbClr val="000000"/>
                </a:solidFill>
                <a:latin typeface="Consolas"/>
              </a:rPr>
              <a:t>;</a:t>
            </a:r>
          </a:p>
          <a:p>
            <a:pPr lvl="2"/>
            <a:r>
              <a:rPr lang="en-US" sz="2400" dirty="0" err="1">
                <a:solidFill>
                  <a:srgbClr val="6A3E3E"/>
                </a:solidFill>
                <a:latin typeface="Consolas"/>
              </a:rPr>
              <a:t>mybox</a:t>
            </a:r>
            <a:r>
              <a:rPr lang="en-US" sz="2400" dirty="0" err="1">
                <a:solidFill>
                  <a:srgbClr val="000000"/>
                </a:solidFill>
                <a:latin typeface="Consolas"/>
              </a:rPr>
              <a:t>.volume</a:t>
            </a:r>
            <a:r>
              <a:rPr lang="en-US" sz="2400" dirty="0">
                <a:solidFill>
                  <a:srgbClr val="000000"/>
                </a:solidFill>
                <a:latin typeface="Consolas"/>
              </a:rPr>
              <a:t>();	</a:t>
            </a:r>
          </a:p>
          <a:p>
            <a:r>
              <a:rPr lang="en-US" sz="2400" dirty="0">
                <a:solidFill>
                  <a:srgbClr val="000000"/>
                </a:solidFill>
                <a:latin typeface="Consolas"/>
              </a:rPr>
              <a:t>  </a:t>
            </a:r>
            <a:r>
              <a:rPr lang="en-US" sz="2400" dirty="0" smtClean="0">
                <a:solidFill>
                  <a:srgbClr val="000000"/>
                </a:solidFill>
                <a:latin typeface="Consolas"/>
              </a:rPr>
              <a:t>}}</a:t>
            </a:r>
            <a:endParaRPr lang="en-US" sz="2400" dirty="0">
              <a:solidFill>
                <a:srgbClr val="000000"/>
              </a:solidFill>
              <a:latin typeface="Consolas"/>
            </a:endParaRPr>
          </a:p>
        </p:txBody>
      </p:sp>
    </p:spTree>
    <p:extLst>
      <p:ext uri="{BB962C8B-B14F-4D97-AF65-F5344CB8AC3E}">
        <p14:creationId xmlns:p14="http://schemas.microsoft.com/office/powerpoint/2010/main" val="1376827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PARAMETRIZED CONSTRUCTOR</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7879080"/>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A Parameterized Constructor is a type of constructor that take one or more parameters when the object is created and also allows the developer to initialize the attributes of the object by providing values of their own interest</a:t>
            </a:r>
            <a:r>
              <a:rPr lang="en-US" sz="3200" dirty="0" smtClean="0">
                <a:solidFill>
                  <a:srgbClr val="000000"/>
                </a:solidFill>
                <a:latin typeface="Century Gothic Paneuropean"/>
                <a:ea typeface="Century Gothic Paneuropean"/>
                <a:cs typeface="Century Gothic Paneuropean"/>
              </a:rPr>
              <a:t>.</a:t>
            </a:r>
          </a:p>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Key characteristics of parameterized constructors:</a:t>
            </a:r>
          </a:p>
          <a:p>
            <a:pPr marL="1371600" lvl="2" indent="-457200">
              <a:buFont typeface="Wingdings" panose="05000000000000000000" pitchFamily="2" charset="2"/>
              <a:buChar char="q"/>
            </a:pPr>
            <a:r>
              <a:rPr lang="en-US" sz="3200" dirty="0">
                <a:solidFill>
                  <a:srgbClr val="000000"/>
                </a:solidFill>
                <a:latin typeface="Century Gothic Paneuropean"/>
                <a:ea typeface="Century Gothic Paneuropean"/>
                <a:cs typeface="Century Gothic Paneuropean"/>
              </a:rPr>
              <a:t>Parameters: Unlike a default constructor (which takes no arguments), a parameterized constructor is defined with a list of parameters within its parentheses. These parameters act as placeholders for the values that will be passed during object instantiation.</a:t>
            </a:r>
          </a:p>
          <a:p>
            <a:pPr marL="1371600" lvl="2" indent="-457200">
              <a:buFont typeface="Wingdings" panose="05000000000000000000" pitchFamily="2" charset="2"/>
              <a:buChar char="q"/>
            </a:pPr>
            <a:r>
              <a:rPr lang="en-US" sz="3200" dirty="0">
                <a:solidFill>
                  <a:srgbClr val="000000"/>
                </a:solidFill>
                <a:latin typeface="Century Gothic Paneuropean"/>
                <a:ea typeface="Century Gothic Paneuropean"/>
                <a:cs typeface="Century Gothic Paneuropean"/>
              </a:rPr>
              <a:t>Initialization: The values passed as arguments during object creation are used to initialize the object's instance variables within the constructor's body. This allows for the creation of objects with distinct initial states</a:t>
            </a:r>
            <a:r>
              <a:rPr lang="en-US" sz="3200" dirty="0" smtClean="0">
                <a:solidFill>
                  <a:srgbClr val="000000"/>
                </a:solidFill>
                <a:latin typeface="Century Gothic Paneuropean"/>
                <a:ea typeface="Century Gothic Paneuropean"/>
                <a:cs typeface="Century Gothic Paneuropean"/>
              </a:rPr>
              <a:t>.</a:t>
            </a:r>
            <a:endParaRPr lang="en-US" sz="3200" dirty="0">
              <a:solidFill>
                <a:srgbClr val="000000"/>
              </a:solidFill>
              <a:latin typeface="Century Gothic Paneuropean"/>
              <a:ea typeface="Century Gothic Paneuropean"/>
              <a:cs typeface="Century Gothic Paneuropean"/>
            </a:endParaRPr>
          </a:p>
          <a:p>
            <a:pPr marL="1371600" lvl="2" indent="-457200">
              <a:buFont typeface="Wingdings" panose="05000000000000000000" pitchFamily="2" charset="2"/>
              <a:buChar char="q"/>
            </a:pPr>
            <a:r>
              <a:rPr lang="en-US" sz="3200" dirty="0">
                <a:solidFill>
                  <a:srgbClr val="000000"/>
                </a:solidFill>
                <a:latin typeface="Century Gothic Paneuropean"/>
                <a:ea typeface="Century Gothic Paneuropean"/>
                <a:cs typeface="Century Gothic Paneuropean"/>
              </a:rPr>
              <a:t>Constructor Overloading: A class can have multiple parameterized constructors, as long as they have different parameter lists (different number of parameters, different types of parameters, or different order of parameter types). This concept is known as constructor overloading.</a:t>
            </a:r>
          </a:p>
        </p:txBody>
      </p:sp>
    </p:spTree>
    <p:extLst>
      <p:ext uri="{BB962C8B-B14F-4D97-AF65-F5344CB8AC3E}">
        <p14:creationId xmlns:p14="http://schemas.microsoft.com/office/powerpoint/2010/main" val="29557682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PARAMETRIZED CONSTRUCTOR</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3" y="2161699"/>
            <a:ext cx="7768722" cy="8494633"/>
          </a:xfrm>
          <a:prstGeom prst="rect">
            <a:avLst/>
          </a:prstGeom>
        </p:spPr>
        <p:txBody>
          <a:bodyPr wrap="square" lIns="0" tIns="0" rIns="0" bIns="0" rtlCol="0" anchor="t">
            <a:spAutoFit/>
          </a:bodyPr>
          <a:lstStyle/>
          <a:p>
            <a:r>
              <a:rPr lang="en-US" sz="2400" b="1" dirty="0" smtClean="0"/>
              <a:t> </a:t>
            </a:r>
            <a:r>
              <a:rPr lang="en-US" sz="2400" b="1" dirty="0">
                <a:solidFill>
                  <a:srgbClr val="7F0055"/>
                </a:solidFill>
                <a:latin typeface="Consolas"/>
              </a:rPr>
              <a:t>package</a:t>
            </a:r>
            <a:r>
              <a:rPr lang="en-US" sz="2400" dirty="0">
                <a:solidFill>
                  <a:srgbClr val="000000"/>
                </a:solidFill>
                <a:latin typeface="Consolas"/>
              </a:rPr>
              <a:t> </a:t>
            </a:r>
            <a:r>
              <a:rPr lang="en-US" sz="2400" dirty="0" err="1">
                <a:solidFill>
                  <a:srgbClr val="000000"/>
                </a:solidFill>
                <a:latin typeface="Consolas"/>
              </a:rPr>
              <a:t>basicsofjava</a:t>
            </a:r>
            <a:r>
              <a:rPr lang="en-US" sz="2400" dirty="0">
                <a:solidFill>
                  <a:srgbClr val="000000"/>
                </a:solidFill>
                <a:latin typeface="Consolas"/>
              </a:rPr>
              <a:t>;</a:t>
            </a:r>
          </a:p>
          <a:p>
            <a:r>
              <a:rPr lang="en-US" sz="2400" b="1" dirty="0">
                <a:solidFill>
                  <a:srgbClr val="7F0055"/>
                </a:solidFill>
                <a:latin typeface="Consolas"/>
              </a:rPr>
              <a:t>class</a:t>
            </a:r>
            <a:r>
              <a:rPr lang="en-US" sz="2400" dirty="0">
                <a:solidFill>
                  <a:srgbClr val="000000"/>
                </a:solidFill>
                <a:latin typeface="Consolas"/>
              </a:rPr>
              <a:t> Box{</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width</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height</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depth</a:t>
            </a:r>
            <a:r>
              <a:rPr lang="en-US" sz="2400" dirty="0">
                <a:solidFill>
                  <a:srgbClr val="000000"/>
                </a:solidFill>
                <a:latin typeface="Consolas"/>
              </a:rPr>
              <a:t>;</a:t>
            </a:r>
          </a:p>
          <a:p>
            <a:r>
              <a:rPr lang="en-US" sz="2400" b="1" dirty="0">
                <a:solidFill>
                  <a:srgbClr val="7F0055"/>
                </a:solidFill>
                <a:latin typeface="Consolas"/>
              </a:rPr>
              <a:t>double</a:t>
            </a:r>
            <a:r>
              <a:rPr lang="en-US" sz="2400" dirty="0">
                <a:solidFill>
                  <a:srgbClr val="000000"/>
                </a:solidFill>
                <a:latin typeface="Consolas"/>
              </a:rPr>
              <a:t> </a:t>
            </a:r>
            <a:r>
              <a:rPr lang="en-US" sz="2400" dirty="0">
                <a:solidFill>
                  <a:srgbClr val="0000C0"/>
                </a:solidFill>
                <a:latin typeface="Consolas"/>
              </a:rPr>
              <a:t>volume</a:t>
            </a:r>
            <a:r>
              <a:rPr lang="en-US" sz="2400" dirty="0">
                <a:solidFill>
                  <a:srgbClr val="000000"/>
                </a:solidFill>
                <a:latin typeface="Consolas"/>
              </a:rPr>
              <a:t>;</a:t>
            </a:r>
          </a:p>
          <a:p>
            <a:r>
              <a:rPr lang="en-US" sz="2400" b="1" dirty="0">
                <a:solidFill>
                  <a:srgbClr val="7F0055"/>
                </a:solidFill>
                <a:latin typeface="Consolas"/>
              </a:rPr>
              <a:t>void</a:t>
            </a:r>
            <a:r>
              <a:rPr lang="en-US" sz="2400" dirty="0">
                <a:solidFill>
                  <a:srgbClr val="000000"/>
                </a:solidFill>
                <a:latin typeface="Consolas"/>
              </a:rPr>
              <a:t> </a:t>
            </a:r>
            <a:r>
              <a:rPr lang="en-US" sz="2400" dirty="0" err="1">
                <a:solidFill>
                  <a:srgbClr val="000000"/>
                </a:solidFill>
                <a:latin typeface="Consolas"/>
              </a:rPr>
              <a:t>vol</a:t>
            </a:r>
            <a:r>
              <a:rPr lang="en-US" sz="2400" dirty="0">
                <a:solidFill>
                  <a:srgbClr val="000000"/>
                </a:solidFill>
                <a:latin typeface="Consolas"/>
              </a:rPr>
              <a:t>() {</a:t>
            </a:r>
          </a:p>
          <a:p>
            <a:r>
              <a:rPr lang="en-US" sz="2400" dirty="0">
                <a:solidFill>
                  <a:srgbClr val="0000C0"/>
                </a:solidFill>
                <a:latin typeface="Consolas"/>
              </a:rPr>
              <a:t>volume</a:t>
            </a:r>
            <a:r>
              <a:rPr lang="en-US" sz="2400" dirty="0">
                <a:solidFill>
                  <a:srgbClr val="000000"/>
                </a:solidFill>
                <a:latin typeface="Consolas"/>
              </a:rPr>
              <a:t> = </a:t>
            </a:r>
            <a:r>
              <a:rPr lang="en-US" sz="2400" dirty="0">
                <a:solidFill>
                  <a:srgbClr val="0000C0"/>
                </a:solidFill>
                <a:latin typeface="Consolas"/>
              </a:rPr>
              <a:t>width</a:t>
            </a:r>
            <a:r>
              <a:rPr lang="en-US" sz="2400" dirty="0">
                <a:solidFill>
                  <a:srgbClr val="000000"/>
                </a:solidFill>
                <a:latin typeface="Consolas"/>
              </a:rPr>
              <a:t>*</a:t>
            </a:r>
            <a:r>
              <a:rPr lang="en-US" sz="2400" dirty="0">
                <a:solidFill>
                  <a:srgbClr val="0000C0"/>
                </a:solidFill>
                <a:latin typeface="Consolas"/>
              </a:rPr>
              <a:t>height</a:t>
            </a:r>
            <a:r>
              <a:rPr lang="en-US" sz="2400" dirty="0">
                <a:solidFill>
                  <a:srgbClr val="000000"/>
                </a:solidFill>
                <a:latin typeface="Consolas"/>
              </a:rPr>
              <a:t>*</a:t>
            </a:r>
            <a:r>
              <a:rPr lang="en-US" sz="2400" dirty="0">
                <a:solidFill>
                  <a:srgbClr val="0000C0"/>
                </a:solidFill>
                <a:latin typeface="Consolas"/>
              </a:rPr>
              <a:t>depth</a:t>
            </a:r>
            <a:r>
              <a:rPr lang="en-US" sz="2400" dirty="0">
                <a:solidFill>
                  <a:srgbClr val="000000"/>
                </a:solidFill>
                <a:latin typeface="Consolas"/>
              </a:rPr>
              <a:t>;</a:t>
            </a:r>
          </a:p>
          <a:p>
            <a:r>
              <a:rPr lang="en-US" sz="2400" dirty="0" err="1">
                <a:solidFill>
                  <a:srgbClr val="000000"/>
                </a:solidFill>
                <a:latin typeface="Consolas"/>
              </a:rPr>
              <a:t>System.</a:t>
            </a:r>
            <a:r>
              <a:rPr lang="en-US" sz="2400" b="1" i="1" dirty="0" err="1">
                <a:solidFill>
                  <a:srgbClr val="0000C0"/>
                </a:solidFill>
                <a:latin typeface="Consolas"/>
              </a:rPr>
              <a:t>out</a:t>
            </a:r>
            <a:r>
              <a:rPr lang="en-US" sz="2400" dirty="0" err="1">
                <a:solidFill>
                  <a:srgbClr val="000000"/>
                </a:solidFill>
                <a:latin typeface="Consolas"/>
              </a:rPr>
              <a:t>.println</a:t>
            </a:r>
            <a:r>
              <a:rPr lang="en-US" sz="2400" dirty="0">
                <a:solidFill>
                  <a:srgbClr val="000000"/>
                </a:solidFill>
                <a:latin typeface="Consolas"/>
              </a:rPr>
              <a:t>(+</a:t>
            </a:r>
            <a:r>
              <a:rPr lang="en-US" sz="2400" dirty="0">
                <a:solidFill>
                  <a:srgbClr val="0000C0"/>
                </a:solidFill>
                <a:latin typeface="Consolas"/>
              </a:rPr>
              <a:t>volume</a:t>
            </a:r>
            <a:r>
              <a:rPr lang="en-US" sz="2400" dirty="0">
                <a:solidFill>
                  <a:srgbClr val="000000"/>
                </a:solidFill>
                <a:latin typeface="Consolas"/>
              </a:rPr>
              <a:t>);</a:t>
            </a:r>
          </a:p>
          <a:p>
            <a:r>
              <a:rPr lang="en-US" sz="2400" dirty="0">
                <a:solidFill>
                  <a:srgbClr val="000000"/>
                </a:solidFill>
                <a:latin typeface="Consolas"/>
              </a:rPr>
              <a:t>}</a:t>
            </a:r>
          </a:p>
          <a:p>
            <a:r>
              <a:rPr lang="en-US" sz="2400" dirty="0">
                <a:solidFill>
                  <a:srgbClr val="000000"/>
                </a:solidFill>
                <a:latin typeface="Consolas"/>
              </a:rPr>
              <a:t>Box(){</a:t>
            </a:r>
          </a:p>
          <a:p>
            <a:r>
              <a:rPr lang="en-US" sz="2400" dirty="0">
                <a:solidFill>
                  <a:srgbClr val="0000C0"/>
                </a:solidFill>
                <a:latin typeface="Consolas"/>
              </a:rPr>
              <a:t>width</a:t>
            </a:r>
            <a:r>
              <a:rPr lang="en-US" sz="2400" dirty="0">
                <a:solidFill>
                  <a:srgbClr val="000000"/>
                </a:solidFill>
                <a:latin typeface="Consolas"/>
              </a:rPr>
              <a:t> = 0;</a:t>
            </a:r>
          </a:p>
          <a:p>
            <a:r>
              <a:rPr lang="en-US" sz="2400" dirty="0">
                <a:solidFill>
                  <a:srgbClr val="0000C0"/>
                </a:solidFill>
                <a:latin typeface="Consolas"/>
              </a:rPr>
              <a:t>height</a:t>
            </a:r>
            <a:r>
              <a:rPr lang="en-US" sz="2400" dirty="0">
                <a:solidFill>
                  <a:srgbClr val="000000"/>
                </a:solidFill>
                <a:latin typeface="Consolas"/>
              </a:rPr>
              <a:t> = 0;</a:t>
            </a:r>
          </a:p>
          <a:p>
            <a:r>
              <a:rPr lang="en-US" sz="2400" dirty="0">
                <a:solidFill>
                  <a:srgbClr val="0000C0"/>
                </a:solidFill>
                <a:latin typeface="Consolas"/>
              </a:rPr>
              <a:t>depth</a:t>
            </a:r>
            <a:r>
              <a:rPr lang="en-US" sz="2400" dirty="0">
                <a:solidFill>
                  <a:srgbClr val="000000"/>
                </a:solidFill>
                <a:latin typeface="Consolas"/>
              </a:rPr>
              <a:t>=0;</a:t>
            </a:r>
          </a:p>
          <a:p>
            <a:r>
              <a:rPr lang="en-US" sz="2400" dirty="0">
                <a:solidFill>
                  <a:srgbClr val="000000"/>
                </a:solidFill>
                <a:latin typeface="Consolas"/>
              </a:rPr>
              <a:t>}</a:t>
            </a:r>
          </a:p>
          <a:p>
            <a:r>
              <a:rPr lang="en-US" sz="2400" dirty="0">
                <a:solidFill>
                  <a:srgbClr val="000000"/>
                </a:solidFill>
                <a:latin typeface="Consolas"/>
              </a:rPr>
              <a:t>Box(</a:t>
            </a:r>
            <a:r>
              <a:rPr lang="en-US" sz="2400" b="1" dirty="0">
                <a:solidFill>
                  <a:srgbClr val="7F0055"/>
                </a:solidFill>
                <a:latin typeface="Consolas"/>
              </a:rPr>
              <a:t>double</a:t>
            </a:r>
            <a:r>
              <a:rPr lang="en-US" sz="2400" dirty="0">
                <a:solidFill>
                  <a:srgbClr val="000000"/>
                </a:solidFill>
                <a:latin typeface="Consolas"/>
              </a:rPr>
              <a:t> </a:t>
            </a:r>
            <a:r>
              <a:rPr lang="en-US" sz="2400" dirty="0" err="1">
                <a:solidFill>
                  <a:srgbClr val="6A3E3E"/>
                </a:solidFill>
                <a:latin typeface="Consolas"/>
              </a:rPr>
              <a:t>w</a:t>
            </a:r>
            <a:r>
              <a:rPr lang="en-US" sz="2400" dirty="0" err="1">
                <a:solidFill>
                  <a:srgbClr val="000000"/>
                </a:solidFill>
                <a:latin typeface="Consolas"/>
              </a:rPr>
              <a:t>,</a:t>
            </a:r>
            <a:r>
              <a:rPr lang="en-US" sz="2400" b="1" dirty="0" err="1">
                <a:solidFill>
                  <a:srgbClr val="7F0055"/>
                </a:solidFill>
                <a:latin typeface="Consolas"/>
              </a:rPr>
              <a:t>double</a:t>
            </a:r>
            <a:r>
              <a:rPr lang="en-US" sz="2400" dirty="0">
                <a:solidFill>
                  <a:srgbClr val="000000"/>
                </a:solidFill>
                <a:latin typeface="Consolas"/>
              </a:rPr>
              <a:t> </a:t>
            </a:r>
            <a:r>
              <a:rPr lang="en-US" sz="2400" dirty="0" err="1">
                <a:solidFill>
                  <a:srgbClr val="6A3E3E"/>
                </a:solidFill>
                <a:latin typeface="Consolas"/>
              </a:rPr>
              <a:t>h</a:t>
            </a:r>
            <a:r>
              <a:rPr lang="en-US" sz="2400" dirty="0" err="1">
                <a:solidFill>
                  <a:srgbClr val="000000"/>
                </a:solidFill>
                <a:latin typeface="Consolas"/>
              </a:rPr>
              <a:t>,</a:t>
            </a:r>
            <a:r>
              <a:rPr lang="en-US" sz="2400" b="1" dirty="0" err="1">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a:t>
            </a:r>
            <a:r>
              <a:rPr lang="en-US" sz="2400" dirty="0">
                <a:solidFill>
                  <a:srgbClr val="000000"/>
                </a:solidFill>
                <a:latin typeface="Consolas"/>
              </a:rPr>
              <a:t>){</a:t>
            </a:r>
          </a:p>
          <a:p>
            <a:r>
              <a:rPr lang="en-US" sz="2400" dirty="0">
                <a:solidFill>
                  <a:srgbClr val="0000C0"/>
                </a:solidFill>
                <a:latin typeface="Consolas"/>
              </a:rPr>
              <a:t>width</a:t>
            </a:r>
            <a:r>
              <a:rPr lang="en-US" sz="2400" dirty="0">
                <a:solidFill>
                  <a:srgbClr val="000000"/>
                </a:solidFill>
                <a:latin typeface="Consolas"/>
              </a:rPr>
              <a:t>=</a:t>
            </a:r>
            <a:r>
              <a:rPr lang="en-US" sz="2400" dirty="0">
                <a:solidFill>
                  <a:srgbClr val="6A3E3E"/>
                </a:solidFill>
                <a:latin typeface="Consolas"/>
              </a:rPr>
              <a:t>w</a:t>
            </a:r>
            <a:r>
              <a:rPr lang="en-US" sz="2400" dirty="0">
                <a:solidFill>
                  <a:srgbClr val="000000"/>
                </a:solidFill>
                <a:latin typeface="Consolas"/>
              </a:rPr>
              <a:t>; </a:t>
            </a:r>
            <a:r>
              <a:rPr lang="en-US" sz="2400" dirty="0">
                <a:solidFill>
                  <a:srgbClr val="3F7F5F"/>
                </a:solidFill>
                <a:latin typeface="Consolas"/>
              </a:rPr>
              <a:t>//values assigned to parameters of parameterized constructor are assigned to instance variables</a:t>
            </a:r>
            <a:endParaRPr lang="en-US" sz="2400" dirty="0">
              <a:solidFill>
                <a:srgbClr val="000000"/>
              </a:solidFill>
              <a:latin typeface="Consolas"/>
            </a:endParaRPr>
          </a:p>
          <a:p>
            <a:r>
              <a:rPr lang="en-US" sz="2400" dirty="0">
                <a:solidFill>
                  <a:srgbClr val="0000C0"/>
                </a:solidFill>
                <a:latin typeface="Consolas"/>
              </a:rPr>
              <a:t>height</a:t>
            </a:r>
            <a:r>
              <a:rPr lang="en-US" sz="2400" dirty="0">
                <a:solidFill>
                  <a:srgbClr val="000000"/>
                </a:solidFill>
                <a:latin typeface="Consolas"/>
              </a:rPr>
              <a:t>=</a:t>
            </a:r>
            <a:r>
              <a:rPr lang="en-US" sz="2400" dirty="0">
                <a:solidFill>
                  <a:srgbClr val="6A3E3E"/>
                </a:solidFill>
                <a:latin typeface="Consolas"/>
              </a:rPr>
              <a:t>h</a:t>
            </a:r>
            <a:r>
              <a:rPr lang="en-US" sz="2400" dirty="0">
                <a:solidFill>
                  <a:srgbClr val="000000"/>
                </a:solidFill>
                <a:latin typeface="Consolas"/>
              </a:rPr>
              <a:t>;</a:t>
            </a:r>
          </a:p>
          <a:p>
            <a:r>
              <a:rPr lang="en-US" sz="2400" dirty="0">
                <a:solidFill>
                  <a:srgbClr val="0000C0"/>
                </a:solidFill>
                <a:latin typeface="Consolas"/>
              </a:rPr>
              <a:t>depth</a:t>
            </a:r>
            <a:r>
              <a:rPr lang="en-US" sz="2400" dirty="0">
                <a:solidFill>
                  <a:srgbClr val="000000"/>
                </a:solidFill>
                <a:latin typeface="Consolas"/>
              </a:rPr>
              <a:t>=</a:t>
            </a:r>
            <a:r>
              <a:rPr lang="en-US" sz="2400" dirty="0">
                <a:solidFill>
                  <a:srgbClr val="6A3E3E"/>
                </a:solidFill>
                <a:latin typeface="Consolas"/>
              </a:rPr>
              <a:t>d</a:t>
            </a:r>
            <a:r>
              <a:rPr lang="en-US" sz="2400" dirty="0">
                <a:solidFill>
                  <a:srgbClr val="000000"/>
                </a:solidFill>
                <a:latin typeface="Consolas"/>
              </a:rPr>
              <a:t>;</a:t>
            </a:r>
          </a:p>
          <a:p>
            <a:r>
              <a:rPr lang="en-US" sz="2400" dirty="0" smtClean="0">
                <a:solidFill>
                  <a:srgbClr val="000000"/>
                </a:solidFill>
                <a:latin typeface="Consolas"/>
              </a:rPr>
              <a:t>}} </a:t>
            </a:r>
            <a:endParaRPr lang="en-US" sz="2400" dirty="0">
              <a:solidFill>
                <a:srgbClr val="000000"/>
              </a:solidFill>
              <a:latin typeface="Consolas"/>
            </a:endParaRPr>
          </a:p>
          <a:p>
            <a:endParaRPr lang="en-US" sz="2400" dirty="0"/>
          </a:p>
        </p:txBody>
      </p:sp>
      <p:sp>
        <p:nvSpPr>
          <p:cNvPr id="11" name="TextBox 10"/>
          <p:cNvSpPr txBox="1"/>
          <p:nvPr/>
        </p:nvSpPr>
        <p:spPr>
          <a:xfrm>
            <a:off x="8783235" y="2168995"/>
            <a:ext cx="9276165" cy="5262979"/>
          </a:xfrm>
          <a:prstGeom prst="rect">
            <a:avLst/>
          </a:prstGeom>
          <a:noFill/>
        </p:spPr>
        <p:txBody>
          <a:bodyPr wrap="square" rtlCol="0">
            <a:spAutoFit/>
          </a:bodyPr>
          <a:lstStyle/>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BoxDemo</a:t>
            </a:r>
            <a:r>
              <a:rPr lang="en-US" sz="2400" dirty="0">
                <a:solidFill>
                  <a:srgbClr val="000000"/>
                </a:solidFill>
                <a:latin typeface="Consolas"/>
              </a:rPr>
              <a:t> {</a:t>
            </a:r>
          </a:p>
          <a:p>
            <a:r>
              <a:rPr lang="en-US" sz="2400" b="1" dirty="0">
                <a:solidFill>
                  <a:srgbClr val="7F0055"/>
                </a:solidFill>
                <a:latin typeface="Consolas"/>
              </a:rPr>
              <a:t>public</a:t>
            </a:r>
            <a:r>
              <a:rPr lang="en-US" sz="2400" dirty="0">
                <a:solidFill>
                  <a:srgbClr val="000000"/>
                </a:solidFill>
                <a:latin typeface="Consolas"/>
              </a:rPr>
              <a:t> </a:t>
            </a:r>
            <a:r>
              <a:rPr lang="en-US" sz="2400" b="1" dirty="0">
                <a:solidFill>
                  <a:srgbClr val="7F0055"/>
                </a:solidFill>
                <a:latin typeface="Consolas"/>
              </a:rPr>
              <a:t>static</a:t>
            </a:r>
            <a:r>
              <a:rPr lang="en-US" sz="2400" dirty="0">
                <a:solidFill>
                  <a:srgbClr val="000000"/>
                </a:solidFill>
                <a:latin typeface="Consolas"/>
              </a:rPr>
              <a:t> </a:t>
            </a:r>
            <a:r>
              <a:rPr lang="en-US" sz="2400" b="1" dirty="0">
                <a:solidFill>
                  <a:srgbClr val="7F0055"/>
                </a:solidFill>
                <a:latin typeface="Consolas"/>
              </a:rPr>
              <a:t>void</a:t>
            </a:r>
            <a:r>
              <a:rPr lang="en-US" sz="2400" dirty="0">
                <a:solidFill>
                  <a:srgbClr val="000000"/>
                </a:solidFill>
                <a:latin typeface="Consolas"/>
              </a:rPr>
              <a:t> main(String[] </a:t>
            </a:r>
            <a:r>
              <a:rPr lang="en-US" sz="2400" dirty="0" err="1">
                <a:solidFill>
                  <a:srgbClr val="6A3E3E"/>
                </a:solidFill>
                <a:latin typeface="Consolas"/>
              </a:rPr>
              <a:t>args</a:t>
            </a:r>
            <a:r>
              <a:rPr lang="en-US" sz="2400" dirty="0">
                <a:solidFill>
                  <a:srgbClr val="000000"/>
                </a:solidFill>
                <a:latin typeface="Consolas"/>
              </a:rPr>
              <a:t>) {</a:t>
            </a:r>
          </a:p>
          <a:p>
            <a:r>
              <a:rPr lang="en-US" sz="2400" dirty="0">
                <a:solidFill>
                  <a:srgbClr val="000000"/>
                </a:solidFill>
                <a:latin typeface="Consolas"/>
              </a:rPr>
              <a:t>Box </a:t>
            </a:r>
            <a:r>
              <a:rPr lang="en-US" sz="2400" dirty="0" err="1">
                <a:solidFill>
                  <a:srgbClr val="6A3E3E"/>
                </a:solidFill>
                <a:latin typeface="Consolas"/>
              </a:rPr>
              <a:t>mybox</a:t>
            </a:r>
            <a:r>
              <a:rPr lang="en-US" sz="2400" dirty="0">
                <a:solidFill>
                  <a:srgbClr val="000000"/>
                </a:solidFill>
                <a:latin typeface="Consolas"/>
              </a:rPr>
              <a:t> =</a:t>
            </a:r>
            <a:r>
              <a:rPr lang="en-US" sz="2400" b="1" dirty="0">
                <a:solidFill>
                  <a:srgbClr val="7F0055"/>
                </a:solidFill>
                <a:latin typeface="Consolas"/>
              </a:rPr>
              <a:t>new</a:t>
            </a:r>
            <a:r>
              <a:rPr lang="en-US" sz="2400" dirty="0">
                <a:solidFill>
                  <a:srgbClr val="000000"/>
                </a:solidFill>
                <a:latin typeface="Consolas"/>
              </a:rPr>
              <a:t> Box();</a:t>
            </a:r>
          </a:p>
          <a:p>
            <a:r>
              <a:rPr lang="en-US" sz="2400" dirty="0" err="1">
                <a:solidFill>
                  <a:srgbClr val="6A3E3E"/>
                </a:solidFill>
                <a:latin typeface="Consolas"/>
              </a:rPr>
              <a:t>mybox</a:t>
            </a:r>
            <a:r>
              <a:rPr lang="en-US" sz="2400" dirty="0" err="1">
                <a:solidFill>
                  <a:srgbClr val="000000"/>
                </a:solidFill>
                <a:latin typeface="Consolas"/>
              </a:rPr>
              <a:t>.</a:t>
            </a:r>
            <a:r>
              <a:rPr lang="en-US" sz="2400" dirty="0" err="1">
                <a:solidFill>
                  <a:srgbClr val="0000C0"/>
                </a:solidFill>
                <a:latin typeface="Consolas"/>
              </a:rPr>
              <a:t>width</a:t>
            </a:r>
            <a:r>
              <a:rPr lang="en-US" sz="2400" dirty="0">
                <a:solidFill>
                  <a:srgbClr val="000000"/>
                </a:solidFill>
                <a:latin typeface="Consolas"/>
              </a:rPr>
              <a:t>=34;</a:t>
            </a:r>
          </a:p>
          <a:p>
            <a:r>
              <a:rPr lang="en-US" sz="2400" dirty="0" err="1">
                <a:solidFill>
                  <a:srgbClr val="6A3E3E"/>
                </a:solidFill>
                <a:latin typeface="Consolas"/>
              </a:rPr>
              <a:t>mybox</a:t>
            </a:r>
            <a:r>
              <a:rPr lang="en-US" sz="2400" dirty="0" err="1">
                <a:solidFill>
                  <a:srgbClr val="000000"/>
                </a:solidFill>
                <a:latin typeface="Consolas"/>
              </a:rPr>
              <a:t>.</a:t>
            </a:r>
            <a:r>
              <a:rPr lang="en-US" sz="2400" dirty="0" err="1">
                <a:solidFill>
                  <a:srgbClr val="0000C0"/>
                </a:solidFill>
                <a:latin typeface="Consolas"/>
              </a:rPr>
              <a:t>depth</a:t>
            </a:r>
            <a:r>
              <a:rPr lang="en-US" sz="2400" dirty="0">
                <a:solidFill>
                  <a:srgbClr val="000000"/>
                </a:solidFill>
                <a:latin typeface="Consolas"/>
              </a:rPr>
              <a:t>=54;</a:t>
            </a:r>
          </a:p>
          <a:p>
            <a:r>
              <a:rPr lang="en-US" sz="2400" dirty="0" err="1">
                <a:solidFill>
                  <a:srgbClr val="6A3E3E"/>
                </a:solidFill>
                <a:latin typeface="Consolas"/>
              </a:rPr>
              <a:t>mybox</a:t>
            </a:r>
            <a:r>
              <a:rPr lang="en-US" sz="2400" dirty="0" err="1">
                <a:solidFill>
                  <a:srgbClr val="000000"/>
                </a:solidFill>
                <a:latin typeface="Consolas"/>
              </a:rPr>
              <a:t>.</a:t>
            </a:r>
            <a:r>
              <a:rPr lang="en-US" sz="2400" dirty="0" err="1">
                <a:solidFill>
                  <a:srgbClr val="0000C0"/>
                </a:solidFill>
                <a:latin typeface="Consolas"/>
              </a:rPr>
              <a:t>height</a:t>
            </a:r>
            <a:r>
              <a:rPr lang="en-US" sz="2400" dirty="0">
                <a:solidFill>
                  <a:srgbClr val="000000"/>
                </a:solidFill>
                <a:latin typeface="Consolas"/>
              </a:rPr>
              <a:t>=64; </a:t>
            </a:r>
            <a:r>
              <a:rPr lang="en-US" sz="2400" dirty="0">
                <a:solidFill>
                  <a:srgbClr val="3F7F5F"/>
                </a:solidFill>
                <a:latin typeface="Consolas"/>
              </a:rPr>
              <a:t>//No constructor called</a:t>
            </a:r>
            <a:endParaRPr lang="en-US" sz="2400" dirty="0">
              <a:solidFill>
                <a:srgbClr val="000000"/>
              </a:solidFill>
              <a:latin typeface="Consolas"/>
            </a:endParaRPr>
          </a:p>
          <a:p>
            <a:r>
              <a:rPr lang="en-US" sz="2400" dirty="0" err="1">
                <a:solidFill>
                  <a:srgbClr val="6A3E3E"/>
                </a:solidFill>
                <a:latin typeface="Consolas"/>
              </a:rPr>
              <a:t>mybox</a:t>
            </a:r>
            <a:r>
              <a:rPr lang="en-US" sz="2400" dirty="0" err="1">
                <a:solidFill>
                  <a:srgbClr val="000000"/>
                </a:solidFill>
                <a:latin typeface="Consolas"/>
              </a:rPr>
              <a:t>.vol</a:t>
            </a:r>
            <a:r>
              <a:rPr lang="en-US" sz="2400" dirty="0">
                <a:solidFill>
                  <a:srgbClr val="000000"/>
                </a:solidFill>
                <a:latin typeface="Consolas"/>
              </a:rPr>
              <a:t>();</a:t>
            </a:r>
          </a:p>
          <a:p>
            <a:r>
              <a:rPr lang="en-US" sz="2400" dirty="0">
                <a:solidFill>
                  <a:srgbClr val="000000"/>
                </a:solidFill>
                <a:latin typeface="Consolas"/>
              </a:rPr>
              <a:t>Box </a:t>
            </a:r>
            <a:r>
              <a:rPr lang="en-US" sz="2400" dirty="0" err="1">
                <a:solidFill>
                  <a:srgbClr val="6A3E3E"/>
                </a:solidFill>
                <a:latin typeface="Consolas"/>
              </a:rPr>
              <a:t>mybox2</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Box(); </a:t>
            </a:r>
            <a:r>
              <a:rPr lang="en-US" sz="2400" dirty="0">
                <a:solidFill>
                  <a:srgbClr val="3F7F5F"/>
                </a:solidFill>
                <a:latin typeface="Consolas"/>
              </a:rPr>
              <a:t>//Default constructor</a:t>
            </a:r>
            <a:endParaRPr lang="en-US" sz="2400" dirty="0">
              <a:solidFill>
                <a:srgbClr val="000000"/>
              </a:solidFill>
              <a:latin typeface="Consolas"/>
            </a:endParaRPr>
          </a:p>
          <a:p>
            <a:r>
              <a:rPr lang="en-US" sz="2400" dirty="0" err="1">
                <a:solidFill>
                  <a:srgbClr val="6A3E3E"/>
                </a:solidFill>
                <a:latin typeface="Consolas"/>
              </a:rPr>
              <a:t>mybox2</a:t>
            </a:r>
            <a:r>
              <a:rPr lang="en-US" sz="2400" dirty="0" err="1">
                <a:solidFill>
                  <a:srgbClr val="000000"/>
                </a:solidFill>
                <a:latin typeface="Consolas"/>
              </a:rPr>
              <a:t>.vol</a:t>
            </a:r>
            <a:r>
              <a:rPr lang="en-US" sz="2400" dirty="0">
                <a:solidFill>
                  <a:srgbClr val="000000"/>
                </a:solidFill>
                <a:latin typeface="Consolas"/>
              </a:rPr>
              <a:t>();</a:t>
            </a:r>
          </a:p>
          <a:p>
            <a:r>
              <a:rPr lang="en-US" sz="2400" dirty="0">
                <a:solidFill>
                  <a:srgbClr val="000000"/>
                </a:solidFill>
                <a:latin typeface="Consolas"/>
              </a:rPr>
              <a:t>Box </a:t>
            </a:r>
            <a:r>
              <a:rPr lang="en-US" sz="2400" dirty="0" err="1">
                <a:solidFill>
                  <a:srgbClr val="6A3E3E"/>
                </a:solidFill>
                <a:latin typeface="Consolas"/>
              </a:rPr>
              <a:t>mybox3</a:t>
            </a:r>
            <a:r>
              <a:rPr lang="en-US" sz="2400" dirty="0">
                <a:solidFill>
                  <a:srgbClr val="000000"/>
                </a:solidFill>
                <a:latin typeface="Consolas"/>
              </a:rPr>
              <a:t> = </a:t>
            </a:r>
            <a:r>
              <a:rPr lang="en-US" sz="2400" b="1" dirty="0">
                <a:solidFill>
                  <a:srgbClr val="7F0055"/>
                </a:solidFill>
                <a:latin typeface="Consolas"/>
              </a:rPr>
              <a:t>new</a:t>
            </a:r>
            <a:r>
              <a:rPr lang="en-US" sz="2400" dirty="0">
                <a:solidFill>
                  <a:srgbClr val="000000"/>
                </a:solidFill>
                <a:latin typeface="Consolas"/>
              </a:rPr>
              <a:t> Box(20,50,70); </a:t>
            </a:r>
            <a:r>
              <a:rPr lang="en-US" sz="2400" dirty="0">
                <a:solidFill>
                  <a:srgbClr val="3F7F5F"/>
                </a:solidFill>
                <a:latin typeface="Consolas"/>
              </a:rPr>
              <a:t>//Parameterized constructor</a:t>
            </a:r>
            <a:endParaRPr lang="en-US" sz="2400" dirty="0">
              <a:solidFill>
                <a:srgbClr val="000000"/>
              </a:solidFill>
              <a:latin typeface="Consolas"/>
            </a:endParaRPr>
          </a:p>
          <a:p>
            <a:r>
              <a:rPr lang="en-US" sz="2400" dirty="0" err="1">
                <a:solidFill>
                  <a:srgbClr val="6A3E3E"/>
                </a:solidFill>
                <a:latin typeface="Consolas"/>
              </a:rPr>
              <a:t>mybox3</a:t>
            </a:r>
            <a:r>
              <a:rPr lang="en-US" sz="2400" dirty="0" err="1">
                <a:solidFill>
                  <a:srgbClr val="000000"/>
                </a:solidFill>
                <a:latin typeface="Consolas"/>
              </a:rPr>
              <a:t>.vol</a:t>
            </a:r>
            <a:r>
              <a:rPr lang="en-US" sz="2400" dirty="0">
                <a:solidFill>
                  <a:srgbClr val="000000"/>
                </a:solidFill>
                <a:latin typeface="Consolas"/>
              </a:rPr>
              <a:t>();</a:t>
            </a:r>
          </a:p>
          <a:p>
            <a:r>
              <a:rPr lang="en-US" sz="2400" dirty="0">
                <a:solidFill>
                  <a:srgbClr val="000000"/>
                </a:solidFill>
                <a:latin typeface="Consolas"/>
              </a:rPr>
              <a:t>}</a:t>
            </a:r>
          </a:p>
          <a:p>
            <a:r>
              <a:rPr lang="en-US" sz="2400" dirty="0">
                <a:solidFill>
                  <a:srgbClr val="000000"/>
                </a:solidFill>
                <a:latin typeface="Consolas"/>
              </a:rPr>
              <a:t>}</a:t>
            </a:r>
            <a:endParaRPr lang="en-US" sz="2400" dirty="0">
              <a:solidFill>
                <a:srgbClr val="000000"/>
              </a:solidFill>
              <a:effectLst/>
              <a:latin typeface="Consolas"/>
            </a:endParaRPr>
          </a:p>
        </p:txBody>
      </p:sp>
    </p:spTree>
    <p:extLst>
      <p:ext uri="{BB962C8B-B14F-4D97-AF65-F5344CB8AC3E}">
        <p14:creationId xmlns:p14="http://schemas.microsoft.com/office/powerpoint/2010/main" val="30615226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COPY </a:t>
            </a:r>
            <a:r>
              <a:rPr lang="en-US" sz="6000" b="1" dirty="0" smtClean="0">
                <a:solidFill>
                  <a:srgbClr val="000000"/>
                </a:solidFill>
                <a:latin typeface="Century Gothic Paneuropean Bold"/>
                <a:ea typeface="Century Gothic Paneuropean Bold"/>
                <a:cs typeface="Century Gothic Paneuropean Bold"/>
                <a:sym typeface="Century Gothic Paneuropean Bold"/>
              </a:rPr>
              <a:t>CONSTRUCTOR</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8125301"/>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smtClean="0">
                <a:solidFill>
                  <a:srgbClr val="000000"/>
                </a:solidFill>
                <a:latin typeface="Century Gothic Paneuropean"/>
                <a:ea typeface="Century Gothic Paneuropean"/>
                <a:cs typeface="Century Gothic Paneuropean"/>
              </a:rPr>
              <a:t>A copy constructor </a:t>
            </a:r>
            <a:r>
              <a:rPr lang="en-US" sz="2400" dirty="0">
                <a:solidFill>
                  <a:srgbClr val="000000"/>
                </a:solidFill>
                <a:latin typeface="Century Gothic Paneuropean"/>
                <a:ea typeface="Century Gothic Paneuropean"/>
                <a:cs typeface="Century Gothic Paneuropean"/>
              </a:rPr>
              <a:t>is a constructor that creates a </a:t>
            </a:r>
            <a:r>
              <a:rPr lang="en-US" sz="2400" dirty="0" smtClean="0">
                <a:solidFill>
                  <a:srgbClr val="000000"/>
                </a:solidFill>
                <a:latin typeface="Century Gothic Paneuropean"/>
                <a:ea typeface="Century Gothic Paneuropean"/>
                <a:cs typeface="Century Gothic Paneuropean"/>
              </a:rPr>
              <a:t>new </a:t>
            </a:r>
            <a:r>
              <a:rPr lang="en-US" sz="2400" dirty="0">
                <a:solidFill>
                  <a:srgbClr val="000000"/>
                </a:solidFill>
                <a:latin typeface="Century Gothic Paneuropean"/>
                <a:ea typeface="Century Gothic Paneuropean"/>
                <a:cs typeface="Century Gothic Paneuropean"/>
              </a:rPr>
              <a:t>object by copying the values of another object of the same </a:t>
            </a:r>
            <a:r>
              <a:rPr lang="en-US" sz="2400" dirty="0" smtClean="0">
                <a:solidFill>
                  <a:srgbClr val="000000"/>
                </a:solidFill>
                <a:latin typeface="Century Gothic Paneuropean"/>
                <a:ea typeface="Century Gothic Paneuropean"/>
                <a:cs typeface="Century Gothic Paneuropean"/>
              </a:rPr>
              <a:t>class.</a:t>
            </a:r>
          </a:p>
          <a:p>
            <a:pPr marL="342900" indent="-342900">
              <a:buFont typeface="Arial" panose="020B0604020202020204" pitchFamily="34" charset="0"/>
              <a:buChar char="•"/>
            </a:pPr>
            <a:r>
              <a:rPr lang="en-US" sz="2400" dirty="0" smtClean="0">
                <a:solidFill>
                  <a:srgbClr val="000000"/>
                </a:solidFill>
                <a:latin typeface="Century Gothic Paneuropean"/>
                <a:ea typeface="Century Gothic Paneuropean"/>
                <a:cs typeface="Century Gothic Paneuropean"/>
              </a:rPr>
              <a:t>Unlike </a:t>
            </a:r>
            <a:r>
              <a:rPr lang="en-US" sz="2400" dirty="0">
                <a:solidFill>
                  <a:srgbClr val="000000"/>
                </a:solidFill>
                <a:latin typeface="Century Gothic Paneuropean"/>
                <a:ea typeface="Century Gothic Paneuropean"/>
                <a:cs typeface="Century Gothic Paneuropean"/>
              </a:rPr>
              <a:t>languages such as C++, </a:t>
            </a:r>
            <a:r>
              <a:rPr lang="en-US" sz="2400" dirty="0" smtClean="0">
                <a:solidFill>
                  <a:srgbClr val="000000"/>
                </a:solidFill>
                <a:latin typeface="Century Gothic Paneuropean"/>
                <a:ea typeface="Century Gothic Paneuropean"/>
                <a:cs typeface="Century Gothic Paneuropean"/>
              </a:rPr>
              <a:t>Java </a:t>
            </a:r>
            <a:r>
              <a:rPr lang="en-US" sz="2400" dirty="0">
                <a:solidFill>
                  <a:srgbClr val="000000"/>
                </a:solidFill>
                <a:latin typeface="Century Gothic Paneuropean"/>
                <a:ea typeface="Century Gothic Paneuropean"/>
                <a:cs typeface="Century Gothic Paneuropean"/>
              </a:rPr>
              <a:t>does not provide a built-in copy </a:t>
            </a:r>
            <a:r>
              <a:rPr lang="en-US" sz="2400" dirty="0" smtClean="0">
                <a:solidFill>
                  <a:srgbClr val="000000"/>
                </a:solidFill>
                <a:latin typeface="Century Gothic Paneuropean"/>
                <a:ea typeface="Century Gothic Paneuropean"/>
                <a:cs typeface="Century Gothic Paneuropean"/>
              </a:rPr>
              <a:t>constructor</a:t>
            </a:r>
            <a:r>
              <a:rPr lang="en-US" sz="2400" dirty="0">
                <a:solidFill>
                  <a:srgbClr val="000000"/>
                </a:solidFill>
                <a:latin typeface="Century Gothic Paneuropean"/>
                <a:ea typeface="Century Gothic Paneuropean"/>
                <a:cs typeface="Century Gothic Paneuropean"/>
              </a:rPr>
              <a:t>,</a:t>
            </a:r>
            <a:r>
              <a:rPr lang="en-US" sz="2400" dirty="0" smtClean="0">
                <a:solidFill>
                  <a:srgbClr val="000000"/>
                </a:solidFill>
                <a:latin typeface="Century Gothic Paneuropean"/>
                <a:ea typeface="Century Gothic Paneuropean"/>
                <a:cs typeface="Century Gothic Paneuropean"/>
              </a:rPr>
              <a:t> </a:t>
            </a:r>
            <a:r>
              <a:rPr lang="en-US" sz="2400" dirty="0">
                <a:solidFill>
                  <a:srgbClr val="000000"/>
                </a:solidFill>
                <a:latin typeface="Century Gothic Paneuropean"/>
                <a:ea typeface="Century Gothic Paneuropean"/>
                <a:cs typeface="Century Gothic Paneuropean"/>
              </a:rPr>
              <a:t>but we can </a:t>
            </a:r>
            <a:r>
              <a:rPr lang="en-US" sz="2400" dirty="0" smtClean="0">
                <a:solidFill>
                  <a:srgbClr val="000000"/>
                </a:solidFill>
                <a:latin typeface="Century Gothic Paneuropean"/>
                <a:ea typeface="Century Gothic Paneuropean"/>
                <a:cs typeface="Century Gothic Paneuropean"/>
              </a:rPr>
              <a:t>create </a:t>
            </a:r>
            <a:r>
              <a:rPr lang="en-US" sz="2400" dirty="0">
                <a:solidFill>
                  <a:srgbClr val="000000"/>
                </a:solidFill>
                <a:latin typeface="Century Gothic Paneuropean"/>
                <a:ea typeface="Century Gothic Paneuropean"/>
                <a:cs typeface="Century Gothic Paneuropean"/>
              </a:rPr>
              <a:t>one </a:t>
            </a:r>
            <a:r>
              <a:rPr lang="en-US" sz="2400" dirty="0" smtClean="0">
                <a:solidFill>
                  <a:srgbClr val="000000"/>
                </a:solidFill>
                <a:latin typeface="Century Gothic Paneuropean"/>
                <a:ea typeface="Century Gothic Paneuropean"/>
                <a:cs typeface="Century Gothic Paneuropean"/>
              </a:rPr>
              <a:t>manually.</a:t>
            </a:r>
            <a:endParaRPr lang="en-US" sz="2400" dirty="0">
              <a:solidFill>
                <a:srgbClr val="000000"/>
              </a:solidFill>
              <a:latin typeface="Century Gothic Paneuropean"/>
              <a:ea typeface="Century Gothic Paneuropean"/>
              <a:cs typeface="Century Gothic Paneuropean"/>
            </a:endParaRPr>
          </a:p>
          <a:p>
            <a:pPr marL="457200" indent="-457200">
              <a:buFont typeface="Arial" panose="020B0604020202020204" pitchFamily="34" charset="0"/>
              <a:buChar char="•"/>
            </a:pPr>
            <a:r>
              <a:rPr lang="en-US" sz="2400" dirty="0">
                <a:solidFill>
                  <a:srgbClr val="000000"/>
                </a:solidFill>
                <a:latin typeface="Century Gothic Paneuropean"/>
                <a:ea typeface="Century Gothic Paneuropean"/>
                <a:cs typeface="Century Gothic Paneuropean"/>
              </a:rPr>
              <a:t>A </a:t>
            </a:r>
            <a:r>
              <a:rPr lang="en-US" sz="2400" dirty="0" smtClean="0">
                <a:solidFill>
                  <a:srgbClr val="000000"/>
                </a:solidFill>
                <a:latin typeface="Century Gothic Paneuropean"/>
                <a:ea typeface="Century Gothic Paneuropean"/>
                <a:cs typeface="Century Gothic Paneuropean"/>
              </a:rPr>
              <a:t>copy constructor </a:t>
            </a:r>
            <a:r>
              <a:rPr lang="en-US" sz="2400" dirty="0">
                <a:solidFill>
                  <a:srgbClr val="000000"/>
                </a:solidFill>
                <a:latin typeface="Century Gothic Paneuropean"/>
                <a:ea typeface="Century Gothic Paneuropean"/>
                <a:cs typeface="Century Gothic Paneuropean"/>
              </a:rPr>
              <a:t>takes </a:t>
            </a:r>
            <a:r>
              <a:rPr lang="en-US" sz="2400" dirty="0" smtClean="0">
                <a:solidFill>
                  <a:srgbClr val="000000"/>
                </a:solidFill>
                <a:latin typeface="Century Gothic Paneuropean"/>
                <a:ea typeface="Century Gothic Paneuropean"/>
                <a:cs typeface="Century Gothic Paneuropean"/>
              </a:rPr>
              <a:t>another </a:t>
            </a:r>
            <a:r>
              <a:rPr lang="en-US" sz="2400" dirty="0">
                <a:solidFill>
                  <a:srgbClr val="000000"/>
                </a:solidFill>
                <a:latin typeface="Century Gothic Paneuropean"/>
                <a:ea typeface="Century Gothic Paneuropean"/>
                <a:cs typeface="Century Gothic Paneuropean"/>
              </a:rPr>
              <a:t>object of the same class as a </a:t>
            </a:r>
            <a:r>
              <a:rPr lang="en-US" sz="2400" dirty="0" smtClean="0">
                <a:solidFill>
                  <a:srgbClr val="000000"/>
                </a:solidFill>
                <a:latin typeface="Century Gothic Paneuropean"/>
                <a:ea typeface="Century Gothic Paneuropean"/>
                <a:cs typeface="Century Gothic Paneuropean"/>
              </a:rPr>
              <a:t>parameter and </a:t>
            </a:r>
            <a:r>
              <a:rPr lang="en-US" sz="2400" dirty="0">
                <a:solidFill>
                  <a:srgbClr val="000000"/>
                </a:solidFill>
                <a:latin typeface="Century Gothic Paneuropean"/>
                <a:ea typeface="Century Gothic Paneuropean"/>
                <a:cs typeface="Century Gothic Paneuropean"/>
              </a:rPr>
              <a:t>copies its data members</a:t>
            </a:r>
            <a:r>
              <a:rPr lang="en-US" sz="2400" dirty="0" smtClean="0">
                <a:solidFill>
                  <a:srgbClr val="000000"/>
                </a:solidFill>
                <a:latin typeface="Century Gothic Paneuropean"/>
                <a:ea typeface="Century Gothic Paneuropean"/>
                <a:cs typeface="Century Gothic Paneuropean"/>
              </a:rPr>
              <a:t>.</a:t>
            </a:r>
          </a:p>
          <a:p>
            <a:pPr marL="457200" indent="-457200">
              <a:buFont typeface="Arial" panose="020B0604020202020204" pitchFamily="34" charset="0"/>
              <a:buChar char="•"/>
            </a:pPr>
            <a:r>
              <a:rPr lang="en-US" sz="2400" dirty="0" smtClean="0">
                <a:solidFill>
                  <a:srgbClr val="000000"/>
                </a:solidFill>
                <a:latin typeface="Century Gothic Paneuropean"/>
                <a:ea typeface="Century Gothic Paneuropean"/>
                <a:cs typeface="Century Gothic Paneuropean"/>
              </a:rPr>
              <a:t>Syntax</a:t>
            </a:r>
            <a:endParaRPr lang="en-US" sz="2400" dirty="0">
              <a:solidFill>
                <a:srgbClr val="000000"/>
              </a:solidFill>
              <a:latin typeface="Century Gothic Paneuropean"/>
              <a:ea typeface="Century Gothic Paneuropean"/>
              <a:cs typeface="Century Gothic Paneuropean"/>
            </a:endParaRPr>
          </a:p>
          <a:p>
            <a:pPr lvl="2"/>
            <a:r>
              <a:rPr lang="en-US" sz="2400" dirty="0" err="1">
                <a:solidFill>
                  <a:srgbClr val="000000"/>
                </a:solidFill>
                <a:latin typeface="Century Gothic Paneuropean"/>
                <a:ea typeface="Century Gothic Paneuropean"/>
                <a:cs typeface="Century Gothic Paneuropean"/>
              </a:rPr>
              <a:t>ClassName</a:t>
            </a:r>
            <a:r>
              <a:rPr lang="en-US" sz="2400" dirty="0">
                <a:solidFill>
                  <a:srgbClr val="000000"/>
                </a:solidFill>
                <a:latin typeface="Century Gothic Paneuropean"/>
                <a:ea typeface="Century Gothic Paneuropean"/>
                <a:cs typeface="Century Gothic Paneuropean"/>
              </a:rPr>
              <a:t>(</a:t>
            </a:r>
            <a:r>
              <a:rPr lang="en-US" sz="2400" dirty="0" err="1">
                <a:solidFill>
                  <a:srgbClr val="000000"/>
                </a:solidFill>
                <a:latin typeface="Century Gothic Paneuropean"/>
                <a:ea typeface="Century Gothic Paneuropean"/>
                <a:cs typeface="Century Gothic Paneuropean"/>
              </a:rPr>
              <a:t>ClassName</a:t>
            </a:r>
            <a:r>
              <a:rPr lang="en-US" sz="2400" dirty="0">
                <a:solidFill>
                  <a:srgbClr val="000000"/>
                </a:solidFill>
                <a:latin typeface="Century Gothic Paneuropean"/>
                <a:ea typeface="Century Gothic Paneuropean"/>
                <a:cs typeface="Century Gothic Paneuropean"/>
              </a:rPr>
              <a:t> </a:t>
            </a:r>
            <a:r>
              <a:rPr lang="en-US" sz="2400" dirty="0" err="1">
                <a:solidFill>
                  <a:srgbClr val="000000"/>
                </a:solidFill>
                <a:latin typeface="Century Gothic Paneuropean"/>
                <a:ea typeface="Century Gothic Paneuropean"/>
                <a:cs typeface="Century Gothic Paneuropean"/>
              </a:rPr>
              <a:t>obj</a:t>
            </a:r>
            <a:r>
              <a:rPr lang="en-US" sz="2400" dirty="0">
                <a:solidFill>
                  <a:srgbClr val="000000"/>
                </a:solidFill>
                <a:latin typeface="Century Gothic Paneuropean"/>
                <a:ea typeface="Century Gothic Paneuropean"/>
                <a:cs typeface="Century Gothic Paneuropean"/>
              </a:rPr>
              <a:t>)</a:t>
            </a:r>
          </a:p>
          <a:p>
            <a:pPr lvl="2"/>
            <a:r>
              <a:rPr lang="en-US" sz="2400" dirty="0">
                <a:solidFill>
                  <a:srgbClr val="000000"/>
                </a:solidFill>
                <a:latin typeface="Century Gothic Paneuropean"/>
                <a:ea typeface="Century Gothic Paneuropean"/>
                <a:cs typeface="Century Gothic Paneuropean"/>
              </a:rPr>
              <a:t>{</a:t>
            </a:r>
          </a:p>
          <a:p>
            <a:pPr lvl="2"/>
            <a:r>
              <a:rPr lang="en-US" sz="2400" dirty="0">
                <a:solidFill>
                  <a:srgbClr val="000000"/>
                </a:solidFill>
                <a:latin typeface="Century Gothic Paneuropean"/>
                <a:ea typeface="Century Gothic Paneuropean"/>
                <a:cs typeface="Century Gothic Paneuropean"/>
              </a:rPr>
              <a:t>    // copy values from </a:t>
            </a:r>
            <a:r>
              <a:rPr lang="en-US" sz="2400" dirty="0" err="1">
                <a:solidFill>
                  <a:srgbClr val="000000"/>
                </a:solidFill>
                <a:latin typeface="Century Gothic Paneuropean"/>
                <a:ea typeface="Century Gothic Paneuropean"/>
                <a:cs typeface="Century Gothic Paneuropean"/>
              </a:rPr>
              <a:t>obj</a:t>
            </a:r>
            <a:endParaRPr lang="en-US" sz="2400" dirty="0">
              <a:solidFill>
                <a:srgbClr val="000000"/>
              </a:solidFill>
              <a:latin typeface="Century Gothic Paneuropean"/>
              <a:ea typeface="Century Gothic Paneuropean"/>
              <a:cs typeface="Century Gothic Paneuropean"/>
            </a:endParaRPr>
          </a:p>
          <a:p>
            <a:pPr lvl="2"/>
            <a:r>
              <a:rPr lang="en-US" sz="2400" dirty="0" smtClean="0">
                <a:solidFill>
                  <a:srgbClr val="000000"/>
                </a:solidFill>
                <a:latin typeface="Century Gothic Paneuropean"/>
                <a:ea typeface="Century Gothic Paneuropean"/>
                <a:cs typeface="Century Gothic Paneuropean"/>
              </a:rPr>
              <a:t>}</a:t>
            </a:r>
          </a:p>
          <a:p>
            <a:pPr marL="342900" indent="-342900">
              <a:buFont typeface="Arial" panose="020B0604020202020204" pitchFamily="34" charset="0"/>
              <a:buChar char="•"/>
            </a:pPr>
            <a:r>
              <a:rPr lang="en-US" sz="2400" dirty="0" smtClean="0">
                <a:solidFill>
                  <a:srgbClr val="000000"/>
                </a:solidFill>
                <a:latin typeface="Century Gothic Paneuropean"/>
                <a:ea typeface="Century Gothic Paneuropean"/>
                <a:cs typeface="Century Gothic Paneuropean"/>
              </a:rPr>
              <a:t>How </a:t>
            </a:r>
            <a:r>
              <a:rPr lang="en-US" sz="2400" dirty="0">
                <a:solidFill>
                  <a:srgbClr val="000000"/>
                </a:solidFill>
                <a:latin typeface="Century Gothic Paneuropean"/>
                <a:ea typeface="Century Gothic Paneuropean"/>
                <a:cs typeface="Century Gothic Paneuropean"/>
              </a:rPr>
              <a:t>it </a:t>
            </a:r>
            <a:r>
              <a:rPr lang="en-US" sz="2400" dirty="0" smtClean="0">
                <a:solidFill>
                  <a:srgbClr val="000000"/>
                </a:solidFill>
                <a:latin typeface="Century Gothic Paneuropean"/>
                <a:ea typeface="Century Gothic Paneuropean"/>
                <a:cs typeface="Century Gothic Paneuropean"/>
              </a:rPr>
              <a:t>Works</a:t>
            </a:r>
            <a:endParaRPr lang="en-US" sz="2400" dirty="0">
              <a:solidFill>
                <a:srgbClr val="000000"/>
              </a:solidFill>
              <a:latin typeface="Century Gothic Paneuropean"/>
              <a:ea typeface="Century Gothic Paneuropean"/>
              <a:cs typeface="Century Gothic Paneuropean"/>
            </a:endParaRPr>
          </a:p>
          <a:p>
            <a:pPr lvl="1"/>
            <a:r>
              <a:rPr lang="en-US" sz="2400" dirty="0">
                <a:solidFill>
                  <a:srgbClr val="000000"/>
                </a:solidFill>
                <a:latin typeface="Century Gothic Paneuropean"/>
                <a:ea typeface="Century Gothic Paneuropean"/>
                <a:cs typeface="Century Gothic Paneuropean"/>
              </a:rPr>
              <a:t>1. Object </a:t>
            </a:r>
            <a:r>
              <a:rPr lang="en-US" sz="2400" dirty="0" err="1" smtClean="0">
                <a:solidFill>
                  <a:srgbClr val="000000"/>
                </a:solidFill>
                <a:latin typeface="Century Gothic Paneuropean"/>
                <a:ea typeface="Century Gothic Paneuropean"/>
                <a:cs typeface="Century Gothic Paneuropean"/>
              </a:rPr>
              <a:t>s1</a:t>
            </a:r>
            <a:r>
              <a:rPr lang="en-US" sz="2400" dirty="0" smtClean="0">
                <a:solidFill>
                  <a:srgbClr val="000000"/>
                </a:solidFill>
                <a:latin typeface="Century Gothic Paneuropean"/>
                <a:ea typeface="Century Gothic Paneuropean"/>
                <a:cs typeface="Century Gothic Paneuropean"/>
              </a:rPr>
              <a:t> </a:t>
            </a:r>
            <a:r>
              <a:rPr lang="en-US" sz="2400" dirty="0">
                <a:solidFill>
                  <a:srgbClr val="000000"/>
                </a:solidFill>
                <a:latin typeface="Century Gothic Paneuropean"/>
                <a:ea typeface="Century Gothic Paneuropean"/>
                <a:cs typeface="Century Gothic Paneuropean"/>
              </a:rPr>
              <a:t>is created using the parameterized constructor.</a:t>
            </a:r>
          </a:p>
          <a:p>
            <a:pPr lvl="1"/>
            <a:r>
              <a:rPr lang="en-US" sz="2400" dirty="0">
                <a:solidFill>
                  <a:srgbClr val="000000"/>
                </a:solidFill>
                <a:latin typeface="Century Gothic Paneuropean"/>
                <a:ea typeface="Century Gothic Paneuropean"/>
                <a:cs typeface="Century Gothic Paneuropean"/>
              </a:rPr>
              <a:t>2. Object </a:t>
            </a:r>
            <a:r>
              <a:rPr lang="en-US" sz="2400" dirty="0" err="1" smtClean="0">
                <a:solidFill>
                  <a:srgbClr val="000000"/>
                </a:solidFill>
                <a:latin typeface="Century Gothic Paneuropean"/>
                <a:ea typeface="Century Gothic Paneuropean"/>
                <a:cs typeface="Century Gothic Paneuropean"/>
              </a:rPr>
              <a:t>s2</a:t>
            </a:r>
            <a:r>
              <a:rPr lang="en-US" sz="2400" dirty="0" smtClean="0">
                <a:solidFill>
                  <a:srgbClr val="000000"/>
                </a:solidFill>
                <a:latin typeface="Century Gothic Paneuropean"/>
                <a:ea typeface="Century Gothic Paneuropean"/>
                <a:cs typeface="Century Gothic Paneuropean"/>
              </a:rPr>
              <a:t> </a:t>
            </a:r>
            <a:r>
              <a:rPr lang="en-US" sz="2400" dirty="0">
                <a:solidFill>
                  <a:srgbClr val="000000"/>
                </a:solidFill>
                <a:latin typeface="Century Gothic Paneuropean"/>
                <a:ea typeface="Century Gothic Paneuropean"/>
                <a:cs typeface="Century Gothic Paneuropean"/>
              </a:rPr>
              <a:t>is created by </a:t>
            </a:r>
            <a:r>
              <a:rPr lang="en-US" sz="2400" dirty="0" smtClean="0">
                <a:solidFill>
                  <a:srgbClr val="000000"/>
                </a:solidFill>
                <a:latin typeface="Century Gothic Paneuropean"/>
                <a:ea typeface="Century Gothic Paneuropean"/>
                <a:cs typeface="Century Gothic Paneuropean"/>
              </a:rPr>
              <a:t>copying </a:t>
            </a:r>
            <a:r>
              <a:rPr lang="en-US" sz="2400" dirty="0">
                <a:solidFill>
                  <a:srgbClr val="000000"/>
                </a:solidFill>
                <a:latin typeface="Century Gothic Paneuropean"/>
                <a:ea typeface="Century Gothic Paneuropean"/>
                <a:cs typeface="Century Gothic Paneuropean"/>
              </a:rPr>
              <a:t>values from </a:t>
            </a:r>
            <a:r>
              <a:rPr lang="en-US" sz="2400" dirty="0" err="1" smtClean="0">
                <a:solidFill>
                  <a:srgbClr val="000000"/>
                </a:solidFill>
                <a:latin typeface="Century Gothic Paneuropean"/>
                <a:ea typeface="Century Gothic Paneuropean"/>
                <a:cs typeface="Century Gothic Paneuropean"/>
              </a:rPr>
              <a:t>s1</a:t>
            </a:r>
            <a:r>
              <a:rPr lang="en-US" sz="2400" dirty="0" smtClean="0">
                <a:solidFill>
                  <a:srgbClr val="000000"/>
                </a:solidFill>
                <a:latin typeface="Century Gothic Paneuropean"/>
                <a:ea typeface="Century Gothic Paneuropean"/>
                <a:cs typeface="Century Gothic Paneuropean"/>
              </a:rPr>
              <a:t>.</a:t>
            </a:r>
            <a:endParaRPr lang="en-US" sz="2400" dirty="0">
              <a:solidFill>
                <a:srgbClr val="000000"/>
              </a:solidFill>
              <a:latin typeface="Century Gothic Paneuropean"/>
              <a:ea typeface="Century Gothic Paneuropean"/>
              <a:cs typeface="Century Gothic Paneuropean"/>
            </a:endParaRPr>
          </a:p>
          <a:p>
            <a:pPr lvl="1"/>
            <a:r>
              <a:rPr lang="en-US" sz="2400" dirty="0">
                <a:solidFill>
                  <a:srgbClr val="000000"/>
                </a:solidFill>
                <a:latin typeface="Century Gothic Paneuropean"/>
                <a:ea typeface="Century Gothic Paneuropean"/>
                <a:cs typeface="Century Gothic Paneuropean"/>
              </a:rPr>
              <a:t>3. Both objects contain the </a:t>
            </a:r>
            <a:r>
              <a:rPr lang="en-US" sz="2400" dirty="0" smtClean="0">
                <a:solidFill>
                  <a:srgbClr val="000000"/>
                </a:solidFill>
                <a:latin typeface="Century Gothic Paneuropean"/>
                <a:ea typeface="Century Gothic Paneuropean"/>
                <a:cs typeface="Century Gothic Paneuropean"/>
              </a:rPr>
              <a:t>same </a:t>
            </a:r>
            <a:r>
              <a:rPr lang="en-US" sz="2400" dirty="0">
                <a:solidFill>
                  <a:srgbClr val="000000"/>
                </a:solidFill>
                <a:latin typeface="Century Gothic Paneuropean"/>
                <a:ea typeface="Century Gothic Paneuropean"/>
                <a:cs typeface="Century Gothic Paneuropean"/>
              </a:rPr>
              <a:t>data but are different objects in </a:t>
            </a:r>
            <a:r>
              <a:rPr lang="en-US" sz="2400" dirty="0" smtClean="0">
                <a:solidFill>
                  <a:srgbClr val="000000"/>
                </a:solidFill>
                <a:latin typeface="Century Gothic Paneuropean"/>
                <a:ea typeface="Century Gothic Paneuropean"/>
                <a:cs typeface="Century Gothic Paneuropean"/>
              </a:rPr>
              <a:t>memory.</a:t>
            </a:r>
            <a:endParaRPr lang="en-US" sz="2400" dirty="0">
              <a:solidFill>
                <a:srgbClr val="000000"/>
              </a:solidFill>
              <a:latin typeface="Century Gothic Paneuropean"/>
              <a:ea typeface="Century Gothic Paneuropean"/>
              <a:cs typeface="Century Gothic Paneuropean"/>
            </a:endParaRPr>
          </a:p>
          <a:p>
            <a:pPr lvl="1"/>
            <a:endParaRPr lang="en-US" sz="2400" dirty="0">
              <a:solidFill>
                <a:srgbClr val="000000"/>
              </a:solidFill>
              <a:latin typeface="Century Gothic Paneuropean"/>
              <a:ea typeface="Century Gothic Paneuropean"/>
              <a:cs typeface="Century Gothic Paneuropean"/>
            </a:endParaRPr>
          </a:p>
          <a:p>
            <a:pPr marL="342900" indent="-342900">
              <a:buFont typeface="Arial" panose="020B0604020202020204" pitchFamily="34" charset="0"/>
              <a:buChar char="•"/>
            </a:pPr>
            <a:r>
              <a:rPr lang="en-US" sz="2400" dirty="0" smtClean="0">
                <a:solidFill>
                  <a:srgbClr val="000000"/>
                </a:solidFill>
                <a:latin typeface="Century Gothic Paneuropean"/>
                <a:ea typeface="Century Gothic Paneuropean"/>
                <a:cs typeface="Century Gothic Paneuropean"/>
              </a:rPr>
              <a:t>Why </a:t>
            </a:r>
            <a:r>
              <a:rPr lang="en-US" sz="2400" dirty="0">
                <a:solidFill>
                  <a:srgbClr val="000000"/>
                </a:solidFill>
                <a:latin typeface="Century Gothic Paneuropean"/>
                <a:ea typeface="Century Gothic Paneuropean"/>
                <a:cs typeface="Century Gothic Paneuropean"/>
              </a:rPr>
              <a:t>Copy Constructor is </a:t>
            </a:r>
            <a:r>
              <a:rPr lang="en-US" sz="2400" dirty="0" smtClean="0">
                <a:solidFill>
                  <a:srgbClr val="000000"/>
                </a:solidFill>
                <a:latin typeface="Century Gothic Paneuropean"/>
                <a:ea typeface="Century Gothic Paneuropean"/>
                <a:cs typeface="Century Gothic Paneuropean"/>
              </a:rPr>
              <a:t>Used</a:t>
            </a:r>
            <a:endParaRPr lang="en-US" sz="2400" dirty="0">
              <a:solidFill>
                <a:srgbClr val="000000"/>
              </a:solidFill>
              <a:latin typeface="Century Gothic Paneuropean"/>
              <a:ea typeface="Century Gothic Paneuropean"/>
              <a:cs typeface="Century Gothic Paneuropean"/>
            </a:endParaRPr>
          </a:p>
          <a:p>
            <a:pPr marL="914400" lvl="1" indent="-457200">
              <a:buFont typeface="+mj-lt"/>
              <a:buAutoNum type="arabicPeriod"/>
            </a:pPr>
            <a:r>
              <a:rPr lang="en-US" sz="2400" dirty="0" smtClean="0">
                <a:solidFill>
                  <a:srgbClr val="000000"/>
                </a:solidFill>
                <a:latin typeface="Century Gothic Paneuropean"/>
                <a:ea typeface="Century Gothic Paneuropean"/>
                <a:cs typeface="Century Gothic Paneuropean"/>
              </a:rPr>
              <a:t>To copy </a:t>
            </a:r>
            <a:r>
              <a:rPr lang="en-US" sz="2400" dirty="0">
                <a:solidFill>
                  <a:srgbClr val="000000"/>
                </a:solidFill>
                <a:latin typeface="Century Gothic Paneuropean"/>
                <a:ea typeface="Century Gothic Paneuropean"/>
                <a:cs typeface="Century Gothic Paneuropean"/>
              </a:rPr>
              <a:t>object values </a:t>
            </a:r>
            <a:r>
              <a:rPr lang="en-US" sz="2400" dirty="0" smtClean="0">
                <a:solidFill>
                  <a:srgbClr val="000000"/>
                </a:solidFill>
                <a:latin typeface="Century Gothic Paneuropean"/>
                <a:ea typeface="Century Gothic Paneuropean"/>
                <a:cs typeface="Century Gothic Paneuropean"/>
              </a:rPr>
              <a:t>easily</a:t>
            </a:r>
            <a:r>
              <a:rPr lang="en-US" sz="2400" dirty="0">
                <a:solidFill>
                  <a:srgbClr val="000000"/>
                </a:solidFill>
                <a:latin typeface="Century Gothic Paneuropean"/>
                <a:ea typeface="Century Gothic Paneuropean"/>
                <a:cs typeface="Century Gothic Paneuropean"/>
              </a:rPr>
              <a:t>.</a:t>
            </a:r>
          </a:p>
          <a:p>
            <a:pPr marL="914400" lvl="1" indent="-457200">
              <a:buFont typeface="+mj-lt"/>
              <a:buAutoNum type="arabicPeriod"/>
            </a:pPr>
            <a:r>
              <a:rPr lang="en-US" sz="2400" dirty="0" smtClean="0">
                <a:solidFill>
                  <a:srgbClr val="000000"/>
                </a:solidFill>
                <a:latin typeface="Century Gothic Paneuropean"/>
                <a:ea typeface="Century Gothic Paneuropean"/>
                <a:cs typeface="Century Gothic Paneuropean"/>
              </a:rPr>
              <a:t>To create </a:t>
            </a:r>
            <a:r>
              <a:rPr lang="en-US" sz="2400" dirty="0">
                <a:solidFill>
                  <a:srgbClr val="000000"/>
                </a:solidFill>
                <a:latin typeface="Century Gothic Paneuropean"/>
                <a:ea typeface="Century Gothic Paneuropean"/>
                <a:cs typeface="Century Gothic Paneuropean"/>
              </a:rPr>
              <a:t>duplicate </a:t>
            </a:r>
            <a:r>
              <a:rPr lang="en-US" sz="2400" dirty="0" smtClean="0">
                <a:solidFill>
                  <a:srgbClr val="000000"/>
                </a:solidFill>
                <a:latin typeface="Century Gothic Paneuropean"/>
                <a:ea typeface="Century Gothic Paneuropean"/>
                <a:cs typeface="Century Gothic Paneuropean"/>
              </a:rPr>
              <a:t>objects</a:t>
            </a:r>
            <a:r>
              <a:rPr lang="en-US" sz="2400" dirty="0">
                <a:solidFill>
                  <a:srgbClr val="000000"/>
                </a:solidFill>
                <a:latin typeface="Century Gothic Paneuropean"/>
                <a:ea typeface="Century Gothic Paneuropean"/>
                <a:cs typeface="Century Gothic Paneuropean"/>
              </a:rPr>
              <a:t>.</a:t>
            </a:r>
          </a:p>
          <a:p>
            <a:pPr marL="914400" lvl="1" indent="-457200">
              <a:buFont typeface="+mj-lt"/>
              <a:buAutoNum type="arabicPeriod"/>
            </a:pPr>
            <a:r>
              <a:rPr lang="en-US" sz="2400" dirty="0" smtClean="0">
                <a:solidFill>
                  <a:srgbClr val="000000"/>
                </a:solidFill>
                <a:latin typeface="Century Gothic Paneuropean"/>
                <a:ea typeface="Century Gothic Paneuropean"/>
                <a:cs typeface="Century Gothic Paneuropean"/>
              </a:rPr>
              <a:t>Useful </a:t>
            </a:r>
            <a:r>
              <a:rPr lang="en-US" sz="2400" dirty="0">
                <a:solidFill>
                  <a:srgbClr val="000000"/>
                </a:solidFill>
                <a:latin typeface="Century Gothic Paneuropean"/>
                <a:ea typeface="Century Gothic Paneuropean"/>
                <a:cs typeface="Century Gothic Paneuropean"/>
              </a:rPr>
              <a:t>in </a:t>
            </a:r>
            <a:r>
              <a:rPr lang="en-US" sz="2400" dirty="0" smtClean="0">
                <a:solidFill>
                  <a:srgbClr val="000000"/>
                </a:solidFill>
                <a:latin typeface="Century Gothic Paneuropean"/>
                <a:ea typeface="Century Gothic Paneuropean"/>
                <a:cs typeface="Century Gothic Paneuropean"/>
              </a:rPr>
              <a:t>object </a:t>
            </a:r>
            <a:r>
              <a:rPr lang="en-US" sz="2400" dirty="0">
                <a:solidFill>
                  <a:srgbClr val="000000"/>
                </a:solidFill>
                <a:latin typeface="Century Gothic Paneuropean"/>
                <a:ea typeface="Century Gothic Paneuropean"/>
                <a:cs typeface="Century Gothic Paneuropean"/>
              </a:rPr>
              <a:t>cloning and data </a:t>
            </a:r>
            <a:r>
              <a:rPr lang="en-US" sz="2400" dirty="0" smtClean="0">
                <a:solidFill>
                  <a:srgbClr val="000000"/>
                </a:solidFill>
                <a:latin typeface="Century Gothic Paneuropean"/>
                <a:ea typeface="Century Gothic Paneuropean"/>
                <a:cs typeface="Century Gothic Paneuropean"/>
              </a:rPr>
              <a:t>transfer</a:t>
            </a:r>
            <a:r>
              <a:rPr lang="en-US" sz="2400" dirty="0">
                <a:solidFill>
                  <a:srgbClr val="000000"/>
                </a:solidFill>
                <a:latin typeface="Century Gothic Paneuropean"/>
                <a:ea typeface="Century Gothic Paneuropean"/>
                <a:cs typeface="Century Gothic Paneuropean"/>
              </a:rPr>
              <a:t>.</a:t>
            </a:r>
          </a:p>
          <a:p>
            <a:endParaRPr lang="en-US" sz="2400" dirty="0">
              <a:solidFill>
                <a:srgbClr val="000000"/>
              </a:solidFill>
              <a:latin typeface="Century Gothic Paneuropean"/>
              <a:ea typeface="Century Gothic Paneuropean"/>
              <a:cs typeface="Century Gothic Paneuropean"/>
            </a:endParaRPr>
          </a:p>
          <a:p>
            <a:pPr marL="457200" indent="-457200">
              <a:buFont typeface="Arial" panose="020B0604020202020204" pitchFamily="34" charset="0"/>
              <a:buChar char="•"/>
            </a:pPr>
            <a:endParaRPr lang="en-US" sz="24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24762055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COPY </a:t>
            </a:r>
            <a:r>
              <a:rPr lang="en-US" sz="6000" b="1" dirty="0" smtClean="0">
                <a:solidFill>
                  <a:srgbClr val="000000"/>
                </a:solidFill>
                <a:latin typeface="Century Gothic Paneuropean Bold"/>
                <a:ea typeface="Century Gothic Paneuropean Bold"/>
                <a:cs typeface="Century Gothic Paneuropean Bold"/>
                <a:sym typeface="Century Gothic Paneuropean Bold"/>
              </a:rPr>
              <a:t>CONSTRUCTOR</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8002191"/>
          </a:xfrm>
          <a:prstGeom prst="rect">
            <a:avLst/>
          </a:prstGeom>
        </p:spPr>
        <p:txBody>
          <a:bodyPr wrap="square" lIns="0" tIns="0" rIns="0" bIns="0" rtlCol="0" anchor="t">
            <a:spAutoFit/>
          </a:bodyPr>
          <a:lstStyle/>
          <a:p>
            <a:r>
              <a:rPr lang="en-US" sz="2000" dirty="0" smtClean="0">
                <a:solidFill>
                  <a:srgbClr val="000000"/>
                </a:solidFill>
                <a:latin typeface="Century Gothic Paneuropean"/>
                <a:ea typeface="Century Gothic Paneuropean"/>
                <a:cs typeface="Century Gothic Paneuropean"/>
              </a:rPr>
              <a:t>class </a:t>
            </a:r>
            <a:r>
              <a:rPr lang="en-US" sz="2000" dirty="0">
                <a:solidFill>
                  <a:srgbClr val="000000"/>
                </a:solidFill>
                <a:latin typeface="Century Gothic Paneuropean"/>
                <a:ea typeface="Century Gothic Paneuropean"/>
                <a:cs typeface="Century Gothic Paneuropean"/>
              </a:rPr>
              <a:t>Student {</a:t>
            </a:r>
          </a:p>
          <a:p>
            <a:r>
              <a:rPr lang="en-US" sz="2000" dirty="0">
                <a:solidFill>
                  <a:srgbClr val="000000"/>
                </a:solidFill>
                <a:latin typeface="Century Gothic Paneuropean"/>
                <a:ea typeface="Century Gothic Paneuropean"/>
                <a:cs typeface="Century Gothic Paneuropean"/>
              </a:rPr>
              <a:t>    </a:t>
            </a:r>
            <a:r>
              <a:rPr lang="en-US" sz="2000" dirty="0" err="1">
                <a:solidFill>
                  <a:srgbClr val="000000"/>
                </a:solidFill>
                <a:latin typeface="Century Gothic Paneuropean"/>
                <a:ea typeface="Century Gothic Paneuropean"/>
                <a:cs typeface="Century Gothic Paneuropean"/>
              </a:rPr>
              <a:t>int</a:t>
            </a:r>
            <a:r>
              <a:rPr lang="en-US" sz="2000" dirty="0">
                <a:solidFill>
                  <a:srgbClr val="000000"/>
                </a:solidFill>
                <a:latin typeface="Century Gothic Paneuropean"/>
                <a:ea typeface="Century Gothic Paneuropean"/>
                <a:cs typeface="Century Gothic Paneuropean"/>
              </a:rPr>
              <a:t> id;</a:t>
            </a:r>
          </a:p>
          <a:p>
            <a:r>
              <a:rPr lang="en-US" sz="2000" dirty="0">
                <a:solidFill>
                  <a:srgbClr val="000000"/>
                </a:solidFill>
                <a:latin typeface="Century Gothic Paneuropean"/>
                <a:ea typeface="Century Gothic Paneuropean"/>
                <a:cs typeface="Century Gothic Paneuropean"/>
              </a:rPr>
              <a:t>    String name;</a:t>
            </a:r>
          </a:p>
          <a:p>
            <a:r>
              <a:rPr lang="en-US" sz="2000" dirty="0">
                <a:solidFill>
                  <a:srgbClr val="000000"/>
                </a:solidFill>
                <a:latin typeface="Century Gothic Paneuropean"/>
                <a:ea typeface="Century Gothic Paneuropean"/>
                <a:cs typeface="Century Gothic Paneuropean"/>
              </a:rPr>
              <a:t>    // Parameterized constructor</a:t>
            </a:r>
          </a:p>
          <a:p>
            <a:r>
              <a:rPr lang="en-US" sz="2000" dirty="0">
                <a:solidFill>
                  <a:srgbClr val="000000"/>
                </a:solidFill>
                <a:latin typeface="Century Gothic Paneuropean"/>
                <a:ea typeface="Century Gothic Paneuropean"/>
                <a:cs typeface="Century Gothic Paneuropean"/>
              </a:rPr>
              <a:t>    Student(</a:t>
            </a:r>
            <a:r>
              <a:rPr lang="en-US" sz="2000" dirty="0" err="1">
                <a:solidFill>
                  <a:srgbClr val="000000"/>
                </a:solidFill>
                <a:latin typeface="Century Gothic Paneuropean"/>
                <a:ea typeface="Century Gothic Paneuropean"/>
                <a:cs typeface="Century Gothic Paneuropean"/>
              </a:rPr>
              <a:t>int</a:t>
            </a:r>
            <a:r>
              <a:rPr lang="en-US" sz="2000" dirty="0">
                <a:solidFill>
                  <a:srgbClr val="000000"/>
                </a:solidFill>
                <a:latin typeface="Century Gothic Paneuropean"/>
                <a:ea typeface="Century Gothic Paneuropean"/>
                <a:cs typeface="Century Gothic Paneuropean"/>
              </a:rPr>
              <a:t> </a:t>
            </a:r>
            <a:r>
              <a:rPr lang="en-US" sz="2000" dirty="0" err="1">
                <a:solidFill>
                  <a:srgbClr val="000000"/>
                </a:solidFill>
                <a:latin typeface="Century Gothic Paneuropean"/>
                <a:ea typeface="Century Gothic Paneuropean"/>
                <a:cs typeface="Century Gothic Paneuropean"/>
              </a:rPr>
              <a:t>i</a:t>
            </a:r>
            <a:r>
              <a:rPr lang="en-US" sz="2000" dirty="0">
                <a:solidFill>
                  <a:srgbClr val="000000"/>
                </a:solidFill>
                <a:latin typeface="Century Gothic Paneuropean"/>
                <a:ea typeface="Century Gothic Paneuropean"/>
                <a:cs typeface="Century Gothic Paneuropean"/>
              </a:rPr>
              <a:t>, String n) {</a:t>
            </a:r>
          </a:p>
          <a:p>
            <a:r>
              <a:rPr lang="en-US" sz="2000" dirty="0">
                <a:solidFill>
                  <a:srgbClr val="000000"/>
                </a:solidFill>
                <a:latin typeface="Century Gothic Paneuropean"/>
                <a:ea typeface="Century Gothic Paneuropean"/>
                <a:cs typeface="Century Gothic Paneuropean"/>
              </a:rPr>
              <a:t>        id = </a:t>
            </a:r>
            <a:r>
              <a:rPr lang="en-US" sz="2000" dirty="0" err="1">
                <a:solidFill>
                  <a:srgbClr val="000000"/>
                </a:solidFill>
                <a:latin typeface="Century Gothic Paneuropean"/>
                <a:ea typeface="Century Gothic Paneuropean"/>
                <a:cs typeface="Century Gothic Paneuropean"/>
              </a:rPr>
              <a:t>i</a:t>
            </a:r>
            <a:r>
              <a:rPr lang="en-US" sz="2000" dirty="0">
                <a:solidFill>
                  <a:srgbClr val="000000"/>
                </a:solidFill>
                <a:latin typeface="Century Gothic Paneuropean"/>
                <a:ea typeface="Century Gothic Paneuropean"/>
                <a:cs typeface="Century Gothic Paneuropean"/>
              </a:rPr>
              <a:t>;</a:t>
            </a:r>
          </a:p>
          <a:p>
            <a:r>
              <a:rPr lang="en-US" sz="2000" dirty="0">
                <a:solidFill>
                  <a:srgbClr val="000000"/>
                </a:solidFill>
                <a:latin typeface="Century Gothic Paneuropean"/>
                <a:ea typeface="Century Gothic Paneuropean"/>
                <a:cs typeface="Century Gothic Paneuropean"/>
              </a:rPr>
              <a:t>        name = n;</a:t>
            </a:r>
          </a:p>
          <a:p>
            <a:r>
              <a:rPr lang="en-US" sz="2000" dirty="0">
                <a:solidFill>
                  <a:srgbClr val="000000"/>
                </a:solidFill>
                <a:latin typeface="Century Gothic Paneuropean"/>
                <a:ea typeface="Century Gothic Paneuropean"/>
                <a:cs typeface="Century Gothic Paneuropean"/>
              </a:rPr>
              <a:t>    }</a:t>
            </a:r>
          </a:p>
          <a:p>
            <a:r>
              <a:rPr lang="en-US" sz="2000" dirty="0">
                <a:solidFill>
                  <a:srgbClr val="000000"/>
                </a:solidFill>
                <a:latin typeface="Century Gothic Paneuropean"/>
                <a:ea typeface="Century Gothic Paneuropean"/>
                <a:cs typeface="Century Gothic Paneuropean"/>
              </a:rPr>
              <a:t>    // Copy constructor</a:t>
            </a:r>
          </a:p>
          <a:p>
            <a:r>
              <a:rPr lang="en-US" sz="2000" dirty="0">
                <a:solidFill>
                  <a:srgbClr val="000000"/>
                </a:solidFill>
                <a:latin typeface="Century Gothic Paneuropean"/>
                <a:ea typeface="Century Gothic Paneuropean"/>
                <a:cs typeface="Century Gothic Paneuropean"/>
              </a:rPr>
              <a:t>    Student(Student s) {</a:t>
            </a:r>
          </a:p>
          <a:p>
            <a:r>
              <a:rPr lang="en-US" sz="2000" dirty="0">
                <a:solidFill>
                  <a:srgbClr val="000000"/>
                </a:solidFill>
                <a:latin typeface="Century Gothic Paneuropean"/>
                <a:ea typeface="Century Gothic Paneuropean"/>
                <a:cs typeface="Century Gothic Paneuropean"/>
              </a:rPr>
              <a:t>        id = </a:t>
            </a:r>
            <a:r>
              <a:rPr lang="en-US" sz="2000" dirty="0" err="1">
                <a:solidFill>
                  <a:srgbClr val="000000"/>
                </a:solidFill>
                <a:latin typeface="Century Gothic Paneuropean"/>
                <a:ea typeface="Century Gothic Paneuropean"/>
                <a:cs typeface="Century Gothic Paneuropean"/>
              </a:rPr>
              <a:t>s.id</a:t>
            </a:r>
            <a:r>
              <a:rPr lang="en-US" sz="2000" dirty="0">
                <a:solidFill>
                  <a:srgbClr val="000000"/>
                </a:solidFill>
                <a:latin typeface="Century Gothic Paneuropean"/>
                <a:ea typeface="Century Gothic Paneuropean"/>
                <a:cs typeface="Century Gothic Paneuropean"/>
              </a:rPr>
              <a:t>;</a:t>
            </a:r>
          </a:p>
          <a:p>
            <a:r>
              <a:rPr lang="en-US" sz="2000" dirty="0">
                <a:solidFill>
                  <a:srgbClr val="000000"/>
                </a:solidFill>
                <a:latin typeface="Century Gothic Paneuropean"/>
                <a:ea typeface="Century Gothic Paneuropean"/>
                <a:cs typeface="Century Gothic Paneuropean"/>
              </a:rPr>
              <a:t>        name = </a:t>
            </a:r>
            <a:r>
              <a:rPr lang="en-US" sz="2000" dirty="0" err="1">
                <a:solidFill>
                  <a:srgbClr val="000000"/>
                </a:solidFill>
                <a:latin typeface="Century Gothic Paneuropean"/>
                <a:ea typeface="Century Gothic Paneuropean"/>
                <a:cs typeface="Century Gothic Paneuropean"/>
              </a:rPr>
              <a:t>s.name</a:t>
            </a:r>
            <a:r>
              <a:rPr lang="en-US" sz="2000" dirty="0">
                <a:solidFill>
                  <a:srgbClr val="000000"/>
                </a:solidFill>
                <a:latin typeface="Century Gothic Paneuropean"/>
                <a:ea typeface="Century Gothic Paneuropean"/>
                <a:cs typeface="Century Gothic Paneuropean"/>
              </a:rPr>
              <a:t>;</a:t>
            </a:r>
          </a:p>
          <a:p>
            <a:r>
              <a:rPr lang="en-US" sz="2000" dirty="0">
                <a:solidFill>
                  <a:srgbClr val="000000"/>
                </a:solidFill>
                <a:latin typeface="Century Gothic Paneuropean"/>
                <a:ea typeface="Century Gothic Paneuropean"/>
                <a:cs typeface="Century Gothic Paneuropean"/>
              </a:rPr>
              <a:t>    }</a:t>
            </a:r>
          </a:p>
          <a:p>
            <a:r>
              <a:rPr lang="en-US" sz="2000" dirty="0">
                <a:solidFill>
                  <a:srgbClr val="000000"/>
                </a:solidFill>
                <a:latin typeface="Century Gothic Paneuropean"/>
                <a:ea typeface="Century Gothic Paneuropean"/>
                <a:cs typeface="Century Gothic Paneuropean"/>
              </a:rPr>
              <a:t>    void display() {</a:t>
            </a:r>
          </a:p>
          <a:p>
            <a:r>
              <a:rPr lang="en-US" sz="2000" dirty="0">
                <a:solidFill>
                  <a:srgbClr val="000000"/>
                </a:solidFill>
                <a:latin typeface="Century Gothic Paneuropean"/>
                <a:ea typeface="Century Gothic Paneuropean"/>
                <a:cs typeface="Century Gothic Paneuropean"/>
              </a:rPr>
              <a:t>        </a:t>
            </a:r>
            <a:r>
              <a:rPr lang="en-US" sz="2000" dirty="0" err="1">
                <a:solidFill>
                  <a:srgbClr val="000000"/>
                </a:solidFill>
                <a:latin typeface="Century Gothic Paneuropean"/>
                <a:ea typeface="Century Gothic Paneuropean"/>
                <a:cs typeface="Century Gothic Paneuropean"/>
              </a:rPr>
              <a:t>System.out.println</a:t>
            </a:r>
            <a:r>
              <a:rPr lang="en-US" sz="2000" dirty="0">
                <a:solidFill>
                  <a:srgbClr val="000000"/>
                </a:solidFill>
                <a:latin typeface="Century Gothic Paneuropean"/>
                <a:ea typeface="Century Gothic Paneuropean"/>
                <a:cs typeface="Century Gothic Paneuropean"/>
              </a:rPr>
              <a:t>(id + " " + name);</a:t>
            </a:r>
          </a:p>
          <a:p>
            <a:r>
              <a:rPr lang="en-US" sz="2000" dirty="0">
                <a:solidFill>
                  <a:srgbClr val="000000"/>
                </a:solidFill>
                <a:latin typeface="Century Gothic Paneuropean"/>
                <a:ea typeface="Century Gothic Paneuropean"/>
                <a:cs typeface="Century Gothic Paneuropean"/>
              </a:rPr>
              <a:t>    }</a:t>
            </a:r>
          </a:p>
          <a:p>
            <a:r>
              <a:rPr lang="en-US" sz="2000" dirty="0">
                <a:solidFill>
                  <a:srgbClr val="000000"/>
                </a:solidFill>
                <a:latin typeface="Century Gothic Paneuropean"/>
                <a:ea typeface="Century Gothic Paneuropean"/>
                <a:cs typeface="Century Gothic Paneuropean"/>
              </a:rPr>
              <a:t>    public static void main(String </a:t>
            </a:r>
            <a:r>
              <a:rPr lang="en-US" sz="2000" dirty="0" err="1">
                <a:solidFill>
                  <a:srgbClr val="000000"/>
                </a:solidFill>
                <a:latin typeface="Century Gothic Paneuropean"/>
                <a:ea typeface="Century Gothic Paneuropean"/>
                <a:cs typeface="Century Gothic Paneuropean"/>
              </a:rPr>
              <a:t>args</a:t>
            </a:r>
            <a:r>
              <a:rPr lang="en-US" sz="2000" dirty="0">
                <a:solidFill>
                  <a:srgbClr val="000000"/>
                </a:solidFill>
                <a:latin typeface="Century Gothic Paneuropean"/>
                <a:ea typeface="Century Gothic Paneuropean"/>
                <a:cs typeface="Century Gothic Paneuropean"/>
              </a:rPr>
              <a:t>[]) {</a:t>
            </a:r>
          </a:p>
          <a:p>
            <a:r>
              <a:rPr lang="en-US" sz="2000" dirty="0">
                <a:solidFill>
                  <a:srgbClr val="000000"/>
                </a:solidFill>
                <a:latin typeface="Century Gothic Paneuropean"/>
                <a:ea typeface="Century Gothic Paneuropean"/>
                <a:cs typeface="Century Gothic Paneuropean"/>
              </a:rPr>
              <a:t>        Student </a:t>
            </a:r>
            <a:r>
              <a:rPr lang="en-US" sz="2000" dirty="0" err="1">
                <a:solidFill>
                  <a:srgbClr val="000000"/>
                </a:solidFill>
                <a:latin typeface="Century Gothic Paneuropean"/>
                <a:ea typeface="Century Gothic Paneuropean"/>
                <a:cs typeface="Century Gothic Paneuropean"/>
              </a:rPr>
              <a:t>s1</a:t>
            </a:r>
            <a:r>
              <a:rPr lang="en-US" sz="2000" dirty="0">
                <a:solidFill>
                  <a:srgbClr val="000000"/>
                </a:solidFill>
                <a:latin typeface="Century Gothic Paneuropean"/>
                <a:ea typeface="Century Gothic Paneuropean"/>
                <a:cs typeface="Century Gothic Paneuropean"/>
              </a:rPr>
              <a:t> = new Student(101, "Jaspreet");</a:t>
            </a:r>
          </a:p>
          <a:p>
            <a:r>
              <a:rPr lang="en-US" sz="2000" dirty="0">
                <a:solidFill>
                  <a:srgbClr val="000000"/>
                </a:solidFill>
                <a:latin typeface="Century Gothic Paneuropean"/>
                <a:ea typeface="Century Gothic Paneuropean"/>
                <a:cs typeface="Century Gothic Paneuropean"/>
              </a:rPr>
              <a:t>        Student </a:t>
            </a:r>
            <a:r>
              <a:rPr lang="en-US" sz="2000" dirty="0" err="1">
                <a:solidFill>
                  <a:srgbClr val="000000"/>
                </a:solidFill>
                <a:latin typeface="Century Gothic Paneuropean"/>
                <a:ea typeface="Century Gothic Paneuropean"/>
                <a:cs typeface="Century Gothic Paneuropean"/>
              </a:rPr>
              <a:t>s2</a:t>
            </a:r>
            <a:r>
              <a:rPr lang="en-US" sz="2000" dirty="0">
                <a:solidFill>
                  <a:srgbClr val="000000"/>
                </a:solidFill>
                <a:latin typeface="Century Gothic Paneuropean"/>
                <a:ea typeface="Century Gothic Paneuropean"/>
                <a:cs typeface="Century Gothic Paneuropean"/>
              </a:rPr>
              <a:t> = new Student(</a:t>
            </a:r>
            <a:r>
              <a:rPr lang="en-US" sz="2000" dirty="0" err="1">
                <a:solidFill>
                  <a:srgbClr val="000000"/>
                </a:solidFill>
                <a:latin typeface="Century Gothic Paneuropean"/>
                <a:ea typeface="Century Gothic Paneuropean"/>
                <a:cs typeface="Century Gothic Paneuropean"/>
              </a:rPr>
              <a:t>s1</a:t>
            </a:r>
            <a:r>
              <a:rPr lang="en-US" sz="2000" dirty="0">
                <a:solidFill>
                  <a:srgbClr val="000000"/>
                </a:solidFill>
                <a:latin typeface="Century Gothic Paneuropean"/>
                <a:ea typeface="Century Gothic Paneuropean"/>
                <a:cs typeface="Century Gothic Paneuropean"/>
              </a:rPr>
              <a:t>);   // Copy constructor called</a:t>
            </a:r>
          </a:p>
          <a:p>
            <a:r>
              <a:rPr lang="en-US" sz="2000" dirty="0">
                <a:solidFill>
                  <a:srgbClr val="000000"/>
                </a:solidFill>
                <a:latin typeface="Century Gothic Paneuropean"/>
                <a:ea typeface="Century Gothic Paneuropean"/>
                <a:cs typeface="Century Gothic Paneuropean"/>
              </a:rPr>
              <a:t>        </a:t>
            </a:r>
            <a:r>
              <a:rPr lang="en-US" sz="2000" dirty="0" err="1">
                <a:solidFill>
                  <a:srgbClr val="000000"/>
                </a:solidFill>
                <a:latin typeface="Century Gothic Paneuropean"/>
                <a:ea typeface="Century Gothic Paneuropean"/>
                <a:cs typeface="Century Gothic Paneuropean"/>
              </a:rPr>
              <a:t>s1.display</a:t>
            </a:r>
            <a:r>
              <a:rPr lang="en-US" sz="2000" dirty="0">
                <a:solidFill>
                  <a:srgbClr val="000000"/>
                </a:solidFill>
                <a:latin typeface="Century Gothic Paneuropean"/>
                <a:ea typeface="Century Gothic Paneuropean"/>
                <a:cs typeface="Century Gothic Paneuropean"/>
              </a:rPr>
              <a:t>();</a:t>
            </a:r>
          </a:p>
          <a:p>
            <a:r>
              <a:rPr lang="en-US" sz="2000" dirty="0">
                <a:solidFill>
                  <a:srgbClr val="000000"/>
                </a:solidFill>
                <a:latin typeface="Century Gothic Paneuropean"/>
                <a:ea typeface="Century Gothic Paneuropean"/>
                <a:cs typeface="Century Gothic Paneuropean"/>
              </a:rPr>
              <a:t>        </a:t>
            </a:r>
            <a:r>
              <a:rPr lang="en-US" sz="2000" dirty="0" err="1">
                <a:solidFill>
                  <a:srgbClr val="000000"/>
                </a:solidFill>
                <a:latin typeface="Century Gothic Paneuropean"/>
                <a:ea typeface="Century Gothic Paneuropean"/>
                <a:cs typeface="Century Gothic Paneuropean"/>
              </a:rPr>
              <a:t>s2.display</a:t>
            </a:r>
            <a:r>
              <a:rPr lang="en-US" sz="2000" dirty="0">
                <a:solidFill>
                  <a:srgbClr val="000000"/>
                </a:solidFill>
                <a:latin typeface="Century Gothic Paneuropean"/>
                <a:ea typeface="Century Gothic Paneuropean"/>
                <a:cs typeface="Century Gothic Paneuropean"/>
              </a:rPr>
              <a:t>();</a:t>
            </a:r>
          </a:p>
          <a:p>
            <a:r>
              <a:rPr lang="en-US" sz="2000" dirty="0">
                <a:solidFill>
                  <a:srgbClr val="000000"/>
                </a:solidFill>
                <a:latin typeface="Century Gothic Paneuropean"/>
                <a:ea typeface="Century Gothic Paneuropean"/>
                <a:cs typeface="Century Gothic Paneuropean"/>
              </a:rPr>
              <a:t>    </a:t>
            </a:r>
            <a:r>
              <a:rPr lang="en-US" sz="2000" dirty="0" smtClean="0">
                <a:solidFill>
                  <a:srgbClr val="000000"/>
                </a:solidFill>
                <a:latin typeface="Century Gothic Paneuropean"/>
                <a:ea typeface="Century Gothic Paneuropean"/>
                <a:cs typeface="Century Gothic Paneuropean"/>
              </a:rPr>
              <a:t>}}</a:t>
            </a:r>
          </a:p>
          <a:p>
            <a:endParaRPr lang="en-US" sz="2000" dirty="0">
              <a:solidFill>
                <a:srgbClr val="000000"/>
              </a:solidFill>
              <a:latin typeface="Century Gothic Paneuropean"/>
              <a:ea typeface="Century Gothic Paneuropean"/>
              <a:cs typeface="Century Gothic Paneuropean"/>
            </a:endParaRPr>
          </a:p>
          <a:p>
            <a:r>
              <a:rPr lang="en-US" sz="2000" b="1" dirty="0">
                <a:solidFill>
                  <a:srgbClr val="000000"/>
                </a:solidFill>
                <a:latin typeface="Century Gothic Paneuropean"/>
                <a:ea typeface="Century Gothic Paneuropean"/>
                <a:cs typeface="Century Gothic Paneuropean"/>
              </a:rPr>
              <a:t>Output</a:t>
            </a:r>
          </a:p>
          <a:p>
            <a:r>
              <a:rPr lang="en-US" sz="2000" dirty="0">
                <a:solidFill>
                  <a:srgbClr val="000000"/>
                </a:solidFill>
                <a:latin typeface="Century Gothic Paneuropean"/>
                <a:ea typeface="Century Gothic Paneuropean"/>
                <a:cs typeface="Century Gothic Paneuropean"/>
              </a:rPr>
              <a:t>101 Jaspreet</a:t>
            </a:r>
          </a:p>
          <a:p>
            <a:r>
              <a:rPr lang="en-US" sz="2000" dirty="0">
                <a:solidFill>
                  <a:srgbClr val="000000"/>
                </a:solidFill>
                <a:latin typeface="Century Gothic Paneuropean"/>
                <a:ea typeface="Century Gothic Paneuropean"/>
                <a:cs typeface="Century Gothic Paneuropean"/>
              </a:rPr>
              <a:t>101 Jaspreet</a:t>
            </a:r>
            <a:endParaRPr lang="en-US" sz="20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31109908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METHOD OVERLOADING</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5909310"/>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In Java, it is possible to define two or more methods within the same class that share the same name as long as their parameter declarations are different.</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In </a:t>
            </a:r>
            <a:r>
              <a:rPr lang="en-US" sz="3200" dirty="0">
                <a:solidFill>
                  <a:srgbClr val="000000"/>
                </a:solidFill>
                <a:latin typeface="Century Gothic Paneuropean"/>
                <a:ea typeface="Century Gothic Paneuropean"/>
                <a:cs typeface="Century Gothic Paneuropean"/>
              </a:rPr>
              <a:t>this case, the methods are said to be overloaded, and the process is referred to as method overloading.</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Method </a:t>
            </a:r>
            <a:r>
              <a:rPr lang="en-US" sz="3200" dirty="0">
                <a:solidFill>
                  <a:srgbClr val="000000"/>
                </a:solidFill>
                <a:latin typeface="Century Gothic Paneuropean"/>
                <a:ea typeface="Century Gothic Paneuropean"/>
                <a:cs typeface="Century Gothic Paneuropean"/>
              </a:rPr>
              <a:t>overloading is one of the ways in which Java implements Polymorphism.</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When </a:t>
            </a:r>
            <a:r>
              <a:rPr lang="en-US" sz="3200" dirty="0">
                <a:solidFill>
                  <a:srgbClr val="000000"/>
                </a:solidFill>
                <a:latin typeface="Century Gothic Paneuropean"/>
                <a:ea typeface="Century Gothic Paneuropean"/>
                <a:cs typeface="Century Gothic Paneuropean"/>
              </a:rPr>
              <a:t>an overloaded method is invoked, Java uses the type and/or number of arguments as its guide to determine which version of the overloaded method to actually call.</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Thus</a:t>
            </a:r>
            <a:r>
              <a:rPr lang="en-US" sz="3200" dirty="0">
                <a:solidFill>
                  <a:srgbClr val="000000"/>
                </a:solidFill>
                <a:latin typeface="Century Gothic Paneuropean"/>
                <a:ea typeface="Century Gothic Paneuropean"/>
                <a:cs typeface="Century Gothic Paneuropean"/>
              </a:rPr>
              <a:t>, overloaded methods must differ in the type and/or number of their parameters.</a:t>
            </a:r>
          </a:p>
        </p:txBody>
      </p:sp>
    </p:spTree>
    <p:extLst>
      <p:ext uri="{BB962C8B-B14F-4D97-AF65-F5344CB8AC3E}">
        <p14:creationId xmlns:p14="http://schemas.microsoft.com/office/powerpoint/2010/main" val="28683746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METHOD OVERLOADING</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1" y="2857500"/>
            <a:ext cx="15537445" cy="3939540"/>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When an overloaded method is called, Java looks for a match between the arguments used to call the method and the method’s parameters.</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Java’s </a:t>
            </a:r>
            <a:r>
              <a:rPr lang="en-US" sz="3200" dirty="0">
                <a:solidFill>
                  <a:srgbClr val="000000"/>
                </a:solidFill>
                <a:latin typeface="Century Gothic Paneuropean"/>
                <a:ea typeface="Century Gothic Paneuropean"/>
                <a:cs typeface="Century Gothic Paneuropean"/>
              </a:rPr>
              <a:t>automatic type conversions can play a role in overload resolution.</a:t>
            </a:r>
          </a:p>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I</a:t>
            </a:r>
            <a:r>
              <a:rPr lang="en-US" sz="3200" dirty="0" smtClean="0">
                <a:solidFill>
                  <a:srgbClr val="000000"/>
                </a:solidFill>
                <a:latin typeface="Century Gothic Paneuropean"/>
                <a:ea typeface="Century Gothic Paneuropean"/>
                <a:cs typeface="Century Gothic Paneuropean"/>
              </a:rPr>
              <a:t>f </a:t>
            </a:r>
            <a:r>
              <a:rPr lang="en-US" sz="3200" dirty="0">
                <a:solidFill>
                  <a:srgbClr val="000000"/>
                </a:solidFill>
                <a:latin typeface="Century Gothic Paneuropean"/>
                <a:ea typeface="Century Gothic Paneuropean"/>
                <a:cs typeface="Century Gothic Paneuropean"/>
              </a:rPr>
              <a:t>an integer argument is passed to method of type double, then Java can automatically convert an integer into double, and this conversion can be used to resolve the call.</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Method </a:t>
            </a:r>
            <a:r>
              <a:rPr lang="en-US" sz="3200" dirty="0">
                <a:solidFill>
                  <a:srgbClr val="000000"/>
                </a:solidFill>
                <a:latin typeface="Century Gothic Paneuropean"/>
                <a:ea typeface="Century Gothic Paneuropean"/>
                <a:cs typeface="Century Gothic Paneuropean"/>
              </a:rPr>
              <a:t>overloading supports polymorphism by which Java implements the “one interface, multiple methods</a:t>
            </a:r>
            <a:r>
              <a:rPr lang="en-US" sz="3200" dirty="0" smtClean="0">
                <a:solidFill>
                  <a:srgbClr val="000000"/>
                </a:solidFill>
                <a:latin typeface="Century Gothic Paneuropean"/>
                <a:ea typeface="Century Gothic Paneuropean"/>
                <a:cs typeface="Century Gothic Paneuropean"/>
              </a:rPr>
              <a:t>”</a:t>
            </a:r>
            <a:endParaRPr lang="en-US" sz="32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4368588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 	METHOD OVERLOADING</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11" name="Rectangle 10"/>
          <p:cNvSpPr/>
          <p:nvPr/>
        </p:nvSpPr>
        <p:spPr>
          <a:xfrm>
            <a:off x="457200" y="2037988"/>
            <a:ext cx="7391400" cy="6986528"/>
          </a:xfrm>
          <a:prstGeom prst="rect">
            <a:avLst/>
          </a:prstGeom>
        </p:spPr>
        <p:txBody>
          <a:bodyPr wrap="square">
            <a:spAutoFit/>
          </a:bodyPr>
          <a:lstStyle/>
          <a:p>
            <a:r>
              <a:rPr lang="en-US" sz="3200" b="1" dirty="0">
                <a:solidFill>
                  <a:srgbClr val="7F0055"/>
                </a:solidFill>
                <a:latin typeface="Consolas"/>
              </a:rPr>
              <a:t>package</a:t>
            </a:r>
            <a:r>
              <a:rPr lang="en-US" sz="3200" dirty="0">
                <a:solidFill>
                  <a:srgbClr val="000000"/>
                </a:solidFill>
                <a:latin typeface="Consolas"/>
              </a:rPr>
              <a:t> </a:t>
            </a:r>
            <a:r>
              <a:rPr lang="en-US" sz="3200" dirty="0" err="1">
                <a:solidFill>
                  <a:srgbClr val="000000"/>
                </a:solidFill>
                <a:latin typeface="Consolas"/>
              </a:rPr>
              <a:t>basicsofjava</a:t>
            </a:r>
            <a:r>
              <a:rPr lang="en-US" sz="3200" dirty="0">
                <a:solidFill>
                  <a:srgbClr val="000000"/>
                </a:solidFill>
                <a:latin typeface="Consolas"/>
              </a:rPr>
              <a:t>;</a:t>
            </a:r>
          </a:p>
          <a:p>
            <a:r>
              <a:rPr lang="en-US" sz="3200" b="1" dirty="0">
                <a:solidFill>
                  <a:srgbClr val="7F0055"/>
                </a:solidFill>
                <a:latin typeface="Consolas"/>
              </a:rPr>
              <a:t>class</a:t>
            </a:r>
            <a:r>
              <a:rPr lang="en-US" sz="3200" dirty="0">
                <a:solidFill>
                  <a:srgbClr val="000000"/>
                </a:solidFill>
                <a:latin typeface="Consolas"/>
              </a:rPr>
              <a:t> Box{</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width</a:t>
            </a:r>
            <a:r>
              <a:rPr lang="en-US" sz="3200" dirty="0">
                <a:solidFill>
                  <a:srgbClr val="000000"/>
                </a:solidFill>
                <a:latin typeface="Consolas"/>
              </a:rPr>
              <a:t>;</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height</a:t>
            </a:r>
            <a:r>
              <a:rPr lang="en-US" sz="3200" dirty="0">
                <a:solidFill>
                  <a:srgbClr val="000000"/>
                </a:solidFill>
                <a:latin typeface="Consolas"/>
              </a:rPr>
              <a:t>;</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depth</a:t>
            </a:r>
            <a:r>
              <a:rPr lang="en-US" sz="3200" dirty="0">
                <a:solidFill>
                  <a:srgbClr val="000000"/>
                </a:solidFill>
                <a:latin typeface="Consolas"/>
              </a:rPr>
              <a:t>;</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volume</a:t>
            </a:r>
            <a:r>
              <a:rPr lang="en-US" sz="3200" dirty="0">
                <a:solidFill>
                  <a:srgbClr val="000000"/>
                </a:solidFill>
                <a:latin typeface="Consolas"/>
              </a:rPr>
              <a:t>;</a:t>
            </a:r>
          </a:p>
          <a:p>
            <a:r>
              <a:rPr lang="en-US" sz="3200" b="1" dirty="0">
                <a:solidFill>
                  <a:srgbClr val="7F0055"/>
                </a:solidFill>
                <a:latin typeface="Consolas"/>
              </a:rPr>
              <a:t>void</a:t>
            </a:r>
            <a:r>
              <a:rPr lang="en-US" sz="3200" dirty="0">
                <a:solidFill>
                  <a:srgbClr val="000000"/>
                </a:solidFill>
                <a:latin typeface="Consolas"/>
              </a:rPr>
              <a:t> </a:t>
            </a:r>
            <a:r>
              <a:rPr lang="en-US" sz="3200" dirty="0" err="1">
                <a:solidFill>
                  <a:srgbClr val="000000"/>
                </a:solidFill>
                <a:latin typeface="Consolas"/>
              </a:rPr>
              <a:t>vol</a:t>
            </a:r>
            <a:r>
              <a:rPr lang="en-US" sz="3200" dirty="0">
                <a:solidFill>
                  <a:srgbClr val="000000"/>
                </a:solidFill>
                <a:latin typeface="Consolas"/>
              </a:rPr>
              <a:t>() {</a:t>
            </a:r>
          </a:p>
          <a:p>
            <a:r>
              <a:rPr lang="en-US" sz="3200" dirty="0">
                <a:solidFill>
                  <a:srgbClr val="0000C0"/>
                </a:solidFill>
                <a:latin typeface="Consolas"/>
              </a:rPr>
              <a:t>volume</a:t>
            </a:r>
            <a:r>
              <a:rPr lang="en-US" sz="3200" dirty="0">
                <a:solidFill>
                  <a:srgbClr val="000000"/>
                </a:solidFill>
                <a:latin typeface="Consolas"/>
              </a:rPr>
              <a:t> = </a:t>
            </a:r>
            <a:r>
              <a:rPr lang="en-US" sz="3200" dirty="0">
                <a:solidFill>
                  <a:srgbClr val="0000C0"/>
                </a:solidFill>
                <a:latin typeface="Consolas"/>
              </a:rPr>
              <a:t>width</a:t>
            </a:r>
            <a:r>
              <a:rPr lang="en-US" sz="3200" dirty="0">
                <a:solidFill>
                  <a:srgbClr val="000000"/>
                </a:solidFill>
                <a:latin typeface="Consolas"/>
              </a:rPr>
              <a:t>*</a:t>
            </a:r>
            <a:r>
              <a:rPr lang="en-US" sz="3200" dirty="0">
                <a:solidFill>
                  <a:srgbClr val="0000C0"/>
                </a:solidFill>
                <a:latin typeface="Consolas"/>
              </a:rPr>
              <a:t>height</a:t>
            </a:r>
            <a:r>
              <a:rPr lang="en-US" sz="3200" dirty="0">
                <a:solidFill>
                  <a:srgbClr val="000000"/>
                </a:solidFill>
                <a:latin typeface="Consolas"/>
              </a:rPr>
              <a:t>*</a:t>
            </a:r>
            <a:r>
              <a:rPr lang="en-US" sz="3200" dirty="0">
                <a:solidFill>
                  <a:srgbClr val="0000C0"/>
                </a:solidFill>
                <a:latin typeface="Consolas"/>
              </a:rPr>
              <a:t>depth</a:t>
            </a:r>
            <a:r>
              <a:rPr lang="en-US" sz="3200" dirty="0">
                <a:solidFill>
                  <a:srgbClr val="000000"/>
                </a:solidFill>
                <a:latin typeface="Consolas"/>
              </a:rPr>
              <a:t>;</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a:solidFill>
                  <a:srgbClr val="2A00FF"/>
                </a:solidFill>
                <a:latin typeface="Consolas"/>
              </a:rPr>
              <a:t>"Volume ="</a:t>
            </a:r>
            <a:r>
              <a:rPr lang="en-US" sz="3200" dirty="0">
                <a:solidFill>
                  <a:srgbClr val="000000"/>
                </a:solidFill>
                <a:latin typeface="Consolas"/>
              </a:rPr>
              <a:t>+</a:t>
            </a:r>
            <a:r>
              <a:rPr lang="en-US" sz="3200" dirty="0">
                <a:solidFill>
                  <a:srgbClr val="0000C0"/>
                </a:solidFill>
                <a:latin typeface="Consolas"/>
              </a:rPr>
              <a:t>volume</a:t>
            </a:r>
            <a:r>
              <a:rPr lang="en-US" sz="3200" dirty="0" smtClean="0">
                <a:solidFill>
                  <a:srgbClr val="000000"/>
                </a:solidFill>
                <a:latin typeface="Consolas"/>
              </a:rPr>
              <a:t>);}</a:t>
            </a:r>
            <a:endParaRPr lang="en-US" sz="3200" dirty="0">
              <a:solidFill>
                <a:srgbClr val="000000"/>
              </a:solidFill>
              <a:latin typeface="Consolas"/>
            </a:endParaRPr>
          </a:p>
          <a:p>
            <a:r>
              <a:rPr lang="en-US" sz="3200" b="1" dirty="0" err="1">
                <a:solidFill>
                  <a:srgbClr val="7F0055"/>
                </a:solidFill>
                <a:latin typeface="Consolas"/>
              </a:rPr>
              <a:t>int</a:t>
            </a:r>
            <a:r>
              <a:rPr lang="en-US" sz="3200" dirty="0">
                <a:solidFill>
                  <a:srgbClr val="000000"/>
                </a:solidFill>
                <a:latin typeface="Consolas"/>
              </a:rPr>
              <a:t> add(</a:t>
            </a:r>
            <a:r>
              <a:rPr lang="en-US" sz="3200" b="1" dirty="0" err="1">
                <a:solidFill>
                  <a:srgbClr val="7F0055"/>
                </a:solidFill>
                <a:latin typeface="Consolas"/>
              </a:rPr>
              <a:t>int</a:t>
            </a:r>
            <a:r>
              <a:rPr lang="en-US" sz="3200" dirty="0">
                <a:solidFill>
                  <a:srgbClr val="000000"/>
                </a:solidFill>
                <a:latin typeface="Consolas"/>
              </a:rPr>
              <a:t> </a:t>
            </a:r>
            <a:r>
              <a:rPr lang="en-US" sz="3200" dirty="0">
                <a:solidFill>
                  <a:srgbClr val="6A3E3E"/>
                </a:solidFill>
                <a:latin typeface="Consolas"/>
              </a:rPr>
              <a:t>a</a:t>
            </a:r>
            <a:r>
              <a:rPr lang="en-US" sz="3200" dirty="0">
                <a:solidFill>
                  <a:srgbClr val="000000"/>
                </a:solidFill>
                <a:latin typeface="Consolas"/>
              </a:rPr>
              <a:t>, </a:t>
            </a:r>
            <a:r>
              <a:rPr lang="en-US" sz="3200" b="1" dirty="0" err="1">
                <a:solidFill>
                  <a:srgbClr val="7F0055"/>
                </a:solidFill>
                <a:latin typeface="Consolas"/>
              </a:rPr>
              <a:t>int</a:t>
            </a:r>
            <a:r>
              <a:rPr lang="en-US" sz="3200" dirty="0">
                <a:solidFill>
                  <a:srgbClr val="000000"/>
                </a:solidFill>
                <a:latin typeface="Consolas"/>
              </a:rPr>
              <a:t> </a:t>
            </a:r>
            <a:r>
              <a:rPr lang="en-US" sz="3200" dirty="0">
                <a:solidFill>
                  <a:srgbClr val="6A3E3E"/>
                </a:solidFill>
                <a:latin typeface="Consolas"/>
              </a:rPr>
              <a:t>b</a:t>
            </a:r>
            <a:r>
              <a:rPr lang="en-US" sz="3200" dirty="0">
                <a:solidFill>
                  <a:srgbClr val="000000"/>
                </a:solidFill>
                <a:latin typeface="Consolas"/>
              </a:rPr>
              <a:t>) {</a:t>
            </a:r>
          </a:p>
          <a:p>
            <a:r>
              <a:rPr lang="en-US" sz="3200" b="1" dirty="0">
                <a:solidFill>
                  <a:srgbClr val="7F0055"/>
                </a:solidFill>
                <a:latin typeface="Consolas"/>
              </a:rPr>
              <a:t>return</a:t>
            </a:r>
            <a:r>
              <a:rPr lang="en-US" sz="3200" dirty="0">
                <a:solidFill>
                  <a:srgbClr val="000000"/>
                </a:solidFill>
                <a:latin typeface="Consolas"/>
              </a:rPr>
              <a:t> </a:t>
            </a:r>
            <a:r>
              <a:rPr lang="en-US" sz="3200" dirty="0" err="1">
                <a:solidFill>
                  <a:srgbClr val="6A3E3E"/>
                </a:solidFill>
                <a:latin typeface="Consolas"/>
              </a:rPr>
              <a:t>a</a:t>
            </a:r>
            <a:r>
              <a:rPr lang="en-US" sz="3200" dirty="0" err="1">
                <a:solidFill>
                  <a:srgbClr val="000000"/>
                </a:solidFill>
                <a:latin typeface="Consolas"/>
              </a:rPr>
              <a:t>+</a:t>
            </a:r>
            <a:r>
              <a:rPr lang="en-US" sz="3200" dirty="0" err="1">
                <a:solidFill>
                  <a:srgbClr val="6A3E3E"/>
                </a:solidFill>
                <a:latin typeface="Consolas"/>
              </a:rPr>
              <a:t>b</a:t>
            </a:r>
            <a:r>
              <a:rPr lang="en-US" sz="3200" dirty="0" smtClean="0">
                <a:solidFill>
                  <a:srgbClr val="000000"/>
                </a:solidFill>
                <a:latin typeface="Consolas"/>
              </a:rPr>
              <a:t>;}</a:t>
            </a:r>
            <a:endParaRPr lang="en-US" sz="3200" dirty="0">
              <a:solidFill>
                <a:srgbClr val="000000"/>
              </a:solidFill>
              <a:latin typeface="Consolas"/>
            </a:endParaRPr>
          </a:p>
          <a:p>
            <a:r>
              <a:rPr lang="en-US" sz="3200" b="1" dirty="0" err="1">
                <a:solidFill>
                  <a:srgbClr val="7F0055"/>
                </a:solidFill>
                <a:latin typeface="Consolas"/>
              </a:rPr>
              <a:t>int</a:t>
            </a:r>
            <a:r>
              <a:rPr lang="en-US" sz="3200" dirty="0">
                <a:solidFill>
                  <a:srgbClr val="000000"/>
                </a:solidFill>
                <a:latin typeface="Consolas"/>
              </a:rPr>
              <a:t> add(</a:t>
            </a:r>
            <a:r>
              <a:rPr lang="en-US" sz="3200" b="1" dirty="0" err="1">
                <a:solidFill>
                  <a:srgbClr val="7F0055"/>
                </a:solidFill>
                <a:latin typeface="Consolas"/>
              </a:rPr>
              <a:t>int</a:t>
            </a:r>
            <a:r>
              <a:rPr lang="en-US" sz="3200" dirty="0">
                <a:solidFill>
                  <a:srgbClr val="000000"/>
                </a:solidFill>
                <a:latin typeface="Consolas"/>
              </a:rPr>
              <a:t> </a:t>
            </a:r>
            <a:r>
              <a:rPr lang="en-US" sz="3200" dirty="0">
                <a:solidFill>
                  <a:srgbClr val="6A3E3E"/>
                </a:solidFill>
                <a:latin typeface="Consolas"/>
              </a:rPr>
              <a:t>a</a:t>
            </a:r>
            <a:r>
              <a:rPr lang="en-US" sz="3200" dirty="0">
                <a:solidFill>
                  <a:srgbClr val="000000"/>
                </a:solidFill>
                <a:latin typeface="Consolas"/>
              </a:rPr>
              <a:t>, </a:t>
            </a:r>
            <a:r>
              <a:rPr lang="en-US" sz="3200" b="1" dirty="0" err="1">
                <a:solidFill>
                  <a:srgbClr val="7F0055"/>
                </a:solidFill>
                <a:latin typeface="Consolas"/>
              </a:rPr>
              <a:t>int</a:t>
            </a:r>
            <a:r>
              <a:rPr lang="en-US" sz="3200" dirty="0">
                <a:solidFill>
                  <a:srgbClr val="000000"/>
                </a:solidFill>
                <a:latin typeface="Consolas"/>
              </a:rPr>
              <a:t> </a:t>
            </a:r>
            <a:r>
              <a:rPr lang="en-US" sz="3200" dirty="0">
                <a:solidFill>
                  <a:srgbClr val="6A3E3E"/>
                </a:solidFill>
                <a:latin typeface="Consolas"/>
              </a:rPr>
              <a:t>b</a:t>
            </a:r>
            <a:r>
              <a:rPr lang="en-US" sz="3200" dirty="0">
                <a:solidFill>
                  <a:srgbClr val="000000"/>
                </a:solidFill>
                <a:latin typeface="Consolas"/>
              </a:rPr>
              <a:t>, </a:t>
            </a:r>
            <a:r>
              <a:rPr lang="en-US" sz="3200" b="1" dirty="0" err="1">
                <a:solidFill>
                  <a:srgbClr val="7F0055"/>
                </a:solidFill>
                <a:latin typeface="Consolas"/>
              </a:rPr>
              <a:t>int</a:t>
            </a:r>
            <a:r>
              <a:rPr lang="en-US" sz="3200" dirty="0">
                <a:solidFill>
                  <a:srgbClr val="000000"/>
                </a:solidFill>
                <a:latin typeface="Consolas"/>
              </a:rPr>
              <a:t> </a:t>
            </a:r>
            <a:r>
              <a:rPr lang="en-US" sz="3200" dirty="0">
                <a:solidFill>
                  <a:srgbClr val="6A3E3E"/>
                </a:solidFill>
                <a:latin typeface="Consolas"/>
              </a:rPr>
              <a:t>c</a:t>
            </a:r>
            <a:r>
              <a:rPr lang="en-US" sz="3200" dirty="0">
                <a:solidFill>
                  <a:srgbClr val="000000"/>
                </a:solidFill>
                <a:latin typeface="Consolas"/>
              </a:rPr>
              <a:t>) {</a:t>
            </a:r>
          </a:p>
          <a:p>
            <a:r>
              <a:rPr lang="en-US" sz="3200" b="1" dirty="0">
                <a:solidFill>
                  <a:srgbClr val="7F0055"/>
                </a:solidFill>
                <a:latin typeface="Consolas"/>
              </a:rPr>
              <a:t>return</a:t>
            </a:r>
            <a:r>
              <a:rPr lang="en-US" sz="3200" dirty="0">
                <a:solidFill>
                  <a:srgbClr val="000000"/>
                </a:solidFill>
                <a:latin typeface="Consolas"/>
              </a:rPr>
              <a:t> </a:t>
            </a:r>
            <a:r>
              <a:rPr lang="en-US" sz="3200" dirty="0" err="1">
                <a:solidFill>
                  <a:srgbClr val="6A3E3E"/>
                </a:solidFill>
                <a:latin typeface="Consolas"/>
              </a:rPr>
              <a:t>a</a:t>
            </a:r>
            <a:r>
              <a:rPr lang="en-US" sz="3200" dirty="0" err="1">
                <a:solidFill>
                  <a:srgbClr val="000000"/>
                </a:solidFill>
                <a:latin typeface="Consolas"/>
              </a:rPr>
              <a:t>+</a:t>
            </a:r>
            <a:r>
              <a:rPr lang="en-US" sz="3200" dirty="0" err="1">
                <a:solidFill>
                  <a:srgbClr val="6A3E3E"/>
                </a:solidFill>
                <a:latin typeface="Consolas"/>
              </a:rPr>
              <a:t>b</a:t>
            </a:r>
            <a:r>
              <a:rPr lang="en-US" sz="3200" dirty="0" err="1">
                <a:solidFill>
                  <a:srgbClr val="000000"/>
                </a:solidFill>
                <a:latin typeface="Consolas"/>
              </a:rPr>
              <a:t>+</a:t>
            </a:r>
            <a:r>
              <a:rPr lang="en-US" sz="3200" dirty="0" err="1">
                <a:solidFill>
                  <a:srgbClr val="6A3E3E"/>
                </a:solidFill>
                <a:latin typeface="Consolas"/>
              </a:rPr>
              <a:t>c</a:t>
            </a:r>
            <a:r>
              <a:rPr lang="en-US" sz="3200" dirty="0" smtClean="0">
                <a:solidFill>
                  <a:srgbClr val="000000"/>
                </a:solidFill>
                <a:latin typeface="Consolas"/>
              </a:rPr>
              <a:t>;}</a:t>
            </a:r>
            <a:endParaRPr lang="en-US" sz="3200" dirty="0">
              <a:solidFill>
                <a:srgbClr val="000000"/>
              </a:solidFill>
              <a:effectLst/>
              <a:latin typeface="Consolas"/>
            </a:endParaRPr>
          </a:p>
        </p:txBody>
      </p:sp>
      <p:sp>
        <p:nvSpPr>
          <p:cNvPr id="9" name="TextBox 8"/>
          <p:cNvSpPr txBox="1"/>
          <p:nvPr/>
        </p:nvSpPr>
        <p:spPr>
          <a:xfrm>
            <a:off x="8452930" y="2033167"/>
            <a:ext cx="10210800" cy="6986528"/>
          </a:xfrm>
          <a:prstGeom prst="rect">
            <a:avLst/>
          </a:prstGeom>
          <a:noFill/>
        </p:spPr>
        <p:txBody>
          <a:bodyPr wrap="square" rtlCol="0">
            <a:spAutoFit/>
          </a:bodyPr>
          <a:lstStyle/>
          <a:p>
            <a:r>
              <a:rPr lang="en-US" sz="3200" b="1" dirty="0">
                <a:solidFill>
                  <a:srgbClr val="7F0055"/>
                </a:solidFill>
                <a:latin typeface="Consolas"/>
              </a:rPr>
              <a:t>double</a:t>
            </a:r>
            <a:r>
              <a:rPr lang="en-US" sz="3200" dirty="0">
                <a:solidFill>
                  <a:srgbClr val="000000"/>
                </a:solidFill>
                <a:latin typeface="Consolas"/>
              </a:rPr>
              <a:t> add(</a:t>
            </a:r>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6A3E3E"/>
                </a:solidFill>
                <a:latin typeface="Consolas"/>
              </a:rPr>
              <a:t>a</a:t>
            </a:r>
            <a:r>
              <a:rPr lang="en-US" sz="3200" dirty="0">
                <a:solidFill>
                  <a:srgbClr val="000000"/>
                </a:solidFill>
                <a:latin typeface="Consolas"/>
              </a:rPr>
              <a:t>, </a:t>
            </a:r>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6A3E3E"/>
                </a:solidFill>
                <a:latin typeface="Consolas"/>
              </a:rPr>
              <a:t>b</a:t>
            </a:r>
            <a:r>
              <a:rPr lang="en-US" sz="3200" dirty="0">
                <a:solidFill>
                  <a:srgbClr val="000000"/>
                </a:solidFill>
                <a:latin typeface="Consolas"/>
              </a:rPr>
              <a:t>) {</a:t>
            </a:r>
          </a:p>
          <a:p>
            <a:r>
              <a:rPr lang="en-US" sz="3200" b="1" dirty="0">
                <a:solidFill>
                  <a:srgbClr val="7F0055"/>
                </a:solidFill>
                <a:latin typeface="Consolas"/>
              </a:rPr>
              <a:t>return</a:t>
            </a:r>
            <a:r>
              <a:rPr lang="en-US" sz="3200" dirty="0">
                <a:solidFill>
                  <a:srgbClr val="000000"/>
                </a:solidFill>
                <a:latin typeface="Consolas"/>
              </a:rPr>
              <a:t> </a:t>
            </a:r>
            <a:r>
              <a:rPr lang="en-US" sz="3200" dirty="0" err="1">
                <a:solidFill>
                  <a:srgbClr val="6A3E3E"/>
                </a:solidFill>
                <a:latin typeface="Consolas"/>
              </a:rPr>
              <a:t>a</a:t>
            </a:r>
            <a:r>
              <a:rPr lang="en-US" sz="3200" dirty="0" err="1">
                <a:solidFill>
                  <a:srgbClr val="000000"/>
                </a:solidFill>
                <a:latin typeface="Consolas"/>
              </a:rPr>
              <a:t>+</a:t>
            </a:r>
            <a:r>
              <a:rPr lang="en-US" sz="3200" dirty="0" err="1">
                <a:solidFill>
                  <a:srgbClr val="6A3E3E"/>
                </a:solidFill>
                <a:latin typeface="Consolas"/>
              </a:rPr>
              <a:t>b</a:t>
            </a:r>
            <a:r>
              <a:rPr lang="en-US" sz="3200" dirty="0" smtClean="0">
                <a:solidFill>
                  <a:srgbClr val="000000"/>
                </a:solidFill>
                <a:latin typeface="Consolas"/>
              </a:rPr>
              <a:t>;}} </a:t>
            </a:r>
            <a:endParaRPr lang="en-US" sz="3200" dirty="0">
              <a:solidFill>
                <a:srgbClr val="000000"/>
              </a:solidFill>
              <a:latin typeface="Consolas"/>
            </a:endParaRPr>
          </a:p>
          <a:p>
            <a:r>
              <a:rPr lang="en-US" sz="3200" b="1" dirty="0">
                <a:solidFill>
                  <a:srgbClr val="7F0055"/>
                </a:solidFill>
                <a:latin typeface="Consolas"/>
              </a:rPr>
              <a:t>public</a:t>
            </a:r>
            <a:r>
              <a:rPr lang="en-US" sz="3200" dirty="0">
                <a:solidFill>
                  <a:srgbClr val="000000"/>
                </a:solidFill>
                <a:latin typeface="Consolas"/>
              </a:rPr>
              <a:t> </a:t>
            </a:r>
            <a:r>
              <a:rPr lang="en-US" sz="3200" b="1" dirty="0">
                <a:solidFill>
                  <a:srgbClr val="7F0055"/>
                </a:solidFill>
                <a:latin typeface="Consolas"/>
              </a:rPr>
              <a:t>class</a:t>
            </a:r>
            <a:r>
              <a:rPr lang="en-US" sz="3200" dirty="0">
                <a:solidFill>
                  <a:srgbClr val="000000"/>
                </a:solidFill>
                <a:latin typeface="Consolas"/>
              </a:rPr>
              <a:t> </a:t>
            </a:r>
            <a:r>
              <a:rPr lang="en-US" sz="3200" dirty="0" err="1">
                <a:solidFill>
                  <a:srgbClr val="000000"/>
                </a:solidFill>
                <a:latin typeface="Consolas"/>
              </a:rPr>
              <a:t>BoxDemo</a:t>
            </a:r>
            <a:r>
              <a:rPr lang="en-US" sz="3200" dirty="0">
                <a:solidFill>
                  <a:srgbClr val="000000"/>
                </a:solidFill>
                <a:latin typeface="Consolas"/>
              </a:rPr>
              <a:t> {</a:t>
            </a:r>
          </a:p>
          <a:p>
            <a:r>
              <a:rPr lang="en-US" sz="3200" b="1" dirty="0">
                <a:solidFill>
                  <a:srgbClr val="7F0055"/>
                </a:solidFill>
                <a:latin typeface="Consolas"/>
              </a:rPr>
              <a:t>public</a:t>
            </a:r>
            <a:r>
              <a:rPr lang="en-US" sz="3200" dirty="0">
                <a:solidFill>
                  <a:srgbClr val="000000"/>
                </a:solidFill>
                <a:latin typeface="Consolas"/>
              </a:rPr>
              <a:t> </a:t>
            </a:r>
            <a:r>
              <a:rPr lang="en-US" sz="3200" b="1" dirty="0">
                <a:solidFill>
                  <a:srgbClr val="7F0055"/>
                </a:solidFill>
                <a:latin typeface="Consolas"/>
              </a:rPr>
              <a:t>static</a:t>
            </a:r>
            <a:r>
              <a:rPr lang="en-US" sz="3200" dirty="0">
                <a:solidFill>
                  <a:srgbClr val="000000"/>
                </a:solidFill>
                <a:latin typeface="Consolas"/>
              </a:rPr>
              <a:t> </a:t>
            </a:r>
            <a:r>
              <a:rPr lang="en-US" sz="3200" b="1" dirty="0">
                <a:solidFill>
                  <a:srgbClr val="7F0055"/>
                </a:solidFill>
                <a:latin typeface="Consolas"/>
              </a:rPr>
              <a:t>void</a:t>
            </a:r>
            <a:r>
              <a:rPr lang="en-US" sz="3200" dirty="0">
                <a:solidFill>
                  <a:srgbClr val="000000"/>
                </a:solidFill>
                <a:latin typeface="Consolas"/>
              </a:rPr>
              <a:t> main(String[] </a:t>
            </a:r>
            <a:r>
              <a:rPr lang="en-US" sz="3200" dirty="0" err="1">
                <a:solidFill>
                  <a:srgbClr val="6A3E3E"/>
                </a:solidFill>
                <a:latin typeface="Consolas"/>
              </a:rPr>
              <a:t>args</a:t>
            </a:r>
            <a:r>
              <a:rPr lang="en-US" sz="3200" dirty="0">
                <a:solidFill>
                  <a:srgbClr val="000000"/>
                </a:solidFill>
                <a:latin typeface="Consolas"/>
              </a:rPr>
              <a:t>) {</a:t>
            </a:r>
          </a:p>
          <a:p>
            <a:r>
              <a:rPr lang="en-US" sz="3200" dirty="0">
                <a:solidFill>
                  <a:srgbClr val="000000"/>
                </a:solidFill>
                <a:latin typeface="Consolas"/>
              </a:rPr>
              <a:t>Box </a:t>
            </a:r>
            <a:r>
              <a:rPr lang="en-US" sz="3200" dirty="0" err="1">
                <a:solidFill>
                  <a:srgbClr val="6A3E3E"/>
                </a:solidFill>
                <a:latin typeface="Consolas"/>
              </a:rPr>
              <a:t>mybox</a:t>
            </a:r>
            <a:r>
              <a:rPr lang="en-US" sz="3200" dirty="0">
                <a:solidFill>
                  <a:srgbClr val="000000"/>
                </a:solidFill>
                <a:latin typeface="Consolas"/>
              </a:rPr>
              <a:t> =</a:t>
            </a:r>
            <a:r>
              <a:rPr lang="en-US" sz="3200" b="1" dirty="0">
                <a:solidFill>
                  <a:srgbClr val="7F0055"/>
                </a:solidFill>
                <a:latin typeface="Consolas"/>
              </a:rPr>
              <a:t>new</a:t>
            </a:r>
            <a:r>
              <a:rPr lang="en-US" sz="3200" dirty="0">
                <a:solidFill>
                  <a:srgbClr val="000000"/>
                </a:solidFill>
                <a:latin typeface="Consolas"/>
              </a:rPr>
              <a:t> Box(); </a:t>
            </a:r>
            <a:r>
              <a:rPr lang="en-US" sz="3200" dirty="0" smtClean="0">
                <a:solidFill>
                  <a:srgbClr val="3F7F5F"/>
                </a:solidFill>
                <a:latin typeface="Consolas"/>
              </a:rPr>
              <a:t> </a:t>
            </a:r>
            <a:endParaRPr lang="en-US" sz="3200" dirty="0">
              <a:solidFill>
                <a:srgbClr val="000000"/>
              </a:solidFill>
              <a:latin typeface="Consolas"/>
            </a:endParaRPr>
          </a:p>
          <a:p>
            <a:r>
              <a:rPr lang="en-US" sz="3200" b="1" dirty="0" err="1">
                <a:solidFill>
                  <a:srgbClr val="7F0055"/>
                </a:solidFill>
                <a:latin typeface="Consolas"/>
              </a:rPr>
              <a:t>int</a:t>
            </a:r>
            <a:r>
              <a:rPr lang="en-US" sz="3200" dirty="0">
                <a:solidFill>
                  <a:srgbClr val="000000"/>
                </a:solidFill>
                <a:latin typeface="Consolas"/>
              </a:rPr>
              <a:t> </a:t>
            </a:r>
            <a:r>
              <a:rPr lang="en-US" sz="3200" dirty="0" err="1">
                <a:solidFill>
                  <a:srgbClr val="6A3E3E"/>
                </a:solidFill>
                <a:latin typeface="Consolas"/>
              </a:rPr>
              <a:t>sum1</a:t>
            </a:r>
            <a:r>
              <a:rPr lang="en-US" sz="3200" dirty="0">
                <a:solidFill>
                  <a:srgbClr val="000000"/>
                </a:solidFill>
                <a:latin typeface="Consolas"/>
              </a:rPr>
              <a:t>= </a:t>
            </a:r>
            <a:r>
              <a:rPr lang="en-US" sz="3200" dirty="0" err="1">
                <a:solidFill>
                  <a:srgbClr val="6A3E3E"/>
                </a:solidFill>
                <a:latin typeface="Consolas"/>
              </a:rPr>
              <a:t>mybox</a:t>
            </a:r>
            <a:r>
              <a:rPr lang="en-US" sz="3200" dirty="0" err="1">
                <a:solidFill>
                  <a:srgbClr val="000000"/>
                </a:solidFill>
                <a:latin typeface="Consolas"/>
              </a:rPr>
              <a:t>.add</a:t>
            </a:r>
            <a:r>
              <a:rPr lang="en-US" sz="3200" dirty="0">
                <a:solidFill>
                  <a:srgbClr val="000000"/>
                </a:solidFill>
                <a:latin typeface="Consolas"/>
              </a:rPr>
              <a:t>(22,66);</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err="1">
                <a:solidFill>
                  <a:srgbClr val="6A3E3E"/>
                </a:solidFill>
                <a:latin typeface="Consolas"/>
              </a:rPr>
              <a:t>sum1</a:t>
            </a:r>
            <a:r>
              <a:rPr lang="en-US" sz="3200" dirty="0">
                <a:solidFill>
                  <a:srgbClr val="000000"/>
                </a:solidFill>
                <a:latin typeface="Consolas"/>
              </a:rPr>
              <a:t>);</a:t>
            </a:r>
          </a:p>
          <a:p>
            <a:r>
              <a:rPr lang="en-US" sz="3200" dirty="0">
                <a:solidFill>
                  <a:srgbClr val="000000"/>
                </a:solidFill>
                <a:latin typeface="Consolas"/>
              </a:rPr>
              <a:t>Box </a:t>
            </a:r>
            <a:r>
              <a:rPr lang="en-US" sz="3200" dirty="0" err="1">
                <a:solidFill>
                  <a:srgbClr val="6A3E3E"/>
                </a:solidFill>
                <a:latin typeface="Consolas"/>
              </a:rPr>
              <a:t>mybox2</a:t>
            </a:r>
            <a:r>
              <a:rPr lang="en-US" sz="3200" dirty="0">
                <a:solidFill>
                  <a:srgbClr val="000000"/>
                </a:solidFill>
                <a:latin typeface="Consolas"/>
              </a:rPr>
              <a:t> = </a:t>
            </a:r>
            <a:r>
              <a:rPr lang="en-US" sz="3200" b="1" dirty="0">
                <a:solidFill>
                  <a:srgbClr val="7F0055"/>
                </a:solidFill>
                <a:latin typeface="Consolas"/>
              </a:rPr>
              <a:t>new</a:t>
            </a:r>
            <a:r>
              <a:rPr lang="en-US" sz="3200" dirty="0">
                <a:solidFill>
                  <a:srgbClr val="000000"/>
                </a:solidFill>
                <a:latin typeface="Consolas"/>
              </a:rPr>
              <a:t> Box( ); </a:t>
            </a:r>
            <a:r>
              <a:rPr lang="en-US" sz="3200" dirty="0" smtClean="0">
                <a:solidFill>
                  <a:srgbClr val="3F7F5F"/>
                </a:solidFill>
                <a:latin typeface="Consolas"/>
              </a:rPr>
              <a:t> </a:t>
            </a:r>
            <a:endParaRPr lang="en-US" sz="3200" dirty="0">
              <a:solidFill>
                <a:srgbClr val="000000"/>
              </a:solidFill>
              <a:latin typeface="Consolas"/>
            </a:endParaRPr>
          </a:p>
          <a:p>
            <a:r>
              <a:rPr lang="en-US" sz="3200" b="1" dirty="0" err="1">
                <a:solidFill>
                  <a:srgbClr val="7F0055"/>
                </a:solidFill>
                <a:latin typeface="Consolas"/>
              </a:rPr>
              <a:t>int</a:t>
            </a:r>
            <a:r>
              <a:rPr lang="en-US" sz="3200" dirty="0">
                <a:solidFill>
                  <a:srgbClr val="000000"/>
                </a:solidFill>
                <a:latin typeface="Consolas"/>
              </a:rPr>
              <a:t> </a:t>
            </a:r>
            <a:r>
              <a:rPr lang="en-US" sz="3200" dirty="0" err="1">
                <a:solidFill>
                  <a:srgbClr val="6A3E3E"/>
                </a:solidFill>
                <a:latin typeface="Consolas"/>
              </a:rPr>
              <a:t>sum2</a:t>
            </a:r>
            <a:r>
              <a:rPr lang="en-US" sz="3200" dirty="0">
                <a:solidFill>
                  <a:srgbClr val="000000"/>
                </a:solidFill>
                <a:latin typeface="Consolas"/>
              </a:rPr>
              <a:t>= </a:t>
            </a:r>
            <a:r>
              <a:rPr lang="en-US" sz="3200" dirty="0" err="1">
                <a:solidFill>
                  <a:srgbClr val="6A3E3E"/>
                </a:solidFill>
                <a:latin typeface="Consolas"/>
              </a:rPr>
              <a:t>mybox2</a:t>
            </a:r>
            <a:r>
              <a:rPr lang="en-US" sz="3200" dirty="0" err="1">
                <a:solidFill>
                  <a:srgbClr val="000000"/>
                </a:solidFill>
                <a:latin typeface="Consolas"/>
              </a:rPr>
              <a:t>.add</a:t>
            </a:r>
            <a:r>
              <a:rPr lang="en-US" sz="3200" dirty="0">
                <a:solidFill>
                  <a:srgbClr val="000000"/>
                </a:solidFill>
                <a:latin typeface="Consolas"/>
              </a:rPr>
              <a:t>(50,90,40);</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err="1">
                <a:solidFill>
                  <a:srgbClr val="6A3E3E"/>
                </a:solidFill>
                <a:latin typeface="Consolas"/>
              </a:rPr>
              <a:t>sum2</a:t>
            </a:r>
            <a:r>
              <a:rPr lang="en-US" sz="3200" dirty="0">
                <a:solidFill>
                  <a:srgbClr val="000000"/>
                </a:solidFill>
                <a:latin typeface="Consolas"/>
              </a:rPr>
              <a:t>);</a:t>
            </a:r>
          </a:p>
          <a:p>
            <a:r>
              <a:rPr lang="en-US" sz="3200" dirty="0">
                <a:solidFill>
                  <a:srgbClr val="000000"/>
                </a:solidFill>
                <a:latin typeface="Consolas"/>
              </a:rPr>
              <a:t>Box </a:t>
            </a:r>
            <a:r>
              <a:rPr lang="en-US" sz="3200" dirty="0" err="1">
                <a:solidFill>
                  <a:srgbClr val="6A3E3E"/>
                </a:solidFill>
                <a:latin typeface="Consolas"/>
              </a:rPr>
              <a:t>mybox3</a:t>
            </a:r>
            <a:r>
              <a:rPr lang="en-US" sz="3200" dirty="0">
                <a:solidFill>
                  <a:srgbClr val="000000"/>
                </a:solidFill>
                <a:latin typeface="Consolas"/>
              </a:rPr>
              <a:t> = </a:t>
            </a:r>
            <a:r>
              <a:rPr lang="en-US" sz="3200" b="1" dirty="0">
                <a:solidFill>
                  <a:srgbClr val="7F0055"/>
                </a:solidFill>
                <a:latin typeface="Consolas"/>
              </a:rPr>
              <a:t>new</a:t>
            </a:r>
            <a:r>
              <a:rPr lang="en-US" sz="3200" dirty="0">
                <a:solidFill>
                  <a:srgbClr val="000000"/>
                </a:solidFill>
                <a:latin typeface="Consolas"/>
              </a:rPr>
              <a:t> Box( ); </a:t>
            </a:r>
            <a:r>
              <a:rPr lang="en-US" sz="3200" dirty="0" smtClean="0">
                <a:solidFill>
                  <a:srgbClr val="3F7F5F"/>
                </a:solidFill>
                <a:latin typeface="Consolas"/>
              </a:rPr>
              <a:t> </a:t>
            </a:r>
            <a:endParaRPr lang="en-US" sz="3200" dirty="0">
              <a:solidFill>
                <a:srgbClr val="000000"/>
              </a:solidFill>
              <a:latin typeface="Consolas"/>
            </a:endParaRPr>
          </a:p>
          <a:p>
            <a:r>
              <a:rPr lang="en-US" sz="3200" b="1" dirty="0">
                <a:solidFill>
                  <a:srgbClr val="7F0055"/>
                </a:solidFill>
                <a:latin typeface="Consolas"/>
              </a:rPr>
              <a:t>double</a:t>
            </a:r>
            <a:r>
              <a:rPr lang="en-US" sz="3200" dirty="0">
                <a:solidFill>
                  <a:srgbClr val="000000"/>
                </a:solidFill>
                <a:latin typeface="Consolas"/>
              </a:rPr>
              <a:t> </a:t>
            </a:r>
            <a:r>
              <a:rPr lang="en-US" sz="3200" dirty="0" err="1">
                <a:solidFill>
                  <a:srgbClr val="6A3E3E"/>
                </a:solidFill>
                <a:latin typeface="Consolas"/>
              </a:rPr>
              <a:t>sum3</a:t>
            </a:r>
            <a:r>
              <a:rPr lang="en-US" sz="3200" dirty="0">
                <a:solidFill>
                  <a:srgbClr val="000000"/>
                </a:solidFill>
                <a:latin typeface="Consolas"/>
              </a:rPr>
              <a:t>=</a:t>
            </a:r>
            <a:r>
              <a:rPr lang="en-US" sz="3200" dirty="0" err="1">
                <a:solidFill>
                  <a:srgbClr val="6A3E3E"/>
                </a:solidFill>
                <a:latin typeface="Consolas"/>
              </a:rPr>
              <a:t>mybox3</a:t>
            </a:r>
            <a:r>
              <a:rPr lang="en-US" sz="3200" dirty="0" err="1">
                <a:solidFill>
                  <a:srgbClr val="000000"/>
                </a:solidFill>
                <a:latin typeface="Consolas"/>
              </a:rPr>
              <a:t>.add</a:t>
            </a:r>
            <a:r>
              <a:rPr lang="en-US" sz="3200" dirty="0">
                <a:solidFill>
                  <a:srgbClr val="000000"/>
                </a:solidFill>
                <a:latin typeface="Consolas"/>
              </a:rPr>
              <a:t>(22.5,66.8);</a:t>
            </a:r>
          </a:p>
          <a:p>
            <a:r>
              <a:rPr lang="en-US" sz="3200" dirty="0" err="1">
                <a:solidFill>
                  <a:srgbClr val="000000"/>
                </a:solidFill>
                <a:latin typeface="Consolas"/>
              </a:rPr>
              <a:t>System.</a:t>
            </a:r>
            <a:r>
              <a:rPr lang="en-US" sz="3200" b="1" i="1" dirty="0" err="1">
                <a:solidFill>
                  <a:srgbClr val="0000C0"/>
                </a:solidFill>
                <a:latin typeface="Consolas"/>
              </a:rPr>
              <a:t>out</a:t>
            </a:r>
            <a:r>
              <a:rPr lang="en-US" sz="3200" dirty="0" err="1">
                <a:solidFill>
                  <a:srgbClr val="000000"/>
                </a:solidFill>
                <a:latin typeface="Consolas"/>
              </a:rPr>
              <a:t>.println</a:t>
            </a:r>
            <a:r>
              <a:rPr lang="en-US" sz="3200" dirty="0">
                <a:solidFill>
                  <a:srgbClr val="000000"/>
                </a:solidFill>
                <a:latin typeface="Consolas"/>
              </a:rPr>
              <a:t>(+</a:t>
            </a:r>
            <a:r>
              <a:rPr lang="en-US" sz="3200" dirty="0" err="1">
                <a:solidFill>
                  <a:srgbClr val="6A3E3E"/>
                </a:solidFill>
                <a:latin typeface="Consolas"/>
              </a:rPr>
              <a:t>sum3</a:t>
            </a:r>
            <a:r>
              <a:rPr lang="en-US" sz="3200" dirty="0" smtClean="0">
                <a:solidFill>
                  <a:srgbClr val="000000"/>
                </a:solidFill>
                <a:latin typeface="Consolas"/>
              </a:rPr>
              <a:t>);}</a:t>
            </a:r>
            <a:endParaRPr lang="en-US" sz="3200" dirty="0">
              <a:solidFill>
                <a:srgbClr val="000000"/>
              </a:solidFill>
              <a:latin typeface="Consolas"/>
            </a:endParaRPr>
          </a:p>
          <a:p>
            <a:r>
              <a:rPr lang="en-US" sz="3200" dirty="0">
                <a:solidFill>
                  <a:srgbClr val="000000"/>
                </a:solidFill>
                <a:latin typeface="Consolas"/>
              </a:rPr>
              <a:t>}</a:t>
            </a:r>
            <a:endParaRPr lang="en-US" sz="3200" dirty="0">
              <a:solidFill>
                <a:srgbClr val="000000"/>
              </a:solidFill>
              <a:effectLst/>
              <a:latin typeface="Consolas"/>
            </a:endParaRPr>
          </a:p>
        </p:txBody>
      </p:sp>
    </p:spTree>
    <p:extLst>
      <p:ext uri="{BB962C8B-B14F-4D97-AF65-F5344CB8AC3E}">
        <p14:creationId xmlns:p14="http://schemas.microsoft.com/office/powerpoint/2010/main" val="41114273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 CONSTRUCTOR OVERLOADING</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11" name="Rectangle 10"/>
          <p:cNvSpPr/>
          <p:nvPr/>
        </p:nvSpPr>
        <p:spPr>
          <a:xfrm>
            <a:off x="1143000" y="2803323"/>
            <a:ext cx="15392400" cy="4031873"/>
          </a:xfrm>
          <a:prstGeom prst="rect">
            <a:avLst/>
          </a:prstGeom>
        </p:spPr>
        <p:txBody>
          <a:bodyPr wrap="square">
            <a:spAutoFit/>
          </a:bodyPr>
          <a:lstStyle/>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In Java, it is possible to define two or more constructors with the same name but with different parameter declarations to handle different </a:t>
            </a:r>
            <a:r>
              <a:rPr lang="en-US" sz="3200" dirty="0" smtClean="0">
                <a:solidFill>
                  <a:srgbClr val="000000"/>
                </a:solidFill>
                <a:latin typeface="Century Gothic Paneuropean"/>
                <a:ea typeface="Century Gothic Paneuropean"/>
                <a:cs typeface="Century Gothic Paneuropean"/>
              </a:rPr>
              <a:t>situations.</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In </a:t>
            </a:r>
            <a:r>
              <a:rPr lang="en-US" sz="3200" dirty="0">
                <a:solidFill>
                  <a:srgbClr val="000000"/>
                </a:solidFill>
                <a:latin typeface="Century Gothic Paneuropean"/>
                <a:ea typeface="Century Gothic Paneuropean"/>
                <a:cs typeface="Century Gothic Paneuropean"/>
              </a:rPr>
              <a:t>this case, the constructors are said to be overloaded and the process is referred to as constructor overloading</a:t>
            </a:r>
            <a:r>
              <a:rPr lang="en-US" sz="3200" dirty="0" smtClean="0">
                <a:solidFill>
                  <a:srgbClr val="000000"/>
                </a:solidFill>
                <a:latin typeface="Century Gothic Paneuropean"/>
                <a:ea typeface="Century Gothic Paneuropean"/>
                <a:cs typeface="Century Gothic Paneuropean"/>
              </a:rPr>
              <a:t>.</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Constructors should have either different types of parameters or different number of parameters.</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Constructor overloading allows creating objects in different ways.</a:t>
            </a:r>
            <a:endParaRPr lang="en-US" sz="32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9278735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 CONSTRUCTOR OVERLOADING</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11" name="Rectangle 10"/>
          <p:cNvSpPr/>
          <p:nvPr/>
        </p:nvSpPr>
        <p:spPr>
          <a:xfrm>
            <a:off x="457200" y="2037988"/>
            <a:ext cx="7391400" cy="7971413"/>
          </a:xfrm>
          <a:prstGeom prst="rect">
            <a:avLst/>
          </a:prstGeom>
        </p:spPr>
        <p:txBody>
          <a:bodyPr wrap="square">
            <a:spAutoFit/>
          </a:bodyPr>
          <a:lstStyle/>
          <a:p>
            <a:r>
              <a:rPr lang="en-US" sz="3200" b="1" dirty="0">
                <a:solidFill>
                  <a:srgbClr val="7F0055"/>
                </a:solidFill>
                <a:latin typeface="Consolas"/>
              </a:rPr>
              <a:t>package</a:t>
            </a:r>
            <a:r>
              <a:rPr lang="en-US" sz="3200" dirty="0">
                <a:solidFill>
                  <a:srgbClr val="000000"/>
                </a:solidFill>
                <a:latin typeface="Consolas"/>
              </a:rPr>
              <a:t> </a:t>
            </a:r>
            <a:r>
              <a:rPr lang="en-US" sz="3200" dirty="0" err="1">
                <a:solidFill>
                  <a:srgbClr val="000000"/>
                </a:solidFill>
                <a:latin typeface="Consolas"/>
              </a:rPr>
              <a:t>basicsofjava</a:t>
            </a:r>
            <a:r>
              <a:rPr lang="en-US" sz="3200" dirty="0">
                <a:solidFill>
                  <a:srgbClr val="000000"/>
                </a:solidFill>
                <a:latin typeface="Consolas"/>
              </a:rPr>
              <a:t>;</a:t>
            </a:r>
          </a:p>
          <a:p>
            <a:r>
              <a:rPr lang="en-US" sz="3200" b="1" dirty="0">
                <a:solidFill>
                  <a:srgbClr val="7F0055"/>
                </a:solidFill>
                <a:latin typeface="Consolas"/>
              </a:rPr>
              <a:t>class</a:t>
            </a:r>
            <a:r>
              <a:rPr lang="en-US" sz="3200" dirty="0">
                <a:solidFill>
                  <a:srgbClr val="000000"/>
                </a:solidFill>
                <a:latin typeface="Consolas"/>
              </a:rPr>
              <a:t> Box{</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width</a:t>
            </a:r>
            <a:r>
              <a:rPr lang="en-US" sz="3200" dirty="0">
                <a:solidFill>
                  <a:srgbClr val="000000"/>
                </a:solidFill>
                <a:latin typeface="Consolas"/>
              </a:rPr>
              <a:t>;</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height</a:t>
            </a:r>
            <a:r>
              <a:rPr lang="en-US" sz="3200" dirty="0">
                <a:solidFill>
                  <a:srgbClr val="000000"/>
                </a:solidFill>
                <a:latin typeface="Consolas"/>
              </a:rPr>
              <a:t>;</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depth</a:t>
            </a:r>
            <a:r>
              <a:rPr lang="en-US" sz="3200" dirty="0">
                <a:solidFill>
                  <a:srgbClr val="000000"/>
                </a:solidFill>
                <a:latin typeface="Consolas"/>
              </a:rPr>
              <a:t>;</a:t>
            </a:r>
          </a:p>
          <a:p>
            <a:r>
              <a:rPr lang="en-US" sz="3200" b="1" dirty="0">
                <a:solidFill>
                  <a:srgbClr val="7F0055"/>
                </a:solidFill>
                <a:latin typeface="Consolas"/>
              </a:rPr>
              <a:t>double</a:t>
            </a:r>
            <a:r>
              <a:rPr lang="en-US" sz="3200" dirty="0">
                <a:solidFill>
                  <a:srgbClr val="000000"/>
                </a:solidFill>
                <a:latin typeface="Consolas"/>
              </a:rPr>
              <a:t> </a:t>
            </a:r>
            <a:r>
              <a:rPr lang="en-US" sz="3200" dirty="0">
                <a:solidFill>
                  <a:srgbClr val="0000C0"/>
                </a:solidFill>
                <a:latin typeface="Consolas"/>
              </a:rPr>
              <a:t>volume</a:t>
            </a:r>
            <a:r>
              <a:rPr lang="en-US" sz="3200" dirty="0">
                <a:solidFill>
                  <a:srgbClr val="000000"/>
                </a:solidFill>
                <a:latin typeface="Consolas"/>
              </a:rPr>
              <a:t>;</a:t>
            </a:r>
          </a:p>
          <a:p>
            <a:r>
              <a:rPr lang="en-US" sz="3200" b="1" dirty="0">
                <a:solidFill>
                  <a:srgbClr val="7F0055"/>
                </a:solidFill>
                <a:latin typeface="Consolas"/>
              </a:rPr>
              <a:t>void</a:t>
            </a:r>
            <a:r>
              <a:rPr lang="en-US" sz="3200" dirty="0">
                <a:solidFill>
                  <a:srgbClr val="000000"/>
                </a:solidFill>
                <a:latin typeface="Consolas"/>
              </a:rPr>
              <a:t> </a:t>
            </a:r>
            <a:r>
              <a:rPr lang="en-US" sz="3200" dirty="0" err="1">
                <a:solidFill>
                  <a:srgbClr val="000000"/>
                </a:solidFill>
                <a:latin typeface="Consolas"/>
              </a:rPr>
              <a:t>vol</a:t>
            </a:r>
            <a:r>
              <a:rPr lang="en-US" sz="3200" dirty="0" smtClean="0">
                <a:solidFill>
                  <a:srgbClr val="000000"/>
                </a:solidFill>
                <a:latin typeface="Consolas"/>
              </a:rPr>
              <a:t>(){</a:t>
            </a:r>
            <a:endParaRPr lang="en-US" sz="3200" dirty="0">
              <a:solidFill>
                <a:srgbClr val="000000"/>
              </a:solidFill>
              <a:latin typeface="Consolas"/>
            </a:endParaRPr>
          </a:p>
          <a:p>
            <a:r>
              <a:rPr lang="en-US" sz="3200" dirty="0">
                <a:solidFill>
                  <a:srgbClr val="0000C0"/>
                </a:solidFill>
                <a:latin typeface="Consolas"/>
              </a:rPr>
              <a:t>volume</a:t>
            </a:r>
            <a:r>
              <a:rPr lang="en-US" sz="3200" dirty="0">
                <a:solidFill>
                  <a:srgbClr val="000000"/>
                </a:solidFill>
                <a:latin typeface="Consolas"/>
              </a:rPr>
              <a:t> = </a:t>
            </a:r>
            <a:r>
              <a:rPr lang="en-US" sz="3200" dirty="0">
                <a:solidFill>
                  <a:srgbClr val="0000C0"/>
                </a:solidFill>
                <a:latin typeface="Consolas"/>
              </a:rPr>
              <a:t>width</a:t>
            </a:r>
            <a:r>
              <a:rPr lang="en-US" sz="3200" dirty="0">
                <a:solidFill>
                  <a:srgbClr val="000000"/>
                </a:solidFill>
                <a:latin typeface="Consolas"/>
              </a:rPr>
              <a:t>*</a:t>
            </a:r>
            <a:r>
              <a:rPr lang="en-US" sz="3200" dirty="0">
                <a:solidFill>
                  <a:srgbClr val="0000C0"/>
                </a:solidFill>
                <a:latin typeface="Consolas"/>
              </a:rPr>
              <a:t>height</a:t>
            </a:r>
            <a:r>
              <a:rPr lang="en-US" sz="3200" dirty="0">
                <a:solidFill>
                  <a:srgbClr val="000000"/>
                </a:solidFill>
                <a:latin typeface="Consolas"/>
              </a:rPr>
              <a:t>*</a:t>
            </a:r>
            <a:r>
              <a:rPr lang="en-US" sz="3200" dirty="0">
                <a:solidFill>
                  <a:srgbClr val="0000C0"/>
                </a:solidFill>
                <a:latin typeface="Consolas"/>
              </a:rPr>
              <a:t>depth</a:t>
            </a:r>
            <a:r>
              <a:rPr lang="en-US" sz="3200" dirty="0">
                <a:solidFill>
                  <a:srgbClr val="000000"/>
                </a:solidFill>
                <a:latin typeface="Consolas"/>
              </a:rPr>
              <a:t>;</a:t>
            </a:r>
          </a:p>
          <a:p>
            <a:r>
              <a:rPr lang="en-US" sz="3200" dirty="0" err="1" smtClean="0">
                <a:solidFill>
                  <a:srgbClr val="000000"/>
                </a:solidFill>
                <a:latin typeface="Consolas"/>
              </a:rPr>
              <a:t>System.</a:t>
            </a:r>
            <a:r>
              <a:rPr lang="en-US" sz="3200" b="1" i="1" dirty="0" err="1" smtClean="0">
                <a:solidFill>
                  <a:srgbClr val="0000C0"/>
                </a:solidFill>
                <a:latin typeface="Consolas"/>
              </a:rPr>
              <a:t>out</a:t>
            </a:r>
            <a:r>
              <a:rPr lang="en-US" sz="3200" dirty="0" err="1" smtClean="0">
                <a:solidFill>
                  <a:srgbClr val="000000"/>
                </a:solidFill>
                <a:latin typeface="Consolas"/>
              </a:rPr>
              <a:t>.println</a:t>
            </a:r>
            <a:r>
              <a:rPr lang="en-US" sz="3200" dirty="0" smtClean="0">
                <a:solidFill>
                  <a:srgbClr val="000000"/>
                </a:solidFill>
                <a:latin typeface="Consolas"/>
              </a:rPr>
              <a:t>(</a:t>
            </a:r>
            <a:r>
              <a:rPr lang="en-US" sz="3200" dirty="0">
                <a:solidFill>
                  <a:srgbClr val="2A00FF"/>
                </a:solidFill>
                <a:latin typeface="Consolas"/>
              </a:rPr>
              <a:t>+</a:t>
            </a:r>
            <a:r>
              <a:rPr lang="en-US" sz="3200" dirty="0" smtClean="0">
                <a:solidFill>
                  <a:srgbClr val="0000C0"/>
                </a:solidFill>
                <a:latin typeface="Consolas"/>
              </a:rPr>
              <a:t>volume</a:t>
            </a:r>
            <a:r>
              <a:rPr lang="en-US" sz="3200" dirty="0" smtClean="0">
                <a:solidFill>
                  <a:srgbClr val="000000"/>
                </a:solidFill>
                <a:latin typeface="Consolas"/>
              </a:rPr>
              <a:t>);}</a:t>
            </a:r>
            <a:endParaRPr lang="en-US" sz="3200" dirty="0">
              <a:solidFill>
                <a:srgbClr val="000000"/>
              </a:solidFill>
              <a:latin typeface="Consolas"/>
            </a:endParaRPr>
          </a:p>
          <a:p>
            <a:r>
              <a:rPr lang="en-US" sz="3200" dirty="0">
                <a:solidFill>
                  <a:srgbClr val="000000"/>
                </a:solidFill>
                <a:latin typeface="Consolas"/>
              </a:rPr>
              <a:t>Box(){</a:t>
            </a:r>
          </a:p>
          <a:p>
            <a:r>
              <a:rPr lang="en-US" sz="3200" dirty="0">
                <a:solidFill>
                  <a:srgbClr val="0000C0"/>
                </a:solidFill>
                <a:latin typeface="Consolas"/>
              </a:rPr>
              <a:t>width</a:t>
            </a:r>
            <a:r>
              <a:rPr lang="en-US" sz="3200" dirty="0">
                <a:solidFill>
                  <a:srgbClr val="000000"/>
                </a:solidFill>
                <a:latin typeface="Consolas"/>
              </a:rPr>
              <a:t> = 0;</a:t>
            </a:r>
          </a:p>
          <a:p>
            <a:r>
              <a:rPr lang="en-US" sz="3200" dirty="0">
                <a:solidFill>
                  <a:srgbClr val="0000C0"/>
                </a:solidFill>
                <a:latin typeface="Consolas"/>
              </a:rPr>
              <a:t>height</a:t>
            </a:r>
            <a:r>
              <a:rPr lang="en-US" sz="3200" dirty="0">
                <a:solidFill>
                  <a:srgbClr val="000000"/>
                </a:solidFill>
                <a:latin typeface="Consolas"/>
              </a:rPr>
              <a:t> = 0;</a:t>
            </a:r>
          </a:p>
          <a:p>
            <a:r>
              <a:rPr lang="en-US" sz="3200" dirty="0">
                <a:solidFill>
                  <a:srgbClr val="0000C0"/>
                </a:solidFill>
                <a:latin typeface="Consolas"/>
              </a:rPr>
              <a:t>depth</a:t>
            </a:r>
            <a:r>
              <a:rPr lang="en-US" sz="3200" dirty="0">
                <a:solidFill>
                  <a:srgbClr val="000000"/>
                </a:solidFill>
                <a:latin typeface="Consolas"/>
              </a:rPr>
              <a:t>=0</a:t>
            </a:r>
            <a:r>
              <a:rPr lang="en-US" sz="3200" dirty="0" smtClean="0">
                <a:solidFill>
                  <a:srgbClr val="000000"/>
                </a:solidFill>
                <a:latin typeface="Consolas"/>
              </a:rPr>
              <a:t>;} </a:t>
            </a:r>
          </a:p>
          <a:p>
            <a:r>
              <a:rPr lang="en-US" sz="3200" b="1" dirty="0">
                <a:solidFill>
                  <a:srgbClr val="000000"/>
                </a:solidFill>
                <a:latin typeface="Consolas" panose="020B0609020204030204" pitchFamily="49" charset="0"/>
              </a:rPr>
              <a:t>Box(</a:t>
            </a:r>
            <a:r>
              <a:rPr lang="en-US" sz="3200" b="1" dirty="0">
                <a:solidFill>
                  <a:srgbClr val="7F0055"/>
                </a:solidFill>
                <a:latin typeface="Consolas" panose="020B0609020204030204" pitchFamily="49" charset="0"/>
              </a:rPr>
              <a:t>double</a:t>
            </a:r>
            <a:r>
              <a:rPr lang="en-US" sz="3200" b="1" dirty="0">
                <a:solidFill>
                  <a:srgbClr val="000000"/>
                </a:solidFill>
                <a:latin typeface="Consolas" panose="020B0609020204030204" pitchFamily="49" charset="0"/>
              </a:rPr>
              <a:t> </a:t>
            </a:r>
            <a:r>
              <a:rPr lang="en-US" sz="3200" b="1" dirty="0" err="1">
                <a:solidFill>
                  <a:srgbClr val="6A3E3E"/>
                </a:solidFill>
                <a:latin typeface="Consolas" panose="020B0609020204030204" pitchFamily="49" charset="0"/>
              </a:rPr>
              <a:t>w</a:t>
            </a:r>
            <a:r>
              <a:rPr lang="en-US" sz="3200" b="1" dirty="0" err="1">
                <a:solidFill>
                  <a:srgbClr val="000000"/>
                </a:solidFill>
                <a:latin typeface="Consolas" panose="020B0609020204030204" pitchFamily="49" charset="0"/>
              </a:rPr>
              <a:t>,</a:t>
            </a:r>
            <a:r>
              <a:rPr lang="en-US" sz="3200" b="1" dirty="0" err="1">
                <a:solidFill>
                  <a:srgbClr val="7F0055"/>
                </a:solidFill>
                <a:latin typeface="Consolas" panose="020B0609020204030204" pitchFamily="49" charset="0"/>
              </a:rPr>
              <a:t>double</a:t>
            </a:r>
            <a:r>
              <a:rPr lang="en-US" sz="3200" b="1" dirty="0">
                <a:solidFill>
                  <a:srgbClr val="000000"/>
                </a:solidFill>
                <a:latin typeface="Consolas" panose="020B0609020204030204" pitchFamily="49" charset="0"/>
              </a:rPr>
              <a:t> </a:t>
            </a:r>
            <a:r>
              <a:rPr lang="en-US" sz="3200" b="1" dirty="0" err="1">
                <a:solidFill>
                  <a:srgbClr val="6A3E3E"/>
                </a:solidFill>
                <a:latin typeface="Consolas" panose="020B0609020204030204" pitchFamily="49" charset="0"/>
              </a:rPr>
              <a:t>h</a:t>
            </a:r>
            <a:r>
              <a:rPr lang="en-US" sz="3200" b="1" dirty="0" err="1">
                <a:solidFill>
                  <a:srgbClr val="000000"/>
                </a:solidFill>
                <a:latin typeface="Consolas" panose="020B0609020204030204" pitchFamily="49" charset="0"/>
              </a:rPr>
              <a:t>,</a:t>
            </a:r>
            <a:r>
              <a:rPr lang="en-US" sz="3200" b="1" dirty="0" err="1">
                <a:solidFill>
                  <a:srgbClr val="7F0055"/>
                </a:solidFill>
                <a:latin typeface="Consolas" panose="020B0609020204030204" pitchFamily="49" charset="0"/>
              </a:rPr>
              <a:t>double</a:t>
            </a:r>
            <a:r>
              <a:rPr lang="en-US" sz="3200" b="1" dirty="0">
                <a:solidFill>
                  <a:srgbClr val="000000"/>
                </a:solidFill>
                <a:latin typeface="Consolas" panose="020B0609020204030204" pitchFamily="49" charset="0"/>
              </a:rPr>
              <a:t> </a:t>
            </a:r>
            <a:r>
              <a:rPr lang="en-US" sz="3200" b="1" dirty="0">
                <a:solidFill>
                  <a:srgbClr val="6A3E3E"/>
                </a:solidFill>
                <a:latin typeface="Consolas" panose="020B0609020204030204" pitchFamily="49" charset="0"/>
              </a:rPr>
              <a:t>d</a:t>
            </a:r>
            <a:r>
              <a:rPr lang="en-US" sz="3200" b="1" dirty="0">
                <a:solidFill>
                  <a:srgbClr val="000000"/>
                </a:solidFill>
                <a:latin typeface="Consolas" panose="020B0609020204030204" pitchFamily="49" charset="0"/>
              </a:rPr>
              <a:t>){</a:t>
            </a:r>
          </a:p>
          <a:p>
            <a:r>
              <a:rPr lang="en-US" sz="3200" b="1" dirty="0">
                <a:solidFill>
                  <a:srgbClr val="0000C0"/>
                </a:solidFill>
                <a:latin typeface="Consolas" panose="020B0609020204030204" pitchFamily="49" charset="0"/>
              </a:rPr>
              <a:t>width</a:t>
            </a:r>
            <a:r>
              <a:rPr lang="en-US" sz="3200" b="1" dirty="0">
                <a:solidFill>
                  <a:srgbClr val="000000"/>
                </a:solidFill>
                <a:latin typeface="Consolas" panose="020B0609020204030204" pitchFamily="49" charset="0"/>
              </a:rPr>
              <a:t>=</a:t>
            </a:r>
            <a:r>
              <a:rPr lang="en-US" sz="3200" b="1" dirty="0">
                <a:solidFill>
                  <a:srgbClr val="6A3E3E"/>
                </a:solidFill>
                <a:latin typeface="Consolas" panose="020B0609020204030204" pitchFamily="49" charset="0"/>
              </a:rPr>
              <a:t>w</a:t>
            </a:r>
            <a:r>
              <a:rPr lang="en-US" sz="3200" b="1" dirty="0">
                <a:solidFill>
                  <a:srgbClr val="000000"/>
                </a:solidFill>
                <a:latin typeface="Consolas" panose="020B0609020204030204" pitchFamily="49" charset="0"/>
              </a:rPr>
              <a:t>; </a:t>
            </a:r>
            <a:r>
              <a:rPr lang="en-US" sz="3200" b="1" dirty="0">
                <a:solidFill>
                  <a:srgbClr val="3F7F5F"/>
                </a:solidFill>
                <a:latin typeface="Consolas" panose="020B0609020204030204" pitchFamily="49" charset="0"/>
              </a:rPr>
              <a:t> </a:t>
            </a:r>
            <a:endParaRPr lang="en-US" sz="3200" b="1" dirty="0">
              <a:solidFill>
                <a:srgbClr val="000000"/>
              </a:solidFill>
              <a:latin typeface="Consolas" panose="020B0609020204030204" pitchFamily="49" charset="0"/>
            </a:endParaRPr>
          </a:p>
          <a:p>
            <a:r>
              <a:rPr lang="en-US" sz="3200" b="1" dirty="0">
                <a:solidFill>
                  <a:srgbClr val="0000C0"/>
                </a:solidFill>
                <a:latin typeface="Consolas" panose="020B0609020204030204" pitchFamily="49" charset="0"/>
              </a:rPr>
              <a:t>height</a:t>
            </a:r>
            <a:r>
              <a:rPr lang="en-US" sz="3200" b="1" dirty="0">
                <a:solidFill>
                  <a:srgbClr val="000000"/>
                </a:solidFill>
                <a:latin typeface="Consolas" panose="020B0609020204030204" pitchFamily="49" charset="0"/>
              </a:rPr>
              <a:t>=</a:t>
            </a:r>
            <a:r>
              <a:rPr lang="en-US" sz="3200" b="1" dirty="0">
                <a:solidFill>
                  <a:srgbClr val="6A3E3E"/>
                </a:solidFill>
                <a:latin typeface="Consolas" panose="020B0609020204030204" pitchFamily="49" charset="0"/>
              </a:rPr>
              <a:t>h</a:t>
            </a:r>
            <a:r>
              <a:rPr lang="en-US" sz="3200" b="1" dirty="0" smtClean="0">
                <a:solidFill>
                  <a:srgbClr val="000000"/>
                </a:solidFill>
                <a:latin typeface="Consolas" panose="020B0609020204030204" pitchFamily="49" charset="0"/>
              </a:rPr>
              <a:t>;</a:t>
            </a:r>
            <a:endParaRPr lang="en-US" sz="3200" b="1" dirty="0">
              <a:solidFill>
                <a:srgbClr val="000000"/>
              </a:solidFill>
              <a:latin typeface="Consolas" panose="020B0609020204030204" pitchFamily="49" charset="0"/>
            </a:endParaRPr>
          </a:p>
        </p:txBody>
      </p:sp>
      <p:sp>
        <p:nvSpPr>
          <p:cNvPr id="9" name="TextBox 8"/>
          <p:cNvSpPr txBox="1"/>
          <p:nvPr/>
        </p:nvSpPr>
        <p:spPr>
          <a:xfrm>
            <a:off x="8452930" y="2033167"/>
            <a:ext cx="10210800" cy="6986528"/>
          </a:xfrm>
          <a:prstGeom prst="rect">
            <a:avLst/>
          </a:prstGeom>
          <a:noFill/>
        </p:spPr>
        <p:txBody>
          <a:bodyPr wrap="square" rtlCol="0">
            <a:spAutoFit/>
          </a:bodyPr>
          <a:lstStyle/>
          <a:p>
            <a:r>
              <a:rPr lang="en-US" sz="3200" b="1" dirty="0">
                <a:solidFill>
                  <a:srgbClr val="0000C0"/>
                </a:solidFill>
                <a:latin typeface="Consolas" panose="020B0609020204030204" pitchFamily="49" charset="0"/>
              </a:rPr>
              <a:t>depth</a:t>
            </a:r>
            <a:r>
              <a:rPr lang="en-US" sz="3200" b="1" dirty="0">
                <a:solidFill>
                  <a:srgbClr val="000000"/>
                </a:solidFill>
                <a:latin typeface="Consolas" panose="020B0609020204030204" pitchFamily="49" charset="0"/>
              </a:rPr>
              <a:t>=</a:t>
            </a:r>
            <a:r>
              <a:rPr lang="en-US" sz="3200" b="1" dirty="0">
                <a:solidFill>
                  <a:srgbClr val="6A3E3E"/>
                </a:solidFill>
                <a:latin typeface="Consolas" panose="020B0609020204030204" pitchFamily="49" charset="0"/>
              </a:rPr>
              <a:t>d</a:t>
            </a:r>
            <a:r>
              <a:rPr lang="en-US" sz="3200" b="1" dirty="0">
                <a:solidFill>
                  <a:srgbClr val="000000"/>
                </a:solidFill>
                <a:latin typeface="Consolas" panose="020B0609020204030204" pitchFamily="49" charset="0"/>
              </a:rPr>
              <a:t>;}</a:t>
            </a:r>
          </a:p>
          <a:p>
            <a:r>
              <a:rPr lang="en-US" sz="3200" b="1" dirty="0" smtClean="0">
                <a:solidFill>
                  <a:srgbClr val="000000"/>
                </a:solidFill>
                <a:latin typeface="Consolas" panose="020B0609020204030204" pitchFamily="49" charset="0"/>
              </a:rPr>
              <a:t>Box(</a:t>
            </a:r>
            <a:r>
              <a:rPr lang="en-US" sz="3200" b="1" dirty="0" smtClean="0">
                <a:solidFill>
                  <a:srgbClr val="7F0055"/>
                </a:solidFill>
                <a:latin typeface="Consolas" panose="020B0609020204030204" pitchFamily="49" charset="0"/>
              </a:rPr>
              <a:t>double</a:t>
            </a:r>
            <a:r>
              <a:rPr lang="en-US" sz="3200" b="1" dirty="0" smtClean="0">
                <a:solidFill>
                  <a:srgbClr val="000000"/>
                </a:solidFill>
                <a:latin typeface="Consolas" panose="020B0609020204030204" pitchFamily="49" charset="0"/>
              </a:rPr>
              <a:t> </a:t>
            </a:r>
            <a:r>
              <a:rPr lang="en-US" sz="3200" b="1" dirty="0">
                <a:solidFill>
                  <a:srgbClr val="6A3E3E"/>
                </a:solidFill>
                <a:latin typeface="Consolas" panose="020B0609020204030204" pitchFamily="49" charset="0"/>
              </a:rPr>
              <a:t>side</a:t>
            </a:r>
            <a:r>
              <a:rPr lang="en-US" sz="3200" b="1" dirty="0">
                <a:solidFill>
                  <a:srgbClr val="000000"/>
                </a:solidFill>
                <a:latin typeface="Consolas" panose="020B0609020204030204" pitchFamily="49" charset="0"/>
              </a:rPr>
              <a:t>){</a:t>
            </a:r>
          </a:p>
          <a:p>
            <a:r>
              <a:rPr lang="en-US" sz="3200" b="1" dirty="0" smtClean="0">
                <a:solidFill>
                  <a:srgbClr val="0000C0"/>
                </a:solidFill>
                <a:latin typeface="Consolas" panose="020B0609020204030204" pitchFamily="49" charset="0"/>
              </a:rPr>
              <a:t>width</a:t>
            </a:r>
            <a:r>
              <a:rPr lang="en-US" sz="3200" b="1" dirty="0" smtClean="0">
                <a:solidFill>
                  <a:srgbClr val="000000"/>
                </a:solidFill>
                <a:latin typeface="Consolas" panose="020B0609020204030204" pitchFamily="49" charset="0"/>
              </a:rPr>
              <a:t>=</a:t>
            </a:r>
            <a:r>
              <a:rPr lang="en-US" sz="3200" b="1" dirty="0" smtClean="0">
                <a:solidFill>
                  <a:srgbClr val="0000C0"/>
                </a:solidFill>
                <a:latin typeface="Consolas" panose="020B0609020204030204" pitchFamily="49" charset="0"/>
              </a:rPr>
              <a:t>depth</a:t>
            </a:r>
            <a:r>
              <a:rPr lang="en-US" sz="3200" b="1" dirty="0" smtClean="0">
                <a:solidFill>
                  <a:srgbClr val="000000"/>
                </a:solidFill>
                <a:latin typeface="Consolas" panose="020B0609020204030204" pitchFamily="49" charset="0"/>
              </a:rPr>
              <a:t>=</a:t>
            </a:r>
            <a:r>
              <a:rPr lang="en-US" sz="3200" b="1" dirty="0" smtClean="0">
                <a:solidFill>
                  <a:srgbClr val="0000C0"/>
                </a:solidFill>
                <a:latin typeface="Consolas" panose="020B0609020204030204" pitchFamily="49" charset="0"/>
              </a:rPr>
              <a:t>height</a:t>
            </a:r>
            <a:r>
              <a:rPr lang="en-US" sz="3200" b="1" dirty="0" smtClean="0">
                <a:solidFill>
                  <a:srgbClr val="000000"/>
                </a:solidFill>
                <a:latin typeface="Consolas" panose="020B0609020204030204" pitchFamily="49" charset="0"/>
              </a:rPr>
              <a:t>=</a:t>
            </a:r>
            <a:r>
              <a:rPr lang="en-US" sz="3200" b="1" dirty="0" smtClean="0">
                <a:solidFill>
                  <a:srgbClr val="6A3E3E"/>
                </a:solidFill>
                <a:latin typeface="Consolas" panose="020B0609020204030204" pitchFamily="49" charset="0"/>
              </a:rPr>
              <a:t>side</a:t>
            </a:r>
            <a:r>
              <a:rPr lang="en-US" sz="3200" b="1" dirty="0" smtClean="0">
                <a:solidFill>
                  <a:srgbClr val="000000"/>
                </a:solidFill>
                <a:latin typeface="Consolas" panose="020B0609020204030204" pitchFamily="49" charset="0"/>
              </a:rPr>
              <a:t>;}} </a:t>
            </a:r>
          </a:p>
          <a:p>
            <a:r>
              <a:rPr lang="en-US" sz="3200" b="1" dirty="0" smtClean="0">
                <a:solidFill>
                  <a:srgbClr val="7F0055"/>
                </a:solidFill>
                <a:latin typeface="Consolas" panose="020B0609020204030204" pitchFamily="49" charset="0"/>
              </a:rPr>
              <a:t>public</a:t>
            </a:r>
            <a:r>
              <a:rPr lang="en-US" sz="3200" b="1" dirty="0" smtClean="0">
                <a:solidFill>
                  <a:srgbClr val="000000"/>
                </a:solidFill>
                <a:latin typeface="Consolas" panose="020B0609020204030204" pitchFamily="49" charset="0"/>
              </a:rPr>
              <a:t> </a:t>
            </a:r>
            <a:r>
              <a:rPr lang="en-US" sz="3200" b="1" dirty="0" smtClean="0">
                <a:solidFill>
                  <a:srgbClr val="7F0055"/>
                </a:solidFill>
                <a:latin typeface="Consolas" panose="020B0609020204030204" pitchFamily="49" charset="0"/>
              </a:rPr>
              <a:t>class</a:t>
            </a:r>
            <a:r>
              <a:rPr lang="en-US" sz="3200" b="1" dirty="0" smtClean="0">
                <a:solidFill>
                  <a:srgbClr val="000000"/>
                </a:solidFill>
                <a:latin typeface="Consolas" panose="020B0609020204030204" pitchFamily="49" charset="0"/>
              </a:rPr>
              <a:t> </a:t>
            </a:r>
            <a:r>
              <a:rPr lang="en-US" sz="3200" b="1" dirty="0" err="1" smtClean="0">
                <a:solidFill>
                  <a:srgbClr val="000000"/>
                </a:solidFill>
                <a:latin typeface="Consolas" panose="020B0609020204030204" pitchFamily="49" charset="0"/>
              </a:rPr>
              <a:t>BoxDemo</a:t>
            </a:r>
            <a:r>
              <a:rPr lang="en-US" sz="3200" b="1" dirty="0" smtClean="0">
                <a:solidFill>
                  <a:srgbClr val="000000"/>
                </a:solidFill>
                <a:latin typeface="Consolas" panose="020B0609020204030204" pitchFamily="49" charset="0"/>
              </a:rPr>
              <a:t> {</a:t>
            </a:r>
          </a:p>
          <a:p>
            <a:r>
              <a:rPr lang="en-US" sz="3200" b="1" dirty="0" smtClean="0">
                <a:solidFill>
                  <a:srgbClr val="7F0055"/>
                </a:solidFill>
                <a:latin typeface="Consolas" panose="020B0609020204030204" pitchFamily="49" charset="0"/>
              </a:rPr>
              <a:t>public</a:t>
            </a:r>
            <a:r>
              <a:rPr lang="en-US" sz="3200" b="1" dirty="0" smtClean="0">
                <a:solidFill>
                  <a:srgbClr val="000000"/>
                </a:solidFill>
                <a:latin typeface="Consolas" panose="020B0609020204030204" pitchFamily="49" charset="0"/>
              </a:rPr>
              <a:t> </a:t>
            </a:r>
            <a:r>
              <a:rPr lang="en-US" sz="3200" b="1" dirty="0">
                <a:solidFill>
                  <a:srgbClr val="7F0055"/>
                </a:solidFill>
                <a:latin typeface="Consolas" panose="020B0609020204030204" pitchFamily="49" charset="0"/>
              </a:rPr>
              <a:t>static</a:t>
            </a:r>
            <a:r>
              <a:rPr lang="en-US" sz="3200" b="1" dirty="0">
                <a:solidFill>
                  <a:srgbClr val="000000"/>
                </a:solidFill>
                <a:latin typeface="Consolas" panose="020B0609020204030204" pitchFamily="49" charset="0"/>
              </a:rPr>
              <a:t> </a:t>
            </a:r>
            <a:r>
              <a:rPr lang="en-US" sz="3200" b="1" dirty="0">
                <a:solidFill>
                  <a:srgbClr val="7F0055"/>
                </a:solidFill>
                <a:latin typeface="Consolas" panose="020B0609020204030204" pitchFamily="49" charset="0"/>
              </a:rPr>
              <a:t>void</a:t>
            </a:r>
            <a:r>
              <a:rPr lang="en-US" sz="3200" b="1" dirty="0">
                <a:solidFill>
                  <a:srgbClr val="000000"/>
                </a:solidFill>
                <a:latin typeface="Consolas" panose="020B0609020204030204" pitchFamily="49" charset="0"/>
              </a:rPr>
              <a:t> main(String[] </a:t>
            </a:r>
            <a:r>
              <a:rPr lang="en-US" sz="3200" b="1" dirty="0" err="1">
                <a:solidFill>
                  <a:srgbClr val="6A3E3E"/>
                </a:solidFill>
                <a:latin typeface="Consolas" panose="020B0609020204030204" pitchFamily="49" charset="0"/>
              </a:rPr>
              <a:t>args</a:t>
            </a:r>
            <a:r>
              <a:rPr lang="en-US" sz="3200" b="1" dirty="0">
                <a:solidFill>
                  <a:srgbClr val="000000"/>
                </a:solidFill>
                <a:latin typeface="Consolas" panose="020B0609020204030204" pitchFamily="49" charset="0"/>
              </a:rPr>
              <a:t>) {</a:t>
            </a:r>
          </a:p>
          <a:p>
            <a:r>
              <a:rPr lang="en-US" sz="3200" b="1" dirty="0">
                <a:solidFill>
                  <a:srgbClr val="000000"/>
                </a:solidFill>
                <a:latin typeface="Consolas" panose="020B0609020204030204" pitchFamily="49" charset="0"/>
              </a:rPr>
              <a:t>Box </a:t>
            </a:r>
            <a:r>
              <a:rPr lang="en-US" sz="3200" b="1" dirty="0" err="1">
                <a:solidFill>
                  <a:srgbClr val="6A3E3E"/>
                </a:solidFill>
                <a:latin typeface="Consolas" panose="020B0609020204030204" pitchFamily="49" charset="0"/>
              </a:rPr>
              <a:t>mybox</a:t>
            </a:r>
            <a:r>
              <a:rPr lang="en-US" sz="3200" b="1" dirty="0">
                <a:solidFill>
                  <a:srgbClr val="000000"/>
                </a:solidFill>
                <a:latin typeface="Consolas" panose="020B0609020204030204" pitchFamily="49" charset="0"/>
              </a:rPr>
              <a:t> =</a:t>
            </a:r>
            <a:r>
              <a:rPr lang="en-US" sz="3200" b="1" dirty="0">
                <a:solidFill>
                  <a:srgbClr val="7F0055"/>
                </a:solidFill>
                <a:latin typeface="Consolas" panose="020B0609020204030204" pitchFamily="49" charset="0"/>
              </a:rPr>
              <a:t>new</a:t>
            </a:r>
            <a:r>
              <a:rPr lang="en-US" sz="3200" b="1" dirty="0">
                <a:solidFill>
                  <a:srgbClr val="000000"/>
                </a:solidFill>
                <a:latin typeface="Consolas" panose="020B0609020204030204" pitchFamily="49" charset="0"/>
              </a:rPr>
              <a:t> Box(); </a:t>
            </a:r>
            <a:r>
              <a:rPr lang="en-US" sz="3200" b="1" dirty="0">
                <a:solidFill>
                  <a:srgbClr val="3F7F5F"/>
                </a:solidFill>
                <a:latin typeface="Consolas" panose="020B0609020204030204" pitchFamily="49" charset="0"/>
              </a:rPr>
              <a:t>//No Parameter constructor</a:t>
            </a:r>
            <a:endParaRPr lang="en-US" sz="3200" b="1" dirty="0">
              <a:solidFill>
                <a:srgbClr val="000000"/>
              </a:solidFill>
              <a:latin typeface="Consolas" panose="020B0609020204030204" pitchFamily="49" charset="0"/>
            </a:endParaRPr>
          </a:p>
          <a:p>
            <a:r>
              <a:rPr lang="en-US" sz="3200" b="1" dirty="0" err="1">
                <a:solidFill>
                  <a:srgbClr val="6A3E3E"/>
                </a:solidFill>
                <a:latin typeface="Consolas" panose="020B0609020204030204" pitchFamily="49" charset="0"/>
              </a:rPr>
              <a:t>mybox</a:t>
            </a:r>
            <a:r>
              <a:rPr lang="en-US" sz="3200" b="1" dirty="0" err="1">
                <a:solidFill>
                  <a:srgbClr val="000000"/>
                </a:solidFill>
                <a:latin typeface="Consolas" panose="020B0609020204030204" pitchFamily="49" charset="0"/>
              </a:rPr>
              <a:t>.vol</a:t>
            </a:r>
            <a:r>
              <a:rPr lang="en-US" sz="3200" b="1" dirty="0">
                <a:solidFill>
                  <a:srgbClr val="000000"/>
                </a:solidFill>
                <a:latin typeface="Consolas" panose="020B0609020204030204" pitchFamily="49" charset="0"/>
              </a:rPr>
              <a:t>();</a:t>
            </a:r>
          </a:p>
          <a:p>
            <a:r>
              <a:rPr lang="en-US" sz="3200" b="1" dirty="0">
                <a:solidFill>
                  <a:srgbClr val="000000"/>
                </a:solidFill>
                <a:latin typeface="Consolas" panose="020B0609020204030204" pitchFamily="49" charset="0"/>
              </a:rPr>
              <a:t>Box </a:t>
            </a:r>
            <a:r>
              <a:rPr lang="en-US" sz="3200" b="1" dirty="0" err="1">
                <a:solidFill>
                  <a:srgbClr val="6A3E3E"/>
                </a:solidFill>
                <a:latin typeface="Consolas" panose="020B0609020204030204" pitchFamily="49" charset="0"/>
              </a:rPr>
              <a:t>mybox2</a:t>
            </a:r>
            <a:r>
              <a:rPr lang="en-US" sz="3200" b="1" dirty="0">
                <a:solidFill>
                  <a:srgbClr val="000000"/>
                </a:solidFill>
                <a:latin typeface="Consolas" panose="020B0609020204030204" pitchFamily="49" charset="0"/>
              </a:rPr>
              <a:t> = </a:t>
            </a:r>
            <a:r>
              <a:rPr lang="en-US" sz="3200" b="1" dirty="0">
                <a:solidFill>
                  <a:srgbClr val="7F0055"/>
                </a:solidFill>
                <a:latin typeface="Consolas" panose="020B0609020204030204" pitchFamily="49" charset="0"/>
              </a:rPr>
              <a:t>new</a:t>
            </a:r>
            <a:r>
              <a:rPr lang="en-US" sz="3200" b="1" dirty="0">
                <a:solidFill>
                  <a:srgbClr val="000000"/>
                </a:solidFill>
                <a:latin typeface="Consolas" panose="020B0609020204030204" pitchFamily="49" charset="0"/>
              </a:rPr>
              <a:t> Box(50); </a:t>
            </a:r>
            <a:r>
              <a:rPr lang="en-US" sz="3200" b="1" dirty="0">
                <a:solidFill>
                  <a:srgbClr val="3F7F5F"/>
                </a:solidFill>
                <a:latin typeface="Consolas" panose="020B0609020204030204" pitchFamily="49" charset="0"/>
              </a:rPr>
              <a:t>//1 Parameter constructor</a:t>
            </a:r>
            <a:endParaRPr lang="en-US" sz="3200" b="1" dirty="0">
              <a:solidFill>
                <a:srgbClr val="000000"/>
              </a:solidFill>
              <a:latin typeface="Consolas" panose="020B0609020204030204" pitchFamily="49" charset="0"/>
            </a:endParaRPr>
          </a:p>
          <a:p>
            <a:r>
              <a:rPr lang="en-US" sz="3200" b="1" dirty="0" err="1">
                <a:solidFill>
                  <a:srgbClr val="6A3E3E"/>
                </a:solidFill>
                <a:latin typeface="Consolas" panose="020B0609020204030204" pitchFamily="49" charset="0"/>
              </a:rPr>
              <a:t>mybox2</a:t>
            </a:r>
            <a:r>
              <a:rPr lang="en-US" sz="3200" b="1" dirty="0" err="1">
                <a:solidFill>
                  <a:srgbClr val="000000"/>
                </a:solidFill>
                <a:latin typeface="Consolas" panose="020B0609020204030204" pitchFamily="49" charset="0"/>
              </a:rPr>
              <a:t>.vol</a:t>
            </a:r>
            <a:r>
              <a:rPr lang="en-US" sz="3200" b="1" dirty="0">
                <a:solidFill>
                  <a:srgbClr val="000000"/>
                </a:solidFill>
                <a:latin typeface="Consolas" panose="020B0609020204030204" pitchFamily="49" charset="0"/>
              </a:rPr>
              <a:t>();</a:t>
            </a:r>
          </a:p>
          <a:p>
            <a:r>
              <a:rPr lang="en-US" sz="3200" b="1" dirty="0">
                <a:solidFill>
                  <a:srgbClr val="000000"/>
                </a:solidFill>
                <a:latin typeface="Consolas" panose="020B0609020204030204" pitchFamily="49" charset="0"/>
              </a:rPr>
              <a:t>Box </a:t>
            </a:r>
            <a:r>
              <a:rPr lang="en-US" sz="3200" b="1" dirty="0" err="1">
                <a:solidFill>
                  <a:srgbClr val="6A3E3E"/>
                </a:solidFill>
                <a:latin typeface="Consolas" panose="020B0609020204030204" pitchFamily="49" charset="0"/>
              </a:rPr>
              <a:t>mybox3</a:t>
            </a:r>
            <a:r>
              <a:rPr lang="en-US" sz="3200" b="1" dirty="0">
                <a:solidFill>
                  <a:srgbClr val="000000"/>
                </a:solidFill>
                <a:latin typeface="Consolas" panose="020B0609020204030204" pitchFamily="49" charset="0"/>
              </a:rPr>
              <a:t> = </a:t>
            </a:r>
            <a:r>
              <a:rPr lang="en-US" sz="3200" b="1" dirty="0">
                <a:solidFill>
                  <a:srgbClr val="7F0055"/>
                </a:solidFill>
                <a:latin typeface="Consolas" panose="020B0609020204030204" pitchFamily="49" charset="0"/>
              </a:rPr>
              <a:t>new</a:t>
            </a:r>
            <a:r>
              <a:rPr lang="en-US" sz="3200" b="1" dirty="0">
                <a:solidFill>
                  <a:srgbClr val="000000"/>
                </a:solidFill>
                <a:latin typeface="Consolas" panose="020B0609020204030204" pitchFamily="49" charset="0"/>
              </a:rPr>
              <a:t> Box(20,50,70); </a:t>
            </a:r>
            <a:r>
              <a:rPr lang="en-US" sz="3200" b="1" dirty="0">
                <a:solidFill>
                  <a:srgbClr val="3F7F5F"/>
                </a:solidFill>
                <a:latin typeface="Consolas" panose="020B0609020204030204" pitchFamily="49" charset="0"/>
              </a:rPr>
              <a:t>//3 Parameter constructor</a:t>
            </a:r>
            <a:endParaRPr lang="en-US" sz="3200" b="1" dirty="0">
              <a:solidFill>
                <a:srgbClr val="000000"/>
              </a:solidFill>
              <a:latin typeface="Consolas" panose="020B0609020204030204" pitchFamily="49" charset="0"/>
            </a:endParaRPr>
          </a:p>
          <a:p>
            <a:r>
              <a:rPr lang="en-US" sz="3200" b="1" dirty="0" err="1">
                <a:solidFill>
                  <a:srgbClr val="6A3E3E"/>
                </a:solidFill>
                <a:latin typeface="Consolas" panose="020B0609020204030204" pitchFamily="49" charset="0"/>
              </a:rPr>
              <a:t>mybox3</a:t>
            </a:r>
            <a:r>
              <a:rPr lang="en-US" sz="3200" b="1" dirty="0" err="1">
                <a:solidFill>
                  <a:srgbClr val="000000"/>
                </a:solidFill>
                <a:latin typeface="Consolas" panose="020B0609020204030204" pitchFamily="49" charset="0"/>
              </a:rPr>
              <a:t>.vol</a:t>
            </a:r>
            <a:r>
              <a:rPr lang="en-US" sz="3200" b="1" dirty="0" smtClean="0">
                <a:solidFill>
                  <a:srgbClr val="000000"/>
                </a:solidFill>
                <a:latin typeface="Consolas" panose="020B0609020204030204" pitchFamily="49" charset="0"/>
              </a:rPr>
              <a:t>();}}</a:t>
            </a:r>
            <a:endParaRPr lang="en-US" sz="32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7731477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THIS KEYWORD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997894" y="2517843"/>
            <a:ext cx="15537445" cy="6894195"/>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b="1" dirty="0">
                <a:solidFill>
                  <a:srgbClr val="000000"/>
                </a:solidFill>
                <a:latin typeface="Century Gothic Paneuropean"/>
                <a:ea typeface="Century Gothic Paneuropean"/>
                <a:cs typeface="Century Gothic Paneuropean"/>
              </a:rPr>
              <a:t>this</a:t>
            </a:r>
            <a:r>
              <a:rPr lang="en-US" sz="3200" dirty="0">
                <a:solidFill>
                  <a:srgbClr val="000000"/>
                </a:solidFill>
                <a:latin typeface="Century Gothic Paneuropean"/>
                <a:ea typeface="Century Gothic Paneuropean"/>
                <a:cs typeface="Century Gothic Paneuropean"/>
              </a:rPr>
              <a:t> means “current object”.</a:t>
            </a:r>
          </a:p>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Whenever we create an object, this represent that object inside the class.</a:t>
            </a:r>
          </a:p>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Sometimes a method will need to refer to </a:t>
            </a:r>
            <a:r>
              <a:rPr lang="en-US" sz="3200" dirty="0" smtClean="0">
                <a:solidFill>
                  <a:srgbClr val="000000"/>
                </a:solidFill>
                <a:latin typeface="Century Gothic Paneuropean"/>
                <a:ea typeface="Century Gothic Paneuropean"/>
                <a:cs typeface="Century Gothic Paneuropean"/>
              </a:rPr>
              <a:t>the object </a:t>
            </a:r>
            <a:r>
              <a:rPr lang="en-US" sz="3200" dirty="0">
                <a:solidFill>
                  <a:srgbClr val="000000"/>
                </a:solidFill>
                <a:latin typeface="Century Gothic Paneuropean"/>
                <a:ea typeface="Century Gothic Paneuropean"/>
                <a:cs typeface="Century Gothic Paneuropean"/>
              </a:rPr>
              <a:t>that invoked </a:t>
            </a:r>
            <a:r>
              <a:rPr lang="en-US" sz="3200" dirty="0" smtClean="0">
                <a:solidFill>
                  <a:srgbClr val="000000"/>
                </a:solidFill>
                <a:latin typeface="Century Gothic Paneuropean"/>
                <a:ea typeface="Century Gothic Paneuropean"/>
                <a:cs typeface="Century Gothic Paneuropean"/>
              </a:rPr>
              <a:t>it.</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To </a:t>
            </a:r>
            <a:r>
              <a:rPr lang="en-US" sz="3200" dirty="0">
                <a:solidFill>
                  <a:srgbClr val="000000"/>
                </a:solidFill>
                <a:latin typeface="Century Gothic Paneuropean"/>
                <a:ea typeface="Century Gothic Paneuropean"/>
                <a:cs typeface="Century Gothic Paneuropean"/>
              </a:rPr>
              <a:t>allow this, Java defines the this </a:t>
            </a:r>
            <a:r>
              <a:rPr lang="en-US" sz="3200" dirty="0" smtClean="0">
                <a:solidFill>
                  <a:srgbClr val="000000"/>
                </a:solidFill>
                <a:latin typeface="Century Gothic Paneuropean"/>
                <a:ea typeface="Century Gothic Paneuropean"/>
                <a:cs typeface="Century Gothic Paneuropean"/>
              </a:rPr>
              <a:t>keyword.</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this </a:t>
            </a:r>
            <a:r>
              <a:rPr lang="en-US" sz="3200" dirty="0">
                <a:solidFill>
                  <a:srgbClr val="000000"/>
                </a:solidFill>
                <a:latin typeface="Century Gothic Paneuropean"/>
                <a:ea typeface="Century Gothic Paneuropean"/>
                <a:cs typeface="Century Gothic Paneuropean"/>
              </a:rPr>
              <a:t>can be used inside any method to refer to </a:t>
            </a:r>
            <a:r>
              <a:rPr lang="en-US" sz="3200" dirty="0" smtClean="0">
                <a:solidFill>
                  <a:srgbClr val="000000"/>
                </a:solidFill>
                <a:latin typeface="Century Gothic Paneuropean"/>
                <a:ea typeface="Century Gothic Paneuropean"/>
                <a:cs typeface="Century Gothic Paneuropean"/>
              </a:rPr>
              <a:t>the current </a:t>
            </a:r>
            <a:r>
              <a:rPr lang="en-US" sz="3200" dirty="0">
                <a:solidFill>
                  <a:srgbClr val="000000"/>
                </a:solidFill>
                <a:latin typeface="Century Gothic Paneuropean"/>
                <a:ea typeface="Century Gothic Paneuropean"/>
                <a:cs typeface="Century Gothic Paneuropean"/>
              </a:rPr>
              <a:t>object . That is, this is always a reference </a:t>
            </a:r>
            <a:r>
              <a:rPr lang="en-US" sz="3200" dirty="0" smtClean="0">
                <a:solidFill>
                  <a:srgbClr val="000000"/>
                </a:solidFill>
                <a:latin typeface="Century Gothic Paneuropean"/>
                <a:ea typeface="Century Gothic Paneuropean"/>
                <a:cs typeface="Century Gothic Paneuropean"/>
              </a:rPr>
              <a:t>to the </a:t>
            </a:r>
            <a:r>
              <a:rPr lang="en-US" sz="3200" dirty="0">
                <a:solidFill>
                  <a:srgbClr val="000000"/>
                </a:solidFill>
                <a:latin typeface="Century Gothic Paneuropean"/>
                <a:ea typeface="Century Gothic Paneuropean"/>
                <a:cs typeface="Century Gothic Paneuropean"/>
              </a:rPr>
              <a:t>object on which the method was invoked</a:t>
            </a:r>
            <a:r>
              <a:rPr lang="en-US" sz="3200" dirty="0" smtClean="0">
                <a:solidFill>
                  <a:srgbClr val="000000"/>
                </a:solidFill>
                <a:latin typeface="Century Gothic Paneuropean"/>
                <a:ea typeface="Century Gothic Paneuropean"/>
                <a:cs typeface="Century Gothic Paneuropean"/>
              </a:rPr>
              <a:t>.</a:t>
            </a:r>
          </a:p>
          <a:p>
            <a:endParaRPr lang="en-US" sz="3200" dirty="0"/>
          </a:p>
          <a:p>
            <a:r>
              <a:rPr lang="en-US" sz="3200" dirty="0">
                <a:solidFill>
                  <a:srgbClr val="000000"/>
                </a:solidFill>
                <a:latin typeface="Century Gothic Paneuropean"/>
                <a:ea typeface="Century Gothic Paneuropean"/>
                <a:cs typeface="Century Gothic Paneuropean"/>
              </a:rPr>
              <a:t>Usage of java this keyword</a:t>
            </a:r>
          </a:p>
          <a:p>
            <a:r>
              <a:rPr lang="en-US" sz="3200" dirty="0" err="1">
                <a:solidFill>
                  <a:srgbClr val="000000"/>
                </a:solidFill>
                <a:latin typeface="Century Gothic Paneuropean"/>
                <a:ea typeface="Century Gothic Paneuropean"/>
                <a:cs typeface="Century Gothic Paneuropean"/>
              </a:rPr>
              <a:t>1.this</a:t>
            </a:r>
            <a:r>
              <a:rPr lang="en-US" sz="3200" dirty="0">
                <a:solidFill>
                  <a:srgbClr val="000000"/>
                </a:solidFill>
                <a:latin typeface="Century Gothic Paneuropean"/>
                <a:ea typeface="Century Gothic Paneuropean"/>
                <a:cs typeface="Century Gothic Paneuropean"/>
              </a:rPr>
              <a:t> can be used to refer current class instance variable.</a:t>
            </a:r>
          </a:p>
          <a:p>
            <a:r>
              <a:rPr lang="en-US" sz="3200" dirty="0" err="1">
                <a:solidFill>
                  <a:srgbClr val="000000"/>
                </a:solidFill>
                <a:latin typeface="Century Gothic Paneuropean"/>
                <a:ea typeface="Century Gothic Paneuropean"/>
                <a:cs typeface="Century Gothic Paneuropean"/>
              </a:rPr>
              <a:t>2.this</a:t>
            </a:r>
            <a:r>
              <a:rPr lang="en-US" sz="3200" dirty="0">
                <a:solidFill>
                  <a:srgbClr val="000000"/>
                </a:solidFill>
                <a:latin typeface="Century Gothic Paneuropean"/>
                <a:ea typeface="Century Gothic Paneuropean"/>
                <a:cs typeface="Century Gothic Paneuropean"/>
              </a:rPr>
              <a:t> can be used to invoke current class method(implicitly)</a:t>
            </a:r>
          </a:p>
          <a:p>
            <a:r>
              <a:rPr lang="en-US" sz="3200" dirty="0" err="1">
                <a:solidFill>
                  <a:srgbClr val="000000"/>
                </a:solidFill>
                <a:latin typeface="Century Gothic Paneuropean"/>
                <a:ea typeface="Century Gothic Paneuropean"/>
                <a:cs typeface="Century Gothic Paneuropean"/>
              </a:rPr>
              <a:t>3.this</a:t>
            </a:r>
            <a:r>
              <a:rPr lang="en-US" sz="3200" dirty="0">
                <a:solidFill>
                  <a:srgbClr val="000000"/>
                </a:solidFill>
                <a:latin typeface="Century Gothic Paneuropean"/>
                <a:ea typeface="Century Gothic Paneuropean"/>
                <a:cs typeface="Century Gothic Paneuropean"/>
              </a:rPr>
              <a:t>() can be used to invoke current class constructor.</a:t>
            </a:r>
          </a:p>
          <a:p>
            <a:r>
              <a:rPr lang="en-US" sz="3200" dirty="0" err="1">
                <a:solidFill>
                  <a:srgbClr val="000000"/>
                </a:solidFill>
                <a:latin typeface="Century Gothic Paneuropean"/>
                <a:ea typeface="Century Gothic Paneuropean"/>
                <a:cs typeface="Century Gothic Paneuropean"/>
              </a:rPr>
              <a:t>4.this</a:t>
            </a:r>
            <a:r>
              <a:rPr lang="en-US" sz="3200" dirty="0">
                <a:solidFill>
                  <a:srgbClr val="000000"/>
                </a:solidFill>
                <a:latin typeface="Century Gothic Paneuropean"/>
                <a:ea typeface="Century Gothic Paneuropean"/>
                <a:cs typeface="Century Gothic Paneuropean"/>
              </a:rPr>
              <a:t> can be passed as an argument in the method call.</a:t>
            </a:r>
          </a:p>
          <a:p>
            <a:r>
              <a:rPr lang="en-US" sz="3200" dirty="0" err="1">
                <a:solidFill>
                  <a:srgbClr val="000000"/>
                </a:solidFill>
                <a:latin typeface="Century Gothic Paneuropean"/>
                <a:ea typeface="Century Gothic Paneuropean"/>
                <a:cs typeface="Century Gothic Paneuropean"/>
              </a:rPr>
              <a:t>5.this</a:t>
            </a:r>
            <a:r>
              <a:rPr lang="en-US" sz="3200" dirty="0">
                <a:solidFill>
                  <a:srgbClr val="000000"/>
                </a:solidFill>
                <a:latin typeface="Century Gothic Paneuropean"/>
                <a:ea typeface="Century Gothic Paneuropean"/>
                <a:cs typeface="Century Gothic Paneuropean"/>
              </a:rPr>
              <a:t> can be passed as argument in the constructor call.</a:t>
            </a:r>
          </a:p>
          <a:p>
            <a:r>
              <a:rPr lang="en-US" sz="3200" dirty="0" err="1">
                <a:solidFill>
                  <a:srgbClr val="000000"/>
                </a:solidFill>
                <a:latin typeface="Century Gothic Paneuropean"/>
                <a:ea typeface="Century Gothic Paneuropean"/>
                <a:cs typeface="Century Gothic Paneuropean"/>
              </a:rPr>
              <a:t>6.this</a:t>
            </a:r>
            <a:r>
              <a:rPr lang="en-US" sz="3200" dirty="0">
                <a:solidFill>
                  <a:srgbClr val="000000"/>
                </a:solidFill>
                <a:latin typeface="Century Gothic Paneuropean"/>
                <a:ea typeface="Century Gothic Paneuropean"/>
                <a:cs typeface="Century Gothic Paneuropean"/>
              </a:rPr>
              <a:t> can be used to </a:t>
            </a:r>
            <a:r>
              <a:rPr lang="en-US" sz="3200" dirty="0" err="1">
                <a:solidFill>
                  <a:srgbClr val="000000"/>
                </a:solidFill>
                <a:latin typeface="Century Gothic Paneuropean"/>
                <a:ea typeface="Century Gothic Paneuropean"/>
                <a:cs typeface="Century Gothic Paneuropean"/>
              </a:rPr>
              <a:t>returnthe</a:t>
            </a:r>
            <a:r>
              <a:rPr lang="en-US" sz="3200" dirty="0">
                <a:solidFill>
                  <a:srgbClr val="000000"/>
                </a:solidFill>
                <a:latin typeface="Century Gothic Paneuropean"/>
                <a:ea typeface="Century Gothic Paneuropean"/>
                <a:cs typeface="Century Gothic Paneuropean"/>
              </a:rPr>
              <a:t> current class instance from the method</a:t>
            </a:r>
            <a:r>
              <a:rPr lang="en-US" sz="3200" dirty="0">
                <a:solidFill>
                  <a:srgbClr val="000000"/>
                </a:solidFill>
                <a:latin typeface="Century Gothic Paneuropean"/>
                <a:ea typeface="Century Gothic Paneuropean"/>
                <a:cs typeface="Century Gothic Paneuropean"/>
              </a:rPr>
              <a:t>.</a:t>
            </a:r>
            <a:endParaRPr lang="en-US" sz="32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22472357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THIS KEYWORD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7263527"/>
          </a:xfrm>
          <a:prstGeom prst="rect">
            <a:avLst/>
          </a:prstGeom>
        </p:spPr>
        <p:txBody>
          <a:bodyPr wrap="square" lIns="0" tIns="0" rIns="0" bIns="0" rtlCol="0" anchor="t">
            <a:spAutoFit/>
          </a:bodyPr>
          <a:lstStyle/>
          <a:p>
            <a:endParaRPr lang="en-US" sz="3200" dirty="0">
              <a:solidFill>
                <a:srgbClr val="000000"/>
              </a:solidFill>
              <a:latin typeface="Century Gothic Paneuropean"/>
              <a:ea typeface="Century Gothic Paneuropean"/>
              <a:cs typeface="Century Gothic Paneuropean"/>
            </a:endParaRPr>
          </a:p>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Why do we use it ?</a:t>
            </a:r>
          </a:p>
          <a:p>
            <a:pPr marL="1371600" lvl="2" indent="-457200">
              <a:buFont typeface="Arial" panose="020B0604020202020204" pitchFamily="34" charset="0"/>
              <a:buChar char="•"/>
            </a:pPr>
            <a:r>
              <a:rPr lang="en-US" sz="3200" b="1" dirty="0">
                <a:solidFill>
                  <a:srgbClr val="000000"/>
                </a:solidFill>
                <a:latin typeface="Century Gothic Paneuropean"/>
                <a:ea typeface="Century Gothic Paneuropean"/>
                <a:cs typeface="Century Gothic Paneuropean"/>
              </a:rPr>
              <a:t>When a variable name clashes</a:t>
            </a:r>
            <a:r>
              <a:rPr lang="en-US" sz="3200" dirty="0">
                <a:solidFill>
                  <a:srgbClr val="000000"/>
                </a:solidFill>
                <a:latin typeface="Century Gothic Paneuropean"/>
                <a:ea typeface="Century Gothic Paneuropean"/>
                <a:cs typeface="Century Gothic Paneuropean"/>
              </a:rPr>
              <a:t> - instance variable vs local variables </a:t>
            </a:r>
            <a:r>
              <a:rPr lang="en-US" sz="3200" dirty="0" err="1">
                <a:solidFill>
                  <a:srgbClr val="000000"/>
                </a:solidFill>
                <a:latin typeface="Century Gothic Paneuropean"/>
                <a:ea typeface="Century Gothic Paneuropean"/>
                <a:cs typeface="Century Gothic Paneuropean"/>
              </a:rPr>
              <a:t>i.e</a:t>
            </a:r>
            <a:r>
              <a:rPr lang="en-US" sz="3200" dirty="0">
                <a:solidFill>
                  <a:srgbClr val="000000"/>
                </a:solidFill>
                <a:latin typeface="Century Gothic Paneuropean"/>
                <a:ea typeface="Century Gothic Paneuropean"/>
                <a:cs typeface="Century Gothic Paneuropean"/>
              </a:rPr>
              <a:t> instance variables and local variables (method parameters) have same name. In that case, Java gets confused which one to choose. So this keyword is used to point to Instance variables</a:t>
            </a:r>
            <a:r>
              <a:rPr lang="en-US" sz="3200" dirty="0" smtClean="0">
                <a:solidFill>
                  <a:srgbClr val="000000"/>
                </a:solidFill>
                <a:latin typeface="Century Gothic Paneuropean"/>
                <a:ea typeface="Century Gothic Paneuropean"/>
                <a:cs typeface="Century Gothic Paneuropean"/>
              </a:rPr>
              <a:t>.</a:t>
            </a:r>
          </a:p>
          <a:p>
            <a:pPr lvl="3"/>
            <a:r>
              <a:rPr lang="en-US" sz="2400" b="1" dirty="0" smtClean="0">
                <a:solidFill>
                  <a:srgbClr val="7F0055"/>
                </a:solidFill>
                <a:latin typeface="Consolas"/>
              </a:rPr>
              <a:t>double</a:t>
            </a:r>
            <a:r>
              <a:rPr lang="en-US" sz="2400" b="1" dirty="0" smtClean="0">
                <a:solidFill>
                  <a:srgbClr val="000000"/>
                </a:solidFill>
                <a:latin typeface="Consolas"/>
              </a:rPr>
              <a:t> </a:t>
            </a:r>
            <a:r>
              <a:rPr lang="en-US" sz="2400" b="1" dirty="0" smtClean="0">
                <a:solidFill>
                  <a:srgbClr val="0000C0"/>
                </a:solidFill>
                <a:latin typeface="Consolas"/>
              </a:rPr>
              <a:t>width</a:t>
            </a:r>
            <a:r>
              <a:rPr lang="en-US" sz="2400" b="1" dirty="0" smtClean="0">
                <a:solidFill>
                  <a:srgbClr val="000000"/>
                </a:solidFill>
                <a:latin typeface="Consolas"/>
              </a:rPr>
              <a:t>;</a:t>
            </a:r>
          </a:p>
          <a:p>
            <a:pPr lvl="3"/>
            <a:r>
              <a:rPr lang="en-US" sz="2400" b="1" dirty="0" smtClean="0">
                <a:solidFill>
                  <a:srgbClr val="7F0055"/>
                </a:solidFill>
                <a:latin typeface="Consolas"/>
              </a:rPr>
              <a:t>double</a:t>
            </a:r>
            <a:r>
              <a:rPr lang="en-US" sz="2400" b="1" dirty="0" smtClean="0">
                <a:solidFill>
                  <a:srgbClr val="000000"/>
                </a:solidFill>
                <a:latin typeface="Consolas"/>
              </a:rPr>
              <a:t> </a:t>
            </a:r>
            <a:r>
              <a:rPr lang="en-US" sz="2400" b="1" dirty="0" smtClean="0">
                <a:solidFill>
                  <a:srgbClr val="0000C0"/>
                </a:solidFill>
                <a:latin typeface="Consolas"/>
              </a:rPr>
              <a:t>height</a:t>
            </a:r>
            <a:r>
              <a:rPr lang="en-US" sz="2400" b="1" dirty="0" smtClean="0">
                <a:solidFill>
                  <a:srgbClr val="000000"/>
                </a:solidFill>
                <a:latin typeface="Consolas"/>
              </a:rPr>
              <a:t>;</a:t>
            </a:r>
          </a:p>
          <a:p>
            <a:pPr lvl="3"/>
            <a:r>
              <a:rPr lang="en-US" sz="2400" b="1" dirty="0" smtClean="0">
                <a:solidFill>
                  <a:srgbClr val="7F0055"/>
                </a:solidFill>
                <a:latin typeface="Consolas"/>
              </a:rPr>
              <a:t>double</a:t>
            </a:r>
            <a:r>
              <a:rPr lang="en-US" sz="2400" b="1" dirty="0" smtClean="0">
                <a:solidFill>
                  <a:srgbClr val="000000"/>
                </a:solidFill>
                <a:latin typeface="Consolas"/>
              </a:rPr>
              <a:t> </a:t>
            </a:r>
            <a:r>
              <a:rPr lang="en-US" sz="2400" b="1" dirty="0" smtClean="0">
                <a:solidFill>
                  <a:srgbClr val="0000C0"/>
                </a:solidFill>
                <a:latin typeface="Consolas"/>
              </a:rPr>
              <a:t>depth</a:t>
            </a:r>
            <a:r>
              <a:rPr lang="en-US" sz="2400" b="1" dirty="0" smtClean="0">
                <a:solidFill>
                  <a:srgbClr val="000000"/>
                </a:solidFill>
                <a:latin typeface="Consolas"/>
              </a:rPr>
              <a:t>;</a:t>
            </a:r>
          </a:p>
          <a:p>
            <a:pPr lvl="3"/>
            <a:r>
              <a:rPr lang="en-US" sz="2400" b="1" dirty="0" smtClean="0">
                <a:solidFill>
                  <a:srgbClr val="7F0055"/>
                </a:solidFill>
                <a:latin typeface="Consolas"/>
              </a:rPr>
              <a:t>double</a:t>
            </a:r>
            <a:r>
              <a:rPr lang="en-US" sz="2400" b="1" dirty="0" smtClean="0">
                <a:solidFill>
                  <a:srgbClr val="000000"/>
                </a:solidFill>
                <a:latin typeface="Consolas"/>
              </a:rPr>
              <a:t> </a:t>
            </a:r>
            <a:r>
              <a:rPr lang="en-US" sz="2400" b="1" dirty="0" smtClean="0">
                <a:solidFill>
                  <a:srgbClr val="0000C0"/>
                </a:solidFill>
                <a:latin typeface="Consolas"/>
              </a:rPr>
              <a:t>volume</a:t>
            </a:r>
            <a:r>
              <a:rPr lang="en-US" sz="2400" b="1" dirty="0" smtClean="0">
                <a:solidFill>
                  <a:srgbClr val="000000"/>
                </a:solidFill>
                <a:latin typeface="Consolas"/>
              </a:rPr>
              <a:t>;</a:t>
            </a:r>
            <a:endParaRPr lang="en-US" sz="3200" dirty="0" smtClean="0">
              <a:solidFill>
                <a:srgbClr val="000000"/>
              </a:solidFill>
              <a:latin typeface="Century Gothic Paneuropean"/>
              <a:ea typeface="Century Gothic Paneuropean"/>
              <a:cs typeface="Century Gothic Paneuropean"/>
            </a:endParaRPr>
          </a:p>
          <a:p>
            <a:pPr lvl="3"/>
            <a:r>
              <a:rPr lang="en-US" sz="2400" dirty="0" smtClean="0">
                <a:solidFill>
                  <a:srgbClr val="000000"/>
                </a:solidFill>
                <a:latin typeface="Consolas"/>
              </a:rPr>
              <a:t>Box(</a:t>
            </a:r>
            <a:r>
              <a:rPr lang="en-US" sz="2400" b="1" dirty="0" smtClean="0">
                <a:solidFill>
                  <a:srgbClr val="7F0055"/>
                </a:solidFill>
                <a:latin typeface="Consolas"/>
              </a:rPr>
              <a:t>double</a:t>
            </a:r>
            <a:r>
              <a:rPr lang="en-US" sz="2400" dirty="0" smtClean="0">
                <a:solidFill>
                  <a:srgbClr val="000000"/>
                </a:solidFill>
                <a:latin typeface="Consolas"/>
              </a:rPr>
              <a:t> </a:t>
            </a:r>
            <a:r>
              <a:rPr lang="en-US" sz="2400" dirty="0" err="1">
                <a:solidFill>
                  <a:srgbClr val="6A3E3E"/>
                </a:solidFill>
                <a:latin typeface="Consolas"/>
              </a:rPr>
              <a:t>width</a:t>
            </a:r>
            <a:r>
              <a:rPr lang="en-US" sz="2400" dirty="0" err="1">
                <a:solidFill>
                  <a:srgbClr val="000000"/>
                </a:solidFill>
                <a:latin typeface="Consolas"/>
              </a:rPr>
              <a:t>,</a:t>
            </a:r>
            <a:r>
              <a:rPr lang="en-US" sz="2400" b="1" dirty="0" err="1">
                <a:solidFill>
                  <a:srgbClr val="7F0055"/>
                </a:solidFill>
                <a:latin typeface="Consolas"/>
              </a:rPr>
              <a:t>double</a:t>
            </a:r>
            <a:r>
              <a:rPr lang="en-US" sz="2400" dirty="0">
                <a:solidFill>
                  <a:srgbClr val="000000"/>
                </a:solidFill>
                <a:latin typeface="Consolas"/>
              </a:rPr>
              <a:t> </a:t>
            </a:r>
            <a:r>
              <a:rPr lang="en-US" sz="2400" dirty="0" err="1">
                <a:solidFill>
                  <a:srgbClr val="6A3E3E"/>
                </a:solidFill>
                <a:latin typeface="Consolas"/>
              </a:rPr>
              <a:t>height</a:t>
            </a:r>
            <a:r>
              <a:rPr lang="en-US" sz="2400" dirty="0" err="1">
                <a:solidFill>
                  <a:srgbClr val="000000"/>
                </a:solidFill>
                <a:latin typeface="Consolas"/>
              </a:rPr>
              <a:t>,</a:t>
            </a:r>
            <a:r>
              <a:rPr lang="en-US" sz="2400" b="1" dirty="0" err="1">
                <a:solidFill>
                  <a:srgbClr val="7F0055"/>
                </a:solidFill>
                <a:latin typeface="Consolas"/>
              </a:rPr>
              <a:t>double</a:t>
            </a:r>
            <a:r>
              <a:rPr lang="en-US" sz="2400" dirty="0">
                <a:solidFill>
                  <a:srgbClr val="000000"/>
                </a:solidFill>
                <a:latin typeface="Consolas"/>
              </a:rPr>
              <a:t> </a:t>
            </a:r>
            <a:r>
              <a:rPr lang="en-US" sz="2400" dirty="0">
                <a:solidFill>
                  <a:srgbClr val="6A3E3E"/>
                </a:solidFill>
                <a:latin typeface="Consolas"/>
              </a:rPr>
              <a:t>depth</a:t>
            </a:r>
            <a:r>
              <a:rPr lang="en-US" sz="2400" dirty="0">
                <a:solidFill>
                  <a:srgbClr val="000000"/>
                </a:solidFill>
                <a:latin typeface="Consolas"/>
              </a:rPr>
              <a:t>){</a:t>
            </a:r>
          </a:p>
          <a:p>
            <a:pPr lvl="3"/>
            <a:r>
              <a:rPr lang="en-US" sz="2400" b="1" dirty="0" err="1">
                <a:solidFill>
                  <a:srgbClr val="7F0055"/>
                </a:solidFill>
                <a:latin typeface="Consolas"/>
              </a:rPr>
              <a:t>this</a:t>
            </a:r>
            <a:r>
              <a:rPr lang="en-US" sz="2400" dirty="0" err="1">
                <a:solidFill>
                  <a:srgbClr val="000000"/>
                </a:solidFill>
                <a:latin typeface="Consolas"/>
              </a:rPr>
              <a:t>.</a:t>
            </a:r>
            <a:r>
              <a:rPr lang="en-US" sz="2400" dirty="0" err="1">
                <a:solidFill>
                  <a:srgbClr val="0000C0"/>
                </a:solidFill>
                <a:latin typeface="Consolas"/>
              </a:rPr>
              <a:t>width</a:t>
            </a:r>
            <a:r>
              <a:rPr lang="en-US" sz="2400" dirty="0">
                <a:solidFill>
                  <a:srgbClr val="000000"/>
                </a:solidFill>
                <a:latin typeface="Consolas"/>
              </a:rPr>
              <a:t>=</a:t>
            </a:r>
            <a:r>
              <a:rPr lang="en-US" sz="2400" dirty="0">
                <a:solidFill>
                  <a:srgbClr val="6A3E3E"/>
                </a:solidFill>
                <a:latin typeface="Consolas"/>
              </a:rPr>
              <a:t>width</a:t>
            </a:r>
            <a:r>
              <a:rPr lang="en-US" sz="2400" dirty="0">
                <a:solidFill>
                  <a:srgbClr val="000000"/>
                </a:solidFill>
                <a:latin typeface="Consolas"/>
              </a:rPr>
              <a:t>; </a:t>
            </a:r>
            <a:r>
              <a:rPr lang="en-US" sz="2400" dirty="0" smtClean="0">
                <a:solidFill>
                  <a:srgbClr val="3F7F5F"/>
                </a:solidFill>
                <a:latin typeface="Consolas"/>
              </a:rPr>
              <a:t> </a:t>
            </a:r>
            <a:endParaRPr lang="en-US" sz="2400" dirty="0">
              <a:solidFill>
                <a:srgbClr val="000000"/>
              </a:solidFill>
              <a:latin typeface="Consolas"/>
            </a:endParaRPr>
          </a:p>
          <a:p>
            <a:pPr lvl="3"/>
            <a:r>
              <a:rPr lang="en-US" sz="2400" b="1" dirty="0" err="1">
                <a:solidFill>
                  <a:srgbClr val="7F0055"/>
                </a:solidFill>
                <a:latin typeface="Consolas"/>
              </a:rPr>
              <a:t>this</a:t>
            </a:r>
            <a:r>
              <a:rPr lang="en-US" sz="2400" dirty="0" err="1">
                <a:solidFill>
                  <a:srgbClr val="000000"/>
                </a:solidFill>
                <a:latin typeface="Consolas"/>
              </a:rPr>
              <a:t>.</a:t>
            </a:r>
            <a:r>
              <a:rPr lang="en-US" sz="2400" dirty="0" err="1">
                <a:solidFill>
                  <a:srgbClr val="0000C0"/>
                </a:solidFill>
                <a:latin typeface="Consolas"/>
              </a:rPr>
              <a:t>height</a:t>
            </a:r>
            <a:r>
              <a:rPr lang="en-US" sz="2400" dirty="0">
                <a:solidFill>
                  <a:srgbClr val="000000"/>
                </a:solidFill>
                <a:latin typeface="Consolas"/>
              </a:rPr>
              <a:t>=</a:t>
            </a:r>
            <a:r>
              <a:rPr lang="en-US" sz="2400" dirty="0">
                <a:solidFill>
                  <a:srgbClr val="6A3E3E"/>
                </a:solidFill>
                <a:latin typeface="Consolas"/>
              </a:rPr>
              <a:t>height</a:t>
            </a:r>
            <a:r>
              <a:rPr lang="en-US" sz="2400" dirty="0">
                <a:solidFill>
                  <a:srgbClr val="000000"/>
                </a:solidFill>
                <a:latin typeface="Consolas"/>
              </a:rPr>
              <a:t>;</a:t>
            </a:r>
          </a:p>
          <a:p>
            <a:pPr lvl="3"/>
            <a:r>
              <a:rPr lang="en-US" sz="2400" b="1" dirty="0" err="1">
                <a:solidFill>
                  <a:srgbClr val="7F0055"/>
                </a:solidFill>
                <a:latin typeface="Consolas"/>
              </a:rPr>
              <a:t>this</a:t>
            </a:r>
            <a:r>
              <a:rPr lang="en-US" sz="2400" dirty="0" err="1">
                <a:solidFill>
                  <a:srgbClr val="000000"/>
                </a:solidFill>
                <a:latin typeface="Consolas"/>
              </a:rPr>
              <a:t>.</a:t>
            </a:r>
            <a:r>
              <a:rPr lang="en-US" sz="2400" dirty="0" err="1">
                <a:solidFill>
                  <a:srgbClr val="0000C0"/>
                </a:solidFill>
                <a:latin typeface="Consolas"/>
              </a:rPr>
              <a:t>depth</a:t>
            </a:r>
            <a:r>
              <a:rPr lang="en-US" sz="2400" dirty="0">
                <a:solidFill>
                  <a:srgbClr val="000000"/>
                </a:solidFill>
                <a:latin typeface="Consolas"/>
              </a:rPr>
              <a:t>=</a:t>
            </a:r>
            <a:r>
              <a:rPr lang="en-US" sz="2400" dirty="0">
                <a:solidFill>
                  <a:srgbClr val="6A3E3E"/>
                </a:solidFill>
                <a:latin typeface="Consolas"/>
              </a:rPr>
              <a:t>depth</a:t>
            </a:r>
            <a:r>
              <a:rPr lang="en-US" sz="2400" dirty="0">
                <a:solidFill>
                  <a:srgbClr val="000000"/>
                </a:solidFill>
                <a:latin typeface="Consolas"/>
              </a:rPr>
              <a:t>;</a:t>
            </a:r>
          </a:p>
          <a:p>
            <a:pPr lvl="3"/>
            <a:r>
              <a:rPr lang="en-US" sz="2400" dirty="0" smtClean="0">
                <a:solidFill>
                  <a:srgbClr val="000000"/>
                </a:solidFill>
                <a:latin typeface="Consolas"/>
              </a:rPr>
              <a:t>}</a:t>
            </a:r>
          </a:p>
          <a:p>
            <a:pPr lvl="3"/>
            <a:r>
              <a:rPr lang="en-US" sz="3200" dirty="0">
                <a:solidFill>
                  <a:srgbClr val="000000"/>
                </a:solidFill>
                <a:latin typeface="Century Gothic Paneuropean"/>
                <a:ea typeface="Century Gothic Paneuropean"/>
                <a:cs typeface="Century Gothic Paneuropean"/>
              </a:rPr>
              <a:t>Instance Variables declared inside class are same as parameters passed to the parametrized </a:t>
            </a:r>
            <a:r>
              <a:rPr lang="en-US" sz="3200" dirty="0" smtClean="0">
                <a:solidFill>
                  <a:srgbClr val="000000"/>
                </a:solidFill>
                <a:latin typeface="Century Gothic Paneuropean"/>
                <a:ea typeface="Century Gothic Paneuropean"/>
                <a:cs typeface="Century Gothic Paneuropean"/>
              </a:rPr>
              <a:t>constructor.</a:t>
            </a:r>
            <a:endParaRPr lang="en-US" sz="32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12223079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THIS KEYWORD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7879080"/>
          </a:xfrm>
          <a:prstGeom prst="rect">
            <a:avLst/>
          </a:prstGeom>
        </p:spPr>
        <p:txBody>
          <a:bodyPr wrap="square" lIns="0" tIns="0" rIns="0" bIns="0" rtlCol="0" anchor="t">
            <a:spAutoFit/>
          </a:bodyPr>
          <a:lstStyle/>
          <a:p>
            <a:endParaRPr lang="en-US" sz="2400" dirty="0" smtClean="0">
              <a:solidFill>
                <a:srgbClr val="000000"/>
              </a:solidFill>
              <a:latin typeface="Consolas"/>
            </a:endParaRPr>
          </a:p>
          <a:p>
            <a:pPr marL="1257300" lvl="2" indent="-342900">
              <a:buFont typeface="Arial" panose="020B0604020202020204" pitchFamily="34" charset="0"/>
              <a:buChar char="•"/>
            </a:pPr>
            <a:r>
              <a:rPr lang="en-US" sz="3200" b="1" dirty="0" smtClean="0">
                <a:solidFill>
                  <a:srgbClr val="000000"/>
                </a:solidFill>
                <a:latin typeface="Century Gothic Paneuropean"/>
                <a:ea typeface="Century Gothic Paneuropean"/>
                <a:cs typeface="Century Gothic Paneuropean"/>
              </a:rPr>
              <a:t>To call one method from another in same class </a:t>
            </a:r>
            <a:r>
              <a:rPr lang="en-US" sz="2400" dirty="0" smtClean="0">
                <a:solidFill>
                  <a:srgbClr val="000000"/>
                </a:solidFill>
                <a:latin typeface="Consolas"/>
              </a:rPr>
              <a:t>– </a:t>
            </a:r>
            <a:r>
              <a:rPr lang="en-US" sz="3200" dirty="0" smtClean="0">
                <a:solidFill>
                  <a:srgbClr val="000000"/>
                </a:solidFill>
                <a:latin typeface="Century Gothic Paneuropean"/>
                <a:ea typeface="Century Gothic Paneuropean"/>
                <a:cs typeface="Century Gothic Paneuropean"/>
              </a:rPr>
              <a:t>If you are inside a class and want to call one method from another method of the same class, you can use this. But actually, Java adds this automatically when calling methods of the same class. </a:t>
            </a:r>
            <a:endParaRPr lang="en-US" sz="2400" dirty="0" smtClean="0">
              <a:solidFill>
                <a:srgbClr val="000000"/>
              </a:solidFill>
              <a:latin typeface="Consolas"/>
            </a:endParaRPr>
          </a:p>
          <a:p>
            <a:pPr lvl="3"/>
            <a:endParaRPr lang="en-US" sz="2400" b="1" dirty="0" smtClean="0">
              <a:solidFill>
                <a:srgbClr val="7F0055"/>
              </a:solidFill>
              <a:latin typeface="Consolas"/>
            </a:endParaRPr>
          </a:p>
          <a:p>
            <a:pPr lvl="3"/>
            <a:r>
              <a:rPr lang="en-US" sz="2400" b="1" dirty="0" smtClean="0">
                <a:solidFill>
                  <a:srgbClr val="7F0055"/>
                </a:solidFill>
                <a:latin typeface="Consolas"/>
              </a:rPr>
              <a:t>void</a:t>
            </a:r>
            <a:r>
              <a:rPr lang="en-US" sz="2400" b="1" dirty="0" smtClean="0">
                <a:solidFill>
                  <a:srgbClr val="000000"/>
                </a:solidFill>
                <a:latin typeface="Consolas"/>
              </a:rPr>
              <a:t> </a:t>
            </a:r>
            <a:r>
              <a:rPr lang="en-US" sz="2400" b="1" dirty="0" err="1">
                <a:solidFill>
                  <a:srgbClr val="000000"/>
                </a:solidFill>
                <a:latin typeface="Consolas"/>
              </a:rPr>
              <a:t>vol</a:t>
            </a:r>
            <a:r>
              <a:rPr lang="en-US" sz="2400" b="1" dirty="0">
                <a:solidFill>
                  <a:srgbClr val="000000"/>
                </a:solidFill>
                <a:latin typeface="Consolas"/>
              </a:rPr>
              <a:t>() {</a:t>
            </a:r>
          </a:p>
          <a:p>
            <a:pPr lvl="3"/>
            <a:r>
              <a:rPr lang="en-US" sz="2400" b="1" dirty="0">
                <a:solidFill>
                  <a:srgbClr val="0000C0"/>
                </a:solidFill>
                <a:latin typeface="Consolas"/>
              </a:rPr>
              <a:t>volume</a:t>
            </a:r>
            <a:r>
              <a:rPr lang="en-US" sz="2400" b="1" dirty="0">
                <a:solidFill>
                  <a:srgbClr val="000000"/>
                </a:solidFill>
                <a:latin typeface="Consolas"/>
              </a:rPr>
              <a:t> = </a:t>
            </a:r>
            <a:r>
              <a:rPr lang="en-US" sz="2400" b="1" dirty="0">
                <a:solidFill>
                  <a:srgbClr val="0000C0"/>
                </a:solidFill>
                <a:latin typeface="Consolas"/>
              </a:rPr>
              <a:t>width</a:t>
            </a:r>
            <a:r>
              <a:rPr lang="en-US" sz="2400" b="1" dirty="0">
                <a:solidFill>
                  <a:srgbClr val="000000"/>
                </a:solidFill>
                <a:latin typeface="Consolas"/>
              </a:rPr>
              <a:t>*</a:t>
            </a:r>
            <a:r>
              <a:rPr lang="en-US" sz="2400" b="1" dirty="0">
                <a:solidFill>
                  <a:srgbClr val="0000C0"/>
                </a:solidFill>
                <a:latin typeface="Consolas"/>
              </a:rPr>
              <a:t>height</a:t>
            </a:r>
            <a:r>
              <a:rPr lang="en-US" sz="2400" b="1" dirty="0">
                <a:solidFill>
                  <a:srgbClr val="000000"/>
                </a:solidFill>
                <a:latin typeface="Consolas"/>
              </a:rPr>
              <a:t>*</a:t>
            </a:r>
            <a:r>
              <a:rPr lang="en-US" sz="2400" b="1" dirty="0">
                <a:solidFill>
                  <a:srgbClr val="0000C0"/>
                </a:solidFill>
                <a:latin typeface="Consolas"/>
              </a:rPr>
              <a:t>depth</a:t>
            </a:r>
            <a:r>
              <a:rPr lang="en-US" sz="2400" b="1" dirty="0">
                <a:solidFill>
                  <a:srgbClr val="000000"/>
                </a:solidFill>
                <a:latin typeface="Consolas"/>
              </a:rPr>
              <a:t>;</a:t>
            </a:r>
          </a:p>
          <a:p>
            <a:pPr lvl="3"/>
            <a:r>
              <a:rPr lang="en-US" sz="2400" b="1" dirty="0" err="1">
                <a:solidFill>
                  <a:srgbClr val="000000"/>
                </a:solidFill>
                <a:latin typeface="Consolas"/>
              </a:rPr>
              <a:t>System.</a:t>
            </a:r>
            <a:r>
              <a:rPr lang="en-US" sz="2400" b="1" i="1" dirty="0" err="1">
                <a:solidFill>
                  <a:srgbClr val="0000C0"/>
                </a:solidFill>
                <a:latin typeface="Consolas"/>
              </a:rPr>
              <a:t>out</a:t>
            </a:r>
            <a:r>
              <a:rPr lang="en-US" sz="2400" b="1" dirty="0" err="1">
                <a:solidFill>
                  <a:srgbClr val="000000"/>
                </a:solidFill>
                <a:latin typeface="Consolas"/>
              </a:rPr>
              <a:t>.println</a:t>
            </a:r>
            <a:r>
              <a:rPr lang="en-US" sz="2400" b="1" dirty="0">
                <a:solidFill>
                  <a:srgbClr val="000000"/>
                </a:solidFill>
                <a:latin typeface="Consolas"/>
              </a:rPr>
              <a:t>(+</a:t>
            </a:r>
            <a:r>
              <a:rPr lang="en-US" sz="2400" b="1" dirty="0">
                <a:solidFill>
                  <a:srgbClr val="0000C0"/>
                </a:solidFill>
                <a:latin typeface="Consolas"/>
              </a:rPr>
              <a:t>volume</a:t>
            </a:r>
            <a:r>
              <a:rPr lang="en-US" sz="2400" b="1" dirty="0" smtClean="0">
                <a:solidFill>
                  <a:srgbClr val="000000"/>
                </a:solidFill>
                <a:latin typeface="Consolas"/>
              </a:rPr>
              <a:t>);</a:t>
            </a:r>
          </a:p>
          <a:p>
            <a:pPr lvl="3"/>
            <a:r>
              <a:rPr lang="en-US" sz="2400" b="1" dirty="0">
                <a:solidFill>
                  <a:srgbClr val="000000"/>
                </a:solidFill>
                <a:latin typeface="Consolas"/>
              </a:rPr>
              <a:t>}</a:t>
            </a:r>
          </a:p>
          <a:p>
            <a:pPr lvl="3"/>
            <a:r>
              <a:rPr lang="en-US" sz="2400" b="1" dirty="0">
                <a:solidFill>
                  <a:srgbClr val="7F0055"/>
                </a:solidFill>
                <a:latin typeface="Consolas"/>
              </a:rPr>
              <a:t>void</a:t>
            </a:r>
            <a:r>
              <a:rPr lang="en-US" sz="2400" b="1" dirty="0">
                <a:solidFill>
                  <a:srgbClr val="000000"/>
                </a:solidFill>
                <a:latin typeface="Consolas"/>
              </a:rPr>
              <a:t> </a:t>
            </a:r>
            <a:r>
              <a:rPr lang="en-US" sz="2400" b="1" dirty="0" err="1">
                <a:solidFill>
                  <a:srgbClr val="000000"/>
                </a:solidFill>
                <a:latin typeface="Consolas"/>
              </a:rPr>
              <a:t>vol2</a:t>
            </a:r>
            <a:r>
              <a:rPr lang="en-US" sz="2400" b="1" dirty="0">
                <a:solidFill>
                  <a:srgbClr val="000000"/>
                </a:solidFill>
                <a:latin typeface="Consolas"/>
              </a:rPr>
              <a:t>() {</a:t>
            </a:r>
          </a:p>
          <a:p>
            <a:pPr lvl="3"/>
            <a:r>
              <a:rPr lang="en-US" sz="2400" b="1" dirty="0" err="1">
                <a:solidFill>
                  <a:srgbClr val="7F0055"/>
                </a:solidFill>
                <a:latin typeface="Consolas"/>
              </a:rPr>
              <a:t>this</a:t>
            </a:r>
            <a:r>
              <a:rPr lang="en-US" sz="2400" b="1" dirty="0" err="1">
                <a:solidFill>
                  <a:srgbClr val="000000"/>
                </a:solidFill>
                <a:latin typeface="Consolas"/>
              </a:rPr>
              <a:t>.vol</a:t>
            </a:r>
            <a:r>
              <a:rPr lang="en-US" sz="2400" b="1" dirty="0" smtClean="0">
                <a:solidFill>
                  <a:srgbClr val="000000"/>
                </a:solidFill>
                <a:latin typeface="Consolas"/>
              </a:rPr>
              <a:t>();</a:t>
            </a:r>
          </a:p>
          <a:p>
            <a:pPr lvl="3"/>
            <a:r>
              <a:rPr lang="en-US" sz="2400" b="1" dirty="0" smtClean="0">
                <a:solidFill>
                  <a:srgbClr val="000000"/>
                </a:solidFill>
                <a:latin typeface="Consolas"/>
              </a:rPr>
              <a:t>}</a:t>
            </a:r>
          </a:p>
          <a:p>
            <a:pPr lvl="3"/>
            <a:endParaRPr lang="en-US" sz="2400" b="1" dirty="0" smtClean="0">
              <a:solidFill>
                <a:srgbClr val="000000"/>
              </a:solidFill>
              <a:latin typeface="Consolas"/>
            </a:endParaRPr>
          </a:p>
          <a:p>
            <a:pPr lvl="3"/>
            <a:r>
              <a:rPr lang="en-US" sz="3200" dirty="0" err="1">
                <a:solidFill>
                  <a:srgbClr val="000000"/>
                </a:solidFill>
                <a:latin typeface="Century Gothic Paneuropean"/>
                <a:ea typeface="Century Gothic Paneuropean"/>
                <a:cs typeface="Century Gothic Paneuropean"/>
              </a:rPr>
              <a:t>This.vol2</a:t>
            </a:r>
            <a:r>
              <a:rPr lang="en-US" sz="3200" dirty="0">
                <a:solidFill>
                  <a:srgbClr val="000000"/>
                </a:solidFill>
                <a:latin typeface="Century Gothic Paneuropean"/>
                <a:ea typeface="Century Gothic Paneuropean"/>
                <a:cs typeface="Century Gothic Paneuropean"/>
              </a:rPr>
              <a:t> ( ) means it calls </a:t>
            </a:r>
            <a:r>
              <a:rPr lang="en-US" sz="3200" dirty="0" err="1">
                <a:solidFill>
                  <a:srgbClr val="000000"/>
                </a:solidFill>
                <a:latin typeface="Century Gothic Paneuropean"/>
                <a:ea typeface="Century Gothic Paneuropean"/>
                <a:cs typeface="Century Gothic Paneuropean"/>
              </a:rPr>
              <a:t>vol</a:t>
            </a:r>
            <a:r>
              <a:rPr lang="en-US" sz="3200" dirty="0">
                <a:solidFill>
                  <a:srgbClr val="000000"/>
                </a:solidFill>
                <a:latin typeface="Century Gothic Paneuropean"/>
                <a:ea typeface="Century Gothic Paneuropean"/>
                <a:cs typeface="Century Gothic Paneuropean"/>
              </a:rPr>
              <a:t> ( )in </a:t>
            </a:r>
            <a:r>
              <a:rPr lang="en-US" sz="3200" dirty="0" err="1">
                <a:solidFill>
                  <a:srgbClr val="000000"/>
                </a:solidFill>
                <a:latin typeface="Century Gothic Paneuropean"/>
                <a:ea typeface="Century Gothic Paneuropean"/>
                <a:cs typeface="Century Gothic Paneuropean"/>
              </a:rPr>
              <a:t>vol2</a:t>
            </a:r>
            <a:r>
              <a:rPr lang="en-US" sz="3200" dirty="0">
                <a:solidFill>
                  <a:srgbClr val="000000"/>
                </a:solidFill>
                <a:latin typeface="Century Gothic Paneuropean"/>
                <a:ea typeface="Century Gothic Paneuropean"/>
                <a:cs typeface="Century Gothic Paneuropean"/>
              </a:rPr>
              <a:t> ( ).</a:t>
            </a:r>
          </a:p>
          <a:p>
            <a:pPr lvl="3"/>
            <a:endParaRPr lang="en-US" sz="2400" b="1" dirty="0">
              <a:solidFill>
                <a:srgbClr val="000000"/>
              </a:solidFill>
              <a:latin typeface="Consolas"/>
            </a:endParaRPr>
          </a:p>
          <a:p>
            <a:pPr lvl="3"/>
            <a:endParaRPr lang="en-US" sz="2400" dirty="0" smtClean="0">
              <a:solidFill>
                <a:srgbClr val="000000"/>
              </a:solidFill>
              <a:latin typeface="Consolas"/>
            </a:endParaRPr>
          </a:p>
          <a:p>
            <a:pPr marL="1371600" lvl="2" indent="-457200">
              <a:buFont typeface="Arial" panose="020B0604020202020204" pitchFamily="34" charset="0"/>
              <a:buChar char="•"/>
            </a:pPr>
            <a:endParaRPr lang="en-US" sz="3200" dirty="0" smtClean="0">
              <a:solidFill>
                <a:srgbClr val="000000"/>
              </a:solidFill>
              <a:latin typeface="Century Gothic Paneuropean"/>
              <a:ea typeface="Century Gothic Paneuropean"/>
              <a:cs typeface="Century Gothic Paneuropean"/>
            </a:endParaRPr>
          </a:p>
          <a:p>
            <a:pPr marL="1371600" lvl="2" indent="-457200">
              <a:buFont typeface="Arial" panose="020B0604020202020204" pitchFamily="34" charset="0"/>
              <a:buChar char="•"/>
            </a:pPr>
            <a:endParaRPr lang="en-US" sz="32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8711350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2779222"/>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THIS </a:t>
            </a:r>
            <a:r>
              <a:rPr lang="en-US" sz="6000" b="1" dirty="0" smtClean="0">
                <a:solidFill>
                  <a:srgbClr val="000000"/>
                </a:solidFill>
                <a:latin typeface="Century Gothic Paneuropean Bold"/>
                <a:ea typeface="Century Gothic Paneuropean Bold"/>
                <a:cs typeface="Century Gothic Paneuropean Bold"/>
                <a:sym typeface="Century Gothic Paneuropean Bold"/>
              </a:rPr>
              <a:t>KEYWORD - </a:t>
            </a:r>
            <a:r>
              <a:rPr lang="en-US" sz="6000" dirty="0">
                <a:solidFill>
                  <a:srgbClr val="000000"/>
                </a:solidFill>
                <a:latin typeface="Century Gothic Paneuropean"/>
                <a:ea typeface="Century Gothic Paneuropean"/>
                <a:cs typeface="Century Gothic Paneuropean"/>
              </a:rPr>
              <a:t>Instance Variable Hiding</a:t>
            </a:r>
          </a:p>
          <a:p>
            <a:pPr algn="ctr">
              <a:lnSpc>
                <a:spcPts val="11469"/>
              </a:lnSpc>
            </a:pP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6401753"/>
          </a:xfrm>
          <a:prstGeom prst="rect">
            <a:avLst/>
          </a:prstGeom>
        </p:spPr>
        <p:txBody>
          <a:bodyPr wrap="square" lIns="0" tIns="0" rIns="0" bIns="0" rtlCol="0" anchor="t">
            <a:spAutoFit/>
          </a:bodyPr>
          <a:lstStyle/>
          <a:p>
            <a:r>
              <a:rPr lang="en-US" sz="3200" dirty="0" smtClean="0">
                <a:solidFill>
                  <a:srgbClr val="000000"/>
                </a:solidFill>
                <a:latin typeface="Century Gothic Paneuropean"/>
                <a:ea typeface="Century Gothic Paneuropean"/>
                <a:cs typeface="Century Gothic Paneuropean"/>
              </a:rPr>
              <a:t>•</a:t>
            </a:r>
            <a:r>
              <a:rPr lang="en-US" sz="3200" dirty="0">
                <a:solidFill>
                  <a:srgbClr val="000000"/>
                </a:solidFill>
                <a:latin typeface="Century Gothic Paneuropean"/>
                <a:ea typeface="Century Gothic Paneuropean"/>
                <a:cs typeface="Century Gothic Paneuropean"/>
              </a:rPr>
              <a:t>It is illegal in Java to declare two local variables with the same name inside the same or enclosing scopes.</a:t>
            </a:r>
          </a:p>
          <a:p>
            <a:r>
              <a:rPr lang="en-US" sz="3200" dirty="0">
                <a:solidFill>
                  <a:srgbClr val="000000"/>
                </a:solidFill>
                <a:latin typeface="Century Gothic Paneuropean"/>
                <a:ea typeface="Century Gothic Paneuropean"/>
                <a:cs typeface="Century Gothic Paneuropean"/>
              </a:rPr>
              <a:t>•Local variables, including formal parameters to methods, which </a:t>
            </a:r>
            <a:r>
              <a:rPr lang="en-US" sz="3200" dirty="0" err="1">
                <a:solidFill>
                  <a:srgbClr val="000000"/>
                </a:solidFill>
                <a:latin typeface="Century Gothic Paneuropean"/>
                <a:ea typeface="Century Gothic Paneuropean"/>
                <a:cs typeface="Century Gothic Paneuropean"/>
              </a:rPr>
              <a:t>overlapwith</a:t>
            </a:r>
            <a:r>
              <a:rPr lang="en-US" sz="3200" dirty="0">
                <a:solidFill>
                  <a:srgbClr val="000000"/>
                </a:solidFill>
                <a:latin typeface="Century Gothic Paneuropean"/>
                <a:ea typeface="Century Gothic Paneuropean"/>
                <a:cs typeface="Century Gothic Paneuropean"/>
              </a:rPr>
              <a:t> the names of the class’ instance variables. </a:t>
            </a:r>
          </a:p>
          <a:p>
            <a:r>
              <a:rPr lang="en-US" sz="3200" dirty="0">
                <a:solidFill>
                  <a:srgbClr val="000000"/>
                </a:solidFill>
                <a:latin typeface="Century Gothic Paneuropean"/>
                <a:ea typeface="Century Gothic Paneuropean"/>
                <a:cs typeface="Century Gothic Paneuropean"/>
              </a:rPr>
              <a:t>•However, when a local variable has the same name as an instance variable, the local variable </a:t>
            </a:r>
            <a:r>
              <a:rPr lang="en-US" sz="3200" dirty="0" err="1">
                <a:solidFill>
                  <a:srgbClr val="000000"/>
                </a:solidFill>
                <a:latin typeface="Century Gothic Paneuropean"/>
                <a:ea typeface="Century Gothic Paneuropean"/>
                <a:cs typeface="Century Gothic Paneuropean"/>
              </a:rPr>
              <a:t>hidesthe</a:t>
            </a:r>
            <a:r>
              <a:rPr lang="en-US" sz="3200" dirty="0">
                <a:solidFill>
                  <a:srgbClr val="000000"/>
                </a:solidFill>
                <a:latin typeface="Century Gothic Paneuropean"/>
                <a:ea typeface="Century Gothic Paneuropean"/>
                <a:cs typeface="Century Gothic Paneuropean"/>
              </a:rPr>
              <a:t> instance variable.</a:t>
            </a:r>
          </a:p>
          <a:p>
            <a:r>
              <a:rPr lang="en-US" sz="3200" dirty="0">
                <a:solidFill>
                  <a:srgbClr val="000000"/>
                </a:solidFill>
                <a:latin typeface="Century Gothic Paneuropean"/>
                <a:ea typeface="Century Gothic Paneuropean"/>
                <a:cs typeface="Century Gothic Paneuropean"/>
              </a:rPr>
              <a:t>•this, resolve any name space collisions that might occur between instance variables and local variables</a:t>
            </a:r>
            <a:r>
              <a:rPr lang="en-US" sz="3200" dirty="0" smtClean="0">
                <a:solidFill>
                  <a:srgbClr val="000000"/>
                </a:solidFill>
                <a:latin typeface="Century Gothic Paneuropean"/>
                <a:ea typeface="Century Gothic Paneuropean"/>
                <a:cs typeface="Century Gothic Paneuropean"/>
              </a:rPr>
              <a:t>.</a:t>
            </a:r>
            <a:endParaRPr lang="en-US" sz="3200" dirty="0">
              <a:solidFill>
                <a:srgbClr val="000000"/>
              </a:solidFill>
              <a:latin typeface="Century Gothic Paneuropean"/>
              <a:ea typeface="Century Gothic Paneuropean"/>
              <a:cs typeface="Century Gothic Paneuropean"/>
            </a:endParaRPr>
          </a:p>
          <a:p>
            <a:pPr lvl="2"/>
            <a:r>
              <a:rPr lang="en-US" sz="3200" dirty="0">
                <a:solidFill>
                  <a:srgbClr val="000000"/>
                </a:solidFill>
                <a:latin typeface="Century Gothic Paneuropean"/>
                <a:ea typeface="Century Gothic Paneuropean"/>
                <a:cs typeface="Century Gothic Paneuropean"/>
              </a:rPr>
              <a:t>Box(double width, double height, double depth) {</a:t>
            </a:r>
          </a:p>
          <a:p>
            <a:pPr lvl="2"/>
            <a:r>
              <a:rPr lang="en-US" sz="3200" dirty="0" err="1">
                <a:solidFill>
                  <a:srgbClr val="000000"/>
                </a:solidFill>
                <a:latin typeface="Century Gothic Paneuropean"/>
                <a:ea typeface="Century Gothic Paneuropean"/>
                <a:cs typeface="Century Gothic Paneuropean"/>
              </a:rPr>
              <a:t>this.width</a:t>
            </a:r>
            <a:r>
              <a:rPr lang="en-US" sz="3200" dirty="0">
                <a:solidFill>
                  <a:srgbClr val="000000"/>
                </a:solidFill>
                <a:latin typeface="Century Gothic Paneuropean"/>
                <a:ea typeface="Century Gothic Paneuropean"/>
                <a:cs typeface="Century Gothic Paneuropean"/>
              </a:rPr>
              <a:t>= width;</a:t>
            </a:r>
          </a:p>
          <a:p>
            <a:pPr lvl="2"/>
            <a:r>
              <a:rPr lang="en-US" sz="3200" dirty="0" err="1">
                <a:solidFill>
                  <a:srgbClr val="000000"/>
                </a:solidFill>
                <a:latin typeface="Century Gothic Paneuropean"/>
                <a:ea typeface="Century Gothic Paneuropean"/>
                <a:cs typeface="Century Gothic Paneuropean"/>
              </a:rPr>
              <a:t>this.height</a:t>
            </a:r>
            <a:r>
              <a:rPr lang="en-US" sz="3200" dirty="0">
                <a:solidFill>
                  <a:srgbClr val="000000"/>
                </a:solidFill>
                <a:latin typeface="Century Gothic Paneuropean"/>
                <a:ea typeface="Century Gothic Paneuropean"/>
                <a:cs typeface="Century Gothic Paneuropean"/>
              </a:rPr>
              <a:t>= height;</a:t>
            </a:r>
          </a:p>
          <a:p>
            <a:pPr lvl="2"/>
            <a:r>
              <a:rPr lang="en-US" sz="3200" dirty="0" err="1">
                <a:solidFill>
                  <a:srgbClr val="000000"/>
                </a:solidFill>
                <a:latin typeface="Century Gothic Paneuropean"/>
                <a:ea typeface="Century Gothic Paneuropean"/>
                <a:cs typeface="Century Gothic Paneuropean"/>
              </a:rPr>
              <a:t>this.depth</a:t>
            </a:r>
            <a:r>
              <a:rPr lang="en-US" sz="3200" dirty="0">
                <a:solidFill>
                  <a:srgbClr val="000000"/>
                </a:solidFill>
                <a:latin typeface="Century Gothic Paneuropean"/>
                <a:ea typeface="Century Gothic Paneuropean"/>
                <a:cs typeface="Century Gothic Paneuropean"/>
              </a:rPr>
              <a:t>= depth;</a:t>
            </a:r>
          </a:p>
          <a:p>
            <a:pPr lvl="2"/>
            <a:r>
              <a:rPr lang="en-US" sz="3200" dirty="0">
                <a:solidFill>
                  <a:srgbClr val="000000"/>
                </a:solidFill>
                <a:latin typeface="Century Gothic Paneuropean"/>
                <a:ea typeface="Century Gothic Paneuropean"/>
                <a:cs typeface="Century Gothic Paneuropean"/>
              </a:rPr>
              <a:t>}</a:t>
            </a:r>
          </a:p>
        </p:txBody>
      </p:sp>
    </p:spTree>
    <p:extLst>
      <p:ext uri="{BB962C8B-B14F-4D97-AF65-F5344CB8AC3E}">
        <p14:creationId xmlns:p14="http://schemas.microsoft.com/office/powerpoint/2010/main" val="15655483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40452" y="801750"/>
            <a:ext cx="15665930" cy="1015663"/>
          </a:xfrm>
          <a:prstGeom prst="rect">
            <a:avLst/>
          </a:prstGeom>
        </p:spPr>
        <p:txBody>
          <a:bodyPr wrap="square" lIns="0" tIns="0" rIns="0" bIns="0" rtlCol="0" anchor="t">
            <a:spAutoFit/>
          </a:bodyPr>
          <a:lstStyle/>
          <a:p>
            <a:pPr algn="ctr"/>
            <a:r>
              <a:rPr lang="en-US" sz="6600" b="1" dirty="0"/>
              <a:t>GARBAGE </a:t>
            </a:r>
            <a:r>
              <a:rPr lang="en-US" sz="6600" b="1" dirty="0" smtClean="0"/>
              <a:t>COLLECTION</a:t>
            </a:r>
            <a:endParaRPr lang="en-US" sz="6600" dirty="0"/>
          </a:p>
        </p:txBody>
      </p:sp>
      <p:sp>
        <p:nvSpPr>
          <p:cNvPr id="9" name="TextBox 9"/>
          <p:cNvSpPr txBox="1"/>
          <p:nvPr/>
        </p:nvSpPr>
        <p:spPr>
          <a:xfrm>
            <a:off x="1014512" y="2161699"/>
            <a:ext cx="15901888" cy="6401753"/>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Since objects are dynamically allocated by using the new operator, you might be </a:t>
            </a:r>
            <a:r>
              <a:rPr lang="en-US" sz="3200" dirty="0" smtClean="0">
                <a:solidFill>
                  <a:srgbClr val="000000"/>
                </a:solidFill>
                <a:latin typeface="Century Gothic Paneuropean"/>
                <a:ea typeface="Century Gothic Paneuropean"/>
                <a:cs typeface="Century Gothic Paneuropean"/>
              </a:rPr>
              <a:t>wondering how </a:t>
            </a:r>
            <a:r>
              <a:rPr lang="en-US" sz="3200" dirty="0">
                <a:solidFill>
                  <a:srgbClr val="000000"/>
                </a:solidFill>
                <a:latin typeface="Century Gothic Paneuropean"/>
                <a:ea typeface="Century Gothic Paneuropean"/>
                <a:cs typeface="Century Gothic Paneuropean"/>
              </a:rPr>
              <a:t>such objects are destroyed and their memory released for later reallocation. In </a:t>
            </a:r>
            <a:r>
              <a:rPr lang="en-US" sz="3200" dirty="0" smtClean="0">
                <a:solidFill>
                  <a:srgbClr val="000000"/>
                </a:solidFill>
                <a:latin typeface="Century Gothic Paneuropean"/>
                <a:ea typeface="Century Gothic Paneuropean"/>
                <a:cs typeface="Century Gothic Paneuropean"/>
              </a:rPr>
              <a:t>some languages</a:t>
            </a:r>
            <a:r>
              <a:rPr lang="en-US" sz="3200" dirty="0">
                <a:solidFill>
                  <a:srgbClr val="000000"/>
                </a:solidFill>
                <a:latin typeface="Century Gothic Paneuropean"/>
                <a:ea typeface="Century Gothic Paneuropean"/>
                <a:cs typeface="Century Gothic Paneuropean"/>
              </a:rPr>
              <a:t>, such as C++, dynamically allocated objects must be manually released by use of </a:t>
            </a:r>
            <a:r>
              <a:rPr lang="en-US" sz="3200" dirty="0" smtClean="0">
                <a:solidFill>
                  <a:srgbClr val="000000"/>
                </a:solidFill>
                <a:latin typeface="Century Gothic Paneuropean"/>
                <a:ea typeface="Century Gothic Paneuropean"/>
                <a:cs typeface="Century Gothic Paneuropean"/>
              </a:rPr>
              <a:t>a delete </a:t>
            </a:r>
            <a:r>
              <a:rPr lang="en-US" sz="3200" dirty="0">
                <a:solidFill>
                  <a:srgbClr val="000000"/>
                </a:solidFill>
                <a:latin typeface="Century Gothic Paneuropean"/>
                <a:ea typeface="Century Gothic Paneuropean"/>
                <a:cs typeface="Century Gothic Paneuropean"/>
              </a:rPr>
              <a:t>operator</a:t>
            </a:r>
            <a:r>
              <a:rPr lang="en-US" sz="3200" dirty="0" smtClean="0">
                <a:solidFill>
                  <a:srgbClr val="000000"/>
                </a:solidFill>
                <a:latin typeface="Century Gothic Paneuropean"/>
                <a:ea typeface="Century Gothic Paneuropean"/>
                <a:cs typeface="Century Gothic Paneuropean"/>
              </a:rPr>
              <a:t>.</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Java </a:t>
            </a:r>
            <a:r>
              <a:rPr lang="en-US" sz="3200" dirty="0">
                <a:solidFill>
                  <a:srgbClr val="000000"/>
                </a:solidFill>
                <a:latin typeface="Century Gothic Paneuropean"/>
                <a:ea typeface="Century Gothic Paneuropean"/>
                <a:cs typeface="Century Gothic Paneuropean"/>
              </a:rPr>
              <a:t>handles deallocation automatically, when no references to an object exist, then that object is assumed to be no longer needed, and the memory occupied by </a:t>
            </a:r>
            <a:r>
              <a:rPr lang="en-US" sz="3200" dirty="0" smtClean="0">
                <a:solidFill>
                  <a:srgbClr val="000000"/>
                </a:solidFill>
                <a:latin typeface="Century Gothic Paneuropean"/>
                <a:ea typeface="Century Gothic Paneuropean"/>
                <a:cs typeface="Century Gothic Paneuropean"/>
              </a:rPr>
              <a:t>object </a:t>
            </a:r>
            <a:r>
              <a:rPr lang="en-US" sz="3200" dirty="0">
                <a:solidFill>
                  <a:srgbClr val="000000"/>
                </a:solidFill>
                <a:latin typeface="Century Gothic Paneuropean"/>
                <a:ea typeface="Century Gothic Paneuropean"/>
                <a:cs typeface="Century Gothic Paneuropean"/>
              </a:rPr>
              <a:t>can be reclaimed. This technique is </a:t>
            </a:r>
            <a:r>
              <a:rPr lang="en-US" sz="3200" dirty="0" smtClean="0">
                <a:solidFill>
                  <a:srgbClr val="000000"/>
                </a:solidFill>
                <a:latin typeface="Century Gothic Paneuropean"/>
                <a:ea typeface="Century Gothic Paneuropean"/>
                <a:cs typeface="Century Gothic Paneuropean"/>
              </a:rPr>
              <a:t>called Garbage </a:t>
            </a:r>
            <a:r>
              <a:rPr lang="en-US" sz="3200" dirty="0">
                <a:solidFill>
                  <a:srgbClr val="000000"/>
                </a:solidFill>
                <a:latin typeface="Century Gothic Paneuropean"/>
                <a:ea typeface="Century Gothic Paneuropean"/>
                <a:cs typeface="Century Gothic Paneuropean"/>
              </a:rPr>
              <a:t>collection.</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Garbage Collection is part of JVM that automatically deletes such unused object to free memory.</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Garbage Collection is a Automatic process that is no need to manually delete objects.</a:t>
            </a:r>
          </a:p>
          <a:p>
            <a:pPr marL="914400" lvl="1" indent="-457200">
              <a:buFont typeface="Wingdings" panose="05000000000000000000" pitchFamily="2" charset="2"/>
              <a:buChar char="q"/>
            </a:pPr>
            <a:endParaRPr lang="en-US" sz="3200" dirty="0">
              <a:solidFill>
                <a:srgbClr val="000000"/>
              </a:solidFill>
              <a:latin typeface="Century Gothic Paneuropean"/>
              <a:ea typeface="Century Gothic Paneuropean"/>
              <a:cs typeface="Century Gothic Paneuropean"/>
            </a:endParaRPr>
          </a:p>
        </p:txBody>
      </p:sp>
    </p:spTree>
    <p:extLst>
      <p:ext uri="{BB962C8B-B14F-4D97-AF65-F5344CB8AC3E}">
        <p14:creationId xmlns:p14="http://schemas.microsoft.com/office/powerpoint/2010/main" val="42674649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40452" y="801750"/>
            <a:ext cx="15665930" cy="1015663"/>
          </a:xfrm>
          <a:prstGeom prst="rect">
            <a:avLst/>
          </a:prstGeom>
        </p:spPr>
        <p:txBody>
          <a:bodyPr wrap="square" lIns="0" tIns="0" rIns="0" bIns="0" rtlCol="0" anchor="t">
            <a:spAutoFit/>
          </a:bodyPr>
          <a:lstStyle/>
          <a:p>
            <a:pPr algn="ctr"/>
            <a:r>
              <a:rPr lang="en-US" sz="6600" b="1" dirty="0"/>
              <a:t>GARBAGE </a:t>
            </a:r>
            <a:r>
              <a:rPr lang="en-US" sz="6600" b="1" dirty="0" smtClean="0"/>
              <a:t>COLLECTION</a:t>
            </a:r>
            <a:endParaRPr lang="en-US" sz="6600" dirty="0"/>
          </a:p>
        </p:txBody>
      </p:sp>
      <p:sp>
        <p:nvSpPr>
          <p:cNvPr id="9" name="TextBox 9"/>
          <p:cNvSpPr txBox="1"/>
          <p:nvPr/>
        </p:nvSpPr>
        <p:spPr>
          <a:xfrm>
            <a:off x="1014512" y="2161699"/>
            <a:ext cx="15901888" cy="6894195"/>
          </a:xfrm>
          <a:prstGeom prst="rect">
            <a:avLst/>
          </a:prstGeom>
        </p:spPr>
        <p:txBody>
          <a:bodyPr wrap="square" lIns="0" tIns="0" rIns="0" bIns="0" rtlCol="0" anchor="t">
            <a:spAutoFit/>
          </a:bodyPr>
          <a:lstStyle/>
          <a:p>
            <a:r>
              <a:rPr lang="en-US" sz="3200" dirty="0"/>
              <a:t>• </a:t>
            </a:r>
            <a:r>
              <a:rPr lang="en-US" sz="3200" dirty="0" smtClean="0"/>
              <a:t>Since </a:t>
            </a:r>
            <a:r>
              <a:rPr lang="en-US" sz="3200" dirty="0"/>
              <a:t>objects are dynamically allocated by using the new operator, how such objects are destroyed and their memory released for later reallocation?</a:t>
            </a:r>
          </a:p>
          <a:p>
            <a:r>
              <a:rPr lang="en-US" sz="3200" dirty="0"/>
              <a:t>•In some languages, such as C++, dynamically allocated objects must be manually released by use of a </a:t>
            </a:r>
            <a:r>
              <a:rPr lang="en-US" sz="3200" dirty="0" smtClean="0"/>
              <a:t>delete operator</a:t>
            </a:r>
            <a:r>
              <a:rPr lang="en-US" sz="3200" dirty="0"/>
              <a:t>. </a:t>
            </a:r>
          </a:p>
          <a:p>
            <a:r>
              <a:rPr lang="en-US" sz="3200" dirty="0"/>
              <a:t>•Java takes a different approach; it handles </a:t>
            </a:r>
            <a:r>
              <a:rPr lang="en-US" sz="3200" dirty="0" smtClean="0"/>
              <a:t>deallocation automatically</a:t>
            </a:r>
            <a:r>
              <a:rPr lang="en-US" sz="3200" dirty="0"/>
              <a:t>. The technique that accomplishes this is called </a:t>
            </a:r>
            <a:r>
              <a:rPr lang="en-US" sz="3200" i="1" dirty="0"/>
              <a:t>garbage collection.</a:t>
            </a:r>
            <a:endParaRPr lang="en-US" sz="3200" dirty="0"/>
          </a:p>
          <a:p>
            <a:r>
              <a:rPr lang="en-US" sz="3200" dirty="0"/>
              <a:t>•When no references to an object exist, that object is assumed to be no longer needed, and the memory occupied by the object can be reclaimed. </a:t>
            </a:r>
          </a:p>
          <a:p>
            <a:r>
              <a:rPr lang="en-US" sz="3200" dirty="0"/>
              <a:t>• </a:t>
            </a:r>
            <a:r>
              <a:rPr lang="en-US" sz="3200" dirty="0" smtClean="0"/>
              <a:t>There </a:t>
            </a:r>
            <a:r>
              <a:rPr lang="en-US" sz="3200" dirty="0"/>
              <a:t>is no explicit need to destroy objects.</a:t>
            </a:r>
          </a:p>
          <a:p>
            <a:r>
              <a:rPr lang="en-US" sz="3200" dirty="0"/>
              <a:t>•Garbage collection only occurs sporadically (if at all) during the execution of your program.</a:t>
            </a:r>
          </a:p>
          <a:p>
            <a:r>
              <a:rPr lang="en-US" sz="3200" dirty="0"/>
              <a:t>•It will not occur simply because one or more objects exist that are no longer used. Furthermore, different Java run-time implementations will take varying approaches to garbage collection.</a:t>
            </a:r>
          </a:p>
          <a:p>
            <a:r>
              <a:rPr lang="en-US" sz="3200" dirty="0"/>
              <a:t>•Do not to think about it while writing your programs</a:t>
            </a:r>
            <a:r>
              <a:rPr lang="en-US" sz="3200" dirty="0" smtClean="0"/>
              <a:t>.</a:t>
            </a:r>
            <a:endParaRPr lang="en-US" sz="3200" dirty="0"/>
          </a:p>
        </p:txBody>
      </p:sp>
    </p:spTree>
    <p:extLst>
      <p:ext uri="{BB962C8B-B14F-4D97-AF65-F5344CB8AC3E}">
        <p14:creationId xmlns:p14="http://schemas.microsoft.com/office/powerpoint/2010/main" val="22480195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40452" y="801750"/>
            <a:ext cx="15665930" cy="1015663"/>
          </a:xfrm>
          <a:prstGeom prst="rect">
            <a:avLst/>
          </a:prstGeom>
        </p:spPr>
        <p:txBody>
          <a:bodyPr wrap="square" lIns="0" tIns="0" rIns="0" bIns="0" rtlCol="0" anchor="t">
            <a:spAutoFit/>
          </a:bodyPr>
          <a:lstStyle/>
          <a:p>
            <a:pPr algn="ctr"/>
            <a:r>
              <a:rPr lang="en-US" sz="6600" b="1" dirty="0"/>
              <a:t>GARBAGE </a:t>
            </a:r>
            <a:r>
              <a:rPr lang="en-US" sz="6600" b="1" dirty="0" smtClean="0"/>
              <a:t>COLLECTION – </a:t>
            </a:r>
            <a:r>
              <a:rPr lang="en-US" sz="6600" b="1" dirty="0" err="1" smtClean="0"/>
              <a:t>System.gc</a:t>
            </a:r>
            <a:endParaRPr lang="en-US" sz="6600" dirty="0"/>
          </a:p>
        </p:txBody>
      </p:sp>
      <p:sp>
        <p:nvSpPr>
          <p:cNvPr id="9" name="TextBox 9"/>
          <p:cNvSpPr txBox="1"/>
          <p:nvPr/>
        </p:nvSpPr>
        <p:spPr>
          <a:xfrm>
            <a:off x="1014512" y="2161699"/>
            <a:ext cx="15901888" cy="492443"/>
          </a:xfrm>
          <a:prstGeom prst="rect">
            <a:avLst/>
          </a:prstGeom>
        </p:spPr>
        <p:txBody>
          <a:bodyPr wrap="square" lIns="0" tIns="0" rIns="0" bIns="0" rtlCol="0" anchor="t">
            <a:spAutoFit/>
          </a:bodyPr>
          <a:lstStyle/>
          <a:p>
            <a:r>
              <a:rPr lang="en-US" sz="3200" dirty="0"/>
              <a:t>• </a:t>
            </a:r>
            <a:r>
              <a:rPr lang="en-US" sz="3200" dirty="0" smtClean="0"/>
              <a:t>Since </a:t>
            </a:r>
            <a:r>
              <a:rPr lang="en-US" sz="3200" dirty="0"/>
              <a:t>objects are dynamically allocated by using the new operator, how such objects are </a:t>
            </a:r>
            <a:r>
              <a:rPr lang="en-US" sz="3200" dirty="0" smtClean="0"/>
              <a:t> </a:t>
            </a:r>
            <a:endParaRPr lang="en-US" sz="3200" dirty="0"/>
          </a:p>
        </p:txBody>
      </p:sp>
    </p:spTree>
    <p:extLst>
      <p:ext uri="{BB962C8B-B14F-4D97-AF65-F5344CB8AC3E}">
        <p14:creationId xmlns:p14="http://schemas.microsoft.com/office/powerpoint/2010/main" val="7504470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704665" y="-6158020"/>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sym typeface="Century Gothic Paneuropean Bold"/>
              </a:rPr>
              <a:t>FINALIZE ( ) METHOD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7386638"/>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To add a finalizer to a class, you simply define the finalize( ) method. Sometimes an object will need to perform some action when it is destroyed. For </a:t>
            </a:r>
            <a:r>
              <a:rPr lang="en-US" sz="3200" dirty="0" smtClean="0">
                <a:solidFill>
                  <a:srgbClr val="000000"/>
                </a:solidFill>
                <a:latin typeface="Century Gothic Paneuropean"/>
                <a:ea typeface="Century Gothic Paneuropean"/>
                <a:cs typeface="Century Gothic Paneuropean"/>
              </a:rPr>
              <a:t>example, if </a:t>
            </a:r>
            <a:r>
              <a:rPr lang="en-US" sz="3200" dirty="0">
                <a:solidFill>
                  <a:srgbClr val="000000"/>
                </a:solidFill>
                <a:latin typeface="Century Gothic Paneuropean"/>
                <a:ea typeface="Century Gothic Paneuropean"/>
                <a:cs typeface="Century Gothic Paneuropean"/>
              </a:rPr>
              <a:t>an object is holding some non-Java resource such as a file handle or character font, </a:t>
            </a:r>
            <a:r>
              <a:rPr lang="en-US" sz="3200" dirty="0" smtClean="0">
                <a:solidFill>
                  <a:srgbClr val="000000"/>
                </a:solidFill>
                <a:latin typeface="Century Gothic Paneuropean"/>
                <a:ea typeface="Century Gothic Paneuropean"/>
                <a:cs typeface="Century Gothic Paneuropean"/>
              </a:rPr>
              <a:t>then you </a:t>
            </a:r>
            <a:r>
              <a:rPr lang="en-US" sz="3200" dirty="0">
                <a:solidFill>
                  <a:srgbClr val="000000"/>
                </a:solidFill>
                <a:latin typeface="Century Gothic Paneuropean"/>
                <a:ea typeface="Century Gothic Paneuropean"/>
                <a:cs typeface="Century Gothic Paneuropean"/>
              </a:rPr>
              <a:t>might want to make sure these resources are freed before an object is destroyed. </a:t>
            </a:r>
            <a:r>
              <a:rPr lang="en-US" sz="3200" dirty="0" smtClean="0">
                <a:solidFill>
                  <a:srgbClr val="000000"/>
                </a:solidFill>
                <a:latin typeface="Century Gothic Paneuropean"/>
                <a:ea typeface="Century Gothic Paneuropean"/>
                <a:cs typeface="Century Gothic Paneuropean"/>
              </a:rPr>
              <a:t> </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Inside </a:t>
            </a:r>
            <a:r>
              <a:rPr lang="en-US" sz="3200" dirty="0">
                <a:solidFill>
                  <a:srgbClr val="000000"/>
                </a:solidFill>
                <a:latin typeface="Century Gothic Paneuropean"/>
                <a:ea typeface="Century Gothic Paneuropean"/>
                <a:cs typeface="Century Gothic Paneuropean"/>
              </a:rPr>
              <a:t>the finalize( ) method, you will specify those actions that must be performed before an object is </a:t>
            </a:r>
            <a:r>
              <a:rPr lang="en-US" sz="3200" dirty="0" smtClean="0">
                <a:solidFill>
                  <a:srgbClr val="000000"/>
                </a:solidFill>
                <a:latin typeface="Century Gothic Paneuropean"/>
                <a:ea typeface="Century Gothic Paneuropean"/>
                <a:cs typeface="Century Gothic Paneuropean"/>
              </a:rPr>
              <a:t>destroyed.</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The </a:t>
            </a:r>
            <a:r>
              <a:rPr lang="en-US" sz="3200" dirty="0">
                <a:solidFill>
                  <a:srgbClr val="000000"/>
                </a:solidFill>
                <a:latin typeface="Century Gothic Paneuropean"/>
                <a:ea typeface="Century Gothic Paneuropean"/>
                <a:cs typeface="Century Gothic Paneuropean"/>
              </a:rPr>
              <a:t>garbage collector runs periodically, checking for objects that are no longer </a:t>
            </a:r>
            <a:r>
              <a:rPr lang="en-US" sz="3200" dirty="0" smtClean="0">
                <a:solidFill>
                  <a:srgbClr val="000000"/>
                </a:solidFill>
                <a:latin typeface="Century Gothic Paneuropean"/>
                <a:ea typeface="Century Gothic Paneuropean"/>
                <a:cs typeface="Century Gothic Paneuropean"/>
              </a:rPr>
              <a:t>referenced by </a:t>
            </a:r>
            <a:r>
              <a:rPr lang="en-US" sz="3200" dirty="0">
                <a:solidFill>
                  <a:srgbClr val="000000"/>
                </a:solidFill>
                <a:latin typeface="Century Gothic Paneuropean"/>
                <a:ea typeface="Century Gothic Paneuropean"/>
                <a:cs typeface="Century Gothic Paneuropean"/>
              </a:rPr>
              <a:t>any running state or indirectly through other referenced objects. Right before an asset </a:t>
            </a:r>
            <a:r>
              <a:rPr lang="en-US" sz="3200" dirty="0" smtClean="0">
                <a:solidFill>
                  <a:srgbClr val="000000"/>
                </a:solidFill>
                <a:latin typeface="Century Gothic Paneuropean"/>
                <a:ea typeface="Century Gothic Paneuropean"/>
                <a:cs typeface="Century Gothic Paneuropean"/>
              </a:rPr>
              <a:t>is freed</a:t>
            </a:r>
            <a:r>
              <a:rPr lang="en-US" sz="3200" dirty="0">
                <a:solidFill>
                  <a:srgbClr val="000000"/>
                </a:solidFill>
                <a:latin typeface="Century Gothic Paneuropean"/>
                <a:ea typeface="Century Gothic Paneuropean"/>
                <a:cs typeface="Century Gothic Paneuropean"/>
              </a:rPr>
              <a:t>, the Java run time calls the finalize( ) method on the </a:t>
            </a:r>
            <a:r>
              <a:rPr lang="en-US" sz="3200" dirty="0" smtClean="0">
                <a:solidFill>
                  <a:srgbClr val="000000"/>
                </a:solidFill>
                <a:latin typeface="Century Gothic Paneuropean"/>
                <a:ea typeface="Century Gothic Paneuropean"/>
                <a:cs typeface="Century Gothic Paneuropean"/>
              </a:rPr>
              <a:t>object.</a:t>
            </a:r>
          </a:p>
          <a:p>
            <a:pPr marL="457200" indent="-457200">
              <a:buFont typeface="Arial" panose="020B0604020202020204" pitchFamily="34" charset="0"/>
              <a:buChar char="•"/>
            </a:pPr>
            <a:r>
              <a:rPr lang="en-US" sz="3200" dirty="0" smtClean="0">
                <a:solidFill>
                  <a:srgbClr val="000000"/>
                </a:solidFill>
                <a:latin typeface="Century Gothic Paneuropean"/>
                <a:ea typeface="Century Gothic Paneuropean"/>
                <a:cs typeface="Century Gothic Paneuropean"/>
              </a:rPr>
              <a:t>The </a:t>
            </a:r>
            <a:r>
              <a:rPr lang="en-US" sz="3200" dirty="0">
                <a:solidFill>
                  <a:srgbClr val="000000"/>
                </a:solidFill>
                <a:latin typeface="Century Gothic Paneuropean"/>
                <a:ea typeface="Century Gothic Paneuropean"/>
                <a:cs typeface="Century Gothic Paneuropean"/>
              </a:rPr>
              <a:t>finalize( ) method has this general form:</a:t>
            </a:r>
          </a:p>
          <a:p>
            <a:pPr lvl="2"/>
            <a:r>
              <a:rPr lang="en-US" sz="3200" dirty="0">
                <a:solidFill>
                  <a:srgbClr val="000000"/>
                </a:solidFill>
                <a:latin typeface="Century Gothic Paneuropean"/>
                <a:ea typeface="Century Gothic Paneuropean"/>
                <a:cs typeface="Century Gothic Paneuropean"/>
              </a:rPr>
              <a:t>protected void finalize( )</a:t>
            </a:r>
          </a:p>
          <a:p>
            <a:pPr lvl="2"/>
            <a:r>
              <a:rPr lang="en-US" sz="3200" dirty="0" smtClean="0">
                <a:solidFill>
                  <a:srgbClr val="000000"/>
                </a:solidFill>
                <a:latin typeface="Century Gothic Paneuropean"/>
                <a:ea typeface="Century Gothic Paneuropean"/>
                <a:cs typeface="Century Gothic Paneuropean"/>
              </a:rPr>
              <a:t>{// </a:t>
            </a:r>
            <a:r>
              <a:rPr lang="en-US" sz="3200" dirty="0">
                <a:solidFill>
                  <a:srgbClr val="000000"/>
                </a:solidFill>
                <a:latin typeface="Century Gothic Paneuropean"/>
                <a:ea typeface="Century Gothic Paneuropean"/>
                <a:cs typeface="Century Gothic Paneuropean"/>
              </a:rPr>
              <a:t>finalization code </a:t>
            </a:r>
            <a:r>
              <a:rPr lang="en-US" sz="3200" dirty="0" smtClean="0">
                <a:solidFill>
                  <a:srgbClr val="000000"/>
                </a:solidFill>
                <a:latin typeface="Century Gothic Paneuropean"/>
                <a:ea typeface="Century Gothic Paneuropean"/>
                <a:cs typeface="Century Gothic Paneuropean"/>
              </a:rPr>
              <a:t>here}</a:t>
            </a:r>
          </a:p>
          <a:p>
            <a:pPr marL="457200" indent="-457200">
              <a:buFont typeface="Arial" panose="020B0604020202020204" pitchFamily="34" charset="0"/>
              <a:buChar char="•"/>
            </a:pPr>
            <a:r>
              <a:rPr lang="en-US" sz="3200" dirty="0">
                <a:solidFill>
                  <a:srgbClr val="000000"/>
                </a:solidFill>
                <a:latin typeface="Century Gothic Paneuropean"/>
                <a:ea typeface="Century Gothic Paneuropean"/>
                <a:cs typeface="Century Gothic Paneuropean"/>
              </a:rPr>
              <a:t>finalize( ) is only called just prior to garbage collection</a:t>
            </a:r>
            <a:r>
              <a:rPr lang="en-US" sz="3200" dirty="0" smtClean="0">
                <a:solidFill>
                  <a:srgbClr val="000000"/>
                </a:solidFill>
                <a:latin typeface="Century Gothic Paneuropean"/>
                <a:ea typeface="Century Gothic Paneuropean"/>
                <a:cs typeface="Century Gothic Paneuropean"/>
              </a:rPr>
              <a:t>.</a:t>
            </a:r>
            <a:r>
              <a:rPr lang="en-US" sz="2400" dirty="0">
                <a:solidFill>
                  <a:srgbClr val="000000"/>
                </a:solidFill>
                <a:latin typeface="Consolas"/>
              </a:rPr>
              <a:t>	</a:t>
            </a:r>
            <a:r>
              <a:rPr lang="en-US" sz="2400" b="1" dirty="0" smtClean="0">
                <a:solidFill>
                  <a:srgbClr val="7F0055"/>
                </a:solidFill>
                <a:latin typeface="Consolas"/>
              </a:rPr>
              <a:t> </a:t>
            </a:r>
            <a:endParaRPr lang="en-US" sz="2400" dirty="0">
              <a:solidFill>
                <a:srgbClr val="000000"/>
              </a:solidFill>
              <a:latin typeface="Consolas"/>
            </a:endParaRPr>
          </a:p>
        </p:txBody>
      </p:sp>
    </p:spTree>
    <p:extLst>
      <p:ext uri="{BB962C8B-B14F-4D97-AF65-F5344CB8AC3E}">
        <p14:creationId xmlns:p14="http://schemas.microsoft.com/office/powerpoint/2010/main" val="31375045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ACCESS SPECIFIERS </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369332"/>
          </a:xfrm>
          <a:prstGeom prst="rect">
            <a:avLst/>
          </a:prstGeom>
        </p:spPr>
        <p:txBody>
          <a:bodyPr wrap="square" lIns="0" tIns="0" rIns="0" bIns="0" rtlCol="0" anchor="t">
            <a:spAutoFit/>
          </a:bodyPr>
          <a:lstStyle/>
          <a:p>
            <a:r>
              <a:rPr lang="en-US" sz="2400" b="1" dirty="0" smtClean="0">
                <a:solidFill>
                  <a:srgbClr val="7F0055"/>
                </a:solidFill>
                <a:latin typeface="Consolas"/>
              </a:rPr>
              <a:t> </a:t>
            </a:r>
            <a:endParaRPr lang="en-US" sz="2400" dirty="0">
              <a:solidFill>
                <a:srgbClr val="000000"/>
              </a:solidFill>
              <a:latin typeface="Consolas"/>
            </a:endParaRPr>
          </a:p>
        </p:txBody>
      </p:sp>
      <p:sp>
        <p:nvSpPr>
          <p:cNvPr id="11" name="Rectangle 1"/>
          <p:cNvSpPr>
            <a:spLocks noChangeArrowheads="1"/>
          </p:cNvSpPr>
          <p:nvPr/>
        </p:nvSpPr>
        <p:spPr bwMode="auto">
          <a:xfrm>
            <a:off x="393970" y="2004870"/>
            <a:ext cx="17145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2400" dirty="0"/>
              <a:t>Java has four access modifiers (also known as access specifiers) that control the visibility and accessibility of classes, methods, and variables. </a:t>
            </a:r>
            <a:r>
              <a:rPr lang="en-US" altLang="en-US" sz="2400" dirty="0"/>
              <a:t>They are crucial for implementing encapsulation, a core principle of object-oriented programming.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The four access modifiers in Java are: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smtClean="0"/>
              <a:t>PRIVATE : </a:t>
            </a:r>
            <a:r>
              <a:rPr lang="en-US" altLang="en-US" sz="2400" dirty="0"/>
              <a:t>Members declared as are accessible </a:t>
            </a:r>
            <a:r>
              <a:rPr lang="en-US" altLang="en-US" sz="2400" dirty="0"/>
              <a:t>only within the same class where they are declared. </a:t>
            </a:r>
            <a:r>
              <a:rPr lang="en-US" altLang="en-US" sz="2400" dirty="0"/>
              <a:t>This is the most restrictive access level and is commonly used for sensitive data to prevent direct external modification, often accessed via public "getter" and "setter" methods.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smtClean="0"/>
              <a:t>DEFAULT : </a:t>
            </a:r>
            <a:r>
              <a:rPr lang="en-US" altLang="en-US" sz="2400" dirty="0"/>
              <a:t>When no access </a:t>
            </a:r>
            <a:r>
              <a:rPr lang="en-US" altLang="en-US" sz="2400" dirty="0"/>
              <a:t>modifier is specified, the member or class has access. </a:t>
            </a:r>
            <a:r>
              <a:rPr lang="en-US" altLang="en-US" sz="2400" dirty="0"/>
              <a:t>This allows visibility and access only to other classes within the same package, but not from outside that package.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smtClean="0"/>
              <a:t>PROTECTED : </a:t>
            </a:r>
            <a:r>
              <a:rPr lang="en-US" altLang="en-US" sz="2400" dirty="0"/>
              <a:t>Members with access are accessible within the same package and by all subclasses, even if the subclasses are in a different package. </a:t>
            </a:r>
            <a:r>
              <a:rPr lang="en-US" altLang="en-US" sz="2400" dirty="0"/>
              <a:t>This is commonly used in inheritance scenarios where subclasses need access to parent class members for customization.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smtClean="0"/>
              <a:t>PUBLIC : </a:t>
            </a:r>
            <a:r>
              <a:rPr lang="en-US" altLang="en-US" sz="2400" dirty="0"/>
              <a:t>The access modifier provides the widest scope, allowing members to be accessed from anywhere in the Java universe, including different classes and packages. This is typically used for APIs, utility methods, and other components intended for global access.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smtClean="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6851368"/>
            <a:ext cx="6172200" cy="3339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93692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STATIC</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6647974"/>
          </a:xfrm>
          <a:prstGeom prst="rect">
            <a:avLst/>
          </a:prstGeom>
        </p:spPr>
        <p:txBody>
          <a:bodyPr wrap="square" lIns="0" tIns="0" rIns="0" bIns="0" rtlCol="0" anchor="t">
            <a:spAutoFit/>
          </a:bodyPr>
          <a:lstStyle/>
          <a:p>
            <a:endParaRPr lang="en-US" sz="2400" dirty="0"/>
          </a:p>
          <a:p>
            <a:r>
              <a:rPr lang="en-US" sz="2400" dirty="0"/>
              <a:t>When a member is declared </a:t>
            </a:r>
            <a:r>
              <a:rPr lang="en-US" sz="2400" b="1" dirty="0"/>
              <a:t>static, </a:t>
            </a:r>
            <a:r>
              <a:rPr lang="en-US" sz="2400" dirty="0"/>
              <a:t>it can be accessed before any objects of its class are created, and without reference to any object.</a:t>
            </a:r>
          </a:p>
          <a:p>
            <a:r>
              <a:rPr lang="en-US" sz="2400" dirty="0"/>
              <a:t>•You can declare both methods and variables to be </a:t>
            </a:r>
            <a:r>
              <a:rPr lang="en-US" sz="2400" b="1" dirty="0"/>
              <a:t>static.</a:t>
            </a:r>
            <a:endParaRPr lang="en-US" sz="2400" dirty="0"/>
          </a:p>
          <a:p>
            <a:r>
              <a:rPr lang="en-US" sz="2400" dirty="0"/>
              <a:t>•Example of a static member is main( ). main( ) is declared as static because it must be called before any objects exist.</a:t>
            </a:r>
          </a:p>
          <a:p>
            <a:r>
              <a:rPr lang="en-US" sz="2400" dirty="0"/>
              <a:t>•Instance variables declared as static are, essentially, global variables. </a:t>
            </a:r>
          </a:p>
          <a:p>
            <a:r>
              <a:rPr lang="en-US" sz="2400" dirty="0"/>
              <a:t>•When objects of its class are declared, no copy of a static variable is made. Instead, all instances of the class share the same static variable</a:t>
            </a:r>
            <a:r>
              <a:rPr lang="en-US" sz="2400" dirty="0" smtClean="0"/>
              <a:t>.</a:t>
            </a:r>
          </a:p>
          <a:p>
            <a:endParaRPr lang="en-US" sz="2400" dirty="0"/>
          </a:p>
          <a:p>
            <a:r>
              <a:rPr lang="en-US" sz="2400" dirty="0" err="1"/>
              <a:t>The</a:t>
            </a:r>
            <a:r>
              <a:rPr lang="en-US" sz="2400" b="1" dirty="0" err="1"/>
              <a:t>static</a:t>
            </a:r>
            <a:r>
              <a:rPr lang="en-US" sz="2400" b="1" dirty="0"/>
              <a:t> </a:t>
            </a:r>
            <a:r>
              <a:rPr lang="en-US" sz="2400" b="1" dirty="0" smtClean="0"/>
              <a:t>keyword </a:t>
            </a:r>
            <a:r>
              <a:rPr lang="en-US" sz="2400" dirty="0" smtClean="0"/>
              <a:t>in Java is </a:t>
            </a:r>
            <a:r>
              <a:rPr lang="en-US" sz="2400" dirty="0"/>
              <a:t>used for memory management mainly. </a:t>
            </a:r>
          </a:p>
          <a:p>
            <a:r>
              <a:rPr lang="en-US" sz="2400" dirty="0"/>
              <a:t>•We can apply static keyword </a:t>
            </a:r>
            <a:r>
              <a:rPr lang="en-US" sz="2400" dirty="0" err="1"/>
              <a:t>withvariables</a:t>
            </a:r>
            <a:r>
              <a:rPr lang="en-US" sz="2400" dirty="0"/>
              <a:t>, methods, blocks </a:t>
            </a:r>
            <a:r>
              <a:rPr lang="en-US" sz="2400" dirty="0" err="1"/>
              <a:t>andnested</a:t>
            </a:r>
            <a:r>
              <a:rPr lang="en-US" sz="2400" dirty="0"/>
              <a:t> classes. </a:t>
            </a:r>
          </a:p>
          <a:p>
            <a:r>
              <a:rPr lang="en-US" sz="2400" dirty="0"/>
              <a:t>•The static keyword belongs to the class than an instance of the class.</a:t>
            </a:r>
          </a:p>
          <a:p>
            <a:r>
              <a:rPr lang="en-US" sz="2400" dirty="0"/>
              <a:t>•The static can be:</a:t>
            </a:r>
          </a:p>
          <a:p>
            <a:r>
              <a:rPr lang="en-US" sz="2400" dirty="0" err="1"/>
              <a:t>1.Variable</a:t>
            </a:r>
            <a:r>
              <a:rPr lang="en-US" sz="2400" dirty="0"/>
              <a:t>(also known as a class variable)</a:t>
            </a:r>
          </a:p>
          <a:p>
            <a:r>
              <a:rPr lang="en-US" sz="2400" dirty="0" err="1"/>
              <a:t>2.Method</a:t>
            </a:r>
            <a:r>
              <a:rPr lang="en-US" sz="2400" dirty="0"/>
              <a:t>(also known as a class method)</a:t>
            </a:r>
          </a:p>
          <a:p>
            <a:r>
              <a:rPr lang="en-US" sz="2400" dirty="0" err="1"/>
              <a:t>3.Block</a:t>
            </a:r>
            <a:endParaRPr lang="en-US" sz="2400" dirty="0"/>
          </a:p>
          <a:p>
            <a:r>
              <a:rPr lang="en-US" sz="2400" dirty="0" err="1"/>
              <a:t>4.Nested</a:t>
            </a:r>
            <a:r>
              <a:rPr lang="en-US" sz="2400" dirty="0"/>
              <a:t> class</a:t>
            </a:r>
          </a:p>
          <a:p>
            <a:endParaRPr lang="en-US" sz="2400" dirty="0"/>
          </a:p>
        </p:txBody>
      </p:sp>
    </p:spTree>
    <p:extLst>
      <p:ext uri="{BB962C8B-B14F-4D97-AF65-F5344CB8AC3E}">
        <p14:creationId xmlns:p14="http://schemas.microsoft.com/office/powerpoint/2010/main" val="14416023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STATIC - variable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6278642"/>
          </a:xfrm>
          <a:prstGeom prst="rect">
            <a:avLst/>
          </a:prstGeom>
        </p:spPr>
        <p:txBody>
          <a:bodyPr wrap="square" lIns="0" tIns="0" rIns="0" bIns="0" rtlCol="0" anchor="t">
            <a:spAutoFit/>
          </a:bodyPr>
          <a:lstStyle/>
          <a:p>
            <a:r>
              <a:rPr lang="en-US" sz="2400" b="1" dirty="0"/>
              <a:t>static variable</a:t>
            </a:r>
            <a:endParaRPr lang="en-US" sz="2400" dirty="0"/>
          </a:p>
          <a:p>
            <a:r>
              <a:rPr lang="en-US" sz="2400" dirty="0"/>
              <a:t>•If you declare any variable as static, it is known as a static variable.</a:t>
            </a:r>
          </a:p>
          <a:p>
            <a:r>
              <a:rPr lang="en-US" sz="2400" dirty="0"/>
              <a:t>•The static variable can be used to refer to the </a:t>
            </a:r>
            <a:r>
              <a:rPr lang="en-US" sz="2400" dirty="0" err="1"/>
              <a:t>commonpropertyof</a:t>
            </a:r>
            <a:r>
              <a:rPr lang="en-US" sz="2400" dirty="0"/>
              <a:t> all objects, for example, the company name of employees, college name of students, etc.</a:t>
            </a:r>
          </a:p>
          <a:p>
            <a:r>
              <a:rPr lang="en-US" sz="2400" dirty="0"/>
              <a:t>•The static variable gets memory only once in the class area at the time of class loading.</a:t>
            </a:r>
          </a:p>
          <a:p>
            <a:r>
              <a:rPr lang="en-US" sz="2400" dirty="0"/>
              <a:t>•Advantages of static variable: makes your </a:t>
            </a:r>
            <a:r>
              <a:rPr lang="en-US" sz="2400" dirty="0" err="1"/>
              <a:t>program</a:t>
            </a:r>
            <a:r>
              <a:rPr lang="en-US" sz="2400" b="1" dirty="0" err="1"/>
              <a:t>memory</a:t>
            </a:r>
            <a:r>
              <a:rPr lang="en-US" sz="2400" b="1" dirty="0"/>
              <a:t> efficient</a:t>
            </a:r>
            <a:r>
              <a:rPr lang="en-US" sz="2400" dirty="0"/>
              <a:t>.</a:t>
            </a:r>
          </a:p>
          <a:p>
            <a:endParaRPr lang="en-US" sz="2400" dirty="0"/>
          </a:p>
          <a:p>
            <a:r>
              <a:rPr lang="en-US" sz="2400" b="1" dirty="0" err="1"/>
              <a:t>class</a:t>
            </a:r>
            <a:r>
              <a:rPr lang="en-US" sz="2400" dirty="0" err="1"/>
              <a:t>Student</a:t>
            </a:r>
            <a:r>
              <a:rPr lang="en-US" sz="2400" dirty="0"/>
              <a:t>{</a:t>
            </a:r>
          </a:p>
          <a:p>
            <a:r>
              <a:rPr lang="en-US" sz="2400" b="1" dirty="0" err="1"/>
              <a:t>int</a:t>
            </a:r>
            <a:r>
              <a:rPr lang="en-US" sz="2400" dirty="0" err="1"/>
              <a:t>rollno</a:t>
            </a:r>
            <a:r>
              <a:rPr lang="en-US" sz="2400" dirty="0"/>
              <a:t>;</a:t>
            </a:r>
          </a:p>
          <a:p>
            <a:r>
              <a:rPr lang="en-US" sz="2400" dirty="0" err="1"/>
              <a:t>Stringname</a:t>
            </a:r>
            <a:r>
              <a:rPr lang="en-US" sz="2400" dirty="0"/>
              <a:t>;</a:t>
            </a:r>
          </a:p>
          <a:p>
            <a:r>
              <a:rPr lang="en-US" sz="2400" dirty="0" err="1"/>
              <a:t>Stringcollege</a:t>
            </a:r>
            <a:r>
              <a:rPr lang="en-US" sz="2400" dirty="0"/>
              <a:t>=“</a:t>
            </a:r>
            <a:r>
              <a:rPr lang="en-US" sz="2400" dirty="0" err="1"/>
              <a:t>RCEW</a:t>
            </a:r>
            <a:r>
              <a:rPr lang="en-US" sz="2400" dirty="0"/>
              <a:t>";</a:t>
            </a:r>
          </a:p>
          <a:p>
            <a:r>
              <a:rPr lang="en-US" sz="2400" dirty="0"/>
              <a:t>}</a:t>
            </a:r>
          </a:p>
          <a:p>
            <a:r>
              <a:rPr lang="en-US" sz="2400" b="1" dirty="0" err="1"/>
              <a:t>class</a:t>
            </a:r>
            <a:r>
              <a:rPr lang="en-US" sz="2400" dirty="0" err="1"/>
              <a:t>Student</a:t>
            </a:r>
            <a:r>
              <a:rPr lang="en-US" sz="2400" dirty="0"/>
              <a:t>{</a:t>
            </a:r>
          </a:p>
          <a:p>
            <a:r>
              <a:rPr lang="en-US" sz="2400" b="1" dirty="0" err="1"/>
              <a:t>int</a:t>
            </a:r>
            <a:r>
              <a:rPr lang="en-US" sz="2400" dirty="0" err="1"/>
              <a:t>rollno</a:t>
            </a:r>
            <a:r>
              <a:rPr lang="en-US" sz="2400" dirty="0"/>
              <a:t>;</a:t>
            </a:r>
          </a:p>
          <a:p>
            <a:r>
              <a:rPr lang="en-US" sz="2400" dirty="0" err="1"/>
              <a:t>Stringname</a:t>
            </a:r>
            <a:r>
              <a:rPr lang="en-US" sz="2400" dirty="0"/>
              <a:t>;</a:t>
            </a:r>
          </a:p>
          <a:p>
            <a:r>
              <a:rPr lang="en-US" sz="2400" b="1" dirty="0" err="1"/>
              <a:t>static</a:t>
            </a:r>
            <a:r>
              <a:rPr lang="en-US" sz="2400" dirty="0" err="1"/>
              <a:t>Stringcollege</a:t>
            </a:r>
            <a:r>
              <a:rPr lang="en-US" sz="2400" dirty="0"/>
              <a:t>="</a:t>
            </a:r>
            <a:r>
              <a:rPr lang="en-US" sz="2400" dirty="0" err="1"/>
              <a:t>RCEW</a:t>
            </a:r>
            <a:r>
              <a:rPr lang="en-US" sz="2400" dirty="0"/>
              <a:t>“;</a:t>
            </a:r>
          </a:p>
          <a:p>
            <a:r>
              <a:rPr lang="en-US" sz="2400" dirty="0"/>
              <a:t>}</a:t>
            </a:r>
          </a:p>
        </p:txBody>
      </p:sp>
    </p:spTree>
    <p:extLst>
      <p:ext uri="{BB962C8B-B14F-4D97-AF65-F5344CB8AC3E}">
        <p14:creationId xmlns:p14="http://schemas.microsoft.com/office/powerpoint/2010/main" val="40843032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t>STATIC - method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5909310"/>
          </a:xfrm>
          <a:prstGeom prst="rect">
            <a:avLst/>
          </a:prstGeom>
        </p:spPr>
        <p:txBody>
          <a:bodyPr wrap="square" lIns="0" tIns="0" rIns="0" bIns="0" rtlCol="0" anchor="t">
            <a:spAutoFit/>
          </a:bodyPr>
          <a:lstStyle/>
          <a:p>
            <a:r>
              <a:rPr lang="en-US" sz="2400" b="1" dirty="0"/>
              <a:t>Static Method</a:t>
            </a:r>
            <a:endParaRPr lang="en-US" sz="2400" dirty="0"/>
          </a:p>
          <a:p>
            <a:r>
              <a:rPr lang="en-US" sz="2400" dirty="0"/>
              <a:t>•A static method belongs to the </a:t>
            </a:r>
            <a:r>
              <a:rPr lang="en-US" sz="2400" dirty="0" smtClean="0"/>
              <a:t>class rather </a:t>
            </a:r>
            <a:r>
              <a:rPr lang="en-US" sz="2400" dirty="0"/>
              <a:t>than the object of a class.</a:t>
            </a:r>
          </a:p>
          <a:p>
            <a:r>
              <a:rPr lang="en-US" sz="2400" dirty="0"/>
              <a:t>•A static method can be invoked </a:t>
            </a:r>
            <a:r>
              <a:rPr lang="en-US" sz="2400" dirty="0" smtClean="0"/>
              <a:t>without the </a:t>
            </a:r>
            <a:r>
              <a:rPr lang="en-US" sz="2400" dirty="0"/>
              <a:t>need for creating an instance of a class.</a:t>
            </a:r>
          </a:p>
          <a:p>
            <a:r>
              <a:rPr lang="en-US" sz="2400" dirty="0"/>
              <a:t>•A static method can </a:t>
            </a:r>
            <a:r>
              <a:rPr lang="en-US" sz="2400" dirty="0" smtClean="0"/>
              <a:t>access static </a:t>
            </a:r>
            <a:r>
              <a:rPr lang="en-US" sz="2400" dirty="0"/>
              <a:t>data member and can change the value of it.</a:t>
            </a:r>
          </a:p>
          <a:p>
            <a:r>
              <a:rPr lang="en-US" sz="2400" dirty="0"/>
              <a:t>•They can only call other static methods.</a:t>
            </a:r>
          </a:p>
          <a:p>
            <a:r>
              <a:rPr lang="en-US" sz="2400" dirty="0"/>
              <a:t>•They must only access static data.</a:t>
            </a:r>
          </a:p>
          <a:p>
            <a:r>
              <a:rPr lang="en-US" sz="2400" dirty="0"/>
              <a:t>•They cannot refer to </a:t>
            </a:r>
            <a:r>
              <a:rPr lang="en-US" sz="2400" dirty="0" smtClean="0"/>
              <a:t>this or super in </a:t>
            </a:r>
            <a:r>
              <a:rPr lang="en-US" sz="2400" dirty="0"/>
              <a:t>any way.</a:t>
            </a:r>
          </a:p>
          <a:p>
            <a:r>
              <a:rPr lang="en-US" sz="2400" dirty="0"/>
              <a:t>•The static method </a:t>
            </a:r>
            <a:r>
              <a:rPr lang="en-US" sz="2400" dirty="0" smtClean="0"/>
              <a:t>cannot use </a:t>
            </a:r>
            <a:r>
              <a:rPr lang="en-US" sz="2400" dirty="0"/>
              <a:t>non static data member or call non-static method directly.</a:t>
            </a:r>
          </a:p>
          <a:p>
            <a:r>
              <a:rPr lang="en-US" sz="2400" dirty="0"/>
              <a:t>•Outside of the class in which they are defined, static methods and variables can be used independently of any object. To do so, you need only specify the name of their class followed by the dot operator</a:t>
            </a:r>
            <a:r>
              <a:rPr lang="en-US" sz="2400" dirty="0" smtClean="0"/>
              <a:t>.</a:t>
            </a:r>
            <a:endParaRPr lang="en-US" sz="2400" dirty="0"/>
          </a:p>
          <a:p>
            <a:pPr lvl="2"/>
            <a:r>
              <a:rPr lang="en-US" sz="2400" i="1" dirty="0" err="1"/>
              <a:t>classname.method</a:t>
            </a:r>
            <a:r>
              <a:rPr lang="en-US" sz="2400" i="1" dirty="0"/>
              <a:t>( </a:t>
            </a:r>
            <a:r>
              <a:rPr lang="en-US" sz="2400" i="1" dirty="0" smtClean="0"/>
              <a:t>)</a:t>
            </a:r>
          </a:p>
          <a:p>
            <a:r>
              <a:rPr lang="en-US" sz="2400" b="1" dirty="0"/>
              <a:t>Why is the Java main method static?</a:t>
            </a:r>
          </a:p>
          <a:p>
            <a:r>
              <a:rPr lang="en-US" sz="2400" dirty="0"/>
              <a:t>•It is because the object is not required to call a static method. </a:t>
            </a:r>
          </a:p>
          <a:p>
            <a:r>
              <a:rPr lang="en-US" sz="2400" dirty="0"/>
              <a:t>•If it were a non-static </a:t>
            </a:r>
            <a:r>
              <a:rPr lang="en-US" sz="2400" dirty="0" smtClean="0"/>
              <a:t>method , JVM creates </a:t>
            </a:r>
            <a:r>
              <a:rPr lang="en-US" sz="2400" dirty="0"/>
              <a:t>an object first then call main() method that will lead the problem of extra memory allocation.</a:t>
            </a:r>
          </a:p>
          <a:p>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7412" y="7323018"/>
            <a:ext cx="8600134" cy="28115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954184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474763"/>
          </a:xfrm>
          <a:prstGeom prst="rect">
            <a:avLst/>
          </a:prstGeom>
        </p:spPr>
        <p:txBody>
          <a:bodyPr wrap="square" lIns="0" tIns="0" rIns="0" bIns="0" rtlCol="0" anchor="t">
            <a:spAutoFit/>
          </a:bodyPr>
          <a:lstStyle/>
          <a:p>
            <a:pPr algn="ctr">
              <a:lnSpc>
                <a:spcPts val="11469"/>
              </a:lnSpc>
            </a:pPr>
            <a:r>
              <a:rPr lang="en-US" sz="6000" b="1" dirty="0" smtClean="0"/>
              <a:t>STATIC - block</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5539978"/>
          </a:xfrm>
          <a:prstGeom prst="rect">
            <a:avLst/>
          </a:prstGeom>
        </p:spPr>
        <p:txBody>
          <a:bodyPr wrap="square" lIns="0" tIns="0" rIns="0" bIns="0" rtlCol="0" anchor="t">
            <a:spAutoFit/>
          </a:bodyPr>
          <a:lstStyle/>
          <a:p>
            <a:r>
              <a:rPr lang="en-US" sz="2400" b="1" dirty="0"/>
              <a:t>static block</a:t>
            </a:r>
            <a:endParaRPr lang="en-US" sz="2400" dirty="0"/>
          </a:p>
          <a:p>
            <a:r>
              <a:rPr lang="en-US" sz="2400" dirty="0"/>
              <a:t>•Is used to initialize the static data member.</a:t>
            </a:r>
          </a:p>
          <a:p>
            <a:r>
              <a:rPr lang="en-US" sz="2400" dirty="0"/>
              <a:t>•It is executed before the main method at the time of </a:t>
            </a:r>
            <a:r>
              <a:rPr lang="en-US" sz="2400" dirty="0" smtClean="0"/>
              <a:t>class loading</a:t>
            </a:r>
            <a:r>
              <a:rPr lang="en-US" sz="2400" dirty="0"/>
              <a:t>.</a:t>
            </a:r>
          </a:p>
          <a:p>
            <a:endParaRPr lang="en-US" sz="2400" dirty="0"/>
          </a:p>
          <a:p>
            <a:r>
              <a:rPr lang="en-US" sz="2400" b="1" dirty="0" err="1"/>
              <a:t>class</a:t>
            </a:r>
            <a:r>
              <a:rPr lang="en-US" sz="2400" dirty="0" err="1"/>
              <a:t>A2</a:t>
            </a:r>
            <a:r>
              <a:rPr lang="en-US" sz="2400" dirty="0"/>
              <a:t>{</a:t>
            </a:r>
          </a:p>
          <a:p>
            <a:r>
              <a:rPr lang="en-US" sz="2400" b="1" dirty="0"/>
              <a:t>static</a:t>
            </a:r>
            <a:r>
              <a:rPr lang="en-US" sz="2400" dirty="0"/>
              <a:t>{</a:t>
            </a:r>
          </a:p>
          <a:p>
            <a:r>
              <a:rPr lang="en-US" sz="2400" dirty="0" err="1"/>
              <a:t>System.out.println</a:t>
            </a:r>
            <a:r>
              <a:rPr lang="en-US" sz="2400" dirty="0"/>
              <a:t>("</a:t>
            </a:r>
            <a:r>
              <a:rPr lang="en-US" sz="2400" dirty="0" err="1"/>
              <a:t>staticblockisinvoked</a:t>
            </a:r>
            <a:r>
              <a:rPr lang="en-US" sz="2400" dirty="0"/>
              <a:t>");</a:t>
            </a:r>
          </a:p>
          <a:p>
            <a:r>
              <a:rPr lang="en-US" sz="2400" dirty="0"/>
              <a:t>}</a:t>
            </a:r>
          </a:p>
          <a:p>
            <a:r>
              <a:rPr lang="en-US" sz="2400" b="1" dirty="0" err="1"/>
              <a:t>publicstaticvoid</a:t>
            </a:r>
            <a:r>
              <a:rPr lang="en-US" sz="2400" dirty="0" err="1"/>
              <a:t>main</a:t>
            </a:r>
            <a:r>
              <a:rPr lang="en-US" sz="2400" dirty="0"/>
              <a:t>(</a:t>
            </a:r>
            <a:r>
              <a:rPr lang="en-US" sz="2400" dirty="0" err="1"/>
              <a:t>Stringargs</a:t>
            </a:r>
            <a:r>
              <a:rPr lang="en-US" sz="2400" dirty="0"/>
              <a:t>[]){</a:t>
            </a:r>
          </a:p>
          <a:p>
            <a:r>
              <a:rPr lang="en-US" sz="2400" dirty="0" err="1"/>
              <a:t>System.out.println</a:t>
            </a:r>
            <a:r>
              <a:rPr lang="en-US" sz="2400" dirty="0"/>
              <a:t>("</a:t>
            </a:r>
            <a:r>
              <a:rPr lang="en-US" sz="2400" dirty="0" err="1"/>
              <a:t>Hellomain</a:t>
            </a:r>
            <a:r>
              <a:rPr lang="en-US" sz="2400" dirty="0"/>
              <a:t>");</a:t>
            </a:r>
          </a:p>
          <a:p>
            <a:r>
              <a:rPr lang="en-US" sz="2400" dirty="0"/>
              <a:t>}</a:t>
            </a:r>
          </a:p>
          <a:p>
            <a:r>
              <a:rPr lang="en-US" sz="2400" dirty="0"/>
              <a:t>}</a:t>
            </a:r>
          </a:p>
          <a:p>
            <a:r>
              <a:rPr lang="en-US" sz="2400" dirty="0"/>
              <a:t>Output:</a:t>
            </a:r>
          </a:p>
          <a:p>
            <a:r>
              <a:rPr lang="en-US" sz="2400" dirty="0"/>
              <a:t>static block is invoked </a:t>
            </a:r>
          </a:p>
          <a:p>
            <a:r>
              <a:rPr lang="en-US" sz="2400" dirty="0"/>
              <a:t>Hello main</a:t>
            </a:r>
          </a:p>
        </p:txBody>
      </p:sp>
    </p:spTree>
    <p:extLst>
      <p:ext uri="{BB962C8B-B14F-4D97-AF65-F5344CB8AC3E}">
        <p14:creationId xmlns:p14="http://schemas.microsoft.com/office/powerpoint/2010/main" val="10618318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FINAL</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14512" y="2161699"/>
            <a:ext cx="15537445" cy="2215991"/>
          </a:xfrm>
          <a:prstGeom prst="rect">
            <a:avLst/>
          </a:prstGeom>
        </p:spPr>
        <p:txBody>
          <a:bodyPr wrap="square" lIns="0" tIns="0" rIns="0" bIns="0" rtlCol="0" anchor="t">
            <a:spAutoFit/>
          </a:bodyPr>
          <a:lstStyle/>
          <a:p>
            <a:r>
              <a:rPr lang="en-US" sz="2400" b="1" dirty="0"/>
              <a:t>final</a:t>
            </a:r>
            <a:endParaRPr lang="en-US" sz="2400" dirty="0"/>
          </a:p>
          <a:p>
            <a:r>
              <a:rPr lang="en-US" sz="2400" dirty="0"/>
              <a:t>•</a:t>
            </a:r>
            <a:r>
              <a:rPr lang="en-US" sz="2400" dirty="0" err="1"/>
              <a:t>The</a:t>
            </a:r>
            <a:r>
              <a:rPr lang="en-US" sz="2400" b="1" dirty="0" err="1"/>
              <a:t>final</a:t>
            </a:r>
            <a:r>
              <a:rPr lang="en-US" sz="2400" b="1" dirty="0"/>
              <a:t> </a:t>
            </a:r>
            <a:r>
              <a:rPr lang="en-US" sz="2400" b="1" dirty="0" err="1"/>
              <a:t>keyword</a:t>
            </a:r>
            <a:r>
              <a:rPr lang="en-US" sz="2400" dirty="0" err="1"/>
              <a:t>in</a:t>
            </a:r>
            <a:r>
              <a:rPr lang="en-US" sz="2400" dirty="0"/>
              <a:t> java is used to restrict the user. </a:t>
            </a:r>
          </a:p>
          <a:p>
            <a:r>
              <a:rPr lang="en-US" sz="2400" dirty="0"/>
              <a:t>•The java final keyword can be used in many context.</a:t>
            </a:r>
          </a:p>
          <a:p>
            <a:r>
              <a:rPr lang="en-US" sz="2400" dirty="0" err="1"/>
              <a:t>1.variable</a:t>
            </a:r>
            <a:endParaRPr lang="en-US" sz="2400" dirty="0"/>
          </a:p>
          <a:p>
            <a:r>
              <a:rPr lang="en-US" sz="2400" dirty="0" err="1"/>
              <a:t>2.method</a:t>
            </a:r>
            <a:endParaRPr lang="en-US" sz="2400" dirty="0"/>
          </a:p>
          <a:p>
            <a:r>
              <a:rPr lang="en-US" sz="2400" dirty="0" err="1"/>
              <a:t>3.class</a:t>
            </a:r>
            <a:endParaRPr lang="en-US"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533900"/>
            <a:ext cx="14349046"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295742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FINAL variable</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20999" y="1986917"/>
            <a:ext cx="15537445" cy="6370975"/>
          </a:xfrm>
          <a:prstGeom prst="rect">
            <a:avLst/>
          </a:prstGeom>
        </p:spPr>
        <p:txBody>
          <a:bodyPr wrap="square" lIns="0" tIns="0" rIns="0" bIns="0" rtlCol="0" anchor="t">
            <a:spAutoFit/>
          </a:bodyPr>
          <a:lstStyle/>
          <a:p>
            <a:endParaRPr lang="en-US" dirty="0"/>
          </a:p>
          <a:p>
            <a:r>
              <a:rPr lang="en-US" dirty="0"/>
              <a:t>•A variable can be declared as final. </a:t>
            </a:r>
          </a:p>
          <a:p>
            <a:r>
              <a:rPr lang="en-US" dirty="0"/>
              <a:t>•Doing so </a:t>
            </a:r>
            <a:r>
              <a:rPr lang="en-US" dirty="0" smtClean="0"/>
              <a:t>prevents i</a:t>
            </a:r>
            <a:r>
              <a:rPr lang="en-US" dirty="0"/>
              <a:t>t</a:t>
            </a:r>
            <a:r>
              <a:rPr lang="en-US" dirty="0" smtClean="0"/>
              <a:t>s </a:t>
            </a:r>
            <a:r>
              <a:rPr lang="en-US" dirty="0"/>
              <a:t>contents from being modified.</a:t>
            </a:r>
          </a:p>
          <a:p>
            <a:r>
              <a:rPr lang="en-US" dirty="0"/>
              <a:t>•This means that you must initialize a final variable when it is declared.</a:t>
            </a:r>
          </a:p>
          <a:p>
            <a:r>
              <a:rPr lang="en-US" dirty="0"/>
              <a:t>•It is a common coding convention to choose all uppercase identifiers for </a:t>
            </a:r>
            <a:r>
              <a:rPr lang="en-US" b="1" dirty="0"/>
              <a:t>final </a:t>
            </a:r>
            <a:r>
              <a:rPr lang="en-US" dirty="0"/>
              <a:t>variables</a:t>
            </a:r>
            <a:r>
              <a:rPr lang="en-US" b="1" dirty="0"/>
              <a:t>.</a:t>
            </a:r>
            <a:endParaRPr lang="en-US" dirty="0"/>
          </a:p>
          <a:p>
            <a:r>
              <a:rPr lang="en-US" dirty="0"/>
              <a:t>•Variables declared as </a:t>
            </a:r>
            <a:r>
              <a:rPr lang="en-US" b="1" dirty="0"/>
              <a:t>final </a:t>
            </a:r>
            <a:r>
              <a:rPr lang="en-US" dirty="0"/>
              <a:t>do not occupy memory on a per-instance basis. </a:t>
            </a:r>
          </a:p>
          <a:p>
            <a:r>
              <a:rPr lang="en-US" dirty="0"/>
              <a:t>•Thus, a final variable is essentially a constant.</a:t>
            </a:r>
          </a:p>
          <a:p>
            <a:r>
              <a:rPr lang="en-US" dirty="0"/>
              <a:t>•A field that is both </a:t>
            </a:r>
            <a:r>
              <a:rPr lang="en-US" dirty="0" smtClean="0"/>
              <a:t>static and final has </a:t>
            </a:r>
            <a:r>
              <a:rPr lang="en-US" dirty="0"/>
              <a:t>only one piece of storage that cannot be changed.</a:t>
            </a:r>
          </a:p>
          <a:p>
            <a:r>
              <a:rPr lang="en-US" dirty="0"/>
              <a:t>•The keyword final can also be applied to methods, and classes.</a:t>
            </a:r>
          </a:p>
          <a:p>
            <a:r>
              <a:rPr lang="en-US" dirty="0"/>
              <a:t>•A final variable that is not initialized at the time of declaration is known as blank final variable. We can initialize using constructors only.</a:t>
            </a:r>
          </a:p>
          <a:p>
            <a:r>
              <a:rPr lang="en-US" dirty="0"/>
              <a:t>•A static final variable that is not initialized at the time of declaration is known as static blank final variable. It can be initialized only in static block.</a:t>
            </a:r>
          </a:p>
          <a:p>
            <a:endParaRPr lang="en-US" dirty="0"/>
          </a:p>
          <a:p>
            <a:r>
              <a:rPr lang="en-US" dirty="0"/>
              <a:t>final </a:t>
            </a:r>
            <a:r>
              <a:rPr lang="en-US" dirty="0" err="1"/>
              <a:t>intFILE_NEW</a:t>
            </a:r>
            <a:r>
              <a:rPr lang="en-US" dirty="0"/>
              <a:t> = 1;</a:t>
            </a:r>
          </a:p>
          <a:p>
            <a:r>
              <a:rPr lang="en-US" dirty="0"/>
              <a:t>final </a:t>
            </a:r>
            <a:r>
              <a:rPr lang="en-US" dirty="0" err="1"/>
              <a:t>intFILE_OPEN</a:t>
            </a:r>
            <a:r>
              <a:rPr lang="en-US" dirty="0"/>
              <a:t> = 2;</a:t>
            </a:r>
          </a:p>
          <a:p>
            <a:r>
              <a:rPr lang="en-US" dirty="0"/>
              <a:t>final </a:t>
            </a:r>
            <a:r>
              <a:rPr lang="en-US" dirty="0" err="1"/>
              <a:t>intFILE_SAVE</a:t>
            </a:r>
            <a:r>
              <a:rPr lang="en-US" dirty="0"/>
              <a:t> = 3;</a:t>
            </a:r>
          </a:p>
          <a:p>
            <a:r>
              <a:rPr lang="en-US" dirty="0"/>
              <a:t>final </a:t>
            </a:r>
            <a:r>
              <a:rPr lang="en-US" dirty="0" err="1"/>
              <a:t>intFILE_SAVEAS</a:t>
            </a:r>
            <a:r>
              <a:rPr lang="en-US" dirty="0"/>
              <a:t> = 4;</a:t>
            </a:r>
          </a:p>
          <a:p>
            <a:r>
              <a:rPr lang="en-US" dirty="0"/>
              <a:t>final </a:t>
            </a:r>
            <a:r>
              <a:rPr lang="en-US" dirty="0" err="1"/>
              <a:t>intFILE_QUIT</a:t>
            </a:r>
            <a:r>
              <a:rPr lang="en-US" dirty="0"/>
              <a:t> = 5</a:t>
            </a:r>
            <a:r>
              <a:rPr lang="en-US" dirty="0" smtClean="0"/>
              <a:t>;</a:t>
            </a:r>
          </a:p>
          <a:p>
            <a:endParaRPr lang="en-US" dirty="0"/>
          </a:p>
          <a:p>
            <a:r>
              <a:rPr lang="en-US" b="1" dirty="0" err="1"/>
              <a:t>class</a:t>
            </a:r>
            <a:r>
              <a:rPr lang="en-US" dirty="0" err="1"/>
              <a:t>A</a:t>
            </a:r>
            <a:r>
              <a:rPr lang="en-US" dirty="0"/>
              <a:t>{</a:t>
            </a:r>
          </a:p>
          <a:p>
            <a:r>
              <a:rPr lang="en-US" b="1" dirty="0" err="1"/>
              <a:t>staticfinalint</a:t>
            </a:r>
            <a:r>
              <a:rPr lang="en-US" dirty="0" err="1"/>
              <a:t>data</a:t>
            </a:r>
            <a:r>
              <a:rPr lang="en-US" dirty="0"/>
              <a:t>;//</a:t>
            </a:r>
            <a:r>
              <a:rPr lang="en-US" dirty="0" err="1"/>
              <a:t>staticblankfinalvariable</a:t>
            </a:r>
            <a:endParaRPr lang="en-US" dirty="0"/>
          </a:p>
          <a:p>
            <a:r>
              <a:rPr lang="en-US" b="1" dirty="0"/>
              <a:t>static</a:t>
            </a:r>
            <a:r>
              <a:rPr lang="en-US" dirty="0"/>
              <a:t>{data=50;}</a:t>
            </a:r>
          </a:p>
          <a:p>
            <a:r>
              <a:rPr lang="en-US" b="1" dirty="0" err="1"/>
              <a:t>publicstaticvoid</a:t>
            </a:r>
            <a:r>
              <a:rPr lang="en-US" dirty="0" err="1"/>
              <a:t>main</a:t>
            </a:r>
            <a:r>
              <a:rPr lang="en-US" dirty="0"/>
              <a:t>(</a:t>
            </a:r>
            <a:r>
              <a:rPr lang="en-US" dirty="0" err="1"/>
              <a:t>Stringargs</a:t>
            </a:r>
            <a:r>
              <a:rPr lang="en-US" dirty="0"/>
              <a:t>[]){</a:t>
            </a:r>
          </a:p>
          <a:p>
            <a:r>
              <a:rPr lang="en-US" dirty="0" err="1"/>
              <a:t>System.out.println</a:t>
            </a:r>
            <a:r>
              <a:rPr lang="en-US" dirty="0"/>
              <a:t>(</a:t>
            </a:r>
            <a:r>
              <a:rPr lang="en-US" dirty="0" err="1"/>
              <a:t>A.data</a:t>
            </a:r>
            <a:r>
              <a:rPr lang="en-US" dirty="0" smtClean="0"/>
              <a:t>);}}</a:t>
            </a:r>
            <a:endParaRPr lang="en-US" dirty="0"/>
          </a:p>
        </p:txBody>
      </p:sp>
    </p:spTree>
    <p:extLst>
      <p:ext uri="{BB962C8B-B14F-4D97-AF65-F5344CB8AC3E}">
        <p14:creationId xmlns:p14="http://schemas.microsoft.com/office/powerpoint/2010/main" val="35845451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FINAL method</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20999" y="1986917"/>
            <a:ext cx="15537445" cy="5262979"/>
          </a:xfrm>
          <a:prstGeom prst="rect">
            <a:avLst/>
          </a:prstGeom>
        </p:spPr>
        <p:txBody>
          <a:bodyPr wrap="square" lIns="0" tIns="0" rIns="0" bIns="0" rtlCol="0" anchor="t">
            <a:spAutoFit/>
          </a:bodyPr>
          <a:lstStyle/>
          <a:p>
            <a:r>
              <a:rPr lang="en-US" dirty="0"/>
              <a:t>final method</a:t>
            </a:r>
          </a:p>
          <a:p>
            <a:r>
              <a:rPr lang="en-US" dirty="0"/>
              <a:t>•If you make any method as final, you cannot override it.</a:t>
            </a:r>
          </a:p>
          <a:p>
            <a:r>
              <a:rPr lang="en-US" dirty="0"/>
              <a:t>•Is final method inherited? Yes, final method is inherited but you cannot override it.</a:t>
            </a:r>
          </a:p>
          <a:p>
            <a:endParaRPr lang="en-US" dirty="0"/>
          </a:p>
          <a:p>
            <a:r>
              <a:rPr lang="en-US" b="1" dirty="0" err="1"/>
              <a:t>class</a:t>
            </a:r>
            <a:r>
              <a:rPr lang="en-US" dirty="0" err="1"/>
              <a:t>Bike</a:t>
            </a:r>
            <a:r>
              <a:rPr lang="en-US" dirty="0"/>
              <a:t>{</a:t>
            </a:r>
          </a:p>
          <a:p>
            <a:r>
              <a:rPr lang="en-US" b="1" dirty="0" err="1"/>
              <a:t>finalvoid</a:t>
            </a:r>
            <a:r>
              <a:rPr lang="en-US" dirty="0" err="1"/>
              <a:t>run</a:t>
            </a:r>
            <a:r>
              <a:rPr lang="en-US" dirty="0"/>
              <a:t>(){</a:t>
            </a:r>
          </a:p>
          <a:p>
            <a:r>
              <a:rPr lang="en-US" dirty="0" err="1"/>
              <a:t>System.out.println</a:t>
            </a:r>
            <a:r>
              <a:rPr lang="en-US" dirty="0"/>
              <a:t>("running");</a:t>
            </a:r>
          </a:p>
          <a:p>
            <a:r>
              <a:rPr lang="en-US" dirty="0"/>
              <a:t>}</a:t>
            </a:r>
          </a:p>
          <a:p>
            <a:r>
              <a:rPr lang="en-US" dirty="0"/>
              <a:t>}</a:t>
            </a:r>
          </a:p>
          <a:p>
            <a:r>
              <a:rPr lang="en-US" b="1" dirty="0" err="1"/>
              <a:t>class</a:t>
            </a:r>
            <a:r>
              <a:rPr lang="en-US" dirty="0" err="1"/>
              <a:t>Honda</a:t>
            </a:r>
            <a:r>
              <a:rPr lang="en-US" b="1" dirty="0" err="1"/>
              <a:t>extends</a:t>
            </a:r>
            <a:r>
              <a:rPr lang="en-US" dirty="0" err="1"/>
              <a:t>Bike</a:t>
            </a:r>
            <a:r>
              <a:rPr lang="en-US" dirty="0"/>
              <a:t>{</a:t>
            </a:r>
          </a:p>
          <a:p>
            <a:r>
              <a:rPr lang="en-US" b="1" dirty="0" err="1"/>
              <a:t>void</a:t>
            </a:r>
            <a:r>
              <a:rPr lang="en-US" dirty="0" err="1"/>
              <a:t>run</a:t>
            </a:r>
            <a:r>
              <a:rPr lang="en-US" dirty="0"/>
              <a:t>(){</a:t>
            </a:r>
          </a:p>
          <a:p>
            <a:r>
              <a:rPr lang="en-US" dirty="0" err="1"/>
              <a:t>System.out.println</a:t>
            </a:r>
            <a:r>
              <a:rPr lang="en-US" dirty="0"/>
              <a:t>("</a:t>
            </a:r>
            <a:r>
              <a:rPr lang="en-US" dirty="0" err="1"/>
              <a:t>runningsafelywith100kmph</a:t>
            </a:r>
            <a:r>
              <a:rPr lang="en-US" dirty="0"/>
              <a:t>");</a:t>
            </a:r>
          </a:p>
          <a:p>
            <a:r>
              <a:rPr lang="en-US" dirty="0"/>
              <a:t>}</a:t>
            </a:r>
          </a:p>
          <a:p>
            <a:r>
              <a:rPr lang="en-US" b="1" dirty="0" err="1"/>
              <a:t>publicstaticvoid</a:t>
            </a:r>
            <a:r>
              <a:rPr lang="en-US" dirty="0" err="1"/>
              <a:t>main</a:t>
            </a:r>
            <a:r>
              <a:rPr lang="en-US" dirty="0"/>
              <a:t>(</a:t>
            </a:r>
            <a:r>
              <a:rPr lang="en-US" dirty="0" err="1"/>
              <a:t>Stringargs</a:t>
            </a:r>
            <a:r>
              <a:rPr lang="en-US" dirty="0"/>
              <a:t>[]){</a:t>
            </a:r>
          </a:p>
          <a:p>
            <a:r>
              <a:rPr lang="en-US" dirty="0" err="1"/>
              <a:t>Hondahonda</a:t>
            </a:r>
            <a:r>
              <a:rPr lang="en-US" dirty="0"/>
              <a:t>=</a:t>
            </a:r>
            <a:r>
              <a:rPr lang="en-US" b="1" dirty="0" err="1"/>
              <a:t>new</a:t>
            </a:r>
            <a:r>
              <a:rPr lang="en-US" dirty="0" err="1"/>
              <a:t>Honda</a:t>
            </a:r>
            <a:r>
              <a:rPr lang="en-US" dirty="0"/>
              <a:t>();</a:t>
            </a:r>
          </a:p>
          <a:p>
            <a:r>
              <a:rPr lang="en-US" dirty="0" err="1"/>
              <a:t>honda.run</a:t>
            </a:r>
            <a:r>
              <a:rPr lang="en-US" dirty="0"/>
              <a:t>();</a:t>
            </a:r>
          </a:p>
          <a:p>
            <a:r>
              <a:rPr lang="en-US" dirty="0"/>
              <a:t>}</a:t>
            </a:r>
          </a:p>
          <a:p>
            <a:r>
              <a:rPr lang="en-US" dirty="0"/>
              <a:t>}</a:t>
            </a:r>
          </a:p>
          <a:p>
            <a:r>
              <a:rPr lang="en-US" dirty="0" err="1"/>
              <a:t>Output:CompileTime</a:t>
            </a:r>
            <a:r>
              <a:rPr lang="en-US" dirty="0"/>
              <a:t> Error</a:t>
            </a:r>
          </a:p>
        </p:txBody>
      </p:sp>
    </p:spTree>
    <p:extLst>
      <p:ext uri="{BB962C8B-B14F-4D97-AF65-F5344CB8AC3E}">
        <p14:creationId xmlns:p14="http://schemas.microsoft.com/office/powerpoint/2010/main" val="414329198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8179"/>
          </a:xfrm>
          <a:prstGeom prst="rect">
            <a:avLst/>
          </a:prstGeom>
        </p:spPr>
        <p:txBody>
          <a:bodyPr wrap="square" lIns="0" tIns="0" rIns="0" bIns="0" rtlCol="0" anchor="t">
            <a:spAutoFit/>
          </a:bodyPr>
          <a:lstStyle/>
          <a:p>
            <a:pPr algn="ctr">
              <a:lnSpc>
                <a:spcPts val="11469"/>
              </a:lnSpc>
            </a:pPr>
            <a:r>
              <a:rPr lang="en-US" sz="6000" b="1" dirty="0" smtClean="0"/>
              <a:t>FINAL class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020999" y="1986917"/>
            <a:ext cx="15537445" cy="4985980"/>
          </a:xfrm>
          <a:prstGeom prst="rect">
            <a:avLst/>
          </a:prstGeom>
        </p:spPr>
        <p:txBody>
          <a:bodyPr wrap="square" lIns="0" tIns="0" rIns="0" bIns="0" rtlCol="0" anchor="t">
            <a:spAutoFit/>
          </a:bodyPr>
          <a:lstStyle/>
          <a:p>
            <a:r>
              <a:rPr lang="en-US" dirty="0"/>
              <a:t>final class</a:t>
            </a:r>
          </a:p>
          <a:p>
            <a:r>
              <a:rPr lang="en-US" dirty="0"/>
              <a:t>•If you make any class as final, you cannot extend it.</a:t>
            </a:r>
          </a:p>
          <a:p>
            <a:endParaRPr lang="en-US" dirty="0"/>
          </a:p>
          <a:p>
            <a:r>
              <a:rPr lang="en-US" b="1" dirty="0" err="1"/>
              <a:t>finalclass</a:t>
            </a:r>
            <a:r>
              <a:rPr lang="en-US" dirty="0" err="1"/>
              <a:t>Bike</a:t>
            </a:r>
            <a:r>
              <a:rPr lang="en-US" dirty="0"/>
              <a:t>{</a:t>
            </a:r>
          </a:p>
          <a:p>
            <a:r>
              <a:rPr lang="en-US" b="1" dirty="0" err="1"/>
              <a:t>void</a:t>
            </a:r>
            <a:r>
              <a:rPr lang="en-US" dirty="0" err="1"/>
              <a:t>run</a:t>
            </a:r>
            <a:r>
              <a:rPr lang="en-US" dirty="0"/>
              <a:t>(){</a:t>
            </a:r>
          </a:p>
          <a:p>
            <a:r>
              <a:rPr lang="en-US" dirty="0" err="1"/>
              <a:t>System.out.println</a:t>
            </a:r>
            <a:r>
              <a:rPr lang="en-US" dirty="0"/>
              <a:t>("running");</a:t>
            </a:r>
          </a:p>
          <a:p>
            <a:r>
              <a:rPr lang="en-US" dirty="0"/>
              <a:t>}</a:t>
            </a:r>
          </a:p>
          <a:p>
            <a:r>
              <a:rPr lang="en-US" dirty="0"/>
              <a:t>}</a:t>
            </a:r>
          </a:p>
          <a:p>
            <a:r>
              <a:rPr lang="en-US" b="1" dirty="0" err="1"/>
              <a:t>class</a:t>
            </a:r>
            <a:r>
              <a:rPr lang="en-US" dirty="0" err="1"/>
              <a:t>Honda</a:t>
            </a:r>
            <a:r>
              <a:rPr lang="en-US" b="1" dirty="0" err="1"/>
              <a:t>extends</a:t>
            </a:r>
            <a:r>
              <a:rPr lang="en-US" dirty="0" err="1"/>
              <a:t>Bike</a:t>
            </a:r>
            <a:r>
              <a:rPr lang="en-US" dirty="0"/>
              <a:t>{</a:t>
            </a:r>
          </a:p>
          <a:p>
            <a:r>
              <a:rPr lang="en-US" b="1" dirty="0" err="1"/>
              <a:t>void</a:t>
            </a:r>
            <a:r>
              <a:rPr lang="en-US" dirty="0" err="1"/>
              <a:t>run</a:t>
            </a:r>
            <a:r>
              <a:rPr lang="en-US" dirty="0"/>
              <a:t>(){</a:t>
            </a:r>
          </a:p>
          <a:p>
            <a:r>
              <a:rPr lang="en-US" dirty="0" err="1"/>
              <a:t>System.out.println</a:t>
            </a:r>
            <a:r>
              <a:rPr lang="en-US" dirty="0"/>
              <a:t>("</a:t>
            </a:r>
            <a:r>
              <a:rPr lang="en-US" dirty="0" err="1"/>
              <a:t>runningsafelywith100kmph</a:t>
            </a:r>
            <a:r>
              <a:rPr lang="en-US" dirty="0"/>
              <a:t>");</a:t>
            </a:r>
          </a:p>
          <a:p>
            <a:r>
              <a:rPr lang="en-US" dirty="0"/>
              <a:t>}</a:t>
            </a:r>
          </a:p>
          <a:p>
            <a:r>
              <a:rPr lang="en-US" b="1" dirty="0" err="1"/>
              <a:t>publicstaticvoid</a:t>
            </a:r>
            <a:r>
              <a:rPr lang="en-US" dirty="0" err="1"/>
              <a:t>main</a:t>
            </a:r>
            <a:r>
              <a:rPr lang="en-US" dirty="0"/>
              <a:t>(</a:t>
            </a:r>
            <a:r>
              <a:rPr lang="en-US" dirty="0" err="1"/>
              <a:t>Stringargs</a:t>
            </a:r>
            <a:r>
              <a:rPr lang="en-US" dirty="0"/>
              <a:t>[]){</a:t>
            </a:r>
          </a:p>
          <a:p>
            <a:r>
              <a:rPr lang="en-US" dirty="0" err="1"/>
              <a:t>Hondahonda</a:t>
            </a:r>
            <a:r>
              <a:rPr lang="en-US" dirty="0"/>
              <a:t>=</a:t>
            </a:r>
            <a:r>
              <a:rPr lang="en-US" b="1" dirty="0" err="1"/>
              <a:t>new</a:t>
            </a:r>
            <a:r>
              <a:rPr lang="en-US" dirty="0" err="1"/>
              <a:t>Honda</a:t>
            </a:r>
            <a:r>
              <a:rPr lang="en-US" dirty="0"/>
              <a:t>();</a:t>
            </a:r>
          </a:p>
          <a:p>
            <a:r>
              <a:rPr lang="en-US" dirty="0" err="1"/>
              <a:t>honda.run</a:t>
            </a:r>
            <a:r>
              <a:rPr lang="en-US" dirty="0"/>
              <a:t>();</a:t>
            </a:r>
          </a:p>
          <a:p>
            <a:r>
              <a:rPr lang="en-US" dirty="0"/>
              <a:t>}</a:t>
            </a:r>
          </a:p>
          <a:p>
            <a:r>
              <a:rPr lang="en-US" dirty="0"/>
              <a:t>}</a:t>
            </a:r>
          </a:p>
          <a:p>
            <a:r>
              <a:rPr lang="en-US" dirty="0" err="1"/>
              <a:t>Output:CompileTime</a:t>
            </a:r>
            <a:r>
              <a:rPr lang="en-US" dirty="0"/>
              <a:t> Error</a:t>
            </a:r>
          </a:p>
        </p:txBody>
      </p:sp>
    </p:spTree>
    <p:extLst>
      <p:ext uri="{BB962C8B-B14F-4D97-AF65-F5344CB8AC3E}">
        <p14:creationId xmlns:p14="http://schemas.microsoft.com/office/powerpoint/2010/main" val="230620887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dirty="0"/>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dirty="0"/>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Practice Questions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634574"/>
            <a:ext cx="15537445" cy="5232202"/>
          </a:xfrm>
          <a:prstGeom prst="rect">
            <a:avLst/>
          </a:prstGeom>
        </p:spPr>
        <p:txBody>
          <a:bodyPr wrap="square" lIns="0" tIns="0" rIns="0" bIns="0" rtlCol="0" anchor="t">
            <a:spAutoFit/>
          </a:bodyPr>
          <a:lstStyle/>
          <a:p>
            <a:pPr marL="514350" lvl="0" indent="-514350" algn="just">
              <a:lnSpc>
                <a:spcPts val="5096"/>
              </a:lnSpc>
              <a:buFont typeface="+mj-lt"/>
              <a:buAutoNum type="arabicPeriod"/>
            </a:pPr>
            <a:r>
              <a:rPr lang="en-US" sz="3200" b="1" dirty="0" smtClean="0">
                <a:solidFill>
                  <a:srgbClr val="000000"/>
                </a:solidFill>
                <a:latin typeface="Century Gothic Paneuropean"/>
                <a:ea typeface="Century Gothic Paneuropean"/>
                <a:cs typeface="Century Gothic Paneuropean"/>
                <a:sym typeface="Century Gothic Paneuropean"/>
              </a:rPr>
              <a:t>Car Example</a:t>
            </a:r>
          </a:p>
          <a:p>
            <a:pPr lvl="0" algn="just">
              <a:lnSpc>
                <a:spcPts val="5096"/>
              </a:lnSpc>
            </a:pPr>
            <a:r>
              <a:rPr lang="en-US" sz="3200"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Create a class Car with a method drive() that prints “Car is moving”.</a:t>
            </a:r>
          </a:p>
          <a:p>
            <a:pPr lvl="0" algn="just">
              <a:lnSpc>
                <a:spcPts val="5096"/>
              </a:lnSpc>
            </a:pPr>
            <a:r>
              <a:rPr lang="en-US" sz="3200"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Create an object using new and call drive( ).</a:t>
            </a:r>
          </a:p>
          <a:p>
            <a:pPr marL="514350" lvl="0" indent="-514350" algn="just">
              <a:lnSpc>
                <a:spcPts val="5096"/>
              </a:lnSpc>
              <a:buFont typeface="+mj-lt"/>
              <a:buAutoNum type="arabicPeriod" startAt="2"/>
            </a:pPr>
            <a:r>
              <a:rPr lang="en-US" sz="3200" b="1" dirty="0" smtClean="0">
                <a:solidFill>
                  <a:srgbClr val="000000"/>
                </a:solidFill>
                <a:latin typeface="Century Gothic Paneuropean"/>
                <a:ea typeface="Century Gothic Paneuropean"/>
                <a:cs typeface="Century Gothic Paneuropean"/>
                <a:sym typeface="Century Gothic Paneuropean"/>
              </a:rPr>
              <a:t> Create Calculator </a:t>
            </a:r>
          </a:p>
          <a:p>
            <a:pPr lvl="0" algn="just">
              <a:lnSpc>
                <a:spcPts val="5096"/>
              </a:lnSpc>
            </a:pPr>
            <a:r>
              <a:rPr lang="en-US" sz="3200" b="1"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Create a class Calculator with two methods:</a:t>
            </a:r>
          </a:p>
          <a:p>
            <a:pPr algn="just">
              <a:lnSpc>
                <a:spcPts val="5096"/>
              </a:lnSpc>
            </a:pPr>
            <a:r>
              <a:rPr lang="en-US" sz="3200" dirty="0">
                <a:solidFill>
                  <a:srgbClr val="000000"/>
                </a:solidFill>
                <a:latin typeface="Century Gothic Paneuropean"/>
                <a:ea typeface="Century Gothic Paneuropean"/>
                <a:cs typeface="Century Gothic Paneuropean"/>
                <a:sym typeface="Century Gothic Paneuropean"/>
              </a:rPr>
              <a:t>	dimensions() – print </a:t>
            </a:r>
            <a:r>
              <a:rPr lang="en-US" sz="3200" dirty="0" smtClean="0">
                <a:solidFill>
                  <a:srgbClr val="000000"/>
                </a:solidFill>
                <a:latin typeface="Century Gothic Paneuropean"/>
                <a:ea typeface="Century Gothic Paneuropean"/>
                <a:cs typeface="Century Gothic Paneuropean"/>
                <a:sym typeface="Century Gothic Paneuropean"/>
              </a:rPr>
              <a:t>dimensions of a cuboid</a:t>
            </a:r>
          </a:p>
          <a:p>
            <a:pPr lvl="0" algn="just">
              <a:lnSpc>
                <a:spcPts val="5096"/>
              </a:lnSpc>
            </a:pPr>
            <a:r>
              <a:rPr lang="en-US" sz="3200" dirty="0">
                <a:solidFill>
                  <a:srgbClr val="000000"/>
                </a:solidFill>
                <a:latin typeface="Century Gothic Paneuropean"/>
                <a:ea typeface="Century Gothic Paneuropean"/>
                <a:cs typeface="Century Gothic Paneuropean"/>
                <a:sym typeface="Century Gothic Paneuropean"/>
              </a:rPr>
              <a:t>	</a:t>
            </a:r>
            <a:r>
              <a:rPr lang="en-US" sz="3200" dirty="0" smtClean="0">
                <a:solidFill>
                  <a:srgbClr val="000000"/>
                </a:solidFill>
                <a:latin typeface="Century Gothic Paneuropean"/>
                <a:ea typeface="Century Gothic Paneuropean"/>
                <a:cs typeface="Century Gothic Paneuropean"/>
                <a:sym typeface="Century Gothic Paneuropean"/>
              </a:rPr>
              <a:t>volume() – print  volume of cuboid</a:t>
            </a:r>
            <a:r>
              <a:rPr lang="en-US" sz="3200" dirty="0">
                <a:solidFill>
                  <a:srgbClr val="000000"/>
                </a:solidFill>
                <a:latin typeface="Century Gothic Paneuropean"/>
                <a:ea typeface="Century Gothic Paneuropean"/>
                <a:cs typeface="Century Gothic Paneuropean"/>
                <a:sym typeface="Century Gothic Paneuropean"/>
              </a:rPr>
              <a:t>	</a:t>
            </a:r>
            <a:endParaRPr lang="en-US" sz="3200" dirty="0" smtClean="0">
              <a:solidFill>
                <a:srgbClr val="000000"/>
              </a:solidFill>
              <a:latin typeface="Century Gothic Paneuropean"/>
              <a:ea typeface="Century Gothic Paneuropean"/>
              <a:cs typeface="Century Gothic Paneuropean"/>
              <a:sym typeface="Century Gothic Paneuropean"/>
            </a:endParaRPr>
          </a:p>
          <a:p>
            <a:pPr lvl="0" algn="just">
              <a:lnSpc>
                <a:spcPts val="5096"/>
              </a:lnSpc>
            </a:pPr>
            <a:r>
              <a:rPr lang="en-US" sz="3200" dirty="0">
                <a:solidFill>
                  <a:srgbClr val="000000"/>
                </a:solidFill>
                <a:latin typeface="Century Gothic Paneuropean"/>
                <a:ea typeface="Century Gothic Paneuropean"/>
                <a:cs typeface="Century Gothic Paneuropean"/>
                <a:sym typeface="Century Gothic Paneuropean"/>
              </a:rPr>
              <a:t>	</a:t>
            </a:r>
          </a:p>
        </p:txBody>
      </p:sp>
    </p:spTree>
    <p:extLst>
      <p:ext uri="{BB962C8B-B14F-4D97-AF65-F5344CB8AC3E}">
        <p14:creationId xmlns:p14="http://schemas.microsoft.com/office/powerpoint/2010/main" val="35557862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1538</TotalTime>
  <Words>4570</Words>
  <Application>Microsoft Office PowerPoint</Application>
  <PresentationFormat>Custom</PresentationFormat>
  <Paragraphs>623</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Consolas</vt:lpstr>
      <vt:lpstr>Wingdings</vt:lpstr>
      <vt:lpstr>Century Gothic Paneuropean Bold</vt:lpstr>
      <vt:lpstr>Calibri</vt:lpstr>
      <vt:lpstr>Century Gothic Paneuropean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79</cp:revision>
  <dcterms:created xsi:type="dcterms:W3CDTF">2006-08-16T00:00:00Z</dcterms:created>
  <dcterms:modified xsi:type="dcterms:W3CDTF">2026-03-08T14:07:06Z</dcterms:modified>
  <dc:identifier>DAGyNv6r3lM</dc:identifier>
</cp:coreProperties>
</file>