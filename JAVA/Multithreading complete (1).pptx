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3" r:id="rId2"/>
    <p:sldId id="264" r:id="rId3"/>
    <p:sldId id="270" r:id="rId4"/>
    <p:sldId id="265" r:id="rId5"/>
    <p:sldId id="266" r:id="rId6"/>
    <p:sldId id="267" r:id="rId7"/>
    <p:sldId id="268" r:id="rId8"/>
    <p:sldId id="279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80" r:id="rId18"/>
    <p:sldId id="281" r:id="rId19"/>
    <p:sldId id="277" r:id="rId20"/>
    <p:sldId id="282" r:id="rId21"/>
    <p:sldId id="284" r:id="rId22"/>
    <p:sldId id="287" r:id="rId23"/>
    <p:sldId id="288" r:id="rId24"/>
    <p:sldId id="290" r:id="rId25"/>
    <p:sldId id="299" r:id="rId26"/>
    <p:sldId id="291" r:id="rId27"/>
    <p:sldId id="300" r:id="rId28"/>
    <p:sldId id="292" r:id="rId29"/>
    <p:sldId id="298" r:id="rId30"/>
    <p:sldId id="297" r:id="rId31"/>
    <p:sldId id="295" r:id="rId32"/>
    <p:sldId id="296" r:id="rId33"/>
  </p:sldIdLst>
  <p:sldSz cx="18288000" cy="10287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529" autoAdjust="0"/>
    <p:restoredTop sz="94622" autoAdjust="0"/>
  </p:normalViewPr>
  <p:slideViewPr>
    <p:cSldViewPr>
      <p:cViewPr>
        <p:scale>
          <a:sx n="60" d="100"/>
          <a:sy n="60" d="100"/>
        </p:scale>
        <p:origin x="-330" y="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3" y="3360601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3660192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MULTITHREADING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47622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Program is a sequence of statements.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A </a:t>
            </a:r>
            <a:r>
              <a:rPr lang="en-US" sz="4000" dirty="0"/>
              <a:t>Program may be divided into two or more sub programs, this sub </a:t>
            </a:r>
            <a:r>
              <a:rPr lang="en-US" sz="4000" dirty="0" smtClean="0"/>
              <a:t>programs are </a:t>
            </a:r>
            <a:r>
              <a:rPr lang="en-US" sz="4000" dirty="0"/>
              <a:t>called process.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Many </a:t>
            </a:r>
            <a:r>
              <a:rPr lang="en-US" sz="4000" dirty="0"/>
              <a:t>Processes can be implemented at the same time in parallel (</a:t>
            </a:r>
            <a:r>
              <a:rPr lang="en-US" sz="4000" dirty="0" smtClean="0"/>
              <a:t>parallel Execution</a:t>
            </a:r>
            <a:r>
              <a:rPr lang="en-US" sz="4000" dirty="0"/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Process </a:t>
            </a:r>
            <a:r>
              <a:rPr lang="en-US" sz="4000" dirty="0"/>
              <a:t>can be divided into further small parts in its sub process (threads).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That </a:t>
            </a:r>
            <a:r>
              <a:rPr lang="en-US" sz="4000" dirty="0"/>
              <a:t>sub-process is called Thread.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We </a:t>
            </a:r>
            <a:r>
              <a:rPr lang="en-US" sz="4000" dirty="0"/>
              <a:t>can say “Thread” is a smallest unit of a program.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1913363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/>
              <a:t>Important terms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Multiprogramming</a:t>
            </a:r>
            <a:r>
              <a:rPr lang="en-US" sz="4000" dirty="0"/>
              <a:t>: More than one program running at same time. That </a:t>
            </a:r>
            <a:r>
              <a:rPr lang="en-US" sz="4000" dirty="0" smtClean="0"/>
              <a:t>can share </a:t>
            </a:r>
            <a:r>
              <a:rPr lang="en-US" sz="4000" dirty="0"/>
              <a:t>same Processor.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Multiprocessing</a:t>
            </a:r>
            <a:r>
              <a:rPr lang="en-US" sz="4000" dirty="0"/>
              <a:t>: two or more processes of a program running at same </a:t>
            </a:r>
            <a:r>
              <a:rPr lang="en-US" sz="4000" dirty="0" smtClean="0"/>
              <a:t>time. They </a:t>
            </a:r>
            <a:r>
              <a:rPr lang="en-US" sz="4000" dirty="0"/>
              <a:t>can process on the own (different) memory location.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Multithreading</a:t>
            </a:r>
            <a:r>
              <a:rPr lang="en-US" sz="4000" dirty="0"/>
              <a:t>: two or more thread of a process executing in parallel. That </a:t>
            </a:r>
            <a:r>
              <a:rPr lang="en-US" sz="4000" dirty="0" smtClean="0"/>
              <a:t>can share </a:t>
            </a:r>
            <a:r>
              <a:rPr lang="en-US" sz="4000" dirty="0"/>
              <a:t>same memory location in the memory.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Multitasking</a:t>
            </a:r>
            <a:r>
              <a:rPr lang="en-US" sz="4000" dirty="0"/>
              <a:t>: multiple task performed at a time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193493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 smtClean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853" y="805558"/>
            <a:ext cx="13234825" cy="8760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3407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dirty="0"/>
              <a:t>Thread life cycle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166" y="2432032"/>
            <a:ext cx="12424244" cy="704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41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During the life time of a thread ,there are many states it can enter, They are:</a:t>
            </a:r>
          </a:p>
          <a:p>
            <a:pPr lvl="2"/>
            <a:r>
              <a:rPr lang="en-US" sz="4000" dirty="0"/>
              <a:t>1. Newborn state</a:t>
            </a:r>
          </a:p>
          <a:p>
            <a:pPr lvl="2"/>
            <a:r>
              <a:rPr lang="en-US" sz="4000" dirty="0"/>
              <a:t>2. Runnable state</a:t>
            </a:r>
          </a:p>
          <a:p>
            <a:pPr lvl="2"/>
            <a:r>
              <a:rPr lang="en-US" sz="4000" dirty="0"/>
              <a:t>3. Running state</a:t>
            </a:r>
          </a:p>
          <a:p>
            <a:pPr lvl="2"/>
            <a:r>
              <a:rPr lang="en-US" sz="4000" dirty="0"/>
              <a:t>4. Blocked state</a:t>
            </a:r>
          </a:p>
          <a:p>
            <a:pPr lvl="2"/>
            <a:r>
              <a:rPr lang="en-US" sz="4000" dirty="0"/>
              <a:t>5. Dead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 thread is always in one of these five states. It can move from one state to </a:t>
            </a:r>
            <a:r>
              <a:rPr lang="en-US" sz="4000" dirty="0" smtClean="0"/>
              <a:t>another via </a:t>
            </a:r>
            <a:r>
              <a:rPr lang="en-US" sz="4000" dirty="0"/>
              <a:t>a variety of ways.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48804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1 ) New born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When we create a thread object, the thread is born and is said to be in </a:t>
            </a:r>
            <a:r>
              <a:rPr lang="en-US" sz="4000" dirty="0" smtClean="0"/>
              <a:t>newborn state</a:t>
            </a:r>
            <a:r>
              <a:rPr lang="en-U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The thread is not still scheduled for running.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At this time we can do only one of following with it:</a:t>
            </a:r>
          </a:p>
          <a:p>
            <a:pPr marL="1943100" lvl="3" indent="-571500">
              <a:buFont typeface="Wingdings" panose="05000000000000000000" pitchFamily="2" charset="2"/>
              <a:buChar char="ü"/>
            </a:pPr>
            <a:r>
              <a:rPr lang="en-US" sz="4000" dirty="0" smtClean="0"/>
              <a:t>Scheduled </a:t>
            </a:r>
            <a:r>
              <a:rPr lang="en-US" sz="4000" dirty="0"/>
              <a:t>it for running using start () method.</a:t>
            </a:r>
          </a:p>
          <a:p>
            <a:pPr marL="1943100" lvl="3" indent="-571500">
              <a:buFont typeface="Wingdings" panose="05000000000000000000" pitchFamily="2" charset="2"/>
              <a:buChar char="ü"/>
            </a:pPr>
            <a:r>
              <a:rPr lang="en-US" sz="4000" dirty="0" smtClean="0"/>
              <a:t>Kill </a:t>
            </a:r>
            <a:r>
              <a:rPr lang="en-US" sz="4000" dirty="0"/>
              <a:t>it using stop () method.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If thread scheduled ,it moves to the runnable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If we attempt to use any other method at this stage, an exception will be thrown.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53140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2) Runnable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Runnable state means that the thread is ready for execution and is waiting </a:t>
            </a:r>
            <a:r>
              <a:rPr lang="en-US" sz="4000" dirty="0" smtClean="0"/>
              <a:t>for the </a:t>
            </a:r>
            <a:r>
              <a:rPr lang="en-US" sz="4000" dirty="0"/>
              <a:t>availability of the processor.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The threads has joined waiting queue for execution.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If all threads have equal priority, then they are given time slots for execution </a:t>
            </a:r>
            <a:r>
              <a:rPr lang="en-US" sz="4000" dirty="0" smtClean="0"/>
              <a:t>in round </a:t>
            </a:r>
            <a:r>
              <a:rPr lang="en-US" sz="4000" dirty="0"/>
              <a:t>robin fashion. i. e. first-come, first serve manner.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Thread which </a:t>
            </a:r>
            <a:r>
              <a:rPr lang="en-US" sz="4000" dirty="0" smtClean="0"/>
              <a:t>leaves </a:t>
            </a:r>
            <a:r>
              <a:rPr lang="en-US" sz="4000" dirty="0"/>
              <a:t>control, joins the queue at the end and </a:t>
            </a:r>
            <a:r>
              <a:rPr lang="en-US" sz="4000" dirty="0" smtClean="0"/>
              <a:t>again waits </a:t>
            </a:r>
            <a:r>
              <a:rPr lang="en-US" sz="4000" dirty="0"/>
              <a:t>for its turn. This process of assigning time to thread is known as time-slicing.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If we want a thread to </a:t>
            </a:r>
            <a:r>
              <a:rPr lang="en-US" sz="4000" dirty="0" smtClean="0"/>
              <a:t>leave control </a:t>
            </a:r>
            <a:r>
              <a:rPr lang="en-US" sz="4000" dirty="0"/>
              <a:t>to another thread of equal </a:t>
            </a:r>
            <a:r>
              <a:rPr lang="en-US" sz="4000" dirty="0" smtClean="0"/>
              <a:t>priority before </a:t>
            </a:r>
            <a:r>
              <a:rPr lang="en-US" sz="4000" dirty="0"/>
              <a:t>its turn comes ,then yield( ) method is used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1990062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3) Running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• Running means that processor has given its time to the thread for its execution. </a:t>
            </a:r>
            <a:r>
              <a:rPr lang="en-US" sz="3600" dirty="0" smtClean="0"/>
              <a:t>The thread </a:t>
            </a:r>
            <a:r>
              <a:rPr lang="en-US" sz="3600" dirty="0"/>
              <a:t>runs until it relinquishes control on its own or it is preempted by a </a:t>
            </a:r>
            <a:r>
              <a:rPr lang="en-US" sz="3600" dirty="0" smtClean="0"/>
              <a:t>higher priority thread. A </a:t>
            </a:r>
            <a:r>
              <a:rPr lang="en-US" sz="3600" dirty="0"/>
              <a:t>running thread may change its state to another state in one of the </a:t>
            </a:r>
            <a:r>
              <a:rPr lang="en-US" sz="3600" dirty="0" smtClean="0"/>
              <a:t>following situations.</a:t>
            </a:r>
          </a:p>
          <a:p>
            <a:pPr marL="1485900" lvl="2" indent="-571500">
              <a:buFont typeface="Wingdings" panose="05000000000000000000" pitchFamily="2" charset="2"/>
              <a:buChar char="ü"/>
            </a:pPr>
            <a:r>
              <a:rPr lang="en-US" sz="3600" dirty="0"/>
              <a:t>When It has been suspended using suspend ( ) </a:t>
            </a:r>
            <a:r>
              <a:rPr lang="en-US" sz="3600" dirty="0" smtClean="0"/>
              <a:t>method - This </a:t>
            </a:r>
            <a:r>
              <a:rPr lang="en-US" sz="3600" dirty="0"/>
              <a:t>is used when we want to suspend a thread for some time due to certain </a:t>
            </a:r>
            <a:r>
              <a:rPr lang="en-US" sz="3600" dirty="0" smtClean="0"/>
              <a:t>reason, but </a:t>
            </a:r>
            <a:r>
              <a:rPr lang="en-US" sz="3600" dirty="0"/>
              <a:t>do not want to kill it. </a:t>
            </a:r>
            <a:endParaRPr lang="en-US" sz="3600" dirty="0" smtClean="0"/>
          </a:p>
          <a:p>
            <a:pPr marL="1485900" lvl="2" indent="-571500">
              <a:buFont typeface="Wingdings" panose="05000000000000000000" pitchFamily="2" charset="2"/>
              <a:buChar char="ü"/>
            </a:pPr>
            <a:r>
              <a:rPr lang="en-US" sz="3600" dirty="0" smtClean="0"/>
              <a:t>It </a:t>
            </a:r>
            <a:r>
              <a:rPr lang="en-US" sz="3600" dirty="0"/>
              <a:t>has been made to sleep ( </a:t>
            </a:r>
            <a:r>
              <a:rPr lang="en-US" sz="3600" dirty="0" smtClean="0"/>
              <a:t>) - We </a:t>
            </a:r>
            <a:r>
              <a:rPr lang="en-US" sz="3600" dirty="0"/>
              <a:t>can put a thread to sleep for a specified time period using the method sleep (time) where time is in milliseconds</a:t>
            </a:r>
            <a:r>
              <a:rPr lang="en-US" sz="3600" dirty="0" smtClean="0"/>
              <a:t>.</a:t>
            </a:r>
          </a:p>
          <a:p>
            <a:pPr marL="1485900" lvl="2" indent="-571500">
              <a:buFont typeface="Wingdings" panose="05000000000000000000" pitchFamily="2" charset="2"/>
              <a:buChar char="ü"/>
            </a:pPr>
            <a:r>
              <a:rPr lang="en-US" sz="3600" dirty="0" smtClean="0"/>
              <a:t>When </a:t>
            </a:r>
            <a:r>
              <a:rPr lang="en-US" sz="3600" dirty="0"/>
              <a:t>it has been told to wait until some events </a:t>
            </a:r>
            <a:r>
              <a:rPr lang="en-US" sz="3600" dirty="0" smtClean="0"/>
              <a:t>occurs -  This </a:t>
            </a:r>
            <a:r>
              <a:rPr lang="en-US" sz="3600" dirty="0"/>
              <a:t>done using the wait ( ) method. </a:t>
            </a:r>
            <a:r>
              <a:rPr lang="en-US" sz="3600" dirty="0" smtClean="0"/>
              <a:t>The </a:t>
            </a:r>
            <a:r>
              <a:rPr lang="en-US" sz="3600" dirty="0"/>
              <a:t>thread can be scheduled to run again using notify () method.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81977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4) Blocked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A thread is said to be blocked when it is prevented from entering into the </a:t>
            </a:r>
            <a:r>
              <a:rPr lang="en-US" sz="4000" dirty="0" smtClean="0"/>
              <a:t>runnable state </a:t>
            </a:r>
            <a:r>
              <a:rPr lang="en-US" sz="4000" dirty="0"/>
              <a:t>and subsequently the running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This happens when the thread is suspended, sleeping or waiting in order to </a:t>
            </a:r>
            <a:r>
              <a:rPr lang="en-US" sz="4000" dirty="0" smtClean="0"/>
              <a:t>satisfy certain </a:t>
            </a:r>
            <a:r>
              <a:rPr lang="en-US" sz="4000" dirty="0"/>
              <a:t>requirements.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A blocked thread is considered “not runnable” but not dead and therefore </a:t>
            </a:r>
            <a:r>
              <a:rPr lang="en-US" sz="4000" dirty="0" smtClean="0"/>
              <a:t>fully qualified </a:t>
            </a:r>
            <a:r>
              <a:rPr lang="en-US" sz="4000" dirty="0"/>
              <a:t>to run again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4270358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5) Dead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Every thread has a life cycle. A running thread ends its life when it has </a:t>
            </a:r>
            <a:r>
              <a:rPr lang="en-US" sz="4000" dirty="0" smtClean="0"/>
              <a:t>completed executing </a:t>
            </a:r>
            <a:r>
              <a:rPr lang="en-US" sz="4000" dirty="0"/>
              <a:t>its run ( ) method.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It is natural death. However we can kill it by sending the stop message to it as </a:t>
            </a:r>
            <a:r>
              <a:rPr lang="en-US" sz="4000" dirty="0" smtClean="0"/>
              <a:t>any state </a:t>
            </a:r>
            <a:r>
              <a:rPr lang="en-US" sz="4000" dirty="0"/>
              <a:t>thus causing a premature death for it.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• A thread can be killed as soon it is born or while it is running or even when it is </a:t>
            </a:r>
            <a:r>
              <a:rPr lang="en-US" sz="4000" dirty="0" smtClean="0"/>
              <a:t>in “blocked</a:t>
            </a:r>
            <a:r>
              <a:rPr lang="en-US" sz="4000" dirty="0"/>
              <a:t>” condition.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402542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dirty="0"/>
              <a:t>Main thread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138300"/>
            <a:ext cx="16463277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• </a:t>
            </a:r>
            <a:r>
              <a:rPr lang="en-US" sz="3600" dirty="0" smtClean="0"/>
              <a:t>When </a:t>
            </a:r>
            <a:r>
              <a:rPr lang="en-US" sz="3600" dirty="0"/>
              <a:t>a java program starts up, one thread begins running immediately.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• It is the one that is executed when your program begins, so it is usually called the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main thread of your program.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• Main thread is important for two reason:</a:t>
            </a:r>
          </a:p>
          <a:p>
            <a:pPr marL="1943100" lvl="3" indent="-571500">
              <a:buFont typeface="Wingdings" panose="05000000000000000000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is the thread from which other “child” threads will be created.</a:t>
            </a:r>
          </a:p>
          <a:p>
            <a:pPr marL="1943100" lvl="3" indent="-571500">
              <a:buFont typeface="Wingdings" panose="05000000000000000000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must be the last thread to finish execution because it performs </a:t>
            </a:r>
            <a:r>
              <a:rPr lang="en-US" sz="3600" dirty="0" smtClean="0"/>
              <a:t>various shutdown </a:t>
            </a:r>
            <a:r>
              <a:rPr lang="en-US" sz="3600" dirty="0"/>
              <a:t>actions.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• Main thread is created automatically when your program is started .it can </a:t>
            </a:r>
            <a:r>
              <a:rPr lang="en-US" sz="3600" dirty="0" smtClean="0"/>
              <a:t>be controlled </a:t>
            </a:r>
            <a:r>
              <a:rPr lang="en-US" sz="3600" dirty="0"/>
              <a:t>through a Thread </a:t>
            </a:r>
            <a:r>
              <a:rPr lang="en-US" sz="3600" dirty="0" smtClean="0"/>
              <a:t>object. We </a:t>
            </a:r>
            <a:r>
              <a:rPr lang="en-US" sz="3600" dirty="0"/>
              <a:t>can refer that object by calling </a:t>
            </a:r>
            <a:r>
              <a:rPr lang="en-US" sz="3600" dirty="0" smtClean="0"/>
              <a:t>method </a:t>
            </a:r>
            <a:r>
              <a:rPr lang="en-US" sz="3600" dirty="0"/>
              <a:t>currentThread() which is </a:t>
            </a:r>
            <a:r>
              <a:rPr lang="en-US" sz="3600" dirty="0" smtClean="0"/>
              <a:t>public static </a:t>
            </a:r>
            <a:r>
              <a:rPr lang="en-US" sz="3600" dirty="0"/>
              <a:t>member of </a:t>
            </a:r>
            <a:r>
              <a:rPr lang="en-US" sz="3600" dirty="0" smtClean="0"/>
              <a:t>Thread.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• </a:t>
            </a:r>
            <a:r>
              <a:rPr lang="en-US" sz="3600" dirty="0" smtClean="0"/>
              <a:t>Syntax</a:t>
            </a:r>
            <a:r>
              <a:rPr lang="en-US" sz="3600" dirty="0"/>
              <a:t>: static Thread currentThread ( </a:t>
            </a:r>
            <a:r>
              <a:rPr lang="en-US" sz="3600" dirty="0" smtClean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• </a:t>
            </a:r>
            <a:r>
              <a:rPr lang="en-US" sz="3600" dirty="0" smtClean="0"/>
              <a:t>This </a:t>
            </a:r>
            <a:r>
              <a:rPr lang="en-US" sz="3600" dirty="0"/>
              <a:t>method returns reference to the thread in which it is called. If we have reference to main thread, we can control it as any other thread. </a:t>
            </a:r>
            <a:endParaRPr lang="en-US" sz="36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• </a:t>
            </a:r>
            <a:r>
              <a:rPr lang="en-US" sz="3600" dirty="0"/>
              <a:t>By default, the name main thread is main.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102572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/>
              <a:t>Output: </a:t>
            </a:r>
            <a:endParaRPr lang="en-US" sz="2800" b="1" dirty="0" smtClean="0"/>
          </a:p>
          <a:p>
            <a:r>
              <a:rPr lang="en-US" sz="2800" dirty="0" smtClean="0"/>
              <a:t>Current </a:t>
            </a:r>
            <a:r>
              <a:rPr lang="en-US" sz="2800" dirty="0"/>
              <a:t>thread: Thread [main, 5, main]</a:t>
            </a:r>
          </a:p>
          <a:p>
            <a:r>
              <a:rPr lang="en-US" sz="2800" dirty="0"/>
              <a:t>After name change: Thread [My Thread, 5, main]</a:t>
            </a:r>
          </a:p>
          <a:p>
            <a:r>
              <a:rPr lang="en-US" sz="2800" dirty="0"/>
              <a:t>After Priority set: Thread [My Thread, 10, main]</a:t>
            </a:r>
          </a:p>
          <a:p>
            <a:r>
              <a:rPr lang="en-US" sz="2800" dirty="0"/>
              <a:t>5</a:t>
            </a:r>
          </a:p>
          <a:p>
            <a:r>
              <a:rPr lang="en-US" sz="2800" dirty="0"/>
              <a:t>4</a:t>
            </a:r>
          </a:p>
          <a:p>
            <a:r>
              <a:rPr lang="en-US" sz="2800" dirty="0"/>
              <a:t>3 </a:t>
            </a:r>
            <a:endParaRPr lang="en-US" sz="2800" dirty="0" smtClean="0"/>
          </a:p>
          <a:p>
            <a:r>
              <a:rPr lang="en-US" sz="2800" dirty="0" smtClean="0"/>
              <a:t>2</a:t>
            </a:r>
          </a:p>
          <a:p>
            <a:r>
              <a:rPr lang="en-US" sz="2800" dirty="0"/>
              <a:t>1</a:t>
            </a:r>
            <a:endParaRPr lang="en-US" sz="28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9"/>
          <a:stretch/>
        </p:blipFill>
        <p:spPr bwMode="auto">
          <a:xfrm>
            <a:off x="8496792" y="2261954"/>
            <a:ext cx="8191008" cy="7834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729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856" y="2117149"/>
            <a:ext cx="12877800" cy="775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021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200" dirty="0"/>
              <a:t>Creating a thread</a:t>
            </a:r>
            <a:endParaRPr lang="en-US" sz="7200" dirty="0"/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• </a:t>
            </a:r>
            <a:r>
              <a:rPr lang="en-US" sz="4000" dirty="0"/>
              <a:t>We can create a thread by instantiating an object of type Thread.</a:t>
            </a:r>
          </a:p>
          <a:p>
            <a:r>
              <a:rPr lang="en-US" sz="4000" dirty="0"/>
              <a:t>• The run () method is the heart and soul of any thread.</a:t>
            </a:r>
          </a:p>
          <a:p>
            <a:r>
              <a:rPr lang="en-US" sz="4000" dirty="0"/>
              <a:t>• run( ) method makes up the entire body of a thread and is the only method in</a:t>
            </a:r>
          </a:p>
          <a:p>
            <a:r>
              <a:rPr lang="en-US" sz="4000" dirty="0"/>
              <a:t>which the thread’s behaviour can be </a:t>
            </a:r>
            <a:r>
              <a:rPr lang="en-US" sz="4000" dirty="0" smtClean="0"/>
              <a:t>implemented.</a:t>
            </a:r>
          </a:p>
          <a:p>
            <a:r>
              <a:rPr lang="en-US" sz="4000" dirty="0" smtClean="0"/>
              <a:t>Syntax</a:t>
            </a:r>
            <a:r>
              <a:rPr lang="en-US" sz="4000" dirty="0"/>
              <a:t>: public void run( )</a:t>
            </a:r>
          </a:p>
          <a:p>
            <a:pPr lvl="4"/>
            <a:r>
              <a:rPr lang="en-US" sz="4000" dirty="0"/>
              <a:t>{…………</a:t>
            </a:r>
          </a:p>
          <a:p>
            <a:pPr lvl="4"/>
            <a:r>
              <a:rPr lang="en-US" sz="4000" dirty="0"/>
              <a:t> ………… // (statement for implementing thread)</a:t>
            </a:r>
          </a:p>
          <a:p>
            <a:pPr lvl="4"/>
            <a:r>
              <a:rPr lang="en-US" sz="4000" dirty="0"/>
              <a:t> </a:t>
            </a:r>
            <a:r>
              <a:rPr lang="en-US" sz="4000" dirty="0" smtClean="0"/>
              <a:t>}</a:t>
            </a:r>
          </a:p>
          <a:p>
            <a:r>
              <a:rPr lang="en-US" sz="4000" dirty="0"/>
              <a:t>• </a:t>
            </a:r>
            <a:r>
              <a:rPr lang="en-US" sz="4000" dirty="0" smtClean="0"/>
              <a:t>The </a:t>
            </a:r>
            <a:r>
              <a:rPr lang="en-US" sz="4000" dirty="0"/>
              <a:t>run ( ) method should be invoked by an object of concerned thread. For that we have to create thread and initiate it with the help of other thread method called start ().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204826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/>
              <a:t>Java can create a thread by following two ways:</a:t>
            </a:r>
          </a:p>
          <a:p>
            <a:r>
              <a:rPr lang="en-US" sz="4000" dirty="0"/>
              <a:t>1) You can implement the Runnable interface.</a:t>
            </a:r>
          </a:p>
          <a:p>
            <a:r>
              <a:rPr lang="en-US" sz="4000" dirty="0"/>
              <a:t>2) You can extend the Thread class.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258332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/>
              <a:t>1) Implementing the ‘Runnable’ interface</a:t>
            </a:r>
          </a:p>
          <a:p>
            <a:r>
              <a:rPr lang="en-US" sz="4000" dirty="0"/>
              <a:t>The Runnable interface declares the run ( ) method that is required for implementing</a:t>
            </a:r>
          </a:p>
          <a:p>
            <a:r>
              <a:rPr lang="en-US" sz="4000" dirty="0"/>
              <a:t>threads in our programs.</a:t>
            </a:r>
          </a:p>
          <a:p>
            <a:r>
              <a:rPr lang="en-US" sz="4000" dirty="0"/>
              <a:t>Steps to implement Runnable interface:</a:t>
            </a:r>
          </a:p>
          <a:p>
            <a:r>
              <a:rPr lang="en-US" sz="4000" dirty="0"/>
              <a:t>1. Declare the class as implementing the Runnable interface.</a:t>
            </a:r>
          </a:p>
          <a:p>
            <a:r>
              <a:rPr lang="en-US" sz="4000" dirty="0"/>
              <a:t>2. Implement the run ( ) method.</a:t>
            </a:r>
          </a:p>
          <a:p>
            <a:r>
              <a:rPr lang="en-US" sz="4000" dirty="0"/>
              <a:t>3. Create a thread by defining an object that is instantiated from this “runnable”</a:t>
            </a:r>
          </a:p>
          <a:p>
            <a:r>
              <a:rPr lang="en-US" sz="4000" dirty="0"/>
              <a:t>class as the target of the thread.</a:t>
            </a:r>
          </a:p>
          <a:p>
            <a:r>
              <a:rPr lang="en-US" sz="4000" dirty="0"/>
              <a:t>4. Call the thread’s start( ) method to run the thread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629819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832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 1</a:t>
            </a:r>
            <a:r>
              <a:rPr lang="en-US" sz="4000" dirty="0"/>
              <a:t>) You can implement the Runnable interface</a:t>
            </a:r>
            <a:r>
              <a:rPr lang="en-US" sz="4000" dirty="0" smtClean="0"/>
              <a:t>.</a:t>
            </a:r>
          </a:p>
          <a:p>
            <a:r>
              <a:rPr lang="en-US" sz="2800" dirty="0"/>
              <a:t>Output: </a:t>
            </a:r>
            <a:endParaRPr lang="en-US" sz="2800" dirty="0" smtClean="0"/>
          </a:p>
          <a:p>
            <a:r>
              <a:rPr lang="en-US" sz="2800" dirty="0" smtClean="0"/>
              <a:t>End </a:t>
            </a:r>
            <a:r>
              <a:rPr lang="en-US" sz="2800" dirty="0"/>
              <a:t>of main Thread</a:t>
            </a:r>
          </a:p>
          <a:p>
            <a:r>
              <a:rPr lang="en-US" sz="2800" dirty="0"/>
              <a:t>ThreadX: 1</a:t>
            </a:r>
          </a:p>
          <a:p>
            <a:r>
              <a:rPr lang="en-US" sz="2800" dirty="0"/>
              <a:t>ThreadX: 2</a:t>
            </a:r>
          </a:p>
          <a:p>
            <a:r>
              <a:rPr lang="en-US" sz="2800" dirty="0"/>
              <a:t>ThreadX: 3</a:t>
            </a:r>
          </a:p>
          <a:p>
            <a:r>
              <a:rPr lang="en-US" sz="2800" dirty="0"/>
              <a:t>ThreadX: 4</a:t>
            </a:r>
          </a:p>
          <a:p>
            <a:r>
              <a:rPr lang="en-US" sz="2800" dirty="0"/>
              <a:t>ThreadX: </a:t>
            </a:r>
            <a:r>
              <a:rPr lang="en-US" sz="2800" dirty="0" smtClean="0"/>
              <a:t>5</a:t>
            </a:r>
            <a:endParaRPr lang="en-US" sz="2800" dirty="0"/>
          </a:p>
          <a:p>
            <a:r>
              <a:rPr lang="en-US" sz="2800" dirty="0"/>
              <a:t>ThreadX: 6</a:t>
            </a:r>
          </a:p>
          <a:p>
            <a:r>
              <a:rPr lang="en-US" sz="2800" dirty="0"/>
              <a:t>ThreadX: 7</a:t>
            </a:r>
          </a:p>
          <a:p>
            <a:r>
              <a:rPr lang="en-US" sz="2800" dirty="0"/>
              <a:t>ThreadX: 8</a:t>
            </a:r>
          </a:p>
          <a:p>
            <a:r>
              <a:rPr lang="en-US" sz="2800" dirty="0"/>
              <a:t>ThreadX: 9</a:t>
            </a:r>
          </a:p>
          <a:p>
            <a:r>
              <a:rPr lang="en-US" sz="2800" dirty="0"/>
              <a:t>ThreadX: 10</a:t>
            </a:r>
          </a:p>
          <a:p>
            <a:r>
              <a:rPr lang="en-US" sz="2800" dirty="0"/>
              <a:t>End of ThreadX</a:t>
            </a:r>
          </a:p>
          <a:p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933657"/>
            <a:ext cx="9187805" cy="6292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730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 smtClean="0"/>
              <a:t>2</a:t>
            </a:r>
            <a:r>
              <a:rPr lang="en-US" sz="4000" b="1" dirty="0"/>
              <a:t>) Extending the thread class</a:t>
            </a:r>
          </a:p>
          <a:p>
            <a:r>
              <a:rPr lang="en-US" sz="4000" dirty="0"/>
              <a:t>The Thread class declares the run ( ) method that is required for overriding </a:t>
            </a:r>
            <a:r>
              <a:rPr lang="en-US" sz="4000" dirty="0" smtClean="0"/>
              <a:t>threads in </a:t>
            </a:r>
            <a:r>
              <a:rPr lang="en-US" sz="4000" dirty="0"/>
              <a:t>our programs.</a:t>
            </a:r>
          </a:p>
          <a:p>
            <a:r>
              <a:rPr lang="en-US" sz="4000" dirty="0"/>
              <a:t>We can make our class runnable by extending the class java.lang.Thread.</a:t>
            </a:r>
          </a:p>
          <a:p>
            <a:r>
              <a:rPr lang="en-US" sz="4000" dirty="0"/>
              <a:t>To extend Thread class, perform following steps:</a:t>
            </a:r>
          </a:p>
          <a:p>
            <a:r>
              <a:rPr lang="en-US" sz="4000" dirty="0"/>
              <a:t>1. Declare the class as extending the Thread class.</a:t>
            </a:r>
          </a:p>
          <a:p>
            <a:r>
              <a:rPr lang="en-US" sz="4000" dirty="0"/>
              <a:t>2. Implement the run ( ) method that is responsible for executing the sequence </a:t>
            </a:r>
            <a:r>
              <a:rPr lang="en-US" sz="4000" dirty="0" smtClean="0"/>
              <a:t>of code </a:t>
            </a:r>
            <a:r>
              <a:rPr lang="en-US" sz="4000" dirty="0"/>
              <a:t>that the thread will execute.</a:t>
            </a:r>
          </a:p>
          <a:p>
            <a:r>
              <a:rPr lang="en-US" sz="4000" dirty="0"/>
              <a:t>3. Create a thread object and call the start ( ) method to initiate the thread </a:t>
            </a:r>
            <a:r>
              <a:rPr lang="en-US" sz="4000" dirty="0" smtClean="0"/>
              <a:t>execution.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466241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Multithreading</a:t>
            </a:r>
            <a:r>
              <a:rPr lang="en-US" sz="7200" dirty="0"/>
              <a:t> 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 </a:t>
            </a:r>
            <a:r>
              <a:rPr lang="en-US" sz="4000" b="1" dirty="0" smtClean="0"/>
              <a:t>2</a:t>
            </a:r>
            <a:r>
              <a:rPr lang="en-US" sz="4000" b="1" dirty="0"/>
              <a:t>) You can extend the Thread class</a:t>
            </a:r>
            <a:r>
              <a:rPr lang="en-US" sz="4000" b="1" dirty="0" smtClean="0"/>
              <a:t>.</a:t>
            </a:r>
          </a:p>
          <a:p>
            <a:r>
              <a:rPr lang="en-US" sz="4000" dirty="0"/>
              <a:t>Output: </a:t>
            </a:r>
            <a:endParaRPr lang="en-US" sz="4000" dirty="0" smtClean="0"/>
          </a:p>
          <a:p>
            <a:r>
              <a:rPr lang="en-US" sz="4000" dirty="0" smtClean="0"/>
              <a:t>From </a:t>
            </a:r>
            <a:r>
              <a:rPr lang="en-US" sz="4000" dirty="0"/>
              <a:t>Thread A: i = 1</a:t>
            </a:r>
          </a:p>
          <a:p>
            <a:r>
              <a:rPr lang="en-US" sz="4000" dirty="0"/>
              <a:t>From Thread A : i = 2</a:t>
            </a:r>
          </a:p>
          <a:p>
            <a:r>
              <a:rPr lang="en-US" sz="4000" dirty="0"/>
              <a:t>From Thread A : i = 3</a:t>
            </a:r>
          </a:p>
          <a:p>
            <a:r>
              <a:rPr lang="en-US" sz="4000" dirty="0"/>
              <a:t>From Thread A : i = 4</a:t>
            </a:r>
          </a:p>
          <a:p>
            <a:r>
              <a:rPr lang="en-US" sz="4000" dirty="0"/>
              <a:t>From Thread A : i = 5</a:t>
            </a:r>
          </a:p>
          <a:p>
            <a:r>
              <a:rPr lang="en-US" sz="4000" dirty="0"/>
              <a:t>Exit from A</a:t>
            </a:r>
          </a:p>
          <a:p>
            <a:endParaRPr lang="en-US" sz="4000" b="1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748" y="2449116"/>
            <a:ext cx="9363831" cy="711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4992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1430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43142" y="359633"/>
            <a:ext cx="15392400" cy="101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6000" b="1" dirty="0"/>
              <a:t>Write a program to create multiple thread.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18" y="1793309"/>
            <a:ext cx="7744681" cy="1927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792" y="1768535"/>
            <a:ext cx="8267208" cy="8138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 rot="10800000" flipV="1">
            <a:off x="639445" y="3703356"/>
            <a:ext cx="1192776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charset="0"/>
                <a:cs typeface="Arial" charset="0"/>
              </a:rPr>
              <a:t>Output: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First run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 From Thread A : i =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A : i =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B : j =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B : j =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C : k =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C : k =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A : i = 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Second run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 From Thread A : i =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A : i =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C : k =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C : k =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A : i = 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A : i = 4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B : j = </a:t>
            </a:r>
            <a:r>
              <a:rPr lang="en-US" altLang="en-US" sz="2000" dirty="0" smtClean="0">
                <a:latin typeface="Arial" charset="0"/>
                <a:cs typeface="Arial" charset="0"/>
              </a:rPr>
              <a:t>1 </a:t>
            </a:r>
            <a:endParaRPr lang="en-US" altLang="en-US" sz="2000" dirty="0">
              <a:latin typeface="Arial" charset="0"/>
              <a:cs typeface="Arial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A : i = 4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charset="0"/>
                <a:cs typeface="Arial" charset="0"/>
              </a:rPr>
              <a:t>From Thread B : j = 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charset="0"/>
                <a:cs typeface="Arial" charset="0"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3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dirty="0"/>
              <a:t>Using isAlive ( ) and join( ) methods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/>
              <a:t>In Multi-threading, one thread can know when another thread has ended or</a:t>
            </a:r>
          </a:p>
          <a:p>
            <a:r>
              <a:rPr lang="en-US" sz="4000" dirty="0"/>
              <a:t>not by using two methods isAlive ( ) and join ( ) method.</a:t>
            </a:r>
          </a:p>
          <a:p>
            <a:r>
              <a:rPr lang="en-US" sz="4000" dirty="0"/>
              <a:t>1) isAlive() :</a:t>
            </a:r>
          </a:p>
          <a:p>
            <a:r>
              <a:rPr lang="en-US" sz="4000" dirty="0"/>
              <a:t>• We can know state of any thread by these methods.</a:t>
            </a:r>
          </a:p>
          <a:p>
            <a:r>
              <a:rPr lang="en-US" sz="4000" dirty="0"/>
              <a:t>• This method is defined by Thread class </a:t>
            </a:r>
            <a:r>
              <a:rPr lang="en-US" sz="4000" dirty="0" smtClean="0"/>
              <a:t>.</a:t>
            </a:r>
          </a:p>
          <a:p>
            <a:r>
              <a:rPr lang="en-US" sz="4000" dirty="0" smtClean="0"/>
              <a:t>its </a:t>
            </a:r>
            <a:r>
              <a:rPr lang="en-US" sz="4000" dirty="0"/>
              <a:t>general form is </a:t>
            </a:r>
            <a:r>
              <a:rPr lang="en-US" sz="4000" dirty="0" smtClean="0"/>
              <a:t>:  </a:t>
            </a:r>
            <a:r>
              <a:rPr lang="en-US" sz="4000" dirty="0"/>
              <a:t>final boolean isAlive ( )</a:t>
            </a:r>
          </a:p>
          <a:p>
            <a:r>
              <a:rPr lang="en-US" sz="4000" dirty="0"/>
              <a:t>It returns true if the thread upon which it is called is still running, </a:t>
            </a:r>
            <a:endParaRPr lang="en-US" sz="4000" dirty="0" smtClean="0"/>
          </a:p>
          <a:p>
            <a:r>
              <a:rPr lang="en-US" sz="4000" dirty="0" smtClean="0"/>
              <a:t>It</a:t>
            </a:r>
            <a:r>
              <a:rPr lang="en-US" sz="4000" dirty="0"/>
              <a:t> </a:t>
            </a:r>
            <a:r>
              <a:rPr lang="en-US" sz="4000" dirty="0" smtClean="0"/>
              <a:t>returns </a:t>
            </a:r>
            <a:r>
              <a:rPr lang="en-US" sz="4000" dirty="0"/>
              <a:t>false otherwise</a:t>
            </a:r>
            <a:r>
              <a:rPr lang="en-US" sz="4000" dirty="0" smtClean="0"/>
              <a:t>. </a:t>
            </a:r>
          </a:p>
          <a:p>
            <a:r>
              <a:rPr lang="en-US" sz="4000" dirty="0" smtClean="0"/>
              <a:t>This </a:t>
            </a:r>
            <a:r>
              <a:rPr lang="en-US" sz="4000" dirty="0"/>
              <a:t>method is occasionally useful.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4990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dirty="0"/>
              <a:t>Using isAlive ( ) and join( ) methods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/>
              <a:t>2) Join() :</a:t>
            </a:r>
          </a:p>
          <a:p>
            <a:r>
              <a:rPr lang="en-US" sz="4000" dirty="0"/>
              <a:t>•The join method causes the current thread to wait until the thread upon which</a:t>
            </a:r>
          </a:p>
          <a:p>
            <a:r>
              <a:rPr lang="en-US" sz="4000" dirty="0"/>
              <a:t>the join ( ) method is call, gets terminates.</a:t>
            </a:r>
          </a:p>
          <a:p>
            <a:r>
              <a:rPr lang="en-US" sz="4000" dirty="0"/>
              <a:t>• It s name comes from the concept of calling thread waiting until the specified</a:t>
            </a:r>
          </a:p>
          <a:p>
            <a:r>
              <a:rPr lang="en-US" sz="4000" dirty="0"/>
              <a:t>thread joins it.</a:t>
            </a:r>
          </a:p>
          <a:p>
            <a:r>
              <a:rPr lang="en-US" sz="4000" dirty="0"/>
              <a:t>• join ( ) also allows to specify a maximum amount of time that user want to</a:t>
            </a:r>
          </a:p>
          <a:p>
            <a:r>
              <a:rPr lang="en-US" sz="4000" dirty="0"/>
              <a:t>wait for the specified thread to terminate.</a:t>
            </a:r>
          </a:p>
          <a:p>
            <a:r>
              <a:rPr lang="en-US" sz="4000" dirty="0"/>
              <a:t>• This method is defined by Thread class .its general form is :</a:t>
            </a:r>
          </a:p>
          <a:p>
            <a:r>
              <a:rPr lang="en-US" sz="4000" dirty="0"/>
              <a:t> final void join( ) throws InterruptedException</a:t>
            </a:r>
          </a:p>
          <a:p>
            <a:r>
              <a:rPr lang="en-US" sz="4000" dirty="0"/>
              <a:t>Where the join () method either suspends the current thread for timeout</a:t>
            </a:r>
          </a:p>
          <a:p>
            <a:r>
              <a:rPr lang="en-US" sz="4000" dirty="0"/>
              <a:t>milliseconds or until the thread it calls on terminates.</a:t>
            </a:r>
          </a:p>
          <a:p>
            <a:r>
              <a:rPr lang="en-US" sz="4000" dirty="0"/>
              <a:t>• This method is commonly used.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731023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3" y="206375"/>
            <a:ext cx="16463277" cy="599182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0"/>
            <a:ext cx="14630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3600" dirty="0"/>
              <a:t>Using isAlive ( ) and join( ) methods</a:t>
            </a:r>
            <a:endParaRPr lang="en-US" sz="36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153" y="1009809"/>
            <a:ext cx="5206164" cy="389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318" y="937672"/>
            <a:ext cx="9139747" cy="915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71" y="4919680"/>
            <a:ext cx="4267200" cy="5040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3090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dirty="0"/>
              <a:t>Threaded priority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/>
              <a:t>Every thread in java has its own priority.</a:t>
            </a:r>
          </a:p>
          <a:p>
            <a:r>
              <a:rPr lang="en-US" sz="4000" dirty="0"/>
              <a:t>• Thread priority are used by thread scheduler to decide when each thread</a:t>
            </a:r>
          </a:p>
          <a:p>
            <a:r>
              <a:rPr lang="en-US" sz="4000" dirty="0"/>
              <a:t>should be allowed to run.</a:t>
            </a:r>
          </a:p>
          <a:p>
            <a:r>
              <a:rPr lang="en-US" sz="4000" dirty="0"/>
              <a:t>• In theory, higher priority threads get more CPU time than lower priority</a:t>
            </a:r>
          </a:p>
          <a:p>
            <a:r>
              <a:rPr lang="en-US" sz="4000" dirty="0"/>
              <a:t>threads.</a:t>
            </a:r>
          </a:p>
          <a:p>
            <a:r>
              <a:rPr lang="en-US" sz="4000" dirty="0"/>
              <a:t>• When a lower priority thread is running higher priority thread resumes</a:t>
            </a:r>
          </a:p>
          <a:p>
            <a:r>
              <a:rPr lang="en-US" sz="4000" dirty="0"/>
              <a:t>(from sleeping or waiting for on I/O), it will preempt the lower priority</a:t>
            </a:r>
          </a:p>
          <a:p>
            <a:r>
              <a:rPr lang="en-US" sz="4000" dirty="0"/>
              <a:t>thread.</a:t>
            </a:r>
          </a:p>
          <a:p>
            <a:r>
              <a:rPr lang="en-US" sz="4000" dirty="0"/>
              <a:t>• Threads of equal priority should get equal access to the CPU. For this,</a:t>
            </a:r>
          </a:p>
          <a:p>
            <a:r>
              <a:rPr lang="en-US" sz="4000" dirty="0"/>
              <a:t>thread that share the same priority should yield control once in while.</a:t>
            </a:r>
          </a:p>
          <a:p>
            <a:r>
              <a:rPr lang="en-US" sz="4000" dirty="0"/>
              <a:t>• Every new thread that has created, inherits the priority of the thread that</a:t>
            </a:r>
          </a:p>
          <a:p>
            <a:r>
              <a:rPr lang="en-US" sz="4000" dirty="0"/>
              <a:t>creates it.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833728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dirty="0"/>
              <a:t>Threaded priority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/>
              <a:t>• The </a:t>
            </a:r>
            <a:r>
              <a:rPr lang="en-US" sz="4000" dirty="0"/>
              <a:t>priority is an integer value</a:t>
            </a:r>
            <a:r>
              <a:rPr lang="en-US" sz="4000" dirty="0" smtClean="0"/>
              <a:t>. Priority </a:t>
            </a:r>
            <a:r>
              <a:rPr lang="en-US" sz="4000" dirty="0"/>
              <a:t>is in the range of 0 to 10.(</a:t>
            </a:r>
          </a:p>
          <a:p>
            <a:r>
              <a:rPr lang="en-US" sz="4000" dirty="0"/>
              <a:t>Thread.MAX_PRIORITY(0) to Thread.MAX_PRIORITY( 10 ) )</a:t>
            </a:r>
          </a:p>
          <a:p>
            <a:r>
              <a:rPr lang="en-US" sz="4000" dirty="0"/>
              <a:t>• To return thread to default priority ,specify NORM_PRIORITY (5) .</a:t>
            </a:r>
          </a:p>
          <a:p>
            <a:r>
              <a:rPr lang="en-US" sz="4000" dirty="0"/>
              <a:t>• These priorities are defined as final variables within Thread.</a:t>
            </a:r>
          </a:p>
          <a:p>
            <a:r>
              <a:rPr lang="en-US" sz="4000" dirty="0"/>
              <a:t>• If the value is out of this range than the method throws an exception</a:t>
            </a:r>
          </a:p>
          <a:p>
            <a:r>
              <a:rPr lang="en-US" sz="4000" dirty="0"/>
              <a:t>IllegalArgumentException.</a:t>
            </a:r>
          </a:p>
          <a:p>
            <a:r>
              <a:rPr lang="en-US" sz="4000" dirty="0"/>
              <a:t>• Most user level processes should use NORM_PRIORITY </a:t>
            </a:r>
            <a:r>
              <a:rPr lang="en-US" sz="4000" dirty="0"/>
              <a:t>.</a:t>
            </a:r>
            <a:endParaRPr lang="en-US" sz="4000" dirty="0"/>
          </a:p>
          <a:p>
            <a:r>
              <a:rPr lang="en-US" sz="4000" dirty="0"/>
              <a:t>• Background tasks such as Network I/O and screen repainting should use a</a:t>
            </a:r>
          </a:p>
          <a:p>
            <a:r>
              <a:rPr lang="en-US" sz="4000" dirty="0"/>
              <a:t>value very near to lower limit.</a:t>
            </a:r>
          </a:p>
          <a:p>
            <a:r>
              <a:rPr lang="en-US" sz="4000" dirty="0"/>
              <a:t>• We should be very careful when trying to use very higher priority values.</a:t>
            </a:r>
          </a:p>
          <a:p>
            <a:r>
              <a:rPr lang="en-US" sz="4000" dirty="0"/>
              <a:t>• By assigning priorities to threads, we can ensure that they are given the</a:t>
            </a:r>
          </a:p>
          <a:p>
            <a:r>
              <a:rPr lang="en-US" sz="4000" dirty="0"/>
              <a:t>attention they deserve.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3014525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dirty="0"/>
              <a:t>Threaded priority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4632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smtClean="0"/>
              <a:t> </a:t>
            </a:r>
            <a:endParaRPr lang="en-US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362" y="2246290"/>
            <a:ext cx="6127038" cy="766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993" y="2312921"/>
            <a:ext cx="5497007" cy="7507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3955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200" dirty="0"/>
              <a:t>Synchronization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76761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 smtClean="0"/>
              <a:t>• </a:t>
            </a:r>
            <a:r>
              <a:rPr lang="en-US" sz="3600" dirty="0"/>
              <a:t>When two or more threads need to access to a shared resource, they </a:t>
            </a:r>
            <a:r>
              <a:rPr lang="en-US" sz="3600" dirty="0" smtClean="0"/>
              <a:t>need some </a:t>
            </a:r>
            <a:r>
              <a:rPr lang="en-US" sz="3600" dirty="0"/>
              <a:t>way to ensure that the resource will be used by only one thread at </a:t>
            </a:r>
            <a:r>
              <a:rPr lang="en-US" sz="3600" dirty="0" smtClean="0"/>
              <a:t>a time</a:t>
            </a:r>
            <a:r>
              <a:rPr lang="en-US" sz="3600" dirty="0"/>
              <a:t>. The process of achieving this is called synchronization.</a:t>
            </a:r>
          </a:p>
          <a:p>
            <a:r>
              <a:rPr lang="en-US" sz="3600" dirty="0"/>
              <a:t>For example, one thread may try to read a record from a file while</a:t>
            </a:r>
          </a:p>
          <a:p>
            <a:r>
              <a:rPr lang="en-US" sz="3600" dirty="0"/>
              <a:t>another is still writing to the same file. Depending on situation we may get</a:t>
            </a:r>
          </a:p>
          <a:p>
            <a:r>
              <a:rPr lang="en-US" sz="3600" dirty="0"/>
              <a:t>strange result. We can avoid this by synchronization.</a:t>
            </a:r>
          </a:p>
          <a:p>
            <a:r>
              <a:rPr lang="en-US" sz="3600" dirty="0"/>
              <a:t>• Monitor (semaphore) concept is key to synchronization.</a:t>
            </a:r>
          </a:p>
          <a:p>
            <a:r>
              <a:rPr lang="en-US" sz="3600" dirty="0"/>
              <a:t>• Monitor is an object that is used as a mutually exclusive lock or mutex.</a:t>
            </a:r>
          </a:p>
          <a:p>
            <a:r>
              <a:rPr lang="en-US" sz="3600" dirty="0"/>
              <a:t>• Only one thread can own a monitor at a given time.</a:t>
            </a:r>
          </a:p>
          <a:p>
            <a:r>
              <a:rPr lang="en-US" sz="3600" dirty="0"/>
              <a:t>• When a thread acquires a lock, it is said to have entered the monitor. Monitor</a:t>
            </a:r>
          </a:p>
          <a:p>
            <a:r>
              <a:rPr lang="en-US" sz="3600" dirty="0"/>
              <a:t>is like a key and the thread that holds the key can only open the lock.</a:t>
            </a:r>
          </a:p>
          <a:p>
            <a:r>
              <a:rPr lang="en-US" sz="3600" dirty="0"/>
              <a:t>• All the other threads attempting to enter the locked monitor will be</a:t>
            </a:r>
          </a:p>
          <a:p>
            <a:r>
              <a:rPr lang="en-US" sz="3600" dirty="0"/>
              <a:t>suspended until the first thread exists the monitor. This other threads are said</a:t>
            </a:r>
          </a:p>
          <a:p>
            <a:r>
              <a:rPr lang="en-US" sz="3600" dirty="0"/>
              <a:t>to be waiting for the monitor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1109252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200" dirty="0"/>
              <a:t>Synchronization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76761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77353"/>
            <a:ext cx="7353792" cy="7423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655" y="2352465"/>
            <a:ext cx="5316629" cy="7348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7252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200" dirty="0"/>
              <a:t>Synchronization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3371" y="2449116"/>
            <a:ext cx="1676761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We </a:t>
            </a:r>
            <a:r>
              <a:rPr lang="en-US" sz="3600" dirty="0"/>
              <a:t>want to maintain a bank account of customers. Several transactions, such as </a:t>
            </a:r>
            <a:r>
              <a:rPr lang="en-US" sz="3600" dirty="0" smtClean="0"/>
              <a:t>deposit </a:t>
            </a:r>
            <a:r>
              <a:rPr lang="en-US" sz="3600" dirty="0"/>
              <a:t>some amount to an account and withdraw some amount from an account etc. are possible. Now, for a given account, if two or more transactions come simultaneously then only one transaction should be allowed at a time instead of simulataneous transaction processing so that data inconsistency will never occur. So, what we need is to synchronize the transaction</a:t>
            </a:r>
            <a:r>
              <a:rPr lang="en-US" sz="36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keyword synchronized is used for the methods void deposite(..) and void withdraw</a:t>
            </a:r>
            <a:r>
              <a:rPr lang="en-US" sz="3600" dirty="0" smtClean="0"/>
              <a:t>(..) </a:t>
            </a:r>
            <a:r>
              <a:rPr lang="en-US" sz="3600" dirty="0"/>
              <a:t>so that these two methods will never run for the same object instance simultaneously</a:t>
            </a:r>
            <a:endParaRPr lang="en-US" sz="3600" dirty="0" smtClean="0"/>
          </a:p>
          <a:p>
            <a:endParaRPr lang="en-US" sz="3600" dirty="0"/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045056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7200" b="1" dirty="0"/>
              <a:t>Interthread communication</a:t>
            </a:r>
            <a:endParaRPr lang="en-US" sz="72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3371" y="2095500"/>
            <a:ext cx="16975029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 smtClean="0"/>
              <a:t>• </a:t>
            </a:r>
            <a:r>
              <a:rPr lang="en-US" sz="3200" dirty="0"/>
              <a:t>Polling is used to </a:t>
            </a:r>
            <a:r>
              <a:rPr lang="en-US" sz="3200" dirty="0" smtClean="0"/>
              <a:t>check </a:t>
            </a:r>
            <a:r>
              <a:rPr lang="en-US" sz="3200" dirty="0"/>
              <a:t>condition repeatedly. Once condition is true appropriate action is </a:t>
            </a:r>
            <a:r>
              <a:rPr lang="en-US" sz="3200" dirty="0" smtClean="0"/>
              <a:t>taken. In </a:t>
            </a:r>
            <a:r>
              <a:rPr lang="en-US" sz="3200" dirty="0"/>
              <a:t>polling system, consumer would waste many CPU cycles, while it </a:t>
            </a:r>
            <a:r>
              <a:rPr lang="en-US" sz="3200" dirty="0" smtClean="0"/>
              <a:t>waited for producer </a:t>
            </a:r>
            <a:r>
              <a:rPr lang="en-US" sz="3200" dirty="0"/>
              <a:t>to produce. Once producer complete it waits for to </a:t>
            </a:r>
            <a:r>
              <a:rPr lang="en-US" sz="3200" dirty="0" smtClean="0"/>
              <a:t>complete consumer </a:t>
            </a:r>
            <a:r>
              <a:rPr lang="en-US" sz="3200" dirty="0"/>
              <a:t>to finish.</a:t>
            </a:r>
          </a:p>
          <a:p>
            <a:r>
              <a:rPr lang="en-US" sz="3200" dirty="0"/>
              <a:t>• To avoid polling, Java includes inter process communication mechanism </a:t>
            </a:r>
            <a:r>
              <a:rPr lang="en-US" sz="3200" dirty="0" smtClean="0"/>
              <a:t>via the </a:t>
            </a:r>
            <a:r>
              <a:rPr lang="en-US" sz="3200" dirty="0"/>
              <a:t>wait (), notify( ) and notifyAll ( ) methods</a:t>
            </a:r>
            <a:r>
              <a:rPr lang="en-US" sz="3200" dirty="0" smtClean="0"/>
              <a:t>. </a:t>
            </a:r>
            <a:endParaRPr lang="en-US" sz="3200" dirty="0"/>
          </a:p>
          <a:p>
            <a:r>
              <a:rPr lang="en-US" sz="3200" dirty="0"/>
              <a:t>• These methods are implemented as final methods in object. (in </a:t>
            </a:r>
            <a:r>
              <a:rPr lang="en-US" sz="3200" dirty="0" smtClean="0"/>
              <a:t>package java.lang.Object</a:t>
            </a:r>
            <a:r>
              <a:rPr lang="en-US" sz="3200" dirty="0"/>
              <a:t>)</a:t>
            </a:r>
          </a:p>
          <a:p>
            <a:r>
              <a:rPr lang="en-US" sz="3200" dirty="0"/>
              <a:t>• All three methods can be called only from within a synchronized context.</a:t>
            </a:r>
          </a:p>
          <a:p>
            <a:r>
              <a:rPr lang="en-US" sz="3200" dirty="0"/>
              <a:t>1. </a:t>
            </a:r>
            <a:r>
              <a:rPr lang="en-US" sz="3200" b="1" dirty="0"/>
              <a:t>Wait( ) </a:t>
            </a:r>
            <a:r>
              <a:rPr lang="en-US" sz="3200" dirty="0"/>
              <a:t>tells the calling thread to give up the monitor and go to sleep </a:t>
            </a:r>
            <a:r>
              <a:rPr lang="en-US" sz="3200" dirty="0" smtClean="0"/>
              <a:t>until some </a:t>
            </a:r>
            <a:r>
              <a:rPr lang="en-US" sz="3200" dirty="0"/>
              <a:t>other thread enters the same monitor and calls notify().</a:t>
            </a:r>
          </a:p>
          <a:p>
            <a:r>
              <a:rPr lang="en-US" sz="3200" dirty="0"/>
              <a:t>Syntax: final void wait () throws InterruptedException</a:t>
            </a:r>
          </a:p>
          <a:p>
            <a:r>
              <a:rPr lang="en-US" sz="3200" dirty="0"/>
              <a:t>2. </a:t>
            </a:r>
            <a:r>
              <a:rPr lang="en-US" sz="3200" b="1" dirty="0"/>
              <a:t>notify() </a:t>
            </a:r>
            <a:r>
              <a:rPr lang="en-US" sz="3200" dirty="0"/>
              <a:t>wakes up the first thread that called wait () on the same object.</a:t>
            </a:r>
          </a:p>
          <a:p>
            <a:r>
              <a:rPr lang="en-US" sz="3200" dirty="0"/>
              <a:t>Syntax: final void notify()</a:t>
            </a:r>
          </a:p>
          <a:p>
            <a:r>
              <a:rPr lang="en-US" sz="3200" dirty="0"/>
              <a:t>3. </a:t>
            </a:r>
            <a:r>
              <a:rPr lang="en-US" sz="3200" b="1" dirty="0"/>
              <a:t>notifyAll() </a:t>
            </a:r>
            <a:r>
              <a:rPr lang="en-US" sz="3200" dirty="0"/>
              <a:t>wakes up all the threads that called wait() on the same </a:t>
            </a:r>
            <a:r>
              <a:rPr lang="en-US" sz="3200" dirty="0" smtClean="0"/>
              <a:t>object. The </a:t>
            </a:r>
            <a:r>
              <a:rPr lang="en-US" sz="3200" dirty="0"/>
              <a:t>highest priority thread will run fast.</a:t>
            </a:r>
          </a:p>
          <a:p>
            <a:r>
              <a:rPr lang="en-US" sz="3200" dirty="0"/>
              <a:t>Syntax : final void notifyAll()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0748304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-1" y="9667483"/>
            <a:ext cx="19314367" cy="0"/>
          </a:xfrm>
          <a:prstGeom prst="line">
            <a:avLst/>
          </a:prstGeom>
          <a:ln w="444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007704" y="419100"/>
            <a:ext cx="16463277" cy="1676400"/>
          </a:xfrm>
          <a:custGeom>
            <a:avLst/>
            <a:gdLst/>
            <a:ahLst/>
            <a:cxnLst/>
            <a:rect l="l" t="t" r="r" b="b"/>
            <a:pathLst>
              <a:path w="1659250" h="141160">
                <a:moveTo>
                  <a:pt x="70580" y="0"/>
                </a:moveTo>
                <a:lnTo>
                  <a:pt x="1588670" y="0"/>
                </a:lnTo>
                <a:cubicBezTo>
                  <a:pt x="1607389" y="0"/>
                  <a:pt x="1625341" y="7436"/>
                  <a:pt x="1638578" y="20672"/>
                </a:cubicBezTo>
                <a:cubicBezTo>
                  <a:pt x="1651814" y="33909"/>
                  <a:pt x="1659250" y="51861"/>
                  <a:pt x="1659250" y="70580"/>
                </a:cubicBezTo>
                <a:lnTo>
                  <a:pt x="1659250" y="70580"/>
                </a:lnTo>
                <a:cubicBezTo>
                  <a:pt x="1659250" y="109560"/>
                  <a:pt x="1627650" y="141160"/>
                  <a:pt x="1588670" y="141160"/>
                </a:cubicBezTo>
                <a:lnTo>
                  <a:pt x="70580" y="141160"/>
                </a:lnTo>
                <a:cubicBezTo>
                  <a:pt x="31600" y="141160"/>
                  <a:pt x="0" y="109560"/>
                  <a:pt x="0" y="70580"/>
                </a:cubicBezTo>
                <a:lnTo>
                  <a:pt x="0" y="70580"/>
                </a:lnTo>
                <a:cubicBezTo>
                  <a:pt x="0" y="31600"/>
                  <a:pt x="31600" y="0"/>
                  <a:pt x="7058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AutoShape 7"/>
          <p:cNvSpPr/>
          <p:nvPr/>
        </p:nvSpPr>
        <p:spPr>
          <a:xfrm>
            <a:off x="-1" y="9867900"/>
            <a:ext cx="18288000" cy="0"/>
          </a:xfrm>
          <a:prstGeom prst="line">
            <a:avLst/>
          </a:prstGeom>
          <a:ln w="69850" cap="flat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843131" y="4679929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0200" y="805557"/>
            <a:ext cx="15392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399"/>
              </a:lnSpc>
              <a:spcBef>
                <a:spcPct val="0"/>
              </a:spcBef>
            </a:pPr>
            <a:r>
              <a:rPr lang="en-US" sz="6600" b="1" dirty="0"/>
              <a:t>Suspending, resuming &amp; stopping threads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7703" y="2449116"/>
            <a:ext cx="1628969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1. Stopping a thread :stop</a:t>
            </a:r>
            <a:r>
              <a:rPr lang="en-US" sz="3200" b="1" dirty="0" smtClean="0"/>
              <a:t>() - </a:t>
            </a:r>
            <a:r>
              <a:rPr lang="en-US" sz="3200" dirty="0" smtClean="0"/>
              <a:t>syntax </a:t>
            </a:r>
            <a:r>
              <a:rPr lang="en-US" sz="3200" dirty="0"/>
              <a:t>: threadName.stop();</a:t>
            </a:r>
          </a:p>
          <a:p>
            <a:r>
              <a:rPr lang="en-US" sz="3200" dirty="0"/>
              <a:t>This causes the thread to move to dead state</a:t>
            </a:r>
            <a:r>
              <a:rPr lang="en-US" sz="3200" dirty="0" smtClean="0"/>
              <a:t>. A </a:t>
            </a:r>
            <a:r>
              <a:rPr lang="en-US" sz="3200" dirty="0"/>
              <a:t>thread will also move </a:t>
            </a:r>
            <a:r>
              <a:rPr lang="en-US" sz="3200" dirty="0" smtClean="0"/>
              <a:t>to dead </a:t>
            </a:r>
            <a:r>
              <a:rPr lang="en-US" sz="3200" dirty="0"/>
              <a:t>state automatically when it reaches </a:t>
            </a:r>
            <a:r>
              <a:rPr lang="en-US" sz="3200" dirty="0" smtClean="0"/>
              <a:t>end </a:t>
            </a:r>
            <a:r>
              <a:rPr lang="en-US" sz="3200" dirty="0"/>
              <a:t>of its </a:t>
            </a:r>
            <a:r>
              <a:rPr lang="en-US" sz="3200" dirty="0" smtClean="0"/>
              <a:t>method. The </a:t>
            </a:r>
            <a:r>
              <a:rPr lang="en-US" sz="3200" dirty="0"/>
              <a:t>stop( ) method may be used </a:t>
            </a:r>
            <a:r>
              <a:rPr lang="en-US" sz="3200" dirty="0" smtClean="0"/>
              <a:t>when </a:t>
            </a:r>
            <a:r>
              <a:rPr lang="en-US" sz="3200" dirty="0"/>
              <a:t>premature death of a read </a:t>
            </a:r>
            <a:r>
              <a:rPr lang="en-US" sz="3200" dirty="0" smtClean="0"/>
              <a:t>is desired</a:t>
            </a:r>
            <a:r>
              <a:rPr lang="en-US" sz="3200" dirty="0"/>
              <a:t>.</a:t>
            </a:r>
          </a:p>
          <a:p>
            <a:r>
              <a:rPr lang="en-US" sz="3200" b="1" dirty="0"/>
              <a:t>2. Resuming </a:t>
            </a:r>
            <a:r>
              <a:rPr lang="en-US" sz="3200" b="1" dirty="0" smtClean="0"/>
              <a:t>thread - </a:t>
            </a:r>
            <a:r>
              <a:rPr lang="en-US" sz="3200" dirty="0" smtClean="0"/>
              <a:t>syntax </a:t>
            </a:r>
            <a:r>
              <a:rPr lang="en-US" sz="3200" dirty="0"/>
              <a:t>: threadName.resume();</a:t>
            </a:r>
          </a:p>
          <a:p>
            <a:r>
              <a:rPr lang="en-US" sz="3200" dirty="0"/>
              <a:t>• This causes </a:t>
            </a:r>
            <a:r>
              <a:rPr lang="en-US" sz="3200" dirty="0" smtClean="0"/>
              <a:t>thread </a:t>
            </a:r>
            <a:r>
              <a:rPr lang="en-US" sz="3200" dirty="0"/>
              <a:t>to move to runnable state</a:t>
            </a:r>
            <a:r>
              <a:rPr lang="en-US" sz="3200" dirty="0" smtClean="0"/>
              <a:t>. A </a:t>
            </a:r>
            <a:r>
              <a:rPr lang="en-US" sz="3200" dirty="0"/>
              <a:t>thread will also move </a:t>
            </a:r>
            <a:r>
              <a:rPr lang="en-US" sz="3200" dirty="0" smtClean="0"/>
              <a:t>to dead </a:t>
            </a:r>
            <a:r>
              <a:rPr lang="en-US" sz="3200" dirty="0"/>
              <a:t>state automatically in certain situation.</a:t>
            </a:r>
          </a:p>
          <a:p>
            <a:r>
              <a:rPr lang="en-US" sz="3200" b="1" dirty="0"/>
              <a:t>3. Suspending thread :sleep() ,wait() and suspend</a:t>
            </a:r>
            <a:r>
              <a:rPr lang="en-US" sz="3200" b="1" dirty="0" smtClean="0"/>
              <a:t>() - </a:t>
            </a:r>
            <a:r>
              <a:rPr lang="en-US" sz="3200" dirty="0" smtClean="0"/>
              <a:t>This </a:t>
            </a:r>
            <a:r>
              <a:rPr lang="en-US" sz="3200" dirty="0"/>
              <a:t>all causes the thread to move to Blocked state</a:t>
            </a:r>
          </a:p>
          <a:p>
            <a:r>
              <a:rPr lang="en-US" sz="3200" dirty="0"/>
              <a:t>• threadName.sleep(t); This makes thread to sleep for t time (</a:t>
            </a:r>
            <a:r>
              <a:rPr lang="en-US" sz="3200" dirty="0" smtClean="0"/>
              <a:t>in milisecond</a:t>
            </a:r>
            <a:r>
              <a:rPr lang="en-US" sz="3200" dirty="0"/>
              <a:t>), after time elapsed thread </a:t>
            </a:r>
            <a:r>
              <a:rPr lang="en-US" sz="3200" dirty="0" smtClean="0"/>
              <a:t>will goes </a:t>
            </a:r>
            <a:r>
              <a:rPr lang="en-US" sz="3200" dirty="0"/>
              <a:t>into runnable state.</a:t>
            </a:r>
          </a:p>
          <a:p>
            <a:r>
              <a:rPr lang="en-US" sz="3200" dirty="0"/>
              <a:t>• threadName.wait(); This tells thread to wait for some event </a:t>
            </a:r>
            <a:r>
              <a:rPr lang="en-US" sz="3200" dirty="0" smtClean="0"/>
              <a:t>to complete</a:t>
            </a:r>
            <a:r>
              <a:rPr lang="en-US" sz="3200" dirty="0"/>
              <a:t>, to gain control notify() method </a:t>
            </a:r>
            <a:r>
              <a:rPr lang="en-US" sz="3200" dirty="0" smtClean="0"/>
              <a:t>is called </a:t>
            </a:r>
            <a:r>
              <a:rPr lang="en-US" sz="3200" dirty="0"/>
              <a:t>of that thread.</a:t>
            </a:r>
          </a:p>
          <a:p>
            <a:r>
              <a:rPr lang="en-US" sz="3200" dirty="0"/>
              <a:t>• threadName.suspend(); This suspends thread for some reason </a:t>
            </a:r>
            <a:r>
              <a:rPr lang="en-US" sz="3200" dirty="0" smtClean="0"/>
              <a:t>and then </a:t>
            </a:r>
            <a:r>
              <a:rPr lang="en-US" sz="3200" dirty="0"/>
              <a:t>using resume () method thread </a:t>
            </a:r>
            <a:r>
              <a:rPr lang="en-US" sz="3200" dirty="0" smtClean="0"/>
              <a:t>goes into </a:t>
            </a:r>
            <a:r>
              <a:rPr lang="en-US" sz="3200" dirty="0"/>
              <a:t>runnable state.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36290" y="4646424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843131" y="7355422"/>
            <a:ext cx="218561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436290" y="7355422"/>
            <a:ext cx="1724078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i="1" dirty="0" smtClean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</a:t>
            </a:r>
            <a:endParaRPr lang="en-US" sz="2399" i="1" dirty="0">
              <a:solidFill>
                <a:srgbClr val="000000"/>
              </a:solidFill>
              <a:latin typeface="Garet Italics"/>
              <a:ea typeface="Garet Italics"/>
              <a:cs typeface="Garet Italics"/>
              <a:sym typeface="Garet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934278" y="6554136"/>
            <a:ext cx="6119478" cy="2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endParaRPr lang="en-US" sz="16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96792" y="9220200"/>
            <a:ext cx="12944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smtClean="0">
                <a:solidFill>
                  <a:srgbClr val="828181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000" b="1" dirty="0">
              <a:solidFill>
                <a:srgbClr val="828181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290847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2936</Words>
  <Application>Microsoft Office PowerPoint</Application>
  <PresentationFormat>Custom</PresentationFormat>
  <Paragraphs>443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Garet Italics</vt:lpstr>
      <vt:lpstr>Wingdings</vt:lpstr>
      <vt:lpstr>Garet</vt:lpstr>
      <vt:lpstr>Calibri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22</cp:revision>
  <dcterms:created xsi:type="dcterms:W3CDTF">2006-08-16T00:00:00Z</dcterms:created>
  <dcterms:modified xsi:type="dcterms:W3CDTF">2026-05-08T04:36:38Z</dcterms:modified>
  <dc:identifier>DAGyNv6r3lM</dc:identifier>
</cp:coreProperties>
</file>