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80" r:id="rId6"/>
    <p:sldId id="271" r:id="rId7"/>
    <p:sldId id="270" r:id="rId8"/>
    <p:sldId id="276" r:id="rId9"/>
    <p:sldId id="279" r:id="rId10"/>
    <p:sldId id="277" r:id="rId11"/>
    <p:sldId id="257" r:id="rId12"/>
    <p:sldId id="272" r:id="rId13"/>
    <p:sldId id="273" r:id="rId14"/>
    <p:sldId id="267" r:id="rId15"/>
    <p:sldId id="268" r:id="rId16"/>
    <p:sldId id="282" r:id="rId17"/>
    <p:sldId id="281" r:id="rId18"/>
    <p:sldId id="283" r:id="rId19"/>
    <p:sldId id="284" r:id="rId20"/>
    <p:sldId id="285" r:id="rId21"/>
    <p:sldId id="286" r:id="rId22"/>
    <p:sldId id="289" r:id="rId23"/>
    <p:sldId id="287" r:id="rId24"/>
    <p:sldId id="291" r:id="rId25"/>
    <p:sldId id="288" r:id="rId26"/>
    <p:sldId id="290" r:id="rId27"/>
  </p:sldIdLst>
  <p:sldSz cx="18288000" cy="10287000"/>
  <p:notesSz cx="6858000" cy="9144000"/>
  <p:embeddedFontLs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Consolas" panose="020B0609020204030204" pitchFamily="49" charset="0"/>
      <p:regular r:id="rId32"/>
      <p:bold r:id="rId33"/>
      <p:italic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15" autoAdjust="0"/>
  </p:normalViewPr>
  <p:slideViewPr>
    <p:cSldViewPr>
      <p:cViewPr>
        <p:scale>
          <a:sx n="51" d="100"/>
          <a:sy n="51" d="100"/>
        </p:scale>
        <p:origin x="-444" y="-1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3.fntdata"/><Relationship Id="rId35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 smtClean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Introducing Packages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03371" y="2449116"/>
            <a:ext cx="16463277" cy="6771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i="1" dirty="0" smtClean="0"/>
              <a:t>Packages </a:t>
            </a:r>
            <a:r>
              <a:rPr lang="en-US" sz="4000" i="1" dirty="0"/>
              <a:t>are </a:t>
            </a:r>
            <a:r>
              <a:rPr lang="en-US" sz="4000" i="1" dirty="0" smtClean="0"/>
              <a:t>containers for </a:t>
            </a:r>
            <a:r>
              <a:rPr lang="en-US" sz="4000" i="1" dirty="0"/>
              <a:t>classes that are used to keep the class name space </a:t>
            </a:r>
            <a:r>
              <a:rPr lang="en-US" sz="4000" dirty="0"/>
              <a:t>compartmentalized. For example, a package allows you to create a class named </a:t>
            </a:r>
            <a:r>
              <a:rPr lang="en-US" sz="4000" b="1" dirty="0"/>
              <a:t>List, </a:t>
            </a:r>
            <a:r>
              <a:rPr lang="en-US" sz="4000" dirty="0"/>
              <a:t>which you can store in your own package without concern that it will </a:t>
            </a:r>
            <a:r>
              <a:rPr lang="en-US" sz="4000" dirty="0" smtClean="0"/>
              <a:t>collide with </a:t>
            </a:r>
            <a:r>
              <a:rPr lang="en-US" sz="4000" dirty="0"/>
              <a:t>some other class named </a:t>
            </a:r>
            <a:r>
              <a:rPr lang="en-US" sz="4000" b="1" dirty="0"/>
              <a:t>List </a:t>
            </a:r>
            <a:r>
              <a:rPr lang="en-US" sz="4000" dirty="0"/>
              <a:t>stored elsewhere.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Packages </a:t>
            </a:r>
            <a:r>
              <a:rPr lang="en-US" sz="4000" dirty="0"/>
              <a:t>are stored in a hierarchical </a:t>
            </a:r>
            <a:r>
              <a:rPr lang="en-US" sz="4000" dirty="0" smtClean="0"/>
              <a:t>manner and </a:t>
            </a:r>
            <a:r>
              <a:rPr lang="en-US" sz="4000" dirty="0"/>
              <a:t>are explicitly imported into new class definitions.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Java </a:t>
            </a:r>
            <a:r>
              <a:rPr lang="en-US" sz="4000" dirty="0"/>
              <a:t>provides a mechanism for partitioning the class name space into more manageable chunks. This mechanism is the package.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The </a:t>
            </a:r>
            <a:r>
              <a:rPr lang="en-US" sz="4000" dirty="0"/>
              <a:t>package is both a naming and a visibility control mechanism.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You </a:t>
            </a:r>
            <a:r>
              <a:rPr lang="en-US" sz="4000" dirty="0"/>
              <a:t>can define classes inside a package that are not accessible by code outside that </a:t>
            </a:r>
            <a:r>
              <a:rPr lang="en-US" sz="4000" dirty="0" smtClean="0"/>
              <a:t>package ( ).</a:t>
            </a:r>
            <a:endParaRPr lang="en-US" sz="4000" dirty="0"/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247622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 smtClean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Introducing Packages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03371" y="2179811"/>
            <a:ext cx="16767610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Preventing </a:t>
            </a:r>
            <a:r>
              <a:rPr lang="en-US" sz="4000" dirty="0"/>
              <a:t>naming conflicts. For example there can be two classes with name Employee in two packages, </a:t>
            </a:r>
            <a:r>
              <a:rPr lang="en-US" sz="4000" dirty="0" smtClean="0"/>
              <a:t>college.staff.cse.Employee and college.staff.ee.Employee (naming mechanism).</a:t>
            </a:r>
            <a:endParaRPr lang="en-U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Making searching/locating and </a:t>
            </a:r>
            <a:r>
              <a:rPr lang="en-US" sz="4000" dirty="0"/>
              <a:t>usage of classes, </a:t>
            </a:r>
            <a:r>
              <a:rPr lang="en-US" sz="4000" dirty="0" smtClean="0"/>
              <a:t>interfaces easier.</a:t>
            </a:r>
            <a:endParaRPr lang="en-U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Providing </a:t>
            </a:r>
            <a:r>
              <a:rPr lang="en-US" sz="4000" dirty="0"/>
              <a:t>controlled access: protected and default have package level access control. A protected member is accessible by classes in the same package and its subclasses. A default member (without any access specifier) is accessible by classes in the same package only.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Packages </a:t>
            </a:r>
            <a:r>
              <a:rPr lang="en-US" sz="4000" dirty="0"/>
              <a:t>can be considered as data </a:t>
            </a:r>
            <a:r>
              <a:rPr lang="en-US" sz="4000" dirty="0" smtClean="0"/>
              <a:t>encapsulation (</a:t>
            </a:r>
            <a:r>
              <a:rPr lang="en-US" sz="4000" dirty="0"/>
              <a:t>or data-hiding</a:t>
            </a:r>
            <a:r>
              <a:rPr lang="en-US" sz="4000" dirty="0" smtClean="0"/>
              <a:t>). By grouping related classes and interfaces together and controlling access using access modifiers. They hide internal classes and members from other packages, exposing only necessary public members.</a:t>
            </a:r>
            <a:endParaRPr lang="en-US" sz="4000" dirty="0"/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1200920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 smtClean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Defining Packages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29808" y="2095500"/>
            <a:ext cx="16463277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Include </a:t>
            </a:r>
            <a:r>
              <a:rPr lang="en-US" sz="4000" dirty="0"/>
              <a:t>a </a:t>
            </a:r>
            <a:r>
              <a:rPr lang="en-US" sz="4000" dirty="0" smtClean="0"/>
              <a:t>package command </a:t>
            </a:r>
            <a:r>
              <a:rPr lang="en-US" sz="4000" dirty="0"/>
              <a:t>as the first statement in a Java source file.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Any </a:t>
            </a:r>
            <a:r>
              <a:rPr lang="en-US" sz="4000" dirty="0"/>
              <a:t>classes declared within that file will belong to the specified package.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The </a:t>
            </a:r>
            <a:r>
              <a:rPr lang="en-US" sz="4000" dirty="0"/>
              <a:t>package statement defines a name space in which classes are stored.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If </a:t>
            </a:r>
            <a:r>
              <a:rPr lang="en-US" sz="4000" dirty="0"/>
              <a:t>you omit the package statement, the class names are put into the default package, which has no name.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u="sng" dirty="0" smtClean="0"/>
              <a:t>Syntax</a:t>
            </a:r>
            <a:r>
              <a:rPr lang="en-US" sz="4000" b="1" dirty="0" smtClean="0"/>
              <a:t>: </a:t>
            </a:r>
            <a:r>
              <a:rPr lang="en-US" sz="4000" dirty="0" smtClean="0"/>
              <a:t>package </a:t>
            </a:r>
            <a:r>
              <a:rPr lang="en-US" sz="4000" i="1" dirty="0"/>
              <a:t>pkg;</a:t>
            </a:r>
            <a:endParaRPr lang="en-US" sz="4000" dirty="0"/>
          </a:p>
          <a:p>
            <a:pPr lvl="2"/>
            <a:r>
              <a:rPr lang="en-US" sz="4000" dirty="0" smtClean="0"/>
              <a:t>Here</a:t>
            </a:r>
            <a:r>
              <a:rPr lang="en-US" sz="4000" dirty="0"/>
              <a:t>, </a:t>
            </a:r>
            <a:r>
              <a:rPr lang="en-US" sz="4000" i="1" dirty="0" smtClean="0"/>
              <a:t>pkg is </a:t>
            </a:r>
            <a:r>
              <a:rPr lang="en-US" sz="4000" i="1" dirty="0"/>
              <a:t>the name of the package</a:t>
            </a:r>
            <a:r>
              <a:rPr lang="en-US" sz="4000" i="1" dirty="0" smtClean="0"/>
              <a:t>.</a:t>
            </a:r>
            <a:endParaRPr lang="en-US" sz="4000" dirty="0"/>
          </a:p>
          <a:p>
            <a:pPr lvl="2"/>
            <a:r>
              <a:rPr lang="en-US" sz="4000" dirty="0" smtClean="0"/>
              <a:t>For example: package </a:t>
            </a:r>
            <a:r>
              <a:rPr lang="en-US" sz="4000" dirty="0"/>
              <a:t>MyPackage;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Java </a:t>
            </a:r>
            <a:r>
              <a:rPr lang="en-US" sz="4000" dirty="0"/>
              <a:t>uses file system directories to store packages. For example, </a:t>
            </a:r>
            <a:r>
              <a:rPr lang="en-US" sz="4000" dirty="0" smtClean="0"/>
              <a:t>.class </a:t>
            </a:r>
            <a:r>
              <a:rPr lang="en-US" sz="4000" dirty="0"/>
              <a:t>files for any classes you declare to be part of </a:t>
            </a:r>
            <a:r>
              <a:rPr lang="en-US" sz="4000" dirty="0" smtClean="0"/>
              <a:t>MyPackage must </a:t>
            </a:r>
            <a:r>
              <a:rPr lang="en-US" sz="4000" dirty="0"/>
              <a:t>be stored in a directory called MyPackage.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More </a:t>
            </a:r>
            <a:r>
              <a:rPr lang="en-US" sz="4000" dirty="0"/>
              <a:t>than one file can include the same package statement.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885404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 smtClean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Defining Sub - Packages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29808" y="2095500"/>
            <a:ext cx="16741173" cy="81253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800" b="1" u="sng" dirty="0"/>
              <a:t>File Directory </a:t>
            </a:r>
            <a:r>
              <a:rPr lang="en-US" sz="4800" b="1" dirty="0"/>
              <a:t> </a:t>
            </a:r>
            <a:r>
              <a:rPr lang="en-US" sz="4000" dirty="0"/>
              <a:t>–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It is the physical folder on your system where the project files are saved.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A Java Project is comprised of libraries, src folder (source folder containing .java files) &amp; bin folder (stores all compiled .class files).</a:t>
            </a:r>
          </a:p>
          <a:p>
            <a:endParaRPr lang="en-US" sz="40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You </a:t>
            </a:r>
            <a:r>
              <a:rPr lang="en-US" sz="4000" dirty="0"/>
              <a:t>can create a hierarchy of packages. To do so, simply separate each package name from the one above it by use of a period.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u="sng" dirty="0"/>
              <a:t>Syntax: </a:t>
            </a:r>
          </a:p>
          <a:p>
            <a:pPr lvl="3"/>
            <a:r>
              <a:rPr lang="en-US" sz="4000" dirty="0"/>
              <a:t>package </a:t>
            </a:r>
            <a:r>
              <a:rPr lang="en-US" sz="4000" i="1" dirty="0"/>
              <a:t>pkg1[.pkg2[.pkg3]];</a:t>
            </a:r>
            <a:endParaRPr lang="en-US" sz="4000" dirty="0"/>
          </a:p>
          <a:p>
            <a:pPr lvl="3"/>
            <a:r>
              <a:rPr lang="en-US" sz="4000" dirty="0"/>
              <a:t>package java.awt.image;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needs to be stored in java\awt\image in a Windows environment.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 smtClean="0"/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3383222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 smtClean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Defining Sub - Packages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29808" y="2095500"/>
            <a:ext cx="16463277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You </a:t>
            </a:r>
            <a:r>
              <a:rPr lang="en-US" sz="4000" dirty="0"/>
              <a:t>can create a hierarchy of packages. To do so, simply separate each package name from the one above it by use of a period</a:t>
            </a:r>
            <a:r>
              <a:rPr lang="en-US" sz="4000" dirty="0" smtClean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u="sng" dirty="0" smtClean="0"/>
              <a:t>Syntax: </a:t>
            </a:r>
            <a:endParaRPr lang="en-US" sz="4000" b="1" u="sng" dirty="0"/>
          </a:p>
          <a:p>
            <a:pPr lvl="3"/>
            <a:r>
              <a:rPr lang="en-US" sz="4000" dirty="0"/>
              <a:t>package </a:t>
            </a:r>
            <a:r>
              <a:rPr lang="en-US" sz="4000" i="1" dirty="0" smtClean="0"/>
              <a:t>pkg1[.pkg2[.pkg3]];</a:t>
            </a:r>
            <a:endParaRPr lang="en-US" sz="4000" dirty="0"/>
          </a:p>
          <a:p>
            <a:pPr lvl="3"/>
            <a:r>
              <a:rPr lang="en-US" sz="4000" dirty="0"/>
              <a:t>package java.awt.image;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needs </a:t>
            </a:r>
            <a:r>
              <a:rPr lang="en-US" sz="4000" dirty="0"/>
              <a:t>to be stored in </a:t>
            </a:r>
            <a:r>
              <a:rPr lang="en-US" sz="4000" dirty="0" smtClean="0"/>
              <a:t>java\awt\image in </a:t>
            </a:r>
            <a:r>
              <a:rPr lang="en-US" sz="4000" dirty="0"/>
              <a:t>a Windows environment</a:t>
            </a:r>
            <a:r>
              <a:rPr lang="en-US" sz="4000" dirty="0" smtClean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File directory is defined as the physical folder on your computer where the project files are saved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Java Project</a:t>
            </a:r>
            <a:endParaRPr lang="en-US" sz="4000" dirty="0"/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4191000" y="7124700"/>
            <a:ext cx="2438400" cy="575744"/>
          </a:xfrm>
          <a:prstGeom prst="straightConnector1">
            <a:avLst/>
          </a:prstGeom>
          <a:ln w="603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4191000" y="7724794"/>
            <a:ext cx="5372100" cy="847705"/>
          </a:xfrm>
          <a:prstGeom prst="straightConnector1">
            <a:avLst/>
          </a:prstGeom>
          <a:ln w="603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3276600" y="7709475"/>
            <a:ext cx="914400" cy="863025"/>
          </a:xfrm>
          <a:prstGeom prst="straightConnector1">
            <a:avLst/>
          </a:prstGeom>
          <a:ln w="603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664958" y="8496228"/>
            <a:ext cx="5410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/>
              <a:t>src  (source folder) – write and save .java 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71247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6799684" y="698609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6756505" y="6878368"/>
            <a:ext cx="2101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 smtClean="0"/>
              <a:t>Libraries</a:t>
            </a:r>
            <a:endParaRPr lang="en-US" sz="3200" i="1" dirty="0"/>
          </a:p>
        </p:txBody>
      </p:sp>
      <p:sp>
        <p:nvSpPr>
          <p:cNvPr id="33" name="TextBox 32"/>
          <p:cNvSpPr txBox="1"/>
          <p:nvPr/>
        </p:nvSpPr>
        <p:spPr>
          <a:xfrm>
            <a:off x="457201" y="8572499"/>
            <a:ext cx="5943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/>
              <a:t>Bin folder – stores .class files after </a:t>
            </a:r>
            <a:r>
              <a:rPr lang="en-US" sz="3200" i="1" dirty="0" smtClean="0"/>
              <a:t>compilation of </a:t>
            </a:r>
            <a:r>
              <a:rPr lang="en-US" sz="3200" i="1" dirty="0"/>
              <a:t>java code</a:t>
            </a:r>
          </a:p>
        </p:txBody>
      </p:sp>
    </p:spTree>
    <p:extLst>
      <p:ext uri="{BB962C8B-B14F-4D97-AF65-F5344CB8AC3E}">
        <p14:creationId xmlns:p14="http://schemas.microsoft.com/office/powerpoint/2010/main" val="2768642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84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 smtClean="0"/>
              <a:t> Classpath of </a:t>
            </a:r>
            <a:r>
              <a:rPr lang="en-US" sz="7200" b="1" dirty="0" smtClean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Packages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29808" y="2427380"/>
            <a:ext cx="16741173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Class Path is defined list of locations or folders where JVM looks for compiled classes i.e. looks for .class files while running a program.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Scenario – My Java program may use multiple classes spread across packages. </a:t>
            </a:r>
          </a:p>
          <a:p>
            <a:pPr algn="ctr"/>
            <a:r>
              <a:rPr lang="en-US" sz="4000" dirty="0" smtClean="0"/>
              <a:t>OR</a:t>
            </a:r>
          </a:p>
          <a:p>
            <a:r>
              <a:rPr lang="en-US" sz="4000" dirty="0"/>
              <a:t>	</a:t>
            </a:r>
            <a:r>
              <a:rPr lang="en-US" sz="4000" dirty="0" smtClean="0"/>
              <a:t>		We are using class from another package in our program, where will </a:t>
            </a:r>
          </a:p>
          <a:p>
            <a:r>
              <a:rPr lang="en-US" sz="4000" dirty="0"/>
              <a:t>	</a:t>
            </a:r>
            <a:r>
              <a:rPr lang="en-US" sz="4000" dirty="0" smtClean="0"/>
              <a:t>		JVM search for .class file now ??????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When we use user-defined packages, our classes are often in different folders (like Package1, Package2, Package3 etc.), So we need to tell Java where to find them – That’s done using CLASSPATH.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547194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84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 smtClean="0"/>
              <a:t> Classpath of </a:t>
            </a:r>
            <a:r>
              <a:rPr lang="en-US" sz="7200" b="1" dirty="0" smtClean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Packages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29808" y="2095500"/>
            <a:ext cx="16463277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dirty="0" smtClean="0"/>
              <a:t>How </a:t>
            </a:r>
            <a:r>
              <a:rPr lang="en-US" sz="4000" dirty="0"/>
              <a:t>does the Java run-time system know where to look for packages that you create?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 smtClean="0"/>
              <a:t>First</a:t>
            </a:r>
            <a:r>
              <a:rPr lang="en-US" sz="4000" dirty="0"/>
              <a:t>, by default, the Java run-time system uses the current working directory as its starting point. Thus, if your package is in a subdirectory of the current directory, it will be found.  </a:t>
            </a:r>
            <a:r>
              <a:rPr lang="en-US" sz="4000" dirty="0" smtClean="0"/>
              <a:t>JVM </a:t>
            </a:r>
            <a:r>
              <a:rPr lang="en-US" sz="4000" dirty="0"/>
              <a:t>uses current working directory as its starting point (it will start searching in current .class file’s bin folder</a:t>
            </a:r>
            <a:r>
              <a:rPr lang="en-US" sz="4000" dirty="0" smtClean="0"/>
              <a:t>)</a:t>
            </a:r>
            <a:endParaRPr lang="en-US" sz="4000" dirty="0"/>
          </a:p>
          <a:p>
            <a:pPr marL="742950" lvl="2" indent="-742950">
              <a:buFont typeface="+mj-lt"/>
              <a:buAutoNum type="arabicPeriod"/>
            </a:pPr>
            <a:r>
              <a:rPr lang="en-US" sz="4000" dirty="0" smtClean="0"/>
              <a:t>Second (PERMANENTLY), </a:t>
            </a:r>
            <a:r>
              <a:rPr lang="en-US" sz="4000" dirty="0"/>
              <a:t>you can specify a directory path or paths by setting the </a:t>
            </a:r>
            <a:r>
              <a:rPr lang="en-US" sz="4000" dirty="0" smtClean="0"/>
              <a:t>CLASSPATH environmental </a:t>
            </a:r>
            <a:r>
              <a:rPr lang="en-US" sz="4000" dirty="0"/>
              <a:t>variable. Setting classpath environment variables. Steps (Windows)-Environment variables-system variables-click new- set name for classpath – set value for </a:t>
            </a:r>
            <a:r>
              <a:rPr lang="en-US" sz="4000" dirty="0" smtClean="0"/>
              <a:t>classpath</a:t>
            </a:r>
            <a:endParaRPr lang="en-US" sz="4000" dirty="0"/>
          </a:p>
          <a:p>
            <a:pPr marL="742950" indent="-742950">
              <a:buFont typeface="+mj-lt"/>
              <a:buAutoNum type="arabicPeriod"/>
            </a:pPr>
            <a:r>
              <a:rPr lang="en-US" sz="4000" dirty="0" smtClean="0"/>
              <a:t>Third (TEMPORARY), </a:t>
            </a:r>
            <a:r>
              <a:rPr lang="en-US" sz="4000" dirty="0"/>
              <a:t>you can use the </a:t>
            </a:r>
            <a:r>
              <a:rPr lang="en-US" sz="4000" dirty="0" smtClean="0"/>
              <a:t>–classpath option </a:t>
            </a:r>
            <a:r>
              <a:rPr lang="en-US" sz="4000" dirty="0"/>
              <a:t>with java and </a:t>
            </a:r>
            <a:r>
              <a:rPr lang="en-US" sz="4000" dirty="0" smtClean="0"/>
              <a:t>javac to </a:t>
            </a:r>
            <a:r>
              <a:rPr lang="en-US" sz="4000" dirty="0"/>
              <a:t>specify the path to your classes</a:t>
            </a:r>
            <a:r>
              <a:rPr lang="en-US" sz="4000" dirty="0" smtClean="0"/>
              <a:t>.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931540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84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 smtClean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Importing Packages 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22116" y="2123220"/>
            <a:ext cx="16463277" cy="80021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To use classes from other packages- Java programs are organized into packages that contain related classes. If you want to use a class from another package, you must import it.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To reuse predefined classes and methods – Java provides thousands of build-in classes (eg. String, Arraylist, Scanner, Math, File) organized in packages.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To  organize and modularize large projects – In large projects code is divide into many packages, importing helps to connect these modules together.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Java includes </a:t>
            </a:r>
            <a:r>
              <a:rPr lang="en-US" sz="4000" b="1" dirty="0" smtClean="0"/>
              <a:t>import</a:t>
            </a:r>
            <a:r>
              <a:rPr lang="en-US" sz="4000" dirty="0" smtClean="0"/>
              <a:t> </a:t>
            </a:r>
            <a:r>
              <a:rPr lang="en-US" sz="4000" dirty="0"/>
              <a:t>statement to bring certain </a:t>
            </a:r>
            <a:r>
              <a:rPr lang="en-US" sz="4000" dirty="0" smtClean="0"/>
              <a:t>classes </a:t>
            </a:r>
            <a:r>
              <a:rPr lang="en-US" sz="4000" dirty="0"/>
              <a:t>or entire packages, into visibility</a:t>
            </a:r>
            <a:r>
              <a:rPr lang="en-US" sz="4000" dirty="0" smtClean="0"/>
              <a:t>.</a:t>
            </a:r>
            <a:endParaRPr lang="en-U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The </a:t>
            </a:r>
            <a:r>
              <a:rPr lang="en-US" sz="4000" dirty="0"/>
              <a:t>import statement is a convenience </a:t>
            </a:r>
            <a:r>
              <a:rPr lang="en-US" sz="4000" dirty="0" smtClean="0"/>
              <a:t>to </a:t>
            </a:r>
            <a:r>
              <a:rPr lang="en-US" sz="4000" dirty="0"/>
              <a:t>programmer and is not technically needed to write a complete Java program.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In </a:t>
            </a:r>
            <a:r>
              <a:rPr lang="en-US" sz="4000" dirty="0"/>
              <a:t>a Java source file, import statements occur immediately </a:t>
            </a:r>
            <a:r>
              <a:rPr lang="en-US" sz="4000" dirty="0" smtClean="0"/>
              <a:t>following </a:t>
            </a:r>
            <a:r>
              <a:rPr lang="en-US" sz="4000" dirty="0"/>
              <a:t>package statement (if it exists) and before any class definitions</a:t>
            </a:r>
            <a:r>
              <a:rPr lang="en-US" sz="4000" dirty="0" smtClean="0"/>
              <a:t>.</a:t>
            </a:r>
            <a:endParaRPr lang="en-US" sz="4000" dirty="0"/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4097000" y="753067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0" name="AutoShape 7"/>
          <p:cNvSpPr/>
          <p:nvPr/>
        </p:nvSpPr>
        <p:spPr>
          <a:xfrm>
            <a:off x="0" y="99441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6"/>
          <p:cNvSpPr/>
          <p:nvPr/>
        </p:nvSpPr>
        <p:spPr>
          <a:xfrm>
            <a:off x="95342" y="9610500"/>
            <a:ext cx="18288000" cy="1863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22862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84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 smtClean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Importing Packages 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22117" y="2430996"/>
            <a:ext cx="16463277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000" b="1" dirty="0" smtClean="0"/>
              <a:t> Importing Packages in Java : </a:t>
            </a:r>
          </a:p>
          <a:p>
            <a:endParaRPr lang="en-US" sz="4000" b="1" dirty="0"/>
          </a:p>
          <a:p>
            <a:endParaRPr lang="en-US" sz="4000" b="1" dirty="0"/>
          </a:p>
          <a:p>
            <a:r>
              <a:rPr lang="en-US" sz="4000" b="1" dirty="0" smtClean="0"/>
              <a:t>Single / Particular Class</a:t>
            </a:r>
          </a:p>
          <a:p>
            <a:r>
              <a:rPr lang="en-US" sz="4000" b="1" dirty="0" smtClean="0"/>
              <a:t>(using period classname</a:t>
            </a:r>
            <a:r>
              <a:rPr lang="en-US" sz="4000" b="1" dirty="0"/>
              <a:t> </a:t>
            </a:r>
            <a:endParaRPr lang="en-US" sz="4000" b="1" dirty="0" smtClean="0"/>
          </a:p>
          <a:p>
            <a:r>
              <a:rPr lang="en-US" sz="4000" b="1" dirty="0" smtClean="0"/>
              <a:t>with period .)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0" name="AutoShape 7"/>
          <p:cNvSpPr/>
          <p:nvPr/>
        </p:nvSpPr>
        <p:spPr>
          <a:xfrm>
            <a:off x="0" y="99441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6"/>
          <p:cNvSpPr/>
          <p:nvPr/>
        </p:nvSpPr>
        <p:spPr>
          <a:xfrm>
            <a:off x="95342" y="9610500"/>
            <a:ext cx="18288000" cy="1863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cxnSp>
        <p:nvCxnSpPr>
          <p:cNvPr id="5" name="Straight Arrow Connector 4"/>
          <p:cNvCxnSpPr/>
          <p:nvPr/>
        </p:nvCxnSpPr>
        <p:spPr>
          <a:xfrm flipH="1">
            <a:off x="4495800" y="3009900"/>
            <a:ext cx="4557956" cy="1295400"/>
          </a:xfrm>
          <a:prstGeom prst="straightConnector1">
            <a:avLst/>
          </a:prstGeom>
          <a:ln w="104775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98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9053755" y="3009900"/>
            <a:ext cx="3513454" cy="1670029"/>
          </a:xfrm>
          <a:prstGeom prst="straightConnector1">
            <a:avLst/>
          </a:prstGeom>
          <a:ln w="104775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98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164558" y="4646424"/>
            <a:ext cx="626754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en-US" sz="4000" b="1" dirty="0">
                <a:solidFill>
                  <a:prstClr val="black"/>
                </a:solidFill>
              </a:rPr>
              <a:t>All Classes of the packages</a:t>
            </a:r>
          </a:p>
          <a:p>
            <a:pPr lvl="0" algn="ctr"/>
            <a:r>
              <a:rPr lang="en-US" sz="4000" b="1" dirty="0">
                <a:solidFill>
                  <a:prstClr val="black"/>
                </a:solidFill>
              </a:rPr>
              <a:t>(using </a:t>
            </a:r>
            <a:r>
              <a:rPr lang="en-US" sz="4000" b="1" dirty="0" smtClean="0">
                <a:solidFill>
                  <a:prstClr val="black"/>
                </a:solidFill>
              </a:rPr>
              <a:t>* with period .)</a:t>
            </a:r>
            <a:endParaRPr lang="en-US" sz="4000" b="1" dirty="0">
              <a:solidFill>
                <a:prstClr val="black"/>
              </a:solidFill>
            </a:endParaRPr>
          </a:p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94352" y="5905500"/>
            <a:ext cx="1689929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Syntax :- import packages_name.*;</a:t>
            </a:r>
          </a:p>
          <a:p>
            <a:pPr lvl="4"/>
            <a:r>
              <a:rPr lang="en-US" sz="4000" dirty="0"/>
              <a:t>      import </a:t>
            </a:r>
            <a:r>
              <a:rPr lang="en-US" sz="4000" dirty="0" smtClean="0"/>
              <a:t>package_name.class_name;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Specify </a:t>
            </a:r>
            <a:r>
              <a:rPr lang="en-US" sz="4000" dirty="0"/>
              <a:t>either an explicit classname or a star (*), which indicates that Java compiler should import entire </a:t>
            </a:r>
            <a:r>
              <a:rPr lang="en-US" sz="4000" dirty="0" smtClean="0"/>
              <a:t>package.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Examples :- import java.util.Date; </a:t>
            </a:r>
            <a:endParaRPr lang="en-US" sz="40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import </a:t>
            </a:r>
            <a:r>
              <a:rPr lang="en-US" sz="4000" dirty="0"/>
              <a:t>java.io</a:t>
            </a:r>
            <a:r>
              <a:rPr lang="en-US" sz="4000" dirty="0" smtClean="0"/>
              <a:t>.*;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23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4" name="Freeform 4"/>
          <p:cNvSpPr/>
          <p:nvPr/>
        </p:nvSpPr>
        <p:spPr>
          <a:xfrm>
            <a:off x="822116" y="3261779"/>
            <a:ext cx="16463277" cy="330402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43000" y="3812384"/>
            <a:ext cx="15392400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Example Importing Packages </a:t>
            </a:r>
            <a:r>
              <a:rPr lang="en-US" sz="7200" b="1" dirty="0" smtClean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- </a:t>
            </a:r>
            <a:r>
              <a:rPr lang="en-US" sz="7200" dirty="0" smtClean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builtin.java</a:t>
            </a:r>
            <a:endParaRPr lang="en-US" sz="7200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0" name="AutoShape 7"/>
          <p:cNvSpPr/>
          <p:nvPr/>
        </p:nvSpPr>
        <p:spPr>
          <a:xfrm>
            <a:off x="0" y="99441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6"/>
          <p:cNvSpPr/>
          <p:nvPr/>
        </p:nvSpPr>
        <p:spPr>
          <a:xfrm>
            <a:off x="95342" y="9610500"/>
            <a:ext cx="18288000" cy="1863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61180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 smtClean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Package Access Protection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12361" y="2628900"/>
            <a:ext cx="16463277" cy="6771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dirty="0" smtClean="0"/>
              <a:t>Packages </a:t>
            </a:r>
            <a:r>
              <a:rPr lang="en-US" sz="4000" dirty="0"/>
              <a:t>act as </a:t>
            </a:r>
            <a:r>
              <a:rPr lang="en-US" sz="4000" dirty="0" smtClean="0"/>
              <a:t>containers for </a:t>
            </a:r>
            <a:r>
              <a:rPr lang="en-US" sz="4000" dirty="0"/>
              <a:t>classes and other subordinate packages. </a:t>
            </a:r>
          </a:p>
          <a:p>
            <a:r>
              <a:rPr lang="en-US" sz="4000" dirty="0" smtClean="0"/>
              <a:t>Java </a:t>
            </a:r>
            <a:r>
              <a:rPr lang="en-US" sz="4000" dirty="0"/>
              <a:t>addresses four categories of visibility for class </a:t>
            </a:r>
            <a:r>
              <a:rPr lang="en-US" sz="4000" dirty="0" smtClean="0"/>
              <a:t>members</a:t>
            </a:r>
            <a:endParaRPr lang="en-U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Public – Accessible from anywhere, regardless of whether class is in same package or not.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Default – Members with no modifiers are accessible only within same package.</a:t>
            </a:r>
            <a:endParaRPr lang="en-U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Protected – Accessible outside the package but only to the direct subclasses (</a:t>
            </a:r>
            <a:r>
              <a:rPr lang="en-US" sz="4000" dirty="0"/>
              <a:t>s</a:t>
            </a:r>
            <a:r>
              <a:rPr lang="en-US" sz="4000" dirty="0" smtClean="0"/>
              <a:t>ubclasses that are directly inherited from the your class with no chains).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Private – Accessible only within same package. They cannot be accessed by classes in same package, subclass or different package.</a:t>
            </a:r>
          </a:p>
          <a:p>
            <a:pPr lvl="3"/>
            <a:endParaRPr lang="en-US" sz="4000" dirty="0"/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0" name="AutoShape 7"/>
          <p:cNvSpPr/>
          <p:nvPr/>
        </p:nvSpPr>
        <p:spPr>
          <a:xfrm>
            <a:off x="0" y="97155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6"/>
          <p:cNvSpPr/>
          <p:nvPr/>
        </p:nvSpPr>
        <p:spPr>
          <a:xfrm>
            <a:off x="0" y="9393324"/>
            <a:ext cx="18288000" cy="1863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87557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 smtClean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Package Access Protection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12361" y="2628900"/>
            <a:ext cx="16463277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 dirty="0" smtClean="0"/>
              <a:t> </a:t>
            </a:r>
            <a:endParaRPr lang="en-US" sz="4000" dirty="0"/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0" name="AutoShape 7"/>
          <p:cNvSpPr/>
          <p:nvPr/>
        </p:nvSpPr>
        <p:spPr>
          <a:xfrm>
            <a:off x="0" y="97155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6"/>
          <p:cNvSpPr/>
          <p:nvPr/>
        </p:nvSpPr>
        <p:spPr>
          <a:xfrm>
            <a:off x="0" y="9393324"/>
            <a:ext cx="18288000" cy="1863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324100"/>
            <a:ext cx="15087600" cy="689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8376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4" name="Freeform 4"/>
          <p:cNvSpPr/>
          <p:nvPr/>
        </p:nvSpPr>
        <p:spPr>
          <a:xfrm>
            <a:off x="822117" y="3352800"/>
            <a:ext cx="16463277" cy="3581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357555" y="3702546"/>
            <a:ext cx="15392400" cy="323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Example Package </a:t>
            </a:r>
            <a:r>
              <a:rPr lang="en-US" sz="7200" b="1" dirty="0" smtClean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Access Protection – </a:t>
            </a:r>
            <a:r>
              <a:rPr lang="en-US" sz="7200" dirty="0" smtClean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hello1.java, hello3.java, hello2.java</a:t>
            </a:r>
            <a:endParaRPr lang="en-US" sz="7200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12361" y="2628900"/>
            <a:ext cx="16463277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dirty="0" smtClean="0"/>
              <a:t> </a:t>
            </a:r>
            <a:endParaRPr lang="en-US" sz="4000" dirty="0"/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0" name="AutoShape 7"/>
          <p:cNvSpPr/>
          <p:nvPr/>
        </p:nvSpPr>
        <p:spPr>
          <a:xfrm>
            <a:off x="0" y="97155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6"/>
          <p:cNvSpPr/>
          <p:nvPr/>
        </p:nvSpPr>
        <p:spPr>
          <a:xfrm>
            <a:off x="0" y="9393324"/>
            <a:ext cx="18288000" cy="1863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69828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 smtClean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Types Of Packages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29808" y="2095500"/>
            <a:ext cx="16463277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dirty="0"/>
              <a:t>Two types</a:t>
            </a:r>
          </a:p>
          <a:p>
            <a:r>
              <a:rPr lang="en-US" sz="4000" b="1" dirty="0"/>
              <a:t>1</a:t>
            </a:r>
            <a:r>
              <a:rPr lang="en-US" sz="4000" b="1" dirty="0" smtClean="0"/>
              <a:t>. Built-in Packages</a:t>
            </a:r>
            <a:r>
              <a:rPr lang="en-US" sz="4000" dirty="0"/>
              <a:t> 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4000" dirty="0"/>
              <a:t>java.lang</a:t>
            </a:r>
            <a:r>
              <a:rPr lang="en-US" sz="4000" dirty="0" smtClean="0"/>
              <a:t>: Contains </a:t>
            </a:r>
            <a:r>
              <a:rPr lang="en-US" sz="4000" dirty="0"/>
              <a:t>language support </a:t>
            </a:r>
            <a:r>
              <a:rPr lang="en-US" sz="4000" dirty="0" smtClean="0"/>
              <a:t>classes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java.io: Contains </a:t>
            </a:r>
            <a:r>
              <a:rPr lang="en-US" sz="4000" dirty="0"/>
              <a:t>classed for supporting input / output operations.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4000" dirty="0"/>
              <a:t>java.applet</a:t>
            </a:r>
            <a:r>
              <a:rPr lang="en-US" sz="4000" dirty="0" smtClean="0"/>
              <a:t>: Contains </a:t>
            </a:r>
            <a:r>
              <a:rPr lang="en-US" sz="4000" dirty="0"/>
              <a:t>classes for creating Applets.</a:t>
            </a:r>
          </a:p>
          <a:p>
            <a:r>
              <a:rPr lang="en-US" sz="4000" b="1" dirty="0"/>
              <a:t>2</a:t>
            </a:r>
            <a:r>
              <a:rPr lang="en-US" sz="4000" b="1" dirty="0" smtClean="0"/>
              <a:t>. User-defined packages</a:t>
            </a:r>
            <a:endParaRPr lang="en-US" sz="4000" dirty="0"/>
          </a:p>
          <a:p>
            <a:r>
              <a:rPr lang="en-US" sz="4000" dirty="0"/>
              <a:t>These are the packages that are defined by the user.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6351881"/>
            <a:ext cx="5844669" cy="32145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2284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255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 smtClean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Types Of Packages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29808" y="2095500"/>
            <a:ext cx="16463277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dirty="0" smtClean="0"/>
              <a:t>Example of </a:t>
            </a:r>
            <a:r>
              <a:rPr lang="en-US" sz="4000" b="1" dirty="0" smtClean="0"/>
              <a:t>Built-in Packages :hello1.java, hello2.java</a:t>
            </a:r>
          </a:p>
          <a:p>
            <a:endParaRPr lang="en-US" sz="4000" b="1" dirty="0"/>
          </a:p>
          <a:p>
            <a:endParaRPr lang="en-US" sz="4000" b="1" dirty="0" smtClean="0"/>
          </a:p>
          <a:p>
            <a:endParaRPr lang="en-US" sz="4000" b="1" dirty="0" smtClean="0"/>
          </a:p>
          <a:p>
            <a:r>
              <a:rPr lang="en-US" sz="4000" dirty="0"/>
              <a:t>Example of </a:t>
            </a:r>
            <a:r>
              <a:rPr lang="en-US" sz="4000" b="1" dirty="0"/>
              <a:t>User-defined packages </a:t>
            </a:r>
            <a:r>
              <a:rPr lang="en-US" sz="4000" b="1" dirty="0" smtClean="0"/>
              <a:t>: builtin.java</a:t>
            </a:r>
            <a:endParaRPr lang="en-US" sz="4000" dirty="0"/>
          </a:p>
          <a:p>
            <a:endParaRPr lang="en-US" sz="4000" dirty="0"/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4236519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 smtClean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Defining Interfaces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12361" y="2217716"/>
            <a:ext cx="16463277" cy="6771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Interfaces are syntactically similar to classes, but they lack instance variables, also methods are </a:t>
            </a:r>
            <a:r>
              <a:rPr lang="en-US" sz="4000" dirty="0" smtClean="0"/>
              <a:t>abstract.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A class can implement an interface, to do so, a class will have to define complete set of methods required by interface.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These are Runtime Polymorphism.</a:t>
            </a:r>
            <a:endParaRPr lang="en-US" sz="4000" b="1" u="sng" dirty="0" smtClean="0"/>
          </a:p>
          <a:p>
            <a:r>
              <a:rPr lang="en-US" sz="4000" b="1" u="sng" dirty="0" smtClean="0"/>
              <a:t>DEFINING AN INTERFACE 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Syntax :-	</a:t>
            </a:r>
          </a:p>
          <a:p>
            <a:r>
              <a:rPr lang="en-US" sz="4000" dirty="0"/>
              <a:t>	</a:t>
            </a:r>
            <a:r>
              <a:rPr lang="en-US" sz="4000" dirty="0" smtClean="0"/>
              <a:t>access interface_name{</a:t>
            </a:r>
          </a:p>
          <a:p>
            <a:r>
              <a:rPr lang="en-US" sz="4000" dirty="0"/>
              <a:t>	</a:t>
            </a:r>
            <a:r>
              <a:rPr lang="en-US" sz="4000" dirty="0" smtClean="0"/>
              <a:t>returntype method_name (parameter-list);</a:t>
            </a:r>
          </a:p>
          <a:p>
            <a:r>
              <a:rPr lang="en-US" sz="4000" dirty="0"/>
              <a:t>	</a:t>
            </a:r>
            <a:r>
              <a:rPr lang="en-US" sz="4000" dirty="0" smtClean="0"/>
              <a:t>type variable_name = value;</a:t>
            </a:r>
          </a:p>
          <a:p>
            <a:r>
              <a:rPr lang="en-US" sz="4000" dirty="0"/>
              <a:t>	</a:t>
            </a:r>
            <a:r>
              <a:rPr lang="en-US" sz="4000" dirty="0" smtClean="0"/>
              <a:t>} </a:t>
            </a:r>
            <a:endParaRPr lang="en-US" sz="4000" dirty="0"/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0" name="AutoShape 7"/>
          <p:cNvSpPr/>
          <p:nvPr/>
        </p:nvSpPr>
        <p:spPr>
          <a:xfrm>
            <a:off x="0" y="97155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6"/>
          <p:cNvSpPr/>
          <p:nvPr/>
        </p:nvSpPr>
        <p:spPr>
          <a:xfrm>
            <a:off x="0" y="9393324"/>
            <a:ext cx="18288000" cy="1863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83385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 smtClean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Defining Interfaces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22117" y="2628900"/>
            <a:ext cx="16463277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If no access defined to interface, then default will apply (default means available within package declared).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If its public – anywhere access.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Variables can be declared as Final, Static and Public 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Variables must be initialized when declared within interface, otherwise will give error</a:t>
            </a:r>
            <a:r>
              <a:rPr lang="en-US" sz="4000" dirty="0" smtClean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Methods have no body when defined in interfaces (abstract in nature).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Returntype</a:t>
            </a:r>
            <a:r>
              <a:rPr lang="en-US" sz="4000" dirty="0"/>
              <a:t>  – </a:t>
            </a:r>
            <a:r>
              <a:rPr lang="en-US" sz="4000" dirty="0" smtClean="0"/>
              <a:t>void, int , double etc.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Class implementing an interface must define all methods of that interface.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0" name="AutoShape 7"/>
          <p:cNvSpPr/>
          <p:nvPr/>
        </p:nvSpPr>
        <p:spPr>
          <a:xfrm>
            <a:off x="0" y="97155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6"/>
          <p:cNvSpPr/>
          <p:nvPr/>
        </p:nvSpPr>
        <p:spPr>
          <a:xfrm>
            <a:off x="0" y="9393324"/>
            <a:ext cx="18288000" cy="1863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52540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 smtClean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Implementing Interfaces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12361" y="2217716"/>
            <a:ext cx="17070839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2"/>
            <a:r>
              <a:rPr lang="en-US" sz="4000" u="sng" dirty="0" smtClean="0"/>
              <a:t>Syntax –</a:t>
            </a:r>
          </a:p>
          <a:p>
            <a:pPr lvl="3"/>
            <a:r>
              <a:rPr lang="en-US" sz="4000" dirty="0" smtClean="0"/>
              <a:t>Class class_name </a:t>
            </a:r>
            <a:r>
              <a:rPr lang="en-US" sz="4000" b="1" dirty="0" smtClean="0"/>
              <a:t>implements</a:t>
            </a:r>
            <a:r>
              <a:rPr lang="en-US" sz="4000" dirty="0" smtClean="0"/>
              <a:t> interface_name{</a:t>
            </a:r>
          </a:p>
          <a:p>
            <a:pPr lvl="3"/>
            <a:r>
              <a:rPr lang="en-US" sz="4000" dirty="0" smtClean="0"/>
              <a:t>//class body</a:t>
            </a:r>
          </a:p>
          <a:p>
            <a:pPr lvl="3"/>
            <a:r>
              <a:rPr lang="en-US" sz="4000" dirty="0"/>
              <a:t>}</a:t>
            </a:r>
            <a:endParaRPr lang="en-US" sz="40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The keyword </a:t>
            </a:r>
            <a:r>
              <a:rPr lang="en-US" sz="4000" b="1" dirty="0" smtClean="0"/>
              <a:t>implements </a:t>
            </a:r>
            <a:r>
              <a:rPr lang="en-US" sz="4000" dirty="0" smtClean="0"/>
              <a:t>is used to implement an interface through a class.</a:t>
            </a:r>
            <a:endParaRPr lang="en-US" sz="40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Class implementing an interface must define all methods of that interface.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 A class can implement more than one interface at a tie seprated by commas.</a:t>
            </a:r>
          </a:p>
          <a:p>
            <a:pPr lvl="1"/>
            <a:r>
              <a:rPr lang="en-US" sz="4000" dirty="0" smtClean="0"/>
              <a:t>	</a:t>
            </a:r>
            <a:r>
              <a:rPr lang="en-US" sz="4000" u="sng" dirty="0" smtClean="0"/>
              <a:t>Syntax </a:t>
            </a:r>
            <a:r>
              <a:rPr lang="en-US" sz="4000" u="sng" dirty="0"/>
              <a:t>–</a:t>
            </a:r>
          </a:p>
          <a:p>
            <a:pPr lvl="2"/>
            <a:r>
              <a:rPr lang="en-US" sz="4000" dirty="0"/>
              <a:t>Class class_name </a:t>
            </a:r>
            <a:r>
              <a:rPr lang="en-US" sz="4000" b="1" dirty="0"/>
              <a:t>implements</a:t>
            </a:r>
            <a:r>
              <a:rPr lang="en-US" sz="4000" dirty="0"/>
              <a:t> </a:t>
            </a:r>
            <a:r>
              <a:rPr lang="en-US" sz="4000" dirty="0" smtClean="0"/>
              <a:t>interface_name1, interface_name2, interface_name3{</a:t>
            </a:r>
            <a:endParaRPr lang="en-US" sz="4000" dirty="0"/>
          </a:p>
          <a:p>
            <a:pPr lvl="2"/>
            <a:r>
              <a:rPr lang="en-US" sz="4000" dirty="0"/>
              <a:t>//class body</a:t>
            </a:r>
          </a:p>
          <a:p>
            <a:pPr lvl="2"/>
            <a:r>
              <a:rPr lang="en-US" sz="4000" dirty="0" smtClean="0"/>
              <a:t>}</a:t>
            </a:r>
            <a:endParaRPr lang="en-US" sz="4000" dirty="0"/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0" name="AutoShape 7"/>
          <p:cNvSpPr/>
          <p:nvPr/>
        </p:nvSpPr>
        <p:spPr>
          <a:xfrm>
            <a:off x="0" y="97155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6"/>
          <p:cNvSpPr/>
          <p:nvPr/>
        </p:nvSpPr>
        <p:spPr>
          <a:xfrm>
            <a:off x="0" y="9393324"/>
            <a:ext cx="18288000" cy="1863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7759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 smtClean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Accessing Methods of Interfaces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12361" y="2217716"/>
            <a:ext cx="17070839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2"/>
            <a:endParaRPr lang="en-US" sz="40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When a class implements an inteface, it provides the definitions (bodies) for all the abstract methods declared in that interface.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To access (or call) those interface methods, we use an object of the implementing class.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To access methods of interface implemented through class, we need to create objects of class implementing it.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Method call resolved at runtime based on actual object type – demonstrates runtime polymorphism.</a:t>
            </a:r>
            <a:endParaRPr lang="en-US" sz="4000" dirty="0"/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0" name="AutoShape 7"/>
          <p:cNvSpPr/>
          <p:nvPr/>
        </p:nvSpPr>
        <p:spPr>
          <a:xfrm>
            <a:off x="0" y="97155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6"/>
          <p:cNvSpPr/>
          <p:nvPr/>
        </p:nvSpPr>
        <p:spPr>
          <a:xfrm>
            <a:off x="0" y="9393324"/>
            <a:ext cx="18288000" cy="1863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8236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 smtClean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Nested Interface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93700" y="1783021"/>
            <a:ext cx="17070839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2"/>
            <a:endParaRPr lang="en-US" sz="40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A nested Interface is an Interface declared inside a class or another interface.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When declared inside a class </a:t>
            </a:r>
          </a:p>
          <a:p>
            <a:pPr marL="1485900" lvl="2" indent="-571500">
              <a:buFont typeface="Wingdings" panose="05000000000000000000" pitchFamily="2" charset="2"/>
              <a:buChar char="q"/>
            </a:pPr>
            <a:r>
              <a:rPr lang="en-US" sz="4000" dirty="0" smtClean="0"/>
              <a:t>it can have any access modifiers – public, protected, default and private.</a:t>
            </a:r>
          </a:p>
          <a:p>
            <a:pPr marL="1485900" lvl="2" indent="-571500">
              <a:buFont typeface="Wingdings" panose="05000000000000000000" pitchFamily="2" charset="2"/>
              <a:buChar char="q"/>
            </a:pPr>
            <a:r>
              <a:rPr lang="en-US" sz="4000" dirty="0" smtClean="0"/>
              <a:t>Qualify with </a:t>
            </a:r>
            <a:r>
              <a:rPr lang="en-US" sz="4000" dirty="0" err="1" smtClean="0"/>
              <a:t>outerclassname</a:t>
            </a:r>
            <a:r>
              <a:rPr lang="en-US" sz="4000" dirty="0" smtClean="0"/>
              <a:t> as :-</a:t>
            </a:r>
          </a:p>
          <a:p>
            <a:pPr lvl="2"/>
            <a:r>
              <a:rPr lang="en-US" sz="4000" dirty="0"/>
              <a:t>	</a:t>
            </a:r>
            <a:r>
              <a:rPr lang="en-US" sz="4000" dirty="0" err="1" smtClean="0"/>
              <a:t>outerclassname.interfacename</a:t>
            </a:r>
            <a:r>
              <a:rPr lang="en-US" sz="4000" dirty="0" smtClean="0"/>
              <a:t>;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When declared inside another interface</a:t>
            </a:r>
          </a:p>
          <a:p>
            <a:pPr marL="1485900" lvl="2" indent="-571500">
              <a:buFont typeface="Wingdings" panose="05000000000000000000" pitchFamily="2" charset="2"/>
              <a:buChar char="q"/>
            </a:pPr>
            <a:r>
              <a:rPr lang="en-US" sz="4000" dirty="0" smtClean="0"/>
              <a:t>Inner Interface </a:t>
            </a:r>
            <a:r>
              <a:rPr lang="en-US" sz="4000" dirty="0"/>
              <a:t>can be public </a:t>
            </a:r>
            <a:r>
              <a:rPr lang="en-US" sz="4000" dirty="0" smtClean="0"/>
              <a:t>or static.</a:t>
            </a:r>
            <a:endParaRPr lang="en-US" sz="4000" dirty="0"/>
          </a:p>
          <a:p>
            <a:pPr marL="1485900" lvl="2" indent="-571500">
              <a:buFont typeface="Wingdings" panose="05000000000000000000" pitchFamily="2" charset="2"/>
              <a:buChar char="q"/>
            </a:pPr>
            <a:r>
              <a:rPr lang="en-US" sz="4000" dirty="0" smtClean="0"/>
              <a:t>Outer Interface must be public or default.</a:t>
            </a:r>
          </a:p>
          <a:p>
            <a:pPr marL="1485900" lvl="2" indent="-571500">
              <a:buFont typeface="Wingdings" panose="05000000000000000000" pitchFamily="2" charset="2"/>
              <a:buChar char="q"/>
            </a:pPr>
            <a:r>
              <a:rPr lang="en-US" sz="4000" dirty="0" smtClean="0"/>
              <a:t>Qualify it with </a:t>
            </a:r>
            <a:r>
              <a:rPr lang="en-US" sz="4000" dirty="0" err="1" smtClean="0"/>
              <a:t>outerinterfacename</a:t>
            </a:r>
            <a:r>
              <a:rPr lang="en-US" sz="4000" dirty="0" smtClean="0"/>
              <a:t> as:-</a:t>
            </a:r>
          </a:p>
          <a:p>
            <a:pPr lvl="2"/>
            <a:r>
              <a:rPr lang="en-US" sz="4000" dirty="0"/>
              <a:t>	</a:t>
            </a:r>
            <a:r>
              <a:rPr lang="en-US" sz="4000" dirty="0" err="1" smtClean="0"/>
              <a:t>outerinterfacename.innerinterfacename</a:t>
            </a:r>
            <a:r>
              <a:rPr lang="en-US" sz="4000" dirty="0" smtClean="0"/>
              <a:t>;</a:t>
            </a:r>
          </a:p>
          <a:p>
            <a:pPr lvl="2"/>
            <a:r>
              <a:rPr lang="en-US" sz="4000" dirty="0" smtClean="0"/>
              <a:t>				</a:t>
            </a:r>
            <a:r>
              <a:rPr lang="en-US" sz="4000" dirty="0" err="1" smtClean="0"/>
              <a:t>N1.java</a:t>
            </a:r>
            <a:r>
              <a:rPr lang="en-US" sz="4000" dirty="0" smtClean="0"/>
              <a:t> 			</a:t>
            </a:r>
            <a:r>
              <a:rPr lang="en-US" sz="4000" dirty="0" err="1" smtClean="0"/>
              <a:t>N2.java</a:t>
            </a:r>
            <a:r>
              <a:rPr lang="en-US" sz="4000" dirty="0" smtClean="0"/>
              <a:t>	</a:t>
            </a:r>
            <a:endParaRPr lang="en-US" sz="4000" dirty="0"/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0" name="AutoShape 7"/>
          <p:cNvSpPr/>
          <p:nvPr/>
        </p:nvSpPr>
        <p:spPr>
          <a:xfrm>
            <a:off x="0" y="97155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6"/>
          <p:cNvSpPr/>
          <p:nvPr/>
        </p:nvSpPr>
        <p:spPr>
          <a:xfrm>
            <a:off x="0" y="9393324"/>
            <a:ext cx="18288000" cy="1863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01345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 smtClean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Extended Interfaces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93700" y="2381840"/>
            <a:ext cx="17070839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2"/>
            <a:endParaRPr lang="en-US" sz="40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By using extends keyword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But a class is needed to implement methods of chain of interface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Just like classes in java, we can extend interfaces also with use of the keyword “extends”.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One interface can extend another interface just as classes in inheritance.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If interface B is extending interface A, it will get the properties of interface A.</a:t>
            </a:r>
            <a:endParaRPr lang="en-US" sz="4000" dirty="0"/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0" name="AutoShape 7"/>
          <p:cNvSpPr/>
          <p:nvPr/>
        </p:nvSpPr>
        <p:spPr>
          <a:xfrm>
            <a:off x="0" y="97155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6"/>
          <p:cNvSpPr/>
          <p:nvPr/>
        </p:nvSpPr>
        <p:spPr>
          <a:xfrm>
            <a:off x="0" y="9393324"/>
            <a:ext cx="18288000" cy="1863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566241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79712" y="805557"/>
            <a:ext cx="166878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6600" b="1" dirty="0" smtClean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Multiple Inheritance through Interfaces</a:t>
            </a:r>
            <a:endParaRPr lang="en-US" sz="66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93700" y="1497708"/>
            <a:ext cx="17070839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2"/>
            <a:endParaRPr lang="en-US" sz="40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Java does not support multiple inheritance with classes to avoid ambiguity, but it supports multiple inheritance using interfaces</a:t>
            </a:r>
            <a:endParaRPr lang="en-US" sz="40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/>
              <a:t>Step 1: Define the </a:t>
            </a:r>
            <a:r>
              <a:rPr lang="en-US" sz="4000" b="1" dirty="0" smtClean="0"/>
              <a:t>interfaces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/>
              <a:t>Step 2: Implement the interfaces in the </a:t>
            </a:r>
            <a:r>
              <a:rPr lang="en-US" sz="4000" b="1" dirty="0" smtClean="0"/>
              <a:t>class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/>
              <a:t>Step 3: Create an object of the class and call the interface methods</a:t>
            </a:r>
            <a:endParaRPr lang="en-US" sz="4000" dirty="0"/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0" name="AutoShape 7"/>
          <p:cNvSpPr/>
          <p:nvPr/>
        </p:nvSpPr>
        <p:spPr>
          <a:xfrm>
            <a:off x="0" y="97155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6"/>
          <p:cNvSpPr/>
          <p:nvPr/>
        </p:nvSpPr>
        <p:spPr>
          <a:xfrm>
            <a:off x="0" y="9393324"/>
            <a:ext cx="18288000" cy="1863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078" y="5462201"/>
            <a:ext cx="10261356" cy="3786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00382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33400" y="805557"/>
            <a:ext cx="171450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6600" b="1" dirty="0" smtClean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Relationship between Class &amp; Interfaces</a:t>
            </a:r>
            <a:endParaRPr lang="en-US" sz="66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93700" y="1783021"/>
            <a:ext cx="17070839" cy="3077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endParaRPr lang="en-US" sz="40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A class can extend another class and similarly, an interface can extend another interface. </a:t>
            </a:r>
            <a:endParaRPr lang="en-US" sz="40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However</a:t>
            </a:r>
            <a:r>
              <a:rPr lang="en-US" sz="4000" dirty="0"/>
              <a:t>, only a class can implement an interface and the reverse (an interface implementing a class) is not allowed.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0" name="AutoShape 7"/>
          <p:cNvSpPr/>
          <p:nvPr/>
        </p:nvSpPr>
        <p:spPr>
          <a:xfrm>
            <a:off x="0" y="97155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6"/>
          <p:cNvSpPr/>
          <p:nvPr/>
        </p:nvSpPr>
        <p:spPr>
          <a:xfrm>
            <a:off x="0" y="9393324"/>
            <a:ext cx="18288000" cy="1863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747" y="5065770"/>
            <a:ext cx="11258618" cy="4154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50685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828800" y="749468"/>
            <a:ext cx="13716000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fontAlgn="base"/>
            <a:r>
              <a:rPr lang="en-US" sz="6600" b="1" dirty="0"/>
              <a:t>When to Use Class and Interface?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93700" y="1783021"/>
            <a:ext cx="17070839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 smtClean="0"/>
          </a:p>
          <a:p>
            <a:pPr marL="571500" indent="-571500" fontAlgn="base">
              <a:buFont typeface="Arial" panose="020B0604020202020204" pitchFamily="34" charset="0"/>
              <a:buChar char="•"/>
            </a:pPr>
            <a:r>
              <a:rPr lang="en-US" sz="4000" b="1" dirty="0" smtClean="0"/>
              <a:t>Use </a:t>
            </a:r>
            <a:r>
              <a:rPr lang="en-US" sz="4000" b="1" dirty="0"/>
              <a:t>a Class when</a:t>
            </a:r>
            <a:r>
              <a:rPr lang="en-US" sz="4000" dirty="0"/>
              <a:t>:</a:t>
            </a:r>
          </a:p>
          <a:p>
            <a:pPr marL="1485900" lvl="2" indent="-571500" fontAlgn="base">
              <a:buFont typeface="Wingdings" panose="05000000000000000000" pitchFamily="2" charset="2"/>
              <a:buChar char="q"/>
            </a:pPr>
            <a:r>
              <a:rPr lang="en-US" sz="4000" dirty="0"/>
              <a:t>Use a class when you need to represent a real-world entity with attributes (fields) and behaviors (methods).</a:t>
            </a:r>
          </a:p>
          <a:p>
            <a:pPr marL="1485900" lvl="2" indent="-571500" fontAlgn="base">
              <a:buFont typeface="Wingdings" panose="05000000000000000000" pitchFamily="2" charset="2"/>
              <a:buChar char="q"/>
            </a:pPr>
            <a:r>
              <a:rPr lang="en-US" sz="4000" dirty="0"/>
              <a:t>Use a class when you need to create objects that hold state and perform actions</a:t>
            </a:r>
          </a:p>
          <a:p>
            <a:pPr marL="1485900" lvl="2" indent="-571500" fontAlgn="base">
              <a:buFont typeface="Wingdings" panose="05000000000000000000" pitchFamily="2" charset="2"/>
              <a:buChar char="q"/>
            </a:pPr>
            <a:r>
              <a:rPr lang="en-US" sz="4000" dirty="0"/>
              <a:t>Classes are used for defining templates for objects with specific functionality and properties.</a:t>
            </a:r>
          </a:p>
          <a:p>
            <a:pPr marL="571500" indent="-571500" fontAlgn="base">
              <a:buFont typeface="Arial" panose="020B0604020202020204" pitchFamily="34" charset="0"/>
              <a:buChar char="•"/>
            </a:pPr>
            <a:r>
              <a:rPr lang="en-US" sz="4000" b="1" dirty="0"/>
              <a:t>Use a Interface when:</a:t>
            </a:r>
            <a:endParaRPr lang="en-US" sz="4000" dirty="0"/>
          </a:p>
          <a:p>
            <a:pPr marL="1485900" lvl="2" indent="-571500" fontAlgn="base">
              <a:buFont typeface="Wingdings" panose="05000000000000000000" pitchFamily="2" charset="2"/>
              <a:buChar char="q"/>
            </a:pPr>
            <a:r>
              <a:rPr lang="en-US" sz="4000" dirty="0"/>
              <a:t>Use an interface when you need to define a contract for behavior that multiple classes can implement.</a:t>
            </a:r>
          </a:p>
          <a:p>
            <a:pPr marL="1485900" lvl="2" indent="-571500" fontAlgn="base">
              <a:buFont typeface="Wingdings" panose="05000000000000000000" pitchFamily="2" charset="2"/>
              <a:buChar char="q"/>
            </a:pPr>
            <a:r>
              <a:rPr lang="en-US" sz="4000" dirty="0"/>
              <a:t>Interface is ideal for achieving abstraction and multiple inheritance.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0" name="AutoShape 7"/>
          <p:cNvSpPr/>
          <p:nvPr/>
        </p:nvSpPr>
        <p:spPr>
          <a:xfrm>
            <a:off x="0" y="97155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6"/>
          <p:cNvSpPr/>
          <p:nvPr/>
        </p:nvSpPr>
        <p:spPr>
          <a:xfrm>
            <a:off x="0" y="9393324"/>
            <a:ext cx="18288000" cy="1863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845592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99"/>
              </a:lnSpc>
              <a:spcBef>
                <a:spcPct val="0"/>
              </a:spcBef>
            </a:pPr>
            <a:r>
              <a:rPr lang="en-US" sz="6600" b="1" dirty="0" smtClean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Difference </a:t>
            </a:r>
            <a:r>
              <a:rPr lang="en-US" sz="6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between Class &amp; </a:t>
            </a:r>
            <a:r>
              <a:rPr lang="en-US" sz="6600" b="1" dirty="0" smtClean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Interfaces</a:t>
            </a:r>
            <a:endParaRPr lang="en-US" sz="66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0" name="AutoShape 7"/>
          <p:cNvSpPr/>
          <p:nvPr/>
        </p:nvSpPr>
        <p:spPr>
          <a:xfrm>
            <a:off x="0" y="97155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6"/>
          <p:cNvSpPr/>
          <p:nvPr/>
        </p:nvSpPr>
        <p:spPr>
          <a:xfrm>
            <a:off x="0" y="9393324"/>
            <a:ext cx="18288000" cy="1863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983501"/>
              </p:ext>
            </p:extLst>
          </p:nvPr>
        </p:nvGraphicFramePr>
        <p:xfrm>
          <a:off x="791544" y="2476500"/>
          <a:ext cx="16213497" cy="65896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8096"/>
                <a:gridCol w="6096000"/>
                <a:gridCol w="6629401"/>
              </a:tblGrid>
              <a:tr h="730587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Instantiation</a:t>
                      </a:r>
                    </a:p>
                  </a:txBody>
                  <a:tcPr marL="38100" marR="38100" marT="92869" marB="92869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800" b="0" dirty="0">
                          <a:solidFill>
                            <a:schemeClr val="tx1"/>
                          </a:solidFill>
                          <a:effectLst/>
                        </a:rPr>
                        <a:t>In class, you can create an </a:t>
                      </a:r>
                      <a:r>
                        <a:rPr lang="en-US" sz="2800" b="0" dirty="0" smtClean="0">
                          <a:solidFill>
                            <a:schemeClr val="tx1"/>
                          </a:solidFill>
                          <a:effectLst/>
                        </a:rPr>
                        <a:t>object with or without initialization.</a:t>
                      </a:r>
                      <a:endParaRPr lang="en-US" sz="28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5250" marR="95250" marT="133350" marB="13335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800" b="0" dirty="0">
                          <a:solidFill>
                            <a:schemeClr val="tx1"/>
                          </a:solidFill>
                          <a:effectLst/>
                        </a:rPr>
                        <a:t>In an interface, you can't create an </a:t>
                      </a:r>
                      <a:r>
                        <a:rPr lang="en-US" sz="2800" b="0" dirty="0" smtClean="0">
                          <a:solidFill>
                            <a:schemeClr val="tx1"/>
                          </a:solidFill>
                          <a:effectLst/>
                        </a:rPr>
                        <a:t>object without initialization.</a:t>
                      </a:r>
                      <a:endParaRPr lang="en-US" sz="28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5250" marR="95250" marT="133350" marB="13335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82889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800" b="1" dirty="0">
                          <a:effectLst/>
                        </a:rPr>
                        <a:t>Variables</a:t>
                      </a:r>
                    </a:p>
                  </a:txBody>
                  <a:tcPr marL="38100" marR="38100" marT="92869" marB="92869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800" b="0" dirty="0">
                          <a:effectLst/>
                        </a:rPr>
                        <a:t>Class can have instance variables</a:t>
                      </a:r>
                    </a:p>
                  </a:txBody>
                  <a:tcPr marL="95250" marR="95250" marT="133350" marB="13335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fontAlgn="base">
                        <a:buFont typeface="Arial" panose="020B0604020202020204" pitchFamily="34" charset="0"/>
                        <a:buNone/>
                      </a:pPr>
                      <a:r>
                        <a:rPr lang="en-US" sz="2800" b="0" dirty="0">
                          <a:effectLst/>
                        </a:rPr>
                        <a:t>Variables </a:t>
                      </a:r>
                      <a:r>
                        <a:rPr lang="en-US" sz="2800" b="0" dirty="0" smtClean="0">
                          <a:effectLst/>
                        </a:rPr>
                        <a:t>are</a:t>
                      </a:r>
                    </a:p>
                    <a:p>
                      <a:pPr marL="457200" indent="-457200" algn="l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 smtClean="0">
                          <a:effectLst/>
                        </a:rPr>
                        <a:t>public (anywhere access) </a:t>
                      </a:r>
                      <a:endParaRPr lang="en-US" sz="2800" b="0" baseline="0" dirty="0" smtClean="0">
                        <a:effectLst/>
                      </a:endParaRPr>
                    </a:p>
                    <a:p>
                      <a:pPr marL="457200" indent="-457200" algn="l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 smtClean="0">
                          <a:effectLst/>
                        </a:rPr>
                        <a:t>static (belongs to class, not any specific</a:t>
                      </a:r>
                      <a:r>
                        <a:rPr lang="en-US" sz="2800" b="0" baseline="0" dirty="0" smtClean="0">
                          <a:effectLst/>
                        </a:rPr>
                        <a:t>  object, access without creating object</a:t>
                      </a:r>
                      <a:r>
                        <a:rPr lang="en-US" sz="2800" b="0" dirty="0" smtClean="0">
                          <a:effectLst/>
                        </a:rPr>
                        <a:t>) </a:t>
                      </a:r>
                    </a:p>
                    <a:p>
                      <a:pPr marL="457200" indent="-457200" algn="l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 smtClean="0">
                          <a:effectLst/>
                        </a:rPr>
                        <a:t>final </a:t>
                      </a:r>
                      <a:r>
                        <a:rPr lang="en-US" sz="2800" b="0" dirty="0">
                          <a:effectLst/>
                        </a:rPr>
                        <a:t>(constants only).</a:t>
                      </a:r>
                    </a:p>
                  </a:txBody>
                  <a:tcPr marL="95250" marR="95250" marT="133350" marB="13335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82889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800" b="1">
                          <a:effectLst/>
                        </a:rPr>
                        <a:t>Methods</a:t>
                      </a:r>
                    </a:p>
                  </a:txBody>
                  <a:tcPr marL="38100" marR="38100" marT="92869" marB="92869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800" b="0" dirty="0">
                          <a:effectLst/>
                        </a:rPr>
                        <a:t>Class can have concrete </a:t>
                      </a:r>
                      <a:r>
                        <a:rPr lang="en-US" sz="2800" b="0" dirty="0" smtClean="0">
                          <a:effectLst/>
                        </a:rPr>
                        <a:t>methods (with implementation details)</a:t>
                      </a:r>
                      <a:endParaRPr lang="en-US" sz="2800" b="0" dirty="0">
                        <a:effectLst/>
                      </a:endParaRPr>
                    </a:p>
                  </a:txBody>
                  <a:tcPr marL="95250" marR="95250" marT="133350" marB="13335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800" b="0" dirty="0">
                          <a:effectLst/>
                        </a:rPr>
                        <a:t>In an interface, methods are abstract by </a:t>
                      </a:r>
                      <a:r>
                        <a:rPr lang="en-US" sz="2800" b="0" dirty="0" smtClean="0">
                          <a:effectLst/>
                        </a:rPr>
                        <a:t>default (no implementation details)</a:t>
                      </a:r>
                      <a:endParaRPr lang="en-US" sz="2800" b="0" dirty="0">
                        <a:effectLst/>
                      </a:endParaRPr>
                    </a:p>
                  </a:txBody>
                  <a:tcPr marL="95250" marR="95250" marT="133350" marB="13335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82889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800" b="1" dirty="0">
                          <a:effectLst/>
                        </a:rPr>
                        <a:t>Access Modifiers</a:t>
                      </a:r>
                    </a:p>
                  </a:txBody>
                  <a:tcPr marL="38100" marR="38100" marT="92869" marB="92869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800" b="0" dirty="0">
                          <a:effectLst/>
                        </a:rPr>
                        <a:t>Supports private, protected, public, default.</a:t>
                      </a:r>
                    </a:p>
                  </a:txBody>
                  <a:tcPr marL="95250" marR="95250" marT="133350" marB="13335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800" b="0" dirty="0">
                          <a:effectLst/>
                        </a:rPr>
                        <a:t>In an interface, all members are public </a:t>
                      </a:r>
                      <a:r>
                        <a:rPr lang="en-US" sz="2800" b="0" dirty="0" smtClean="0">
                          <a:effectLst/>
                        </a:rPr>
                        <a:t>or</a:t>
                      </a:r>
                      <a:r>
                        <a:rPr lang="en-US" sz="2800" b="0" baseline="0" dirty="0" smtClean="0">
                          <a:effectLst/>
                        </a:rPr>
                        <a:t> default (no modifier).</a:t>
                      </a:r>
                      <a:endParaRPr lang="en-US" sz="2800" b="0" dirty="0" smtClean="0">
                        <a:effectLst/>
                      </a:endParaRPr>
                    </a:p>
                  </a:txBody>
                  <a:tcPr marL="95250" marR="95250" marT="133350" marB="13335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82889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Default Methods</a:t>
                      </a:r>
                    </a:p>
                  </a:txBody>
                  <a:tcPr marL="38100" marR="38100" marT="92869" marB="92869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does not support default methods</a:t>
                      </a:r>
                    </a:p>
                  </a:txBody>
                  <a:tcPr marL="95250" marR="95250" marT="133350" marB="13335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supports default methods(</a:t>
                      </a:r>
                      <a:r>
                        <a:rPr lang="en-US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JDK</a:t>
                      </a:r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8+)</a:t>
                      </a:r>
                    </a:p>
                  </a:txBody>
                  <a:tcPr marL="95250" marR="95250" marT="133350" marB="13335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76656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79712" y="805557"/>
            <a:ext cx="16687800" cy="1000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6600" b="1" dirty="0" smtClean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Default Methods / Extension Methods</a:t>
            </a:r>
            <a:endParaRPr lang="en-US" sz="66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08580" y="2705100"/>
            <a:ext cx="17070839" cy="5047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2"/>
            <a:endParaRPr lang="en-US" sz="40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Default Methods in Java, introduced in Java 8, are methods defined within an interface that include an implementation body.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They are declared using the default keyword.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Example :-</a:t>
            </a:r>
            <a:endParaRPr lang="en-US" sz="4000" dirty="0"/>
          </a:p>
          <a:p>
            <a:pPr lvl="2"/>
            <a:r>
              <a:rPr lang="en-US" sz="3200" b="1" dirty="0">
                <a:solidFill>
                  <a:srgbClr val="7F0055"/>
                </a:solidFill>
                <a:latin typeface="Consolas"/>
              </a:rPr>
              <a:t>interface</a:t>
            </a:r>
            <a:r>
              <a:rPr lang="en-US" sz="3200" dirty="0">
                <a:solidFill>
                  <a:srgbClr val="000000"/>
                </a:solidFill>
                <a:latin typeface="Consolas"/>
              </a:rPr>
              <a:t> Vehicle{</a:t>
            </a:r>
          </a:p>
          <a:p>
            <a:pPr lvl="2"/>
            <a:r>
              <a:rPr lang="en-US" sz="3200" b="1" dirty="0">
                <a:solidFill>
                  <a:srgbClr val="7F0055"/>
                </a:solidFill>
                <a:latin typeface="Consolas"/>
              </a:rPr>
              <a:t>default</a:t>
            </a:r>
            <a:r>
              <a:rPr lang="en-US" sz="3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32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US" sz="3200" dirty="0">
                <a:solidFill>
                  <a:srgbClr val="000000"/>
                </a:solidFill>
                <a:latin typeface="Consolas"/>
              </a:rPr>
              <a:t> start() {</a:t>
            </a:r>
          </a:p>
          <a:p>
            <a:pPr lvl="2"/>
            <a:r>
              <a:rPr lang="en-US" sz="32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sz="320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sz="3200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US" sz="32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3200" dirty="0">
                <a:solidFill>
                  <a:srgbClr val="2A00FF"/>
                </a:solidFill>
                <a:latin typeface="Consolas"/>
              </a:rPr>
              <a:t>"Vehicle is Starting</a:t>
            </a:r>
            <a:r>
              <a:rPr lang="en-US" sz="3200" dirty="0" smtClean="0">
                <a:solidFill>
                  <a:srgbClr val="2A00FF"/>
                </a:solidFill>
                <a:latin typeface="Consolas"/>
              </a:rPr>
              <a:t>"</a:t>
            </a:r>
            <a:r>
              <a:rPr lang="en-US" sz="3200" dirty="0" smtClean="0">
                <a:solidFill>
                  <a:srgbClr val="000000"/>
                </a:solidFill>
                <a:latin typeface="Consolas"/>
              </a:rPr>
              <a:t>);}	 </a:t>
            </a:r>
            <a:r>
              <a:rPr lang="en-US" sz="3200" dirty="0">
                <a:solidFill>
                  <a:srgbClr val="3F7F5F"/>
                </a:solidFill>
                <a:latin typeface="Consolas"/>
              </a:rPr>
              <a:t>//DEFAULT </a:t>
            </a:r>
            <a:r>
              <a:rPr lang="en-US" sz="3200" dirty="0" smtClean="0">
                <a:solidFill>
                  <a:srgbClr val="3F7F5F"/>
                </a:solidFill>
                <a:latin typeface="Consolas"/>
              </a:rPr>
              <a:t>METHOD</a:t>
            </a:r>
            <a:endParaRPr lang="en-US" sz="3200" dirty="0">
              <a:solidFill>
                <a:srgbClr val="000000"/>
              </a:solidFill>
              <a:latin typeface="Consolas"/>
            </a:endParaRPr>
          </a:p>
          <a:p>
            <a:pPr lvl="2"/>
            <a:r>
              <a:rPr lang="en-US" sz="32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US" sz="3200" dirty="0">
                <a:solidFill>
                  <a:srgbClr val="000000"/>
                </a:solidFill>
                <a:latin typeface="Consolas"/>
              </a:rPr>
              <a:t> drive(); </a:t>
            </a:r>
            <a:r>
              <a:rPr lang="en-US" sz="3200" dirty="0" smtClean="0">
                <a:solidFill>
                  <a:srgbClr val="000000"/>
                </a:solidFill>
                <a:latin typeface="Consolas"/>
              </a:rPr>
              <a:t>}								</a:t>
            </a:r>
            <a:r>
              <a:rPr lang="en-US" sz="3200" dirty="0" smtClean="0">
                <a:solidFill>
                  <a:srgbClr val="3F7F5F"/>
                </a:solidFill>
                <a:latin typeface="Consolas"/>
              </a:rPr>
              <a:t>// </a:t>
            </a:r>
            <a:r>
              <a:rPr lang="en-US" sz="3200" dirty="0">
                <a:solidFill>
                  <a:srgbClr val="3F7F5F"/>
                </a:solidFill>
                <a:latin typeface="Consolas"/>
              </a:rPr>
              <a:t>ABSTRACT </a:t>
            </a:r>
            <a:r>
              <a:rPr lang="en-US" sz="3200" dirty="0" smtClean="0">
                <a:solidFill>
                  <a:srgbClr val="3F7F5F"/>
                </a:solidFill>
                <a:latin typeface="Consolas"/>
              </a:rPr>
              <a:t>METHOD</a:t>
            </a:r>
            <a:endParaRPr lang="en-US" sz="4000" dirty="0" smtClean="0"/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0" name="AutoShape 7"/>
          <p:cNvSpPr/>
          <p:nvPr/>
        </p:nvSpPr>
        <p:spPr>
          <a:xfrm>
            <a:off x="0" y="97155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6"/>
          <p:cNvSpPr/>
          <p:nvPr/>
        </p:nvSpPr>
        <p:spPr>
          <a:xfrm>
            <a:off x="0" y="9393324"/>
            <a:ext cx="18288000" cy="1863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79319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1045</TotalTime>
  <Words>2084</Words>
  <Application>Microsoft Office PowerPoint</Application>
  <PresentationFormat>Custom</PresentationFormat>
  <Paragraphs>361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Wingdings</vt:lpstr>
      <vt:lpstr>Garet Italics</vt:lpstr>
      <vt:lpstr>Garet Bold</vt:lpstr>
      <vt:lpstr>Calibri</vt:lpstr>
      <vt:lpstr>Consolas</vt:lpstr>
      <vt:lpstr>Garet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55</cp:revision>
  <dcterms:created xsi:type="dcterms:W3CDTF">2006-08-16T00:00:00Z</dcterms:created>
  <dcterms:modified xsi:type="dcterms:W3CDTF">2025-11-10T06:16:18Z</dcterms:modified>
  <dc:identifier>DAGyNv6r3lM</dc:identifier>
</cp:coreProperties>
</file>